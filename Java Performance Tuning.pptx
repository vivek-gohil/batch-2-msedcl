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5"/>
  </p:notesMasterIdLst>
  <p:sldIdLst>
    <p:sldId id="256" r:id="rId2"/>
    <p:sldId id="257" r:id="rId3"/>
    <p:sldId id="269" r:id="rId4"/>
    <p:sldId id="259" r:id="rId5"/>
    <p:sldId id="258" r:id="rId6"/>
    <p:sldId id="260" r:id="rId7"/>
    <p:sldId id="261" r:id="rId8"/>
    <p:sldId id="262" r:id="rId9"/>
    <p:sldId id="263" r:id="rId10"/>
    <p:sldId id="264" r:id="rId11"/>
    <p:sldId id="265" r:id="rId12"/>
    <p:sldId id="266" r:id="rId13"/>
    <p:sldId id="267" r:id="rId14"/>
    <p:sldId id="268" r:id="rId15"/>
    <p:sldId id="270" r:id="rId16"/>
    <p:sldId id="271" r:id="rId17"/>
    <p:sldId id="272" r:id="rId18"/>
    <p:sldId id="273" r:id="rId19"/>
    <p:sldId id="274" r:id="rId20"/>
    <p:sldId id="419" r:id="rId21"/>
    <p:sldId id="420" r:id="rId22"/>
    <p:sldId id="421" r:id="rId23"/>
    <p:sldId id="275" r:id="rId24"/>
    <p:sldId id="425" r:id="rId25"/>
    <p:sldId id="426" r:id="rId26"/>
    <p:sldId id="286" r:id="rId27"/>
    <p:sldId id="287" r:id="rId28"/>
    <p:sldId id="279" r:id="rId29"/>
    <p:sldId id="278" r:id="rId30"/>
    <p:sldId id="289" r:id="rId31"/>
    <p:sldId id="290" r:id="rId32"/>
    <p:sldId id="291" r:id="rId33"/>
    <p:sldId id="295" r:id="rId34"/>
    <p:sldId id="281" r:id="rId35"/>
    <p:sldId id="292" r:id="rId36"/>
    <p:sldId id="288" r:id="rId37"/>
    <p:sldId id="293" r:id="rId38"/>
    <p:sldId id="294" r:id="rId39"/>
    <p:sldId id="296" r:id="rId40"/>
    <p:sldId id="297" r:id="rId41"/>
    <p:sldId id="298" r:id="rId42"/>
    <p:sldId id="299" r:id="rId43"/>
    <p:sldId id="300" r:id="rId44"/>
    <p:sldId id="301" r:id="rId45"/>
    <p:sldId id="422" r:id="rId46"/>
    <p:sldId id="423" r:id="rId47"/>
    <p:sldId id="424"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 id="427" r:id="rId65"/>
    <p:sldId id="428" r:id="rId66"/>
    <p:sldId id="429"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7" r:id="rId81"/>
    <p:sldId id="338" r:id="rId82"/>
    <p:sldId id="339" r:id="rId83"/>
    <p:sldId id="340" r:id="rId84"/>
    <p:sldId id="341" r:id="rId85"/>
    <p:sldId id="342" r:id="rId86"/>
    <p:sldId id="343" r:id="rId87"/>
    <p:sldId id="430" r:id="rId88"/>
    <p:sldId id="344" r:id="rId89"/>
    <p:sldId id="333" r:id="rId90"/>
    <p:sldId id="335" r:id="rId91"/>
    <p:sldId id="336" r:id="rId92"/>
    <p:sldId id="345" r:id="rId93"/>
    <p:sldId id="346" r:id="rId94"/>
    <p:sldId id="347" r:id="rId95"/>
    <p:sldId id="348" r:id="rId96"/>
    <p:sldId id="349" r:id="rId97"/>
    <p:sldId id="350" r:id="rId98"/>
    <p:sldId id="351" r:id="rId99"/>
    <p:sldId id="356" r:id="rId100"/>
    <p:sldId id="357" r:id="rId101"/>
    <p:sldId id="352" r:id="rId102"/>
    <p:sldId id="353" r:id="rId103"/>
    <p:sldId id="354" r:id="rId104"/>
    <p:sldId id="355" r:id="rId105"/>
    <p:sldId id="358" r:id="rId106"/>
    <p:sldId id="334" r:id="rId107"/>
    <p:sldId id="359" r:id="rId108"/>
    <p:sldId id="360" r:id="rId109"/>
    <p:sldId id="361" r:id="rId110"/>
    <p:sldId id="362" r:id="rId111"/>
    <p:sldId id="363" r:id="rId112"/>
    <p:sldId id="364" r:id="rId113"/>
    <p:sldId id="365" r:id="rId114"/>
    <p:sldId id="366" r:id="rId115"/>
    <p:sldId id="367" r:id="rId116"/>
    <p:sldId id="368" r:id="rId117"/>
    <p:sldId id="369" r:id="rId118"/>
    <p:sldId id="370" r:id="rId119"/>
    <p:sldId id="371" r:id="rId120"/>
    <p:sldId id="372" r:id="rId121"/>
    <p:sldId id="373" r:id="rId122"/>
    <p:sldId id="374" r:id="rId123"/>
    <p:sldId id="375" r:id="rId124"/>
    <p:sldId id="376" r:id="rId125"/>
    <p:sldId id="377" r:id="rId126"/>
    <p:sldId id="378" r:id="rId127"/>
    <p:sldId id="379" r:id="rId128"/>
    <p:sldId id="380" r:id="rId129"/>
    <p:sldId id="434" r:id="rId130"/>
    <p:sldId id="435" r:id="rId131"/>
    <p:sldId id="436" r:id="rId132"/>
    <p:sldId id="437" r:id="rId133"/>
    <p:sldId id="381" r:id="rId134"/>
    <p:sldId id="431" r:id="rId135"/>
    <p:sldId id="432" r:id="rId136"/>
    <p:sldId id="433" r:id="rId137"/>
    <p:sldId id="382" r:id="rId138"/>
    <p:sldId id="383" r:id="rId139"/>
    <p:sldId id="384" r:id="rId140"/>
    <p:sldId id="385" r:id="rId141"/>
    <p:sldId id="386" r:id="rId142"/>
    <p:sldId id="387" r:id="rId143"/>
    <p:sldId id="388" r:id="rId144"/>
    <p:sldId id="389" r:id="rId145"/>
    <p:sldId id="390" r:id="rId146"/>
    <p:sldId id="391" r:id="rId147"/>
    <p:sldId id="393" r:id="rId148"/>
    <p:sldId id="394" r:id="rId149"/>
    <p:sldId id="395" r:id="rId150"/>
    <p:sldId id="396" r:id="rId151"/>
    <p:sldId id="397" r:id="rId152"/>
    <p:sldId id="398" r:id="rId153"/>
    <p:sldId id="399" r:id="rId154"/>
    <p:sldId id="400" r:id="rId155"/>
    <p:sldId id="401" r:id="rId156"/>
    <p:sldId id="402" r:id="rId157"/>
    <p:sldId id="403" r:id="rId158"/>
    <p:sldId id="404" r:id="rId159"/>
    <p:sldId id="405" r:id="rId160"/>
    <p:sldId id="406" r:id="rId161"/>
    <p:sldId id="407" r:id="rId162"/>
    <p:sldId id="408" r:id="rId163"/>
    <p:sldId id="409" r:id="rId164"/>
    <p:sldId id="410" r:id="rId165"/>
    <p:sldId id="411" r:id="rId166"/>
    <p:sldId id="412" r:id="rId167"/>
    <p:sldId id="413" r:id="rId168"/>
    <p:sldId id="414" r:id="rId169"/>
    <p:sldId id="415" r:id="rId170"/>
    <p:sldId id="438" r:id="rId171"/>
    <p:sldId id="439" r:id="rId172"/>
    <p:sldId id="440" r:id="rId173"/>
    <p:sldId id="441" r:id="rId174"/>
    <p:sldId id="442" r:id="rId175"/>
    <p:sldId id="443" r:id="rId176"/>
    <p:sldId id="444" r:id="rId177"/>
    <p:sldId id="445" r:id="rId178"/>
    <p:sldId id="446" r:id="rId179"/>
    <p:sldId id="447" r:id="rId180"/>
    <p:sldId id="448" r:id="rId181"/>
    <p:sldId id="449" r:id="rId182"/>
    <p:sldId id="450" r:id="rId183"/>
    <p:sldId id="451" r:id="rId184"/>
    <p:sldId id="452" r:id="rId185"/>
    <p:sldId id="453" r:id="rId186"/>
    <p:sldId id="455" r:id="rId187"/>
    <p:sldId id="456" r:id="rId188"/>
    <p:sldId id="457" r:id="rId189"/>
    <p:sldId id="458" r:id="rId190"/>
    <p:sldId id="459" r:id="rId191"/>
    <p:sldId id="460" r:id="rId192"/>
    <p:sldId id="461" r:id="rId193"/>
    <p:sldId id="462" r:id="rId19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06" autoAdjust="0"/>
    <p:restoredTop sz="94660"/>
  </p:normalViewPr>
  <p:slideViewPr>
    <p:cSldViewPr snapToGrid="0">
      <p:cViewPr varScale="1">
        <p:scale>
          <a:sx n="188" d="100"/>
          <a:sy n="188" d="100"/>
        </p:scale>
        <p:origin x="389" y="13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199"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notesMaster" Target="notesMasters/notesMaster1.xml"/><Relationship Id="rId190" Type="http://schemas.openxmlformats.org/officeDocument/2006/relationships/slide" Target="slides/slide189.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presProps" Target="presProps.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viewProps" Target="viewProps.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theme" Target="theme/theme1.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82D0499-0477-48E7-8E07-D49B711C2861}" type="doc">
      <dgm:prSet loTypeId="urn:microsoft.com/office/officeart/2005/8/layout/cycle5" loCatId="cycle" qsTypeId="urn:microsoft.com/office/officeart/2005/8/quickstyle/simple1" qsCatId="simple" csTypeId="urn:microsoft.com/office/officeart/2005/8/colors/accent1_2" csCatId="accent1" phldr="1"/>
      <dgm:spPr/>
      <dgm:t>
        <a:bodyPr/>
        <a:lstStyle/>
        <a:p>
          <a:endParaRPr lang="en-US"/>
        </a:p>
      </dgm:t>
    </dgm:pt>
    <dgm:pt modelId="{4445110E-5DE2-4276-8C0A-2EFFC8E59AFD}">
      <dgm:prSet phldrT="[Text]" phldr="0"/>
      <dgm:spPr/>
      <dgm:t>
        <a:bodyPr/>
        <a:lstStyle/>
        <a:p>
          <a:r>
            <a:rPr lang="en-IN" dirty="0"/>
            <a:t>Measure</a:t>
          </a:r>
          <a:endParaRPr lang="en-US" dirty="0"/>
        </a:p>
      </dgm:t>
    </dgm:pt>
    <dgm:pt modelId="{B63252E0-3F92-47BA-99D2-1327CB8D5A4B}" type="parTrans" cxnId="{487FF741-40DA-49AA-969C-699C6D730994}">
      <dgm:prSet/>
      <dgm:spPr/>
      <dgm:t>
        <a:bodyPr/>
        <a:lstStyle/>
        <a:p>
          <a:endParaRPr lang="en-US"/>
        </a:p>
      </dgm:t>
    </dgm:pt>
    <dgm:pt modelId="{72FE40D9-FF1C-4B7D-8430-AD7D40F6E2D9}" type="sibTrans" cxnId="{487FF741-40DA-49AA-969C-699C6D730994}">
      <dgm:prSet/>
      <dgm:spPr/>
      <dgm:t>
        <a:bodyPr/>
        <a:lstStyle/>
        <a:p>
          <a:endParaRPr lang="en-US"/>
        </a:p>
      </dgm:t>
    </dgm:pt>
    <dgm:pt modelId="{95BBFC64-BD5E-42FA-87CD-71EC1793021E}">
      <dgm:prSet phldrT="[Text]" phldr="0"/>
      <dgm:spPr/>
      <dgm:t>
        <a:bodyPr/>
        <a:lstStyle/>
        <a:p>
          <a:r>
            <a:rPr lang="en-IN" dirty="0"/>
            <a:t>Analyse</a:t>
          </a:r>
          <a:endParaRPr lang="en-US" dirty="0"/>
        </a:p>
      </dgm:t>
    </dgm:pt>
    <dgm:pt modelId="{A89DDABA-A44C-4C7E-8B17-2DDD0D330D7D}" type="parTrans" cxnId="{A261000D-1B0A-43A5-938A-66BD615A59A7}">
      <dgm:prSet/>
      <dgm:spPr/>
      <dgm:t>
        <a:bodyPr/>
        <a:lstStyle/>
        <a:p>
          <a:endParaRPr lang="en-US"/>
        </a:p>
      </dgm:t>
    </dgm:pt>
    <dgm:pt modelId="{CAD001F2-26C1-46F0-8DBB-2325F48DF156}" type="sibTrans" cxnId="{A261000D-1B0A-43A5-938A-66BD615A59A7}">
      <dgm:prSet/>
      <dgm:spPr/>
      <dgm:t>
        <a:bodyPr/>
        <a:lstStyle/>
        <a:p>
          <a:endParaRPr lang="en-US"/>
        </a:p>
      </dgm:t>
    </dgm:pt>
    <dgm:pt modelId="{8091FA9B-5826-49EA-91B8-8C59528AF113}">
      <dgm:prSet phldrT="[Text]" phldr="0"/>
      <dgm:spPr/>
      <dgm:t>
        <a:bodyPr/>
        <a:lstStyle/>
        <a:p>
          <a:r>
            <a:rPr lang="en-IN" dirty="0"/>
            <a:t>Optimize</a:t>
          </a:r>
          <a:endParaRPr lang="en-US" dirty="0"/>
        </a:p>
      </dgm:t>
    </dgm:pt>
    <dgm:pt modelId="{21FEBFAF-C602-4838-B213-11A7C61668FD}" type="parTrans" cxnId="{18395D36-AFB1-4234-BF34-537C0436FB0A}">
      <dgm:prSet/>
      <dgm:spPr/>
      <dgm:t>
        <a:bodyPr/>
        <a:lstStyle/>
        <a:p>
          <a:endParaRPr lang="en-US"/>
        </a:p>
      </dgm:t>
    </dgm:pt>
    <dgm:pt modelId="{6D901AB2-15DB-4B6F-A084-C2C679C3780F}" type="sibTrans" cxnId="{18395D36-AFB1-4234-BF34-537C0436FB0A}">
      <dgm:prSet/>
      <dgm:spPr/>
      <dgm:t>
        <a:bodyPr/>
        <a:lstStyle/>
        <a:p>
          <a:endParaRPr lang="en-US"/>
        </a:p>
      </dgm:t>
    </dgm:pt>
    <dgm:pt modelId="{1F948079-5B31-4047-993A-9FC8BE886130}">
      <dgm:prSet phldrT="[Text]" phldr="0"/>
      <dgm:spPr/>
      <dgm:t>
        <a:bodyPr/>
        <a:lstStyle/>
        <a:p>
          <a:r>
            <a:rPr lang="en-IN" dirty="0"/>
            <a:t>Validate</a:t>
          </a:r>
          <a:endParaRPr lang="en-US" dirty="0"/>
        </a:p>
      </dgm:t>
    </dgm:pt>
    <dgm:pt modelId="{7A1A65F6-B1B7-4992-8D7A-4489F93108B0}" type="parTrans" cxnId="{68F28A82-ADD6-4550-ACCE-BDCF6AFF1B00}">
      <dgm:prSet/>
      <dgm:spPr/>
      <dgm:t>
        <a:bodyPr/>
        <a:lstStyle/>
        <a:p>
          <a:endParaRPr lang="en-US"/>
        </a:p>
      </dgm:t>
    </dgm:pt>
    <dgm:pt modelId="{EC9BFC5D-43F1-48B6-9D69-9F3A37F3C367}" type="sibTrans" cxnId="{68F28A82-ADD6-4550-ACCE-BDCF6AFF1B00}">
      <dgm:prSet/>
      <dgm:spPr/>
      <dgm:t>
        <a:bodyPr/>
        <a:lstStyle/>
        <a:p>
          <a:endParaRPr lang="en-US"/>
        </a:p>
      </dgm:t>
    </dgm:pt>
    <dgm:pt modelId="{400E0ED9-2A8C-4FDB-9F5E-D8E6B0304C95}" type="pres">
      <dgm:prSet presAssocID="{A82D0499-0477-48E7-8E07-D49B711C2861}" presName="cycle" presStyleCnt="0">
        <dgm:presLayoutVars>
          <dgm:dir/>
          <dgm:resizeHandles val="exact"/>
        </dgm:presLayoutVars>
      </dgm:prSet>
      <dgm:spPr/>
    </dgm:pt>
    <dgm:pt modelId="{0A6B9F11-90F3-492F-8043-4E0652EBFC0C}" type="pres">
      <dgm:prSet presAssocID="{4445110E-5DE2-4276-8C0A-2EFFC8E59AFD}" presName="node" presStyleLbl="node1" presStyleIdx="0" presStyleCnt="4">
        <dgm:presLayoutVars>
          <dgm:bulletEnabled val="1"/>
        </dgm:presLayoutVars>
      </dgm:prSet>
      <dgm:spPr/>
    </dgm:pt>
    <dgm:pt modelId="{DB435181-EF81-46F4-884D-72A2F867D4F1}" type="pres">
      <dgm:prSet presAssocID="{4445110E-5DE2-4276-8C0A-2EFFC8E59AFD}" presName="spNode" presStyleCnt="0"/>
      <dgm:spPr/>
    </dgm:pt>
    <dgm:pt modelId="{D2AC28E9-E7B6-48AC-B4A8-55C5233D9749}" type="pres">
      <dgm:prSet presAssocID="{72FE40D9-FF1C-4B7D-8430-AD7D40F6E2D9}" presName="sibTrans" presStyleLbl="sibTrans1D1" presStyleIdx="0" presStyleCnt="4"/>
      <dgm:spPr/>
    </dgm:pt>
    <dgm:pt modelId="{106903CC-B5A1-4418-80FB-C82781AE0FE2}" type="pres">
      <dgm:prSet presAssocID="{95BBFC64-BD5E-42FA-87CD-71EC1793021E}" presName="node" presStyleLbl="node1" presStyleIdx="1" presStyleCnt="4">
        <dgm:presLayoutVars>
          <dgm:bulletEnabled val="1"/>
        </dgm:presLayoutVars>
      </dgm:prSet>
      <dgm:spPr/>
    </dgm:pt>
    <dgm:pt modelId="{494418FA-8463-4600-B9BB-7B94F4491BC9}" type="pres">
      <dgm:prSet presAssocID="{95BBFC64-BD5E-42FA-87CD-71EC1793021E}" presName="spNode" presStyleCnt="0"/>
      <dgm:spPr/>
    </dgm:pt>
    <dgm:pt modelId="{F4DBDEA6-9826-48DA-9627-28A31257D074}" type="pres">
      <dgm:prSet presAssocID="{CAD001F2-26C1-46F0-8DBB-2325F48DF156}" presName="sibTrans" presStyleLbl="sibTrans1D1" presStyleIdx="1" presStyleCnt="4"/>
      <dgm:spPr/>
    </dgm:pt>
    <dgm:pt modelId="{3261ECFE-E21C-48A5-94F9-410DBF0AE0FF}" type="pres">
      <dgm:prSet presAssocID="{8091FA9B-5826-49EA-91B8-8C59528AF113}" presName="node" presStyleLbl="node1" presStyleIdx="2" presStyleCnt="4">
        <dgm:presLayoutVars>
          <dgm:bulletEnabled val="1"/>
        </dgm:presLayoutVars>
      </dgm:prSet>
      <dgm:spPr/>
    </dgm:pt>
    <dgm:pt modelId="{5BABDC23-EEA9-4984-974C-444A08E58CFD}" type="pres">
      <dgm:prSet presAssocID="{8091FA9B-5826-49EA-91B8-8C59528AF113}" presName="spNode" presStyleCnt="0"/>
      <dgm:spPr/>
    </dgm:pt>
    <dgm:pt modelId="{659824BD-80CC-4199-8A93-EECDE7559BD1}" type="pres">
      <dgm:prSet presAssocID="{6D901AB2-15DB-4B6F-A084-C2C679C3780F}" presName="sibTrans" presStyleLbl="sibTrans1D1" presStyleIdx="2" presStyleCnt="4"/>
      <dgm:spPr/>
    </dgm:pt>
    <dgm:pt modelId="{AEC591A3-D767-4AB8-90F1-6BD4296CD062}" type="pres">
      <dgm:prSet presAssocID="{1F948079-5B31-4047-993A-9FC8BE886130}" presName="node" presStyleLbl="node1" presStyleIdx="3" presStyleCnt="4">
        <dgm:presLayoutVars>
          <dgm:bulletEnabled val="1"/>
        </dgm:presLayoutVars>
      </dgm:prSet>
      <dgm:spPr/>
    </dgm:pt>
    <dgm:pt modelId="{E3A5B4F5-C4BD-4FE4-B76A-D937BFC7CB77}" type="pres">
      <dgm:prSet presAssocID="{1F948079-5B31-4047-993A-9FC8BE886130}" presName="spNode" presStyleCnt="0"/>
      <dgm:spPr/>
    </dgm:pt>
    <dgm:pt modelId="{52B81776-AC24-4994-897B-FC76B6EF2389}" type="pres">
      <dgm:prSet presAssocID="{EC9BFC5D-43F1-48B6-9D69-9F3A37F3C367}" presName="sibTrans" presStyleLbl="sibTrans1D1" presStyleIdx="3" presStyleCnt="4"/>
      <dgm:spPr/>
    </dgm:pt>
  </dgm:ptLst>
  <dgm:cxnLst>
    <dgm:cxn modelId="{A261000D-1B0A-43A5-938A-66BD615A59A7}" srcId="{A82D0499-0477-48E7-8E07-D49B711C2861}" destId="{95BBFC64-BD5E-42FA-87CD-71EC1793021E}" srcOrd="1" destOrd="0" parTransId="{A89DDABA-A44C-4C7E-8B17-2DDD0D330D7D}" sibTransId="{CAD001F2-26C1-46F0-8DBB-2325F48DF156}"/>
    <dgm:cxn modelId="{9637821C-0CA1-4C04-9394-9389C15E379D}" type="presOf" srcId="{8091FA9B-5826-49EA-91B8-8C59528AF113}" destId="{3261ECFE-E21C-48A5-94F9-410DBF0AE0FF}" srcOrd="0" destOrd="0" presId="urn:microsoft.com/office/officeart/2005/8/layout/cycle5"/>
    <dgm:cxn modelId="{2E937721-296D-4BA0-AE1C-2F564F952EFE}" type="presOf" srcId="{EC9BFC5D-43F1-48B6-9D69-9F3A37F3C367}" destId="{52B81776-AC24-4994-897B-FC76B6EF2389}" srcOrd="0" destOrd="0" presId="urn:microsoft.com/office/officeart/2005/8/layout/cycle5"/>
    <dgm:cxn modelId="{776CC624-3C4F-479D-9C37-9AA563CD2D06}" type="presOf" srcId="{95BBFC64-BD5E-42FA-87CD-71EC1793021E}" destId="{106903CC-B5A1-4418-80FB-C82781AE0FE2}" srcOrd="0" destOrd="0" presId="urn:microsoft.com/office/officeart/2005/8/layout/cycle5"/>
    <dgm:cxn modelId="{18395D36-AFB1-4234-BF34-537C0436FB0A}" srcId="{A82D0499-0477-48E7-8E07-D49B711C2861}" destId="{8091FA9B-5826-49EA-91B8-8C59528AF113}" srcOrd="2" destOrd="0" parTransId="{21FEBFAF-C602-4838-B213-11A7C61668FD}" sibTransId="{6D901AB2-15DB-4B6F-A084-C2C679C3780F}"/>
    <dgm:cxn modelId="{487FF741-40DA-49AA-969C-699C6D730994}" srcId="{A82D0499-0477-48E7-8E07-D49B711C2861}" destId="{4445110E-5DE2-4276-8C0A-2EFFC8E59AFD}" srcOrd="0" destOrd="0" parTransId="{B63252E0-3F92-47BA-99D2-1327CB8D5A4B}" sibTransId="{72FE40D9-FF1C-4B7D-8430-AD7D40F6E2D9}"/>
    <dgm:cxn modelId="{68F28A82-ADD6-4550-ACCE-BDCF6AFF1B00}" srcId="{A82D0499-0477-48E7-8E07-D49B711C2861}" destId="{1F948079-5B31-4047-993A-9FC8BE886130}" srcOrd="3" destOrd="0" parTransId="{7A1A65F6-B1B7-4992-8D7A-4489F93108B0}" sibTransId="{EC9BFC5D-43F1-48B6-9D69-9F3A37F3C367}"/>
    <dgm:cxn modelId="{44ECE985-9107-48B3-AEB9-D5EBC46081D4}" type="presOf" srcId="{CAD001F2-26C1-46F0-8DBB-2325F48DF156}" destId="{F4DBDEA6-9826-48DA-9627-28A31257D074}" srcOrd="0" destOrd="0" presId="urn:microsoft.com/office/officeart/2005/8/layout/cycle5"/>
    <dgm:cxn modelId="{057B39A1-32ED-4FD5-9162-A98641A950B5}" type="presOf" srcId="{72FE40D9-FF1C-4B7D-8430-AD7D40F6E2D9}" destId="{D2AC28E9-E7B6-48AC-B4A8-55C5233D9749}" srcOrd="0" destOrd="0" presId="urn:microsoft.com/office/officeart/2005/8/layout/cycle5"/>
    <dgm:cxn modelId="{6B5C47A4-D0A9-4CA6-B3C6-09A3A0ECCC6C}" type="presOf" srcId="{6D901AB2-15DB-4B6F-A084-C2C679C3780F}" destId="{659824BD-80CC-4199-8A93-EECDE7559BD1}" srcOrd="0" destOrd="0" presId="urn:microsoft.com/office/officeart/2005/8/layout/cycle5"/>
    <dgm:cxn modelId="{51352FBC-01EE-414D-A0C3-AB8D7367E302}" type="presOf" srcId="{1F948079-5B31-4047-993A-9FC8BE886130}" destId="{AEC591A3-D767-4AB8-90F1-6BD4296CD062}" srcOrd="0" destOrd="0" presId="urn:microsoft.com/office/officeart/2005/8/layout/cycle5"/>
    <dgm:cxn modelId="{5CDE41C1-D4C1-47C9-B784-058028A9959F}" type="presOf" srcId="{4445110E-5DE2-4276-8C0A-2EFFC8E59AFD}" destId="{0A6B9F11-90F3-492F-8043-4E0652EBFC0C}" srcOrd="0" destOrd="0" presId="urn:microsoft.com/office/officeart/2005/8/layout/cycle5"/>
    <dgm:cxn modelId="{D219C2E3-62F6-4BF5-B7D0-CB08868483FA}" type="presOf" srcId="{A82D0499-0477-48E7-8E07-D49B711C2861}" destId="{400E0ED9-2A8C-4FDB-9F5E-D8E6B0304C95}" srcOrd="0" destOrd="0" presId="urn:microsoft.com/office/officeart/2005/8/layout/cycle5"/>
    <dgm:cxn modelId="{87920CAC-8369-4B79-9F23-E40A7A294353}" type="presParOf" srcId="{400E0ED9-2A8C-4FDB-9F5E-D8E6B0304C95}" destId="{0A6B9F11-90F3-492F-8043-4E0652EBFC0C}" srcOrd="0" destOrd="0" presId="urn:microsoft.com/office/officeart/2005/8/layout/cycle5"/>
    <dgm:cxn modelId="{44121D41-D6B0-45F5-9A88-F194D9224741}" type="presParOf" srcId="{400E0ED9-2A8C-4FDB-9F5E-D8E6B0304C95}" destId="{DB435181-EF81-46F4-884D-72A2F867D4F1}" srcOrd="1" destOrd="0" presId="urn:microsoft.com/office/officeart/2005/8/layout/cycle5"/>
    <dgm:cxn modelId="{07345778-59E4-49D6-AB4E-1FC08F1EC7B8}" type="presParOf" srcId="{400E0ED9-2A8C-4FDB-9F5E-D8E6B0304C95}" destId="{D2AC28E9-E7B6-48AC-B4A8-55C5233D9749}" srcOrd="2" destOrd="0" presId="urn:microsoft.com/office/officeart/2005/8/layout/cycle5"/>
    <dgm:cxn modelId="{EAACCB05-D7C4-405B-ABA3-B37EF495453B}" type="presParOf" srcId="{400E0ED9-2A8C-4FDB-9F5E-D8E6B0304C95}" destId="{106903CC-B5A1-4418-80FB-C82781AE0FE2}" srcOrd="3" destOrd="0" presId="urn:microsoft.com/office/officeart/2005/8/layout/cycle5"/>
    <dgm:cxn modelId="{8B2CE128-B608-47F4-B9B5-A47D636F217E}" type="presParOf" srcId="{400E0ED9-2A8C-4FDB-9F5E-D8E6B0304C95}" destId="{494418FA-8463-4600-B9BB-7B94F4491BC9}" srcOrd="4" destOrd="0" presId="urn:microsoft.com/office/officeart/2005/8/layout/cycle5"/>
    <dgm:cxn modelId="{63E9946D-6BF2-4034-9735-F5AAD113036C}" type="presParOf" srcId="{400E0ED9-2A8C-4FDB-9F5E-D8E6B0304C95}" destId="{F4DBDEA6-9826-48DA-9627-28A31257D074}" srcOrd="5" destOrd="0" presId="urn:microsoft.com/office/officeart/2005/8/layout/cycle5"/>
    <dgm:cxn modelId="{8BE41539-5358-4679-BD0B-43F98CA30D73}" type="presParOf" srcId="{400E0ED9-2A8C-4FDB-9F5E-D8E6B0304C95}" destId="{3261ECFE-E21C-48A5-94F9-410DBF0AE0FF}" srcOrd="6" destOrd="0" presId="urn:microsoft.com/office/officeart/2005/8/layout/cycle5"/>
    <dgm:cxn modelId="{B499BE74-90A3-4F7B-B4AE-E77CFE6C527E}" type="presParOf" srcId="{400E0ED9-2A8C-4FDB-9F5E-D8E6B0304C95}" destId="{5BABDC23-EEA9-4984-974C-444A08E58CFD}" srcOrd="7" destOrd="0" presId="urn:microsoft.com/office/officeart/2005/8/layout/cycle5"/>
    <dgm:cxn modelId="{CDECA559-E435-48CF-818B-E1DF66991271}" type="presParOf" srcId="{400E0ED9-2A8C-4FDB-9F5E-D8E6B0304C95}" destId="{659824BD-80CC-4199-8A93-EECDE7559BD1}" srcOrd="8" destOrd="0" presId="urn:microsoft.com/office/officeart/2005/8/layout/cycle5"/>
    <dgm:cxn modelId="{4D54B97C-70E1-48E3-AA3E-023CA4FE4582}" type="presParOf" srcId="{400E0ED9-2A8C-4FDB-9F5E-D8E6B0304C95}" destId="{AEC591A3-D767-4AB8-90F1-6BD4296CD062}" srcOrd="9" destOrd="0" presId="urn:microsoft.com/office/officeart/2005/8/layout/cycle5"/>
    <dgm:cxn modelId="{48AAA138-603C-4B93-9F64-47825420C8ED}" type="presParOf" srcId="{400E0ED9-2A8C-4FDB-9F5E-D8E6B0304C95}" destId="{E3A5B4F5-C4BD-4FE4-B76A-D937BFC7CB77}" srcOrd="10" destOrd="0" presId="urn:microsoft.com/office/officeart/2005/8/layout/cycle5"/>
    <dgm:cxn modelId="{A487DB7E-529C-4284-A126-40C1833B7CD9}" type="presParOf" srcId="{400E0ED9-2A8C-4FDB-9F5E-D8E6B0304C95}" destId="{52B81776-AC24-4994-897B-FC76B6EF2389}" srcOrd="11" destOrd="0" presId="urn:microsoft.com/office/officeart/2005/8/layout/cycle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D50C81C-3726-4153-AC21-6C08F990D128}" type="doc">
      <dgm:prSet loTypeId="urn:microsoft.com/office/officeart/2005/8/layout/cycle5" loCatId="cycle" qsTypeId="urn:microsoft.com/office/officeart/2005/8/quickstyle/simple1" qsCatId="simple" csTypeId="urn:microsoft.com/office/officeart/2005/8/colors/accent1_2" csCatId="accent1" phldr="1"/>
      <dgm:spPr/>
      <dgm:t>
        <a:bodyPr/>
        <a:lstStyle/>
        <a:p>
          <a:endParaRPr lang="en-US"/>
        </a:p>
      </dgm:t>
    </dgm:pt>
    <dgm:pt modelId="{26EC8125-97FA-43F2-8F4C-A13120FF3AE4}">
      <dgm:prSet phldrT="[Text]" phldr="0"/>
      <dgm:spPr/>
      <dgm:t>
        <a:bodyPr/>
        <a:lstStyle/>
        <a:p>
          <a:r>
            <a:rPr lang="en-IN" dirty="0"/>
            <a:t>Mark</a:t>
          </a:r>
          <a:endParaRPr lang="en-US" dirty="0"/>
        </a:p>
      </dgm:t>
    </dgm:pt>
    <dgm:pt modelId="{DBDA4EBE-19AC-4962-9C9B-4EA8B35429EF}" type="parTrans" cxnId="{ED1C690B-B145-4DC3-B916-FBF294E5177A}">
      <dgm:prSet/>
      <dgm:spPr/>
      <dgm:t>
        <a:bodyPr/>
        <a:lstStyle/>
        <a:p>
          <a:endParaRPr lang="en-US"/>
        </a:p>
      </dgm:t>
    </dgm:pt>
    <dgm:pt modelId="{61D04D1D-292A-4573-AC6D-FF7E125AD87A}" type="sibTrans" cxnId="{ED1C690B-B145-4DC3-B916-FBF294E5177A}">
      <dgm:prSet/>
      <dgm:spPr/>
      <dgm:t>
        <a:bodyPr/>
        <a:lstStyle/>
        <a:p>
          <a:endParaRPr lang="en-US"/>
        </a:p>
      </dgm:t>
    </dgm:pt>
    <dgm:pt modelId="{91AE5DB3-68FF-47EF-8261-55A52DF5D34F}">
      <dgm:prSet phldrT="[Text]" phldr="0"/>
      <dgm:spPr/>
      <dgm:t>
        <a:bodyPr/>
        <a:lstStyle/>
        <a:p>
          <a:r>
            <a:rPr lang="en-IN" dirty="0"/>
            <a:t>Sweep</a:t>
          </a:r>
          <a:endParaRPr lang="en-US" dirty="0"/>
        </a:p>
      </dgm:t>
    </dgm:pt>
    <dgm:pt modelId="{5066CBD6-83E0-47D3-AB81-1C4E220B8A42}" type="parTrans" cxnId="{73E95E38-7E8D-4AF6-BD90-9290D4F81582}">
      <dgm:prSet/>
      <dgm:spPr/>
      <dgm:t>
        <a:bodyPr/>
        <a:lstStyle/>
        <a:p>
          <a:endParaRPr lang="en-US"/>
        </a:p>
      </dgm:t>
    </dgm:pt>
    <dgm:pt modelId="{CC12A2D8-3D81-4104-8ABC-8CAE7F1FAEA0}" type="sibTrans" cxnId="{73E95E38-7E8D-4AF6-BD90-9290D4F81582}">
      <dgm:prSet/>
      <dgm:spPr/>
      <dgm:t>
        <a:bodyPr/>
        <a:lstStyle/>
        <a:p>
          <a:endParaRPr lang="en-US"/>
        </a:p>
      </dgm:t>
    </dgm:pt>
    <dgm:pt modelId="{EF2DFD5F-55D1-4B11-973A-0405030679F4}">
      <dgm:prSet phldrT="[Text]" phldr="0"/>
      <dgm:spPr/>
      <dgm:t>
        <a:bodyPr/>
        <a:lstStyle/>
        <a:p>
          <a:r>
            <a:rPr lang="en-IN" dirty="0"/>
            <a:t>Compact</a:t>
          </a:r>
          <a:endParaRPr lang="en-US" dirty="0"/>
        </a:p>
      </dgm:t>
    </dgm:pt>
    <dgm:pt modelId="{798BB1DC-D32A-459C-A64C-C5C02F7E712E}" type="parTrans" cxnId="{9AF30DA0-70FE-454B-BE24-792CECA7A9D1}">
      <dgm:prSet/>
      <dgm:spPr/>
      <dgm:t>
        <a:bodyPr/>
        <a:lstStyle/>
        <a:p>
          <a:endParaRPr lang="en-US"/>
        </a:p>
      </dgm:t>
    </dgm:pt>
    <dgm:pt modelId="{70D7A1A0-999D-4F93-A092-64DB227FA8D0}" type="sibTrans" cxnId="{9AF30DA0-70FE-454B-BE24-792CECA7A9D1}">
      <dgm:prSet/>
      <dgm:spPr/>
      <dgm:t>
        <a:bodyPr/>
        <a:lstStyle/>
        <a:p>
          <a:endParaRPr lang="en-US"/>
        </a:p>
      </dgm:t>
    </dgm:pt>
    <dgm:pt modelId="{34532982-22FF-4C6A-9F2D-0126734B1BAF}" type="pres">
      <dgm:prSet presAssocID="{4D50C81C-3726-4153-AC21-6C08F990D128}" presName="cycle" presStyleCnt="0">
        <dgm:presLayoutVars>
          <dgm:dir/>
          <dgm:resizeHandles val="exact"/>
        </dgm:presLayoutVars>
      </dgm:prSet>
      <dgm:spPr/>
    </dgm:pt>
    <dgm:pt modelId="{9641B0A9-8A78-4388-BDAE-0F81FF05BE17}" type="pres">
      <dgm:prSet presAssocID="{26EC8125-97FA-43F2-8F4C-A13120FF3AE4}" presName="node" presStyleLbl="node1" presStyleIdx="0" presStyleCnt="3">
        <dgm:presLayoutVars>
          <dgm:bulletEnabled val="1"/>
        </dgm:presLayoutVars>
      </dgm:prSet>
      <dgm:spPr/>
    </dgm:pt>
    <dgm:pt modelId="{6A622E32-531E-4EDB-92FD-AD02F43C9B01}" type="pres">
      <dgm:prSet presAssocID="{26EC8125-97FA-43F2-8F4C-A13120FF3AE4}" presName="spNode" presStyleCnt="0"/>
      <dgm:spPr/>
    </dgm:pt>
    <dgm:pt modelId="{380D3972-184E-4BDA-BB0E-48B3B5D3A831}" type="pres">
      <dgm:prSet presAssocID="{61D04D1D-292A-4573-AC6D-FF7E125AD87A}" presName="sibTrans" presStyleLbl="sibTrans1D1" presStyleIdx="0" presStyleCnt="3"/>
      <dgm:spPr/>
    </dgm:pt>
    <dgm:pt modelId="{66657F20-EE8B-41A9-8236-BC4D1E2C9555}" type="pres">
      <dgm:prSet presAssocID="{91AE5DB3-68FF-47EF-8261-55A52DF5D34F}" presName="node" presStyleLbl="node1" presStyleIdx="1" presStyleCnt="3">
        <dgm:presLayoutVars>
          <dgm:bulletEnabled val="1"/>
        </dgm:presLayoutVars>
      </dgm:prSet>
      <dgm:spPr/>
    </dgm:pt>
    <dgm:pt modelId="{09F96A65-2D7B-48DD-BD92-E36484AE7712}" type="pres">
      <dgm:prSet presAssocID="{91AE5DB3-68FF-47EF-8261-55A52DF5D34F}" presName="spNode" presStyleCnt="0"/>
      <dgm:spPr/>
    </dgm:pt>
    <dgm:pt modelId="{C0D0614A-521E-4CDB-BF9F-7CB1ABC17472}" type="pres">
      <dgm:prSet presAssocID="{CC12A2D8-3D81-4104-8ABC-8CAE7F1FAEA0}" presName="sibTrans" presStyleLbl="sibTrans1D1" presStyleIdx="1" presStyleCnt="3"/>
      <dgm:spPr/>
    </dgm:pt>
    <dgm:pt modelId="{31F5064A-749F-469C-BFEB-764A7221D017}" type="pres">
      <dgm:prSet presAssocID="{EF2DFD5F-55D1-4B11-973A-0405030679F4}" presName="node" presStyleLbl="node1" presStyleIdx="2" presStyleCnt="3">
        <dgm:presLayoutVars>
          <dgm:bulletEnabled val="1"/>
        </dgm:presLayoutVars>
      </dgm:prSet>
      <dgm:spPr/>
    </dgm:pt>
    <dgm:pt modelId="{18C12E78-5C62-4E5B-93D6-42BB064B7808}" type="pres">
      <dgm:prSet presAssocID="{EF2DFD5F-55D1-4B11-973A-0405030679F4}" presName="spNode" presStyleCnt="0"/>
      <dgm:spPr/>
    </dgm:pt>
    <dgm:pt modelId="{6B741445-50B8-47A6-8220-9C209637EF1F}" type="pres">
      <dgm:prSet presAssocID="{70D7A1A0-999D-4F93-A092-64DB227FA8D0}" presName="sibTrans" presStyleLbl="sibTrans1D1" presStyleIdx="2" presStyleCnt="3"/>
      <dgm:spPr/>
    </dgm:pt>
  </dgm:ptLst>
  <dgm:cxnLst>
    <dgm:cxn modelId="{D18EDD06-BD10-4DFD-8754-B74749737F7A}" type="presOf" srcId="{61D04D1D-292A-4573-AC6D-FF7E125AD87A}" destId="{380D3972-184E-4BDA-BB0E-48B3B5D3A831}" srcOrd="0" destOrd="0" presId="urn:microsoft.com/office/officeart/2005/8/layout/cycle5"/>
    <dgm:cxn modelId="{ED1C690B-B145-4DC3-B916-FBF294E5177A}" srcId="{4D50C81C-3726-4153-AC21-6C08F990D128}" destId="{26EC8125-97FA-43F2-8F4C-A13120FF3AE4}" srcOrd="0" destOrd="0" parTransId="{DBDA4EBE-19AC-4962-9C9B-4EA8B35429EF}" sibTransId="{61D04D1D-292A-4573-AC6D-FF7E125AD87A}"/>
    <dgm:cxn modelId="{80C3AD16-1B0A-4C94-A8B9-80AA1970B9D8}" type="presOf" srcId="{CC12A2D8-3D81-4104-8ABC-8CAE7F1FAEA0}" destId="{C0D0614A-521E-4CDB-BF9F-7CB1ABC17472}" srcOrd="0" destOrd="0" presId="urn:microsoft.com/office/officeart/2005/8/layout/cycle5"/>
    <dgm:cxn modelId="{73E95E38-7E8D-4AF6-BD90-9290D4F81582}" srcId="{4D50C81C-3726-4153-AC21-6C08F990D128}" destId="{91AE5DB3-68FF-47EF-8261-55A52DF5D34F}" srcOrd="1" destOrd="0" parTransId="{5066CBD6-83E0-47D3-AB81-1C4E220B8A42}" sibTransId="{CC12A2D8-3D81-4104-8ABC-8CAE7F1FAEA0}"/>
    <dgm:cxn modelId="{FF565956-5931-4D70-BF33-817F0C463C89}" type="presOf" srcId="{91AE5DB3-68FF-47EF-8261-55A52DF5D34F}" destId="{66657F20-EE8B-41A9-8236-BC4D1E2C9555}" srcOrd="0" destOrd="0" presId="urn:microsoft.com/office/officeart/2005/8/layout/cycle5"/>
    <dgm:cxn modelId="{32DE487A-5CB6-472A-8335-76757699C34E}" type="presOf" srcId="{4D50C81C-3726-4153-AC21-6C08F990D128}" destId="{34532982-22FF-4C6A-9F2D-0126734B1BAF}" srcOrd="0" destOrd="0" presId="urn:microsoft.com/office/officeart/2005/8/layout/cycle5"/>
    <dgm:cxn modelId="{9AF30DA0-70FE-454B-BE24-792CECA7A9D1}" srcId="{4D50C81C-3726-4153-AC21-6C08F990D128}" destId="{EF2DFD5F-55D1-4B11-973A-0405030679F4}" srcOrd="2" destOrd="0" parTransId="{798BB1DC-D32A-459C-A64C-C5C02F7E712E}" sibTransId="{70D7A1A0-999D-4F93-A092-64DB227FA8D0}"/>
    <dgm:cxn modelId="{D030CCC8-6BEA-4A7C-B2FC-EE9B32B3A1DD}" type="presOf" srcId="{EF2DFD5F-55D1-4B11-973A-0405030679F4}" destId="{31F5064A-749F-469C-BFEB-764A7221D017}" srcOrd="0" destOrd="0" presId="urn:microsoft.com/office/officeart/2005/8/layout/cycle5"/>
    <dgm:cxn modelId="{2D257BEA-EAD8-479E-ABF5-C5B5A3B561A4}" type="presOf" srcId="{70D7A1A0-999D-4F93-A092-64DB227FA8D0}" destId="{6B741445-50B8-47A6-8220-9C209637EF1F}" srcOrd="0" destOrd="0" presId="urn:microsoft.com/office/officeart/2005/8/layout/cycle5"/>
    <dgm:cxn modelId="{EC9B69FF-67FC-46AD-9ACC-EDAC15DFEC36}" type="presOf" srcId="{26EC8125-97FA-43F2-8F4C-A13120FF3AE4}" destId="{9641B0A9-8A78-4388-BDAE-0F81FF05BE17}" srcOrd="0" destOrd="0" presId="urn:microsoft.com/office/officeart/2005/8/layout/cycle5"/>
    <dgm:cxn modelId="{F33CA332-F2EA-4A2B-A490-99613563D62E}" type="presParOf" srcId="{34532982-22FF-4C6A-9F2D-0126734B1BAF}" destId="{9641B0A9-8A78-4388-BDAE-0F81FF05BE17}" srcOrd="0" destOrd="0" presId="urn:microsoft.com/office/officeart/2005/8/layout/cycle5"/>
    <dgm:cxn modelId="{39AFAC65-AC34-491B-997E-34B865787BD3}" type="presParOf" srcId="{34532982-22FF-4C6A-9F2D-0126734B1BAF}" destId="{6A622E32-531E-4EDB-92FD-AD02F43C9B01}" srcOrd="1" destOrd="0" presId="urn:microsoft.com/office/officeart/2005/8/layout/cycle5"/>
    <dgm:cxn modelId="{0A13EC31-D3AD-49EE-8D5D-511B8857359C}" type="presParOf" srcId="{34532982-22FF-4C6A-9F2D-0126734B1BAF}" destId="{380D3972-184E-4BDA-BB0E-48B3B5D3A831}" srcOrd="2" destOrd="0" presId="urn:microsoft.com/office/officeart/2005/8/layout/cycle5"/>
    <dgm:cxn modelId="{2ACE0BD1-665C-4835-9210-DE2DB6D36E26}" type="presParOf" srcId="{34532982-22FF-4C6A-9F2D-0126734B1BAF}" destId="{66657F20-EE8B-41A9-8236-BC4D1E2C9555}" srcOrd="3" destOrd="0" presId="urn:microsoft.com/office/officeart/2005/8/layout/cycle5"/>
    <dgm:cxn modelId="{B41200BE-C947-417F-82E3-E6F29832FBED}" type="presParOf" srcId="{34532982-22FF-4C6A-9F2D-0126734B1BAF}" destId="{09F96A65-2D7B-48DD-BD92-E36484AE7712}" srcOrd="4" destOrd="0" presId="urn:microsoft.com/office/officeart/2005/8/layout/cycle5"/>
    <dgm:cxn modelId="{2675FAF2-85BE-489E-9129-C45036586E71}" type="presParOf" srcId="{34532982-22FF-4C6A-9F2D-0126734B1BAF}" destId="{C0D0614A-521E-4CDB-BF9F-7CB1ABC17472}" srcOrd="5" destOrd="0" presId="urn:microsoft.com/office/officeart/2005/8/layout/cycle5"/>
    <dgm:cxn modelId="{E74D0BAD-B3C0-4E9B-8B67-7C12D2FC4EB8}" type="presParOf" srcId="{34532982-22FF-4C6A-9F2D-0126734B1BAF}" destId="{31F5064A-749F-469C-BFEB-764A7221D017}" srcOrd="6" destOrd="0" presId="urn:microsoft.com/office/officeart/2005/8/layout/cycle5"/>
    <dgm:cxn modelId="{354320C8-ACDE-4DB9-AF45-E7CCFF0D4BF3}" type="presParOf" srcId="{34532982-22FF-4C6A-9F2D-0126734B1BAF}" destId="{18C12E78-5C62-4E5B-93D6-42BB064B7808}" srcOrd="7" destOrd="0" presId="urn:microsoft.com/office/officeart/2005/8/layout/cycle5"/>
    <dgm:cxn modelId="{AEB4FFD8-A74F-424B-A732-9D262B3D5FD7}" type="presParOf" srcId="{34532982-22FF-4C6A-9F2D-0126734B1BAF}" destId="{6B741445-50B8-47A6-8220-9C209637EF1F}" srcOrd="8" destOrd="0" presId="urn:microsoft.com/office/officeart/2005/8/layout/cycle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6B9F11-90F3-492F-8043-4E0652EBFC0C}">
      <dsp:nvSpPr>
        <dsp:cNvPr id="0" name=""/>
        <dsp:cNvSpPr/>
      </dsp:nvSpPr>
      <dsp:spPr>
        <a:xfrm>
          <a:off x="4481196" y="1960"/>
          <a:ext cx="1553207" cy="100958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IN" sz="2600" kern="1200" dirty="0"/>
            <a:t>Measure</a:t>
          </a:r>
          <a:endParaRPr lang="en-US" sz="2600" kern="1200" dirty="0"/>
        </a:p>
      </dsp:txBody>
      <dsp:txXfrm>
        <a:off x="4530480" y="51244"/>
        <a:ext cx="1454639" cy="911016"/>
      </dsp:txXfrm>
    </dsp:sp>
    <dsp:sp modelId="{D2AC28E9-E7B6-48AC-B4A8-55C5233D9749}">
      <dsp:nvSpPr>
        <dsp:cNvPr id="0" name=""/>
        <dsp:cNvSpPr/>
      </dsp:nvSpPr>
      <dsp:spPr>
        <a:xfrm>
          <a:off x="3588883" y="506752"/>
          <a:ext cx="3337832" cy="3337832"/>
        </a:xfrm>
        <a:custGeom>
          <a:avLst/>
          <a:gdLst/>
          <a:ahLst/>
          <a:cxnLst/>
          <a:rect l="0" t="0" r="0" b="0"/>
          <a:pathLst>
            <a:path>
              <a:moveTo>
                <a:pt x="2660217" y="326305"/>
              </a:moveTo>
              <a:arcTo wR="1668916" hR="1668916" stAng="18386392" swAng="1634775"/>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106903CC-B5A1-4418-80FB-C82781AE0FE2}">
      <dsp:nvSpPr>
        <dsp:cNvPr id="0" name=""/>
        <dsp:cNvSpPr/>
      </dsp:nvSpPr>
      <dsp:spPr>
        <a:xfrm>
          <a:off x="6150112" y="1670876"/>
          <a:ext cx="1553207" cy="100958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IN" sz="2600" kern="1200" dirty="0"/>
            <a:t>Analyse</a:t>
          </a:r>
          <a:endParaRPr lang="en-US" sz="2600" kern="1200" dirty="0"/>
        </a:p>
      </dsp:txBody>
      <dsp:txXfrm>
        <a:off x="6199396" y="1720160"/>
        <a:ext cx="1454639" cy="911016"/>
      </dsp:txXfrm>
    </dsp:sp>
    <dsp:sp modelId="{F4DBDEA6-9826-48DA-9627-28A31257D074}">
      <dsp:nvSpPr>
        <dsp:cNvPr id="0" name=""/>
        <dsp:cNvSpPr/>
      </dsp:nvSpPr>
      <dsp:spPr>
        <a:xfrm>
          <a:off x="3588883" y="506752"/>
          <a:ext cx="3337832" cy="3337832"/>
        </a:xfrm>
        <a:custGeom>
          <a:avLst/>
          <a:gdLst/>
          <a:ahLst/>
          <a:cxnLst/>
          <a:rect l="0" t="0" r="0" b="0"/>
          <a:pathLst>
            <a:path>
              <a:moveTo>
                <a:pt x="3164898" y="2408727"/>
              </a:moveTo>
              <a:arcTo wR="1668916" hR="1668916" stAng="1578832" swAng="1634775"/>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3261ECFE-E21C-48A5-94F9-410DBF0AE0FF}">
      <dsp:nvSpPr>
        <dsp:cNvPr id="0" name=""/>
        <dsp:cNvSpPr/>
      </dsp:nvSpPr>
      <dsp:spPr>
        <a:xfrm>
          <a:off x="4481196" y="3339792"/>
          <a:ext cx="1553207" cy="100958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IN" sz="2600" kern="1200" dirty="0"/>
            <a:t>Optimize</a:t>
          </a:r>
          <a:endParaRPr lang="en-US" sz="2600" kern="1200" dirty="0"/>
        </a:p>
      </dsp:txBody>
      <dsp:txXfrm>
        <a:off x="4530480" y="3389076"/>
        <a:ext cx="1454639" cy="911016"/>
      </dsp:txXfrm>
    </dsp:sp>
    <dsp:sp modelId="{659824BD-80CC-4199-8A93-EECDE7559BD1}">
      <dsp:nvSpPr>
        <dsp:cNvPr id="0" name=""/>
        <dsp:cNvSpPr/>
      </dsp:nvSpPr>
      <dsp:spPr>
        <a:xfrm>
          <a:off x="3588883" y="506752"/>
          <a:ext cx="3337832" cy="3337832"/>
        </a:xfrm>
        <a:custGeom>
          <a:avLst/>
          <a:gdLst/>
          <a:ahLst/>
          <a:cxnLst/>
          <a:rect l="0" t="0" r="0" b="0"/>
          <a:pathLst>
            <a:path>
              <a:moveTo>
                <a:pt x="677615" y="3011527"/>
              </a:moveTo>
              <a:arcTo wR="1668916" hR="1668916" stAng="7586392" swAng="1634775"/>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AEC591A3-D767-4AB8-90F1-6BD4296CD062}">
      <dsp:nvSpPr>
        <dsp:cNvPr id="0" name=""/>
        <dsp:cNvSpPr/>
      </dsp:nvSpPr>
      <dsp:spPr>
        <a:xfrm>
          <a:off x="2812279" y="1670876"/>
          <a:ext cx="1553207" cy="100958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IN" sz="2600" kern="1200" dirty="0"/>
            <a:t>Validate</a:t>
          </a:r>
          <a:endParaRPr lang="en-US" sz="2600" kern="1200" dirty="0"/>
        </a:p>
      </dsp:txBody>
      <dsp:txXfrm>
        <a:off x="2861563" y="1720160"/>
        <a:ext cx="1454639" cy="911016"/>
      </dsp:txXfrm>
    </dsp:sp>
    <dsp:sp modelId="{52B81776-AC24-4994-897B-FC76B6EF2389}">
      <dsp:nvSpPr>
        <dsp:cNvPr id="0" name=""/>
        <dsp:cNvSpPr/>
      </dsp:nvSpPr>
      <dsp:spPr>
        <a:xfrm>
          <a:off x="3588883" y="506752"/>
          <a:ext cx="3337832" cy="3337832"/>
        </a:xfrm>
        <a:custGeom>
          <a:avLst/>
          <a:gdLst/>
          <a:ahLst/>
          <a:cxnLst/>
          <a:rect l="0" t="0" r="0" b="0"/>
          <a:pathLst>
            <a:path>
              <a:moveTo>
                <a:pt x="172934" y="929105"/>
              </a:moveTo>
              <a:arcTo wR="1668916" hR="1668916" stAng="12378832" swAng="1634775"/>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641B0A9-8A78-4388-BDAE-0F81FF05BE17}">
      <dsp:nvSpPr>
        <dsp:cNvPr id="0" name=""/>
        <dsp:cNvSpPr/>
      </dsp:nvSpPr>
      <dsp:spPr>
        <a:xfrm>
          <a:off x="1592684" y="2104"/>
          <a:ext cx="1996231" cy="129755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n-IN" sz="3400" kern="1200" dirty="0"/>
            <a:t>Mark</a:t>
          </a:r>
          <a:endParaRPr lang="en-US" sz="3400" kern="1200" dirty="0"/>
        </a:p>
      </dsp:txBody>
      <dsp:txXfrm>
        <a:off x="1656025" y="65445"/>
        <a:ext cx="1869549" cy="1170868"/>
      </dsp:txXfrm>
    </dsp:sp>
    <dsp:sp modelId="{380D3972-184E-4BDA-BB0E-48B3B5D3A831}">
      <dsp:nvSpPr>
        <dsp:cNvPr id="0" name=""/>
        <dsp:cNvSpPr/>
      </dsp:nvSpPr>
      <dsp:spPr>
        <a:xfrm>
          <a:off x="861397" y="650879"/>
          <a:ext cx="3458805" cy="3458805"/>
        </a:xfrm>
        <a:custGeom>
          <a:avLst/>
          <a:gdLst/>
          <a:ahLst/>
          <a:cxnLst/>
          <a:rect l="0" t="0" r="0" b="0"/>
          <a:pathLst>
            <a:path>
              <a:moveTo>
                <a:pt x="2995041" y="550846"/>
              </a:moveTo>
              <a:arcTo wR="1729402" hR="1729402" stAng="19022429" swAng="2300487"/>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66657F20-EE8B-41A9-8236-BC4D1E2C9555}">
      <dsp:nvSpPr>
        <dsp:cNvPr id="0" name=""/>
        <dsp:cNvSpPr/>
      </dsp:nvSpPr>
      <dsp:spPr>
        <a:xfrm>
          <a:off x="3090391" y="2596208"/>
          <a:ext cx="1996231" cy="129755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n-IN" sz="3400" kern="1200" dirty="0"/>
            <a:t>Sweep</a:t>
          </a:r>
          <a:endParaRPr lang="en-US" sz="3400" kern="1200" dirty="0"/>
        </a:p>
      </dsp:txBody>
      <dsp:txXfrm>
        <a:off x="3153732" y="2659549"/>
        <a:ext cx="1869549" cy="1170868"/>
      </dsp:txXfrm>
    </dsp:sp>
    <dsp:sp modelId="{C0D0614A-521E-4CDB-BF9F-7CB1ABC17472}">
      <dsp:nvSpPr>
        <dsp:cNvPr id="0" name=""/>
        <dsp:cNvSpPr/>
      </dsp:nvSpPr>
      <dsp:spPr>
        <a:xfrm>
          <a:off x="861397" y="650879"/>
          <a:ext cx="3458805" cy="3458805"/>
        </a:xfrm>
        <a:custGeom>
          <a:avLst/>
          <a:gdLst/>
          <a:ahLst/>
          <a:cxnLst/>
          <a:rect l="0" t="0" r="0" b="0"/>
          <a:pathLst>
            <a:path>
              <a:moveTo>
                <a:pt x="2259471" y="3375568"/>
              </a:moveTo>
              <a:arcTo wR="1729402" hR="1729402" stAng="4329081" swAng="2141839"/>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 modelId="{31F5064A-749F-469C-BFEB-764A7221D017}">
      <dsp:nvSpPr>
        <dsp:cNvPr id="0" name=""/>
        <dsp:cNvSpPr/>
      </dsp:nvSpPr>
      <dsp:spPr>
        <a:xfrm>
          <a:off x="94977" y="2596208"/>
          <a:ext cx="1996231" cy="129755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n-IN" sz="3400" kern="1200" dirty="0"/>
            <a:t>Compact</a:t>
          </a:r>
          <a:endParaRPr lang="en-US" sz="3400" kern="1200" dirty="0"/>
        </a:p>
      </dsp:txBody>
      <dsp:txXfrm>
        <a:off x="158318" y="2659549"/>
        <a:ext cx="1869549" cy="1170868"/>
      </dsp:txXfrm>
    </dsp:sp>
    <dsp:sp modelId="{6B741445-50B8-47A6-8220-9C209637EF1F}">
      <dsp:nvSpPr>
        <dsp:cNvPr id="0" name=""/>
        <dsp:cNvSpPr/>
      </dsp:nvSpPr>
      <dsp:spPr>
        <a:xfrm>
          <a:off x="861397" y="650879"/>
          <a:ext cx="3458805" cy="3458805"/>
        </a:xfrm>
        <a:custGeom>
          <a:avLst/>
          <a:gdLst/>
          <a:ahLst/>
          <a:cxnLst/>
          <a:rect l="0" t="0" r="0" b="0"/>
          <a:pathLst>
            <a:path>
              <a:moveTo>
                <a:pt x="5614" y="1590162"/>
              </a:moveTo>
              <a:arcTo wR="1729402" hR="1729402" stAng="11077084" swAng="2300487"/>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cycle5">
  <dgm:title val=""/>
  <dgm:desc val=""/>
  <dgm:catLst>
    <dgm:cat type="cycle" pri="3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fact="-1"/>
          <dgm:constr type="diam" for="ch"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2"/>
                <dgm:constr type="endPad" refType="connDist" fact="0.2"/>
              </dgm:constrLst>
              <dgm:ruleLst/>
            </dgm:layoutNode>
          </dgm:forEach>
        </dgm:if>
        <dgm:else name="Name16"/>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cycle5">
  <dgm:title val=""/>
  <dgm:desc val=""/>
  <dgm:catLst>
    <dgm:cat type="cycle" pri="3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fact="-1"/>
          <dgm:constr type="diam" for="ch"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2"/>
                <dgm:constr type="endPad" refType="connDist" fact="0.2"/>
              </dgm:constrLst>
              <dgm:ruleLst/>
            </dgm:layoutNode>
          </dgm:forEach>
        </dgm:if>
        <dgm:else name="Name16"/>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4674BD-63E5-4BBC-812F-F26A0E8D6ED1}" type="datetimeFigureOut">
              <a:rPr lang="en-US" smtClean="0"/>
              <a:t>4/13/2026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339FD7-8C06-410C-A970-669A60BB1A55}" type="slidenum">
              <a:rPr lang="en-US" smtClean="0"/>
              <a:t>‹#›</a:t>
            </a:fld>
            <a:endParaRPr lang="en-US"/>
          </a:p>
        </p:txBody>
      </p:sp>
    </p:spTree>
    <p:extLst>
      <p:ext uri="{BB962C8B-B14F-4D97-AF65-F5344CB8AC3E}">
        <p14:creationId xmlns:p14="http://schemas.microsoft.com/office/powerpoint/2010/main" val="20551289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7339FD7-8C06-410C-A970-669A60BB1A55}" type="slidenum">
              <a:rPr lang="en-US" smtClean="0"/>
              <a:t>18</a:t>
            </a:fld>
            <a:endParaRPr lang="en-US"/>
          </a:p>
        </p:txBody>
      </p:sp>
    </p:spTree>
    <p:extLst>
      <p:ext uri="{BB962C8B-B14F-4D97-AF65-F5344CB8AC3E}">
        <p14:creationId xmlns:p14="http://schemas.microsoft.com/office/powerpoint/2010/main" val="39976293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76B137A-490D-47BD-A9B1-EC33E76B6A01}" type="slidenum">
              <a:rPr lang="en-US" smtClean="0"/>
              <a:t>187</a:t>
            </a:fld>
            <a:endParaRPr lang="en-US"/>
          </a:p>
        </p:txBody>
      </p:sp>
    </p:spTree>
    <p:extLst>
      <p:ext uri="{BB962C8B-B14F-4D97-AF65-F5344CB8AC3E}">
        <p14:creationId xmlns:p14="http://schemas.microsoft.com/office/powerpoint/2010/main" val="31568268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7799F-362B-2194-BB38-0CEF60D7A6D3}"/>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00BEA5A-3A6D-4A25-20AA-9A68C57594F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53C1772C-1ADC-19FC-2C17-B91F9D4B25D5}"/>
              </a:ext>
            </a:extLst>
          </p:cNvPr>
          <p:cNvSpPr>
            <a:spLocks noGrp="1"/>
          </p:cNvSpPr>
          <p:nvPr>
            <p:ph type="dt" sz="half" idx="10"/>
          </p:nvPr>
        </p:nvSpPr>
        <p:spPr/>
        <p:txBody>
          <a:bodyPr/>
          <a:lstStyle/>
          <a:p>
            <a:fld id="{B79E7EA4-82A1-42D5-8722-DEF7D7D32536}" type="datetimeFigureOut">
              <a:rPr lang="en-US" smtClean="0"/>
              <a:t>4/13/2026</a:t>
            </a:fld>
            <a:endParaRPr lang="en-US"/>
          </a:p>
        </p:txBody>
      </p:sp>
      <p:sp>
        <p:nvSpPr>
          <p:cNvPr id="5" name="Footer Placeholder 4">
            <a:extLst>
              <a:ext uri="{FF2B5EF4-FFF2-40B4-BE49-F238E27FC236}">
                <a16:creationId xmlns:a16="http://schemas.microsoft.com/office/drawing/2014/main" id="{FD844B71-D221-7B69-91AA-4A557CC541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DD4BE2-6A1D-5E2A-E4C6-F2A868D0CACF}"/>
              </a:ext>
            </a:extLst>
          </p:cNvPr>
          <p:cNvSpPr>
            <a:spLocks noGrp="1"/>
          </p:cNvSpPr>
          <p:nvPr>
            <p:ph type="sldNum" sz="quarter" idx="12"/>
          </p:nvPr>
        </p:nvSpPr>
        <p:spPr/>
        <p:txBody>
          <a:bodyPr/>
          <a:lstStyle/>
          <a:p>
            <a:fld id="{A05A83B3-21AE-4FD8-B05A-CDEAF3F789FC}" type="slidenum">
              <a:rPr lang="en-US" smtClean="0"/>
              <a:t>‹#›</a:t>
            </a:fld>
            <a:endParaRPr lang="en-US"/>
          </a:p>
        </p:txBody>
      </p:sp>
    </p:spTree>
    <p:extLst>
      <p:ext uri="{BB962C8B-B14F-4D97-AF65-F5344CB8AC3E}">
        <p14:creationId xmlns:p14="http://schemas.microsoft.com/office/powerpoint/2010/main" val="24493625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70D808-D618-8AF6-9D32-E9FC4FA2EDD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ED66FDEF-D9B6-0C19-25E0-64107CD0D513}"/>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D141D8E-C233-C5B4-A27C-E9A14FE85E08}"/>
              </a:ext>
            </a:extLst>
          </p:cNvPr>
          <p:cNvSpPr>
            <a:spLocks noGrp="1"/>
          </p:cNvSpPr>
          <p:nvPr>
            <p:ph type="dt" sz="half" idx="10"/>
          </p:nvPr>
        </p:nvSpPr>
        <p:spPr/>
        <p:txBody>
          <a:bodyPr/>
          <a:lstStyle/>
          <a:p>
            <a:fld id="{B79E7EA4-82A1-42D5-8722-DEF7D7D32536}" type="datetimeFigureOut">
              <a:rPr lang="en-US" smtClean="0"/>
              <a:t>4/13/2026</a:t>
            </a:fld>
            <a:endParaRPr lang="en-US"/>
          </a:p>
        </p:txBody>
      </p:sp>
      <p:sp>
        <p:nvSpPr>
          <p:cNvPr id="5" name="Footer Placeholder 4">
            <a:extLst>
              <a:ext uri="{FF2B5EF4-FFF2-40B4-BE49-F238E27FC236}">
                <a16:creationId xmlns:a16="http://schemas.microsoft.com/office/drawing/2014/main" id="{8D4A0589-5E1A-372F-355D-7233B3F991D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5B2B39-B559-C675-D5F3-4E1339A21971}"/>
              </a:ext>
            </a:extLst>
          </p:cNvPr>
          <p:cNvSpPr>
            <a:spLocks noGrp="1"/>
          </p:cNvSpPr>
          <p:nvPr>
            <p:ph type="sldNum" sz="quarter" idx="12"/>
          </p:nvPr>
        </p:nvSpPr>
        <p:spPr/>
        <p:txBody>
          <a:bodyPr/>
          <a:lstStyle/>
          <a:p>
            <a:fld id="{A05A83B3-21AE-4FD8-B05A-CDEAF3F789FC}" type="slidenum">
              <a:rPr lang="en-US" smtClean="0"/>
              <a:t>‹#›</a:t>
            </a:fld>
            <a:endParaRPr lang="en-US"/>
          </a:p>
        </p:txBody>
      </p:sp>
    </p:spTree>
    <p:extLst>
      <p:ext uri="{BB962C8B-B14F-4D97-AF65-F5344CB8AC3E}">
        <p14:creationId xmlns:p14="http://schemas.microsoft.com/office/powerpoint/2010/main" val="11444649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EC82CE-7A2A-4CDA-A793-BF1B07AE6FEB}"/>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F4BFCF4B-F8F0-9C9E-21EC-E1AD75D0FCD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E0EAC01A-8BB0-5B1C-7C60-5DC46F43AFFB}"/>
              </a:ext>
            </a:extLst>
          </p:cNvPr>
          <p:cNvSpPr>
            <a:spLocks noGrp="1"/>
          </p:cNvSpPr>
          <p:nvPr>
            <p:ph type="dt" sz="half" idx="10"/>
          </p:nvPr>
        </p:nvSpPr>
        <p:spPr/>
        <p:txBody>
          <a:bodyPr/>
          <a:lstStyle/>
          <a:p>
            <a:fld id="{B79E7EA4-82A1-42D5-8722-DEF7D7D32536}" type="datetimeFigureOut">
              <a:rPr lang="en-US" smtClean="0"/>
              <a:t>4/13/2026</a:t>
            </a:fld>
            <a:endParaRPr lang="en-US"/>
          </a:p>
        </p:txBody>
      </p:sp>
      <p:sp>
        <p:nvSpPr>
          <p:cNvPr id="5" name="Footer Placeholder 4">
            <a:extLst>
              <a:ext uri="{FF2B5EF4-FFF2-40B4-BE49-F238E27FC236}">
                <a16:creationId xmlns:a16="http://schemas.microsoft.com/office/drawing/2014/main" id="{DC6F4E86-74CC-FA0D-2A3B-6C2FD523ACF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33180F-15B2-6621-461B-43F46713F0F7}"/>
              </a:ext>
            </a:extLst>
          </p:cNvPr>
          <p:cNvSpPr>
            <a:spLocks noGrp="1"/>
          </p:cNvSpPr>
          <p:nvPr>
            <p:ph type="sldNum" sz="quarter" idx="12"/>
          </p:nvPr>
        </p:nvSpPr>
        <p:spPr/>
        <p:txBody>
          <a:bodyPr/>
          <a:lstStyle/>
          <a:p>
            <a:fld id="{A05A83B3-21AE-4FD8-B05A-CDEAF3F789FC}" type="slidenum">
              <a:rPr lang="en-US" smtClean="0"/>
              <a:t>‹#›</a:t>
            </a:fld>
            <a:endParaRPr lang="en-US"/>
          </a:p>
        </p:txBody>
      </p:sp>
    </p:spTree>
    <p:extLst>
      <p:ext uri="{BB962C8B-B14F-4D97-AF65-F5344CB8AC3E}">
        <p14:creationId xmlns:p14="http://schemas.microsoft.com/office/powerpoint/2010/main" val="40954411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3C6692-C528-E68A-E319-263CD4CB45FA}"/>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DAFF4A2-3A3C-07C5-70C1-F5DFDD5FC67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86C8F615-C3D1-B9AD-0EB7-08C75831E885}"/>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EA461C32-D52F-A1B9-566C-EF41C68F5684}"/>
              </a:ext>
            </a:extLst>
          </p:cNvPr>
          <p:cNvSpPr>
            <a:spLocks noGrp="1"/>
          </p:cNvSpPr>
          <p:nvPr>
            <p:ph type="dt" sz="half" idx="10"/>
          </p:nvPr>
        </p:nvSpPr>
        <p:spPr/>
        <p:txBody>
          <a:bodyPr/>
          <a:lstStyle/>
          <a:p>
            <a:fld id="{B79E7EA4-82A1-42D5-8722-DEF7D7D32536}" type="datetimeFigureOut">
              <a:rPr lang="en-US" smtClean="0"/>
              <a:t>4/13/2026</a:t>
            </a:fld>
            <a:endParaRPr lang="en-US"/>
          </a:p>
        </p:txBody>
      </p:sp>
      <p:sp>
        <p:nvSpPr>
          <p:cNvPr id="6" name="Footer Placeholder 5">
            <a:extLst>
              <a:ext uri="{FF2B5EF4-FFF2-40B4-BE49-F238E27FC236}">
                <a16:creationId xmlns:a16="http://schemas.microsoft.com/office/drawing/2014/main" id="{8A2132BC-C612-804B-FA55-F583BFCD1CE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ED16AA2-FB4A-D6CD-60A4-89AFE2681B2C}"/>
              </a:ext>
            </a:extLst>
          </p:cNvPr>
          <p:cNvSpPr>
            <a:spLocks noGrp="1"/>
          </p:cNvSpPr>
          <p:nvPr>
            <p:ph type="sldNum" sz="quarter" idx="12"/>
          </p:nvPr>
        </p:nvSpPr>
        <p:spPr/>
        <p:txBody>
          <a:bodyPr/>
          <a:lstStyle/>
          <a:p>
            <a:fld id="{A05A83B3-21AE-4FD8-B05A-CDEAF3F789FC}" type="slidenum">
              <a:rPr lang="en-US" smtClean="0"/>
              <a:t>‹#›</a:t>
            </a:fld>
            <a:endParaRPr lang="en-US"/>
          </a:p>
        </p:txBody>
      </p:sp>
    </p:spTree>
    <p:extLst>
      <p:ext uri="{BB962C8B-B14F-4D97-AF65-F5344CB8AC3E}">
        <p14:creationId xmlns:p14="http://schemas.microsoft.com/office/powerpoint/2010/main" val="10359484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4E2F9-B91E-75A0-8DFF-E2C34D22B58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3A791B7F-BE04-F03A-DA80-95CC7622A7C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E0F8E7F2-E11E-F36B-590F-30AF9F1A75E4}"/>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CB641696-4453-CD26-B88E-4947DB608F0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43804933-F4F1-0753-9527-16F2967CBF21}"/>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253709D7-AF70-8A58-2AFD-F5CECB499108}"/>
              </a:ext>
            </a:extLst>
          </p:cNvPr>
          <p:cNvSpPr>
            <a:spLocks noGrp="1"/>
          </p:cNvSpPr>
          <p:nvPr>
            <p:ph type="dt" sz="half" idx="10"/>
          </p:nvPr>
        </p:nvSpPr>
        <p:spPr/>
        <p:txBody>
          <a:bodyPr/>
          <a:lstStyle/>
          <a:p>
            <a:fld id="{B79E7EA4-82A1-42D5-8722-DEF7D7D32536}" type="datetimeFigureOut">
              <a:rPr lang="en-US" smtClean="0"/>
              <a:t>4/13/2026</a:t>
            </a:fld>
            <a:endParaRPr lang="en-US"/>
          </a:p>
        </p:txBody>
      </p:sp>
      <p:sp>
        <p:nvSpPr>
          <p:cNvPr id="8" name="Footer Placeholder 7">
            <a:extLst>
              <a:ext uri="{FF2B5EF4-FFF2-40B4-BE49-F238E27FC236}">
                <a16:creationId xmlns:a16="http://schemas.microsoft.com/office/drawing/2014/main" id="{0ABCB377-70FF-F32D-6018-69036985E79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68ADF16-FABA-B7C1-DA8A-0F62E076FC60}"/>
              </a:ext>
            </a:extLst>
          </p:cNvPr>
          <p:cNvSpPr>
            <a:spLocks noGrp="1"/>
          </p:cNvSpPr>
          <p:nvPr>
            <p:ph type="sldNum" sz="quarter" idx="12"/>
          </p:nvPr>
        </p:nvSpPr>
        <p:spPr/>
        <p:txBody>
          <a:bodyPr/>
          <a:lstStyle/>
          <a:p>
            <a:fld id="{A05A83B3-21AE-4FD8-B05A-CDEAF3F789FC}" type="slidenum">
              <a:rPr lang="en-US" smtClean="0"/>
              <a:t>‹#›</a:t>
            </a:fld>
            <a:endParaRPr lang="en-US"/>
          </a:p>
        </p:txBody>
      </p:sp>
    </p:spTree>
    <p:extLst>
      <p:ext uri="{BB962C8B-B14F-4D97-AF65-F5344CB8AC3E}">
        <p14:creationId xmlns:p14="http://schemas.microsoft.com/office/powerpoint/2010/main" val="4223599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D5CA73-BB4C-672B-A020-365022684BC4}"/>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AEF54211-4C59-AB89-9C1D-9A7820957670}"/>
              </a:ext>
            </a:extLst>
          </p:cNvPr>
          <p:cNvSpPr>
            <a:spLocks noGrp="1"/>
          </p:cNvSpPr>
          <p:nvPr>
            <p:ph type="dt" sz="half" idx="10"/>
          </p:nvPr>
        </p:nvSpPr>
        <p:spPr/>
        <p:txBody>
          <a:bodyPr/>
          <a:lstStyle/>
          <a:p>
            <a:fld id="{B79E7EA4-82A1-42D5-8722-DEF7D7D32536}" type="datetimeFigureOut">
              <a:rPr lang="en-US" smtClean="0"/>
              <a:t>4/13/2026</a:t>
            </a:fld>
            <a:endParaRPr lang="en-US"/>
          </a:p>
        </p:txBody>
      </p:sp>
      <p:sp>
        <p:nvSpPr>
          <p:cNvPr id="4" name="Footer Placeholder 3">
            <a:extLst>
              <a:ext uri="{FF2B5EF4-FFF2-40B4-BE49-F238E27FC236}">
                <a16:creationId xmlns:a16="http://schemas.microsoft.com/office/drawing/2014/main" id="{F1928CCB-0712-0E11-E86F-1109FE5DA08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92F3AFA-027D-0AC7-B074-C63C2CA8DA1C}"/>
              </a:ext>
            </a:extLst>
          </p:cNvPr>
          <p:cNvSpPr>
            <a:spLocks noGrp="1"/>
          </p:cNvSpPr>
          <p:nvPr>
            <p:ph type="sldNum" sz="quarter" idx="12"/>
          </p:nvPr>
        </p:nvSpPr>
        <p:spPr/>
        <p:txBody>
          <a:bodyPr/>
          <a:lstStyle/>
          <a:p>
            <a:fld id="{A05A83B3-21AE-4FD8-B05A-CDEAF3F789FC}" type="slidenum">
              <a:rPr lang="en-US" smtClean="0"/>
              <a:t>‹#›</a:t>
            </a:fld>
            <a:endParaRPr lang="en-US"/>
          </a:p>
        </p:txBody>
      </p:sp>
    </p:spTree>
    <p:extLst>
      <p:ext uri="{BB962C8B-B14F-4D97-AF65-F5344CB8AC3E}">
        <p14:creationId xmlns:p14="http://schemas.microsoft.com/office/powerpoint/2010/main" val="2645754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0613C28-2349-3D20-5622-F7C3676ED8E3}"/>
              </a:ext>
            </a:extLst>
          </p:cNvPr>
          <p:cNvSpPr>
            <a:spLocks noGrp="1"/>
          </p:cNvSpPr>
          <p:nvPr>
            <p:ph type="dt" sz="half" idx="10"/>
          </p:nvPr>
        </p:nvSpPr>
        <p:spPr/>
        <p:txBody>
          <a:bodyPr/>
          <a:lstStyle/>
          <a:p>
            <a:fld id="{B79E7EA4-82A1-42D5-8722-DEF7D7D32536}" type="datetimeFigureOut">
              <a:rPr lang="en-US" smtClean="0"/>
              <a:t>4/13/2026</a:t>
            </a:fld>
            <a:endParaRPr lang="en-US"/>
          </a:p>
        </p:txBody>
      </p:sp>
      <p:sp>
        <p:nvSpPr>
          <p:cNvPr id="3" name="Footer Placeholder 2">
            <a:extLst>
              <a:ext uri="{FF2B5EF4-FFF2-40B4-BE49-F238E27FC236}">
                <a16:creationId xmlns:a16="http://schemas.microsoft.com/office/drawing/2014/main" id="{6E4083B5-6D72-8AC6-755F-BFA95D24976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A0A63C4-B6F0-B226-E2CA-25C8E53DBAEA}"/>
              </a:ext>
            </a:extLst>
          </p:cNvPr>
          <p:cNvSpPr>
            <a:spLocks noGrp="1"/>
          </p:cNvSpPr>
          <p:nvPr>
            <p:ph type="sldNum" sz="quarter" idx="12"/>
          </p:nvPr>
        </p:nvSpPr>
        <p:spPr/>
        <p:txBody>
          <a:bodyPr/>
          <a:lstStyle/>
          <a:p>
            <a:fld id="{A05A83B3-21AE-4FD8-B05A-CDEAF3F789FC}" type="slidenum">
              <a:rPr lang="en-US" smtClean="0"/>
              <a:t>‹#›</a:t>
            </a:fld>
            <a:endParaRPr lang="en-US"/>
          </a:p>
        </p:txBody>
      </p:sp>
    </p:spTree>
    <p:extLst>
      <p:ext uri="{BB962C8B-B14F-4D97-AF65-F5344CB8AC3E}">
        <p14:creationId xmlns:p14="http://schemas.microsoft.com/office/powerpoint/2010/main" val="24497276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3C195-2633-21CB-6407-F8B79C7C60D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27EF8989-94D6-E44C-143D-B3DD6FC9FB6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6873EE92-F25A-2868-3228-D46BA83940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BB609072-8931-AF77-84D0-54BF0B464175}"/>
              </a:ext>
            </a:extLst>
          </p:cNvPr>
          <p:cNvSpPr>
            <a:spLocks noGrp="1"/>
          </p:cNvSpPr>
          <p:nvPr>
            <p:ph type="dt" sz="half" idx="10"/>
          </p:nvPr>
        </p:nvSpPr>
        <p:spPr/>
        <p:txBody>
          <a:bodyPr/>
          <a:lstStyle/>
          <a:p>
            <a:fld id="{B79E7EA4-82A1-42D5-8722-DEF7D7D32536}" type="datetimeFigureOut">
              <a:rPr lang="en-US" smtClean="0"/>
              <a:t>4/13/2026</a:t>
            </a:fld>
            <a:endParaRPr lang="en-US"/>
          </a:p>
        </p:txBody>
      </p:sp>
      <p:sp>
        <p:nvSpPr>
          <p:cNvPr id="6" name="Footer Placeholder 5">
            <a:extLst>
              <a:ext uri="{FF2B5EF4-FFF2-40B4-BE49-F238E27FC236}">
                <a16:creationId xmlns:a16="http://schemas.microsoft.com/office/drawing/2014/main" id="{323065E9-DA92-8F36-1C0B-453932B79F4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A1556BB-4944-48B2-9BFD-2497CE2B0BC2}"/>
              </a:ext>
            </a:extLst>
          </p:cNvPr>
          <p:cNvSpPr>
            <a:spLocks noGrp="1"/>
          </p:cNvSpPr>
          <p:nvPr>
            <p:ph type="sldNum" sz="quarter" idx="12"/>
          </p:nvPr>
        </p:nvSpPr>
        <p:spPr/>
        <p:txBody>
          <a:bodyPr/>
          <a:lstStyle/>
          <a:p>
            <a:fld id="{A05A83B3-21AE-4FD8-B05A-CDEAF3F789FC}" type="slidenum">
              <a:rPr lang="en-US" smtClean="0"/>
              <a:t>‹#›</a:t>
            </a:fld>
            <a:endParaRPr lang="en-US"/>
          </a:p>
        </p:txBody>
      </p:sp>
    </p:spTree>
    <p:extLst>
      <p:ext uri="{BB962C8B-B14F-4D97-AF65-F5344CB8AC3E}">
        <p14:creationId xmlns:p14="http://schemas.microsoft.com/office/powerpoint/2010/main" val="8594102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E1AC35-85E9-299D-78E7-72F59E5FA2C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5D92A7A9-74C4-F600-4EEF-E3EB7687658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F7D3599-DC7C-64C2-7299-325A9F8A9F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A741C7E-19F3-CCD6-BC4F-C2FF4B704A4E}"/>
              </a:ext>
            </a:extLst>
          </p:cNvPr>
          <p:cNvSpPr>
            <a:spLocks noGrp="1"/>
          </p:cNvSpPr>
          <p:nvPr>
            <p:ph type="dt" sz="half" idx="10"/>
          </p:nvPr>
        </p:nvSpPr>
        <p:spPr/>
        <p:txBody>
          <a:bodyPr/>
          <a:lstStyle/>
          <a:p>
            <a:fld id="{B79E7EA4-82A1-42D5-8722-DEF7D7D32536}" type="datetimeFigureOut">
              <a:rPr lang="en-US" smtClean="0"/>
              <a:t>4/13/2026</a:t>
            </a:fld>
            <a:endParaRPr lang="en-US"/>
          </a:p>
        </p:txBody>
      </p:sp>
      <p:sp>
        <p:nvSpPr>
          <p:cNvPr id="6" name="Footer Placeholder 5">
            <a:extLst>
              <a:ext uri="{FF2B5EF4-FFF2-40B4-BE49-F238E27FC236}">
                <a16:creationId xmlns:a16="http://schemas.microsoft.com/office/drawing/2014/main" id="{5F258E75-DF62-F4B6-B2C1-9B4509F35A5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4CFCFBD-064F-8B92-2138-53647603EDEA}"/>
              </a:ext>
            </a:extLst>
          </p:cNvPr>
          <p:cNvSpPr>
            <a:spLocks noGrp="1"/>
          </p:cNvSpPr>
          <p:nvPr>
            <p:ph type="sldNum" sz="quarter" idx="12"/>
          </p:nvPr>
        </p:nvSpPr>
        <p:spPr/>
        <p:txBody>
          <a:bodyPr/>
          <a:lstStyle/>
          <a:p>
            <a:fld id="{A05A83B3-21AE-4FD8-B05A-CDEAF3F789FC}" type="slidenum">
              <a:rPr lang="en-US" smtClean="0"/>
              <a:t>‹#›</a:t>
            </a:fld>
            <a:endParaRPr lang="en-US"/>
          </a:p>
        </p:txBody>
      </p:sp>
    </p:spTree>
    <p:extLst>
      <p:ext uri="{BB962C8B-B14F-4D97-AF65-F5344CB8AC3E}">
        <p14:creationId xmlns:p14="http://schemas.microsoft.com/office/powerpoint/2010/main" val="23050341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E18F44-EB03-36E2-94FE-F262F6757722}"/>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6C3AF45D-E76E-9E70-5828-6F06223ADBE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75829CA-EC8D-ADEC-8301-983336263554}"/>
              </a:ext>
            </a:extLst>
          </p:cNvPr>
          <p:cNvSpPr>
            <a:spLocks noGrp="1"/>
          </p:cNvSpPr>
          <p:nvPr>
            <p:ph type="dt" sz="half" idx="10"/>
          </p:nvPr>
        </p:nvSpPr>
        <p:spPr/>
        <p:txBody>
          <a:bodyPr/>
          <a:lstStyle/>
          <a:p>
            <a:fld id="{B79E7EA4-82A1-42D5-8722-DEF7D7D32536}" type="datetimeFigureOut">
              <a:rPr lang="en-US" smtClean="0"/>
              <a:t>4/13/2026</a:t>
            </a:fld>
            <a:endParaRPr lang="en-US"/>
          </a:p>
        </p:txBody>
      </p:sp>
      <p:sp>
        <p:nvSpPr>
          <p:cNvPr id="5" name="Footer Placeholder 4">
            <a:extLst>
              <a:ext uri="{FF2B5EF4-FFF2-40B4-BE49-F238E27FC236}">
                <a16:creationId xmlns:a16="http://schemas.microsoft.com/office/drawing/2014/main" id="{58B6BE33-8255-1BB4-0FD3-50E81DB069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40FD48-B6D9-E2C5-5EED-CBB77070F4AA}"/>
              </a:ext>
            </a:extLst>
          </p:cNvPr>
          <p:cNvSpPr>
            <a:spLocks noGrp="1"/>
          </p:cNvSpPr>
          <p:nvPr>
            <p:ph type="sldNum" sz="quarter" idx="12"/>
          </p:nvPr>
        </p:nvSpPr>
        <p:spPr/>
        <p:txBody>
          <a:bodyPr/>
          <a:lstStyle/>
          <a:p>
            <a:fld id="{A05A83B3-21AE-4FD8-B05A-CDEAF3F789FC}" type="slidenum">
              <a:rPr lang="en-US" smtClean="0"/>
              <a:t>‹#›</a:t>
            </a:fld>
            <a:endParaRPr lang="en-US"/>
          </a:p>
        </p:txBody>
      </p:sp>
    </p:spTree>
    <p:extLst>
      <p:ext uri="{BB962C8B-B14F-4D97-AF65-F5344CB8AC3E}">
        <p14:creationId xmlns:p14="http://schemas.microsoft.com/office/powerpoint/2010/main" val="929941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27A825B-D6CA-03A8-25D7-96258CD501FB}"/>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25ED8BC3-7877-876E-7FE7-34E312CEFF00}"/>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11639DC-F322-77B5-4E25-62B7498CA23B}"/>
              </a:ext>
            </a:extLst>
          </p:cNvPr>
          <p:cNvSpPr>
            <a:spLocks noGrp="1"/>
          </p:cNvSpPr>
          <p:nvPr>
            <p:ph type="dt" sz="half" idx="10"/>
          </p:nvPr>
        </p:nvSpPr>
        <p:spPr/>
        <p:txBody>
          <a:bodyPr/>
          <a:lstStyle/>
          <a:p>
            <a:fld id="{B79E7EA4-82A1-42D5-8722-DEF7D7D32536}" type="datetimeFigureOut">
              <a:rPr lang="en-US" smtClean="0"/>
              <a:t>4/13/2026</a:t>
            </a:fld>
            <a:endParaRPr lang="en-US"/>
          </a:p>
        </p:txBody>
      </p:sp>
      <p:sp>
        <p:nvSpPr>
          <p:cNvPr id="5" name="Footer Placeholder 4">
            <a:extLst>
              <a:ext uri="{FF2B5EF4-FFF2-40B4-BE49-F238E27FC236}">
                <a16:creationId xmlns:a16="http://schemas.microsoft.com/office/drawing/2014/main" id="{9CE4AD49-56AF-5C9A-18F7-3A657D257C2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42172E-D120-9C7A-B05F-26303A41B432}"/>
              </a:ext>
            </a:extLst>
          </p:cNvPr>
          <p:cNvSpPr>
            <a:spLocks noGrp="1"/>
          </p:cNvSpPr>
          <p:nvPr>
            <p:ph type="sldNum" sz="quarter" idx="12"/>
          </p:nvPr>
        </p:nvSpPr>
        <p:spPr/>
        <p:txBody>
          <a:bodyPr/>
          <a:lstStyle/>
          <a:p>
            <a:fld id="{A05A83B3-21AE-4FD8-B05A-CDEAF3F789FC}" type="slidenum">
              <a:rPr lang="en-US" smtClean="0"/>
              <a:t>‹#›</a:t>
            </a:fld>
            <a:endParaRPr lang="en-US"/>
          </a:p>
        </p:txBody>
      </p:sp>
    </p:spTree>
    <p:extLst>
      <p:ext uri="{BB962C8B-B14F-4D97-AF65-F5344CB8AC3E}">
        <p14:creationId xmlns:p14="http://schemas.microsoft.com/office/powerpoint/2010/main" val="30021324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3C3B6DC-DBCB-78F4-4DAA-7442352AE3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0D687E26-6472-AAA1-59AE-914CA7C7C99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5B04183-62DF-8116-4204-8D946428709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79E7EA4-82A1-42D5-8722-DEF7D7D32536}" type="datetimeFigureOut">
              <a:rPr lang="en-US" smtClean="0"/>
              <a:t>4/13/2026</a:t>
            </a:fld>
            <a:endParaRPr lang="en-US"/>
          </a:p>
        </p:txBody>
      </p:sp>
      <p:sp>
        <p:nvSpPr>
          <p:cNvPr id="5" name="Footer Placeholder 4">
            <a:extLst>
              <a:ext uri="{FF2B5EF4-FFF2-40B4-BE49-F238E27FC236}">
                <a16:creationId xmlns:a16="http://schemas.microsoft.com/office/drawing/2014/main" id="{802131BE-1B68-B44B-A283-5C0F5B3C4D3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6BA778F-09C6-0332-B716-64B3D6F6168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05A83B3-21AE-4FD8-B05A-CDEAF3F789FC}" type="slidenum">
              <a:rPr lang="en-US" smtClean="0"/>
              <a:t>‹#›</a:t>
            </a:fld>
            <a:endParaRPr lang="en-US"/>
          </a:p>
        </p:txBody>
      </p:sp>
    </p:spTree>
    <p:extLst>
      <p:ext uri="{BB962C8B-B14F-4D97-AF65-F5344CB8AC3E}">
        <p14:creationId xmlns:p14="http://schemas.microsoft.com/office/powerpoint/2010/main" val="37972448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4.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8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8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8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8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8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8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9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9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9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9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9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9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9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9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10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10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4.xml"/></Relationships>
</file>

<file path=ppt/slides/_rels/slide10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10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4.xml"/></Relationships>
</file>

<file path=ppt/slides/_rels/slide11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4.xml"/></Relationships>
</file>

<file path=ppt/slides/_rels/slide11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4.xml"/></Relationships>
</file>

<file path=ppt/slides/_rels/slide11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4.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4.xml"/></Relationships>
</file>

<file path=ppt/slides/_rels/slide11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4.xml"/></Relationships>
</file>

<file path=ppt/slides/_rels/slide11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4.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4.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4.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4.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0E5FF-3A68-3DD5-BCE7-FEF97E1042E0}"/>
              </a:ext>
            </a:extLst>
          </p:cNvPr>
          <p:cNvSpPr>
            <a:spLocks noGrp="1"/>
          </p:cNvSpPr>
          <p:nvPr>
            <p:ph type="ctrTitle"/>
          </p:nvPr>
        </p:nvSpPr>
        <p:spPr/>
        <p:txBody>
          <a:bodyPr/>
          <a:lstStyle/>
          <a:p>
            <a:r>
              <a:rPr lang="en-IN" dirty="0"/>
              <a:t>Java Performance Tuning</a:t>
            </a:r>
            <a:endParaRPr lang="en-US" dirty="0"/>
          </a:p>
        </p:txBody>
      </p:sp>
      <p:sp>
        <p:nvSpPr>
          <p:cNvPr id="3" name="Subtitle 2">
            <a:extLst>
              <a:ext uri="{FF2B5EF4-FFF2-40B4-BE49-F238E27FC236}">
                <a16:creationId xmlns:a16="http://schemas.microsoft.com/office/drawing/2014/main" id="{6B01C680-720B-3742-27BB-2D0884D519D2}"/>
              </a:ext>
            </a:extLst>
          </p:cNvPr>
          <p:cNvSpPr>
            <a:spLocks noGrp="1"/>
          </p:cNvSpPr>
          <p:nvPr>
            <p:ph type="subTitle" idx="1"/>
          </p:nvPr>
        </p:nvSpPr>
        <p:spPr/>
        <p:txBody>
          <a:bodyPr/>
          <a:lstStyle/>
          <a:p>
            <a:r>
              <a:rPr lang="en-IN" dirty="0"/>
              <a:t>Vivek Gohil</a:t>
            </a:r>
            <a:endParaRPr lang="en-US" dirty="0"/>
          </a:p>
        </p:txBody>
      </p:sp>
    </p:spTree>
    <p:extLst>
      <p:ext uri="{BB962C8B-B14F-4D97-AF65-F5344CB8AC3E}">
        <p14:creationId xmlns:p14="http://schemas.microsoft.com/office/powerpoint/2010/main" val="31823974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5C013E-F337-AE5F-3DCD-FCD25537B705}"/>
              </a:ext>
            </a:extLst>
          </p:cNvPr>
          <p:cNvSpPr>
            <a:spLocks noGrp="1"/>
          </p:cNvSpPr>
          <p:nvPr>
            <p:ph type="title"/>
          </p:nvPr>
        </p:nvSpPr>
        <p:spPr/>
        <p:txBody>
          <a:bodyPr/>
          <a:lstStyle/>
          <a:p>
            <a:r>
              <a:rPr lang="en-IN" dirty="0"/>
              <a:t>Agenda</a:t>
            </a:r>
            <a:endParaRPr lang="en-US" dirty="0"/>
          </a:p>
        </p:txBody>
      </p:sp>
      <p:sp>
        <p:nvSpPr>
          <p:cNvPr id="3" name="Content Placeholder 2">
            <a:extLst>
              <a:ext uri="{FF2B5EF4-FFF2-40B4-BE49-F238E27FC236}">
                <a16:creationId xmlns:a16="http://schemas.microsoft.com/office/drawing/2014/main" id="{55D32B7B-B7E1-3AD1-D28D-26E2CBBF36B1}"/>
              </a:ext>
            </a:extLst>
          </p:cNvPr>
          <p:cNvSpPr>
            <a:spLocks noGrp="1"/>
          </p:cNvSpPr>
          <p:nvPr>
            <p:ph idx="1"/>
          </p:nvPr>
        </p:nvSpPr>
        <p:spPr/>
        <p:txBody>
          <a:bodyPr>
            <a:normAutofit/>
          </a:bodyPr>
          <a:lstStyle/>
          <a:p>
            <a:r>
              <a:rPr lang="en-IN" sz="2400" dirty="0"/>
              <a:t>Day 1 : JVM Internals, Memory, Garbage Collection and Profiling</a:t>
            </a:r>
          </a:p>
          <a:p>
            <a:pPr lvl="1"/>
            <a:r>
              <a:rPr lang="en-IN" sz="2000" dirty="0"/>
              <a:t>Introduction to Performance Engineering</a:t>
            </a:r>
          </a:p>
          <a:p>
            <a:pPr lvl="1"/>
            <a:r>
              <a:rPr lang="en-IN" sz="2000" dirty="0"/>
              <a:t>JVM Architecture Deep Dive</a:t>
            </a:r>
          </a:p>
          <a:p>
            <a:pPr lvl="1"/>
            <a:r>
              <a:rPr lang="en-IN" sz="2000" dirty="0"/>
              <a:t>Java Memory Model and Heap Optimization</a:t>
            </a:r>
          </a:p>
          <a:p>
            <a:pPr lvl="1"/>
            <a:r>
              <a:rPr lang="en-IN" sz="2000" dirty="0"/>
              <a:t>Garbage Collection Algorithms and Tuning</a:t>
            </a:r>
          </a:p>
          <a:p>
            <a:pPr lvl="1"/>
            <a:r>
              <a:rPr lang="en-IN" sz="2000" dirty="0"/>
              <a:t>Profiling and Application Diagnostics</a:t>
            </a:r>
          </a:p>
        </p:txBody>
      </p:sp>
    </p:spTree>
    <p:extLst>
      <p:ext uri="{BB962C8B-B14F-4D97-AF65-F5344CB8AC3E}">
        <p14:creationId xmlns:p14="http://schemas.microsoft.com/office/powerpoint/2010/main" val="17053775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B281E9-3E0B-0C0F-B4B9-E80B6E0DA9EF}"/>
              </a:ext>
            </a:extLst>
          </p:cNvPr>
          <p:cNvSpPr>
            <a:spLocks noGrp="1"/>
          </p:cNvSpPr>
          <p:nvPr>
            <p:ph type="title"/>
          </p:nvPr>
        </p:nvSpPr>
        <p:spPr/>
        <p:txBody>
          <a:bodyPr/>
          <a:lstStyle/>
          <a:p>
            <a:r>
              <a:rPr lang="en-IN" dirty="0"/>
              <a:t>Agenda</a:t>
            </a:r>
            <a:endParaRPr lang="en-US" dirty="0"/>
          </a:p>
        </p:txBody>
      </p:sp>
      <p:sp>
        <p:nvSpPr>
          <p:cNvPr id="3" name="Content Placeholder 2">
            <a:extLst>
              <a:ext uri="{FF2B5EF4-FFF2-40B4-BE49-F238E27FC236}">
                <a16:creationId xmlns:a16="http://schemas.microsoft.com/office/drawing/2014/main" id="{FB1BCB7C-5354-52D7-9C7E-1FCA0E423F74}"/>
              </a:ext>
            </a:extLst>
          </p:cNvPr>
          <p:cNvSpPr>
            <a:spLocks noGrp="1"/>
          </p:cNvSpPr>
          <p:nvPr>
            <p:ph idx="1"/>
          </p:nvPr>
        </p:nvSpPr>
        <p:spPr/>
        <p:txBody>
          <a:bodyPr/>
          <a:lstStyle/>
          <a:p>
            <a:r>
              <a:rPr lang="en-IN" sz="2400" dirty="0"/>
              <a:t>Day 2 : Code Optimization, Concurrency, Microservices, DB and Best Practices</a:t>
            </a:r>
          </a:p>
          <a:p>
            <a:pPr lvl="1"/>
            <a:r>
              <a:rPr lang="en-IN" sz="2000" dirty="0"/>
              <a:t>Code Level Performance Optimization</a:t>
            </a:r>
          </a:p>
          <a:p>
            <a:pPr lvl="1"/>
            <a:r>
              <a:rPr lang="en-IN" sz="2000" dirty="0"/>
              <a:t>Concurrency &amp; Thread Optimization</a:t>
            </a:r>
          </a:p>
          <a:p>
            <a:pPr lvl="1"/>
            <a:r>
              <a:rPr lang="en-IN" sz="2000" dirty="0"/>
              <a:t>Microservices and JVM Performance</a:t>
            </a:r>
          </a:p>
          <a:p>
            <a:pPr lvl="1"/>
            <a:r>
              <a:rPr lang="en-IN" sz="2000" dirty="0"/>
              <a:t>Database, Caching and IO Optimization</a:t>
            </a:r>
            <a:endParaRPr lang="en-US" sz="2000" dirty="0"/>
          </a:p>
          <a:p>
            <a:endParaRPr lang="en-US" dirty="0"/>
          </a:p>
        </p:txBody>
      </p:sp>
    </p:spTree>
    <p:extLst>
      <p:ext uri="{BB962C8B-B14F-4D97-AF65-F5344CB8AC3E}">
        <p14:creationId xmlns:p14="http://schemas.microsoft.com/office/powerpoint/2010/main" val="27067207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2D2463-8348-DBDE-DF29-A077AC1B62CA}"/>
              </a:ext>
            </a:extLst>
          </p:cNvPr>
          <p:cNvSpPr>
            <a:spLocks noGrp="1"/>
          </p:cNvSpPr>
          <p:nvPr>
            <p:ph type="title"/>
          </p:nvPr>
        </p:nvSpPr>
        <p:spPr/>
        <p:txBody>
          <a:bodyPr vert="horz" lIns="91440" tIns="45720" rIns="91440" bIns="45720" rtlCol="0" anchor="ctr">
            <a:normAutofit/>
          </a:bodyPr>
          <a:lstStyle/>
          <a:p>
            <a:r>
              <a:rPr lang="en-IN" sz="3600" dirty="0"/>
              <a:t>Session 1 : Introduction to Performance Engineering </a:t>
            </a:r>
            <a:endParaRPr lang="en-US" sz="3600" dirty="0"/>
          </a:p>
        </p:txBody>
      </p:sp>
      <p:sp>
        <p:nvSpPr>
          <p:cNvPr id="3" name="Content Placeholder 2">
            <a:extLst>
              <a:ext uri="{FF2B5EF4-FFF2-40B4-BE49-F238E27FC236}">
                <a16:creationId xmlns:a16="http://schemas.microsoft.com/office/drawing/2014/main" id="{12A7F3C2-2953-89A3-27B2-A83A5EFE16A7}"/>
              </a:ext>
            </a:extLst>
          </p:cNvPr>
          <p:cNvSpPr>
            <a:spLocks noGrp="1"/>
          </p:cNvSpPr>
          <p:nvPr>
            <p:ph idx="1"/>
          </p:nvPr>
        </p:nvSpPr>
        <p:spPr/>
        <p:txBody>
          <a:bodyPr/>
          <a:lstStyle/>
          <a:p>
            <a:r>
              <a:rPr lang="en-IN" dirty="0"/>
              <a:t>Session Objective</a:t>
            </a:r>
          </a:p>
          <a:p>
            <a:pPr lvl="1"/>
            <a:r>
              <a:rPr lang="en-IN" dirty="0"/>
              <a:t>Think in </a:t>
            </a:r>
            <a:r>
              <a:rPr lang="en-IN" b="1" dirty="0"/>
              <a:t>performance engineering mindset(not just tuning)</a:t>
            </a:r>
          </a:p>
          <a:p>
            <a:pPr lvl="1"/>
            <a:r>
              <a:rPr lang="en-IN" dirty="0"/>
              <a:t>Understand </a:t>
            </a:r>
            <a:r>
              <a:rPr lang="en-IN" b="1" dirty="0"/>
              <a:t>how to measure before optimizing </a:t>
            </a:r>
          </a:p>
          <a:p>
            <a:pPr lvl="1"/>
            <a:r>
              <a:rPr lang="en-IN" dirty="0"/>
              <a:t>Identify </a:t>
            </a:r>
            <a:r>
              <a:rPr lang="en-IN" b="1" dirty="0"/>
              <a:t>real-world bottlenecks</a:t>
            </a:r>
          </a:p>
          <a:p>
            <a:pPr lvl="1"/>
            <a:r>
              <a:rPr lang="en-IN" dirty="0"/>
              <a:t>Know </a:t>
            </a:r>
            <a:r>
              <a:rPr lang="en-IN" b="1" dirty="0"/>
              <a:t>which tools to use and when</a:t>
            </a:r>
            <a:endParaRPr lang="en-US" b="1" dirty="0"/>
          </a:p>
        </p:txBody>
      </p:sp>
    </p:spTree>
    <p:extLst>
      <p:ext uri="{BB962C8B-B14F-4D97-AF65-F5344CB8AC3E}">
        <p14:creationId xmlns:p14="http://schemas.microsoft.com/office/powerpoint/2010/main" val="34671387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5B9507-4529-328B-3075-6366D299ECDA}"/>
              </a:ext>
            </a:extLst>
          </p:cNvPr>
          <p:cNvSpPr>
            <a:spLocks noGrp="1"/>
          </p:cNvSpPr>
          <p:nvPr>
            <p:ph type="title"/>
          </p:nvPr>
        </p:nvSpPr>
        <p:spPr/>
        <p:txBody>
          <a:bodyPr>
            <a:normAutofit/>
          </a:bodyPr>
          <a:lstStyle/>
          <a:p>
            <a:r>
              <a:rPr lang="en-IN" sz="3600" dirty="0"/>
              <a:t>Session 1 : Introduction to Performance Engineering</a:t>
            </a:r>
            <a:endParaRPr lang="en-US" sz="3600" dirty="0"/>
          </a:p>
        </p:txBody>
      </p:sp>
      <p:sp>
        <p:nvSpPr>
          <p:cNvPr id="3" name="Content Placeholder 2">
            <a:extLst>
              <a:ext uri="{FF2B5EF4-FFF2-40B4-BE49-F238E27FC236}">
                <a16:creationId xmlns:a16="http://schemas.microsoft.com/office/drawing/2014/main" id="{41C92D67-E7DD-FD8D-E0B2-7CCB23AC8138}"/>
              </a:ext>
            </a:extLst>
          </p:cNvPr>
          <p:cNvSpPr>
            <a:spLocks noGrp="1"/>
          </p:cNvSpPr>
          <p:nvPr>
            <p:ph idx="1"/>
          </p:nvPr>
        </p:nvSpPr>
        <p:spPr/>
        <p:txBody>
          <a:bodyPr>
            <a:normAutofit/>
          </a:bodyPr>
          <a:lstStyle/>
          <a:p>
            <a:r>
              <a:rPr lang="en-IN" sz="2400" dirty="0"/>
              <a:t>What is performance Tuning(vs Engineering) ? </a:t>
            </a:r>
          </a:p>
          <a:p>
            <a:r>
              <a:rPr lang="en-IN" sz="2400" dirty="0"/>
              <a:t>Performance metrics</a:t>
            </a:r>
          </a:p>
          <a:p>
            <a:pPr lvl="1"/>
            <a:r>
              <a:rPr lang="en-IN" sz="2000" dirty="0"/>
              <a:t>Throughput</a:t>
            </a:r>
          </a:p>
          <a:p>
            <a:pPr lvl="1"/>
            <a:r>
              <a:rPr lang="en-IN" sz="2000" dirty="0"/>
              <a:t>Latency</a:t>
            </a:r>
          </a:p>
          <a:p>
            <a:pPr lvl="1"/>
            <a:r>
              <a:rPr lang="en-IN" sz="2000" dirty="0"/>
              <a:t>Response time</a:t>
            </a:r>
          </a:p>
          <a:p>
            <a:pPr lvl="1"/>
            <a:r>
              <a:rPr lang="en-IN" sz="2000" dirty="0"/>
              <a:t>Footprint</a:t>
            </a:r>
          </a:p>
          <a:p>
            <a:r>
              <a:rPr lang="en-IN" sz="2400" dirty="0"/>
              <a:t>Common performance bottlenecks in Java applications</a:t>
            </a:r>
          </a:p>
          <a:p>
            <a:r>
              <a:rPr lang="en-IN" sz="2400" dirty="0"/>
              <a:t>Tools overview:</a:t>
            </a:r>
          </a:p>
          <a:p>
            <a:pPr lvl="1"/>
            <a:r>
              <a:rPr lang="en-IN" sz="2000" dirty="0" err="1"/>
              <a:t>Jconsole</a:t>
            </a:r>
            <a:r>
              <a:rPr lang="en-IN" sz="2000" dirty="0"/>
              <a:t>, </a:t>
            </a:r>
            <a:r>
              <a:rPr lang="en-IN" sz="2000" dirty="0" err="1"/>
              <a:t>Jvisualvm</a:t>
            </a:r>
            <a:r>
              <a:rPr lang="en-IN" sz="2000" dirty="0"/>
              <a:t>, JMC, JFR, </a:t>
            </a:r>
            <a:r>
              <a:rPr lang="en-IN" sz="2000" dirty="0" err="1"/>
              <a:t>Jstack</a:t>
            </a:r>
            <a:r>
              <a:rPr lang="en-IN" sz="2000" dirty="0"/>
              <a:t>, Jstat</a:t>
            </a:r>
          </a:p>
          <a:p>
            <a:pPr lvl="1"/>
            <a:r>
              <a:rPr lang="en-IN" sz="2000" dirty="0"/>
              <a:t>APM tools: New Relic, Dynatrace, AppDynamics</a:t>
            </a:r>
            <a:endParaRPr lang="en-US" sz="2000" dirty="0"/>
          </a:p>
        </p:txBody>
      </p:sp>
    </p:spTree>
    <p:extLst>
      <p:ext uri="{BB962C8B-B14F-4D97-AF65-F5344CB8AC3E}">
        <p14:creationId xmlns:p14="http://schemas.microsoft.com/office/powerpoint/2010/main" val="17271317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BDF0E-DBBF-0A40-6830-4A56F082332E}"/>
              </a:ext>
            </a:extLst>
          </p:cNvPr>
          <p:cNvSpPr>
            <a:spLocks noGrp="1"/>
          </p:cNvSpPr>
          <p:nvPr>
            <p:ph type="title"/>
          </p:nvPr>
        </p:nvSpPr>
        <p:spPr/>
        <p:txBody>
          <a:bodyPr>
            <a:normAutofit/>
          </a:bodyPr>
          <a:lstStyle/>
          <a:p>
            <a:r>
              <a:rPr lang="en-IN" sz="3600" dirty="0"/>
              <a:t>What is Performance Tuning( vs Engineering) ?</a:t>
            </a:r>
            <a:endParaRPr lang="en-US" sz="3600" dirty="0"/>
          </a:p>
        </p:txBody>
      </p:sp>
      <p:sp>
        <p:nvSpPr>
          <p:cNvPr id="3" name="Content Placeholder 2">
            <a:extLst>
              <a:ext uri="{FF2B5EF4-FFF2-40B4-BE49-F238E27FC236}">
                <a16:creationId xmlns:a16="http://schemas.microsoft.com/office/drawing/2014/main" id="{757997FF-66E6-A6DB-F7AB-5E7E8F5375FC}"/>
              </a:ext>
            </a:extLst>
          </p:cNvPr>
          <p:cNvSpPr>
            <a:spLocks noGrp="1"/>
          </p:cNvSpPr>
          <p:nvPr>
            <p:ph idx="1"/>
          </p:nvPr>
        </p:nvSpPr>
        <p:spPr/>
        <p:txBody>
          <a:bodyPr/>
          <a:lstStyle/>
          <a:p>
            <a:r>
              <a:rPr lang="en-IN" b="1" dirty="0"/>
              <a:t>Typical Mistake</a:t>
            </a:r>
          </a:p>
          <a:p>
            <a:pPr lvl="1"/>
            <a:r>
              <a:rPr lang="en-US" dirty="0"/>
              <a:t>“Application is slow – Increase heap / threads / DB pool”</a:t>
            </a:r>
          </a:p>
          <a:p>
            <a:r>
              <a:rPr lang="en-US" dirty="0"/>
              <a:t>This is </a:t>
            </a:r>
            <a:r>
              <a:rPr lang="en-US" b="1" dirty="0"/>
              <a:t>guessing</a:t>
            </a:r>
            <a:r>
              <a:rPr lang="en-US" dirty="0"/>
              <a:t>, not engineering.</a:t>
            </a:r>
          </a:p>
        </p:txBody>
      </p:sp>
    </p:spTree>
    <p:extLst>
      <p:ext uri="{BB962C8B-B14F-4D97-AF65-F5344CB8AC3E}">
        <p14:creationId xmlns:p14="http://schemas.microsoft.com/office/powerpoint/2010/main" val="4361029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DA7399-1ADF-4947-F8AC-D949FFF6FF21}"/>
              </a:ext>
            </a:extLst>
          </p:cNvPr>
          <p:cNvSpPr>
            <a:spLocks noGrp="1"/>
          </p:cNvSpPr>
          <p:nvPr>
            <p:ph type="title"/>
          </p:nvPr>
        </p:nvSpPr>
        <p:spPr/>
        <p:txBody>
          <a:bodyPr>
            <a:normAutofit/>
          </a:bodyPr>
          <a:lstStyle/>
          <a:p>
            <a:r>
              <a:rPr lang="en-IN" sz="3600" dirty="0"/>
              <a:t>What is Performance Tuning( vs Engineering) ?</a:t>
            </a:r>
            <a:endParaRPr lang="en-US" sz="3600" dirty="0"/>
          </a:p>
        </p:txBody>
      </p:sp>
      <p:sp>
        <p:nvSpPr>
          <p:cNvPr id="3" name="Content Placeholder 2">
            <a:extLst>
              <a:ext uri="{FF2B5EF4-FFF2-40B4-BE49-F238E27FC236}">
                <a16:creationId xmlns:a16="http://schemas.microsoft.com/office/drawing/2014/main" id="{D24101C9-CACF-51B6-43F9-FAB7A08FA9AB}"/>
              </a:ext>
            </a:extLst>
          </p:cNvPr>
          <p:cNvSpPr>
            <a:spLocks noGrp="1"/>
          </p:cNvSpPr>
          <p:nvPr>
            <p:ph idx="1"/>
          </p:nvPr>
        </p:nvSpPr>
        <p:spPr/>
        <p:txBody>
          <a:bodyPr>
            <a:normAutofit/>
          </a:bodyPr>
          <a:lstStyle/>
          <a:p>
            <a:r>
              <a:rPr lang="en-IN" sz="2400" b="1" dirty="0"/>
              <a:t>Correct Definition</a:t>
            </a:r>
          </a:p>
          <a:p>
            <a:r>
              <a:rPr lang="en-US" sz="2400" b="1" dirty="0"/>
              <a:t>Performance Tuning = Reactive</a:t>
            </a:r>
          </a:p>
          <a:p>
            <a:pPr lvl="1"/>
            <a:r>
              <a:rPr lang="en-US" sz="2000" dirty="0"/>
              <a:t>Fix issues after they occur</a:t>
            </a:r>
          </a:p>
          <a:p>
            <a:r>
              <a:rPr lang="en-US" sz="2400" b="1" dirty="0"/>
              <a:t>Performance Engineering = Proactive + Scientific</a:t>
            </a:r>
          </a:p>
          <a:p>
            <a:pPr lvl="1"/>
            <a:r>
              <a:rPr lang="en-US" sz="2000" dirty="0"/>
              <a:t>Define SLAs</a:t>
            </a:r>
          </a:p>
          <a:p>
            <a:pPr lvl="1"/>
            <a:r>
              <a:rPr lang="en-US" sz="2000" dirty="0"/>
              <a:t>Measure baseline</a:t>
            </a:r>
          </a:p>
          <a:p>
            <a:pPr lvl="1"/>
            <a:r>
              <a:rPr lang="en-US" sz="2000" dirty="0"/>
              <a:t>Identify bottlenecks</a:t>
            </a:r>
          </a:p>
          <a:p>
            <a:pPr lvl="1"/>
            <a:r>
              <a:rPr lang="en-US" sz="2000" dirty="0"/>
              <a:t>Apply targeted optimizations</a:t>
            </a:r>
          </a:p>
          <a:p>
            <a:pPr lvl="1"/>
            <a:r>
              <a:rPr lang="en-US" sz="2000" dirty="0"/>
              <a:t>Validate information</a:t>
            </a:r>
          </a:p>
        </p:txBody>
      </p:sp>
    </p:spTree>
    <p:extLst>
      <p:ext uri="{BB962C8B-B14F-4D97-AF65-F5344CB8AC3E}">
        <p14:creationId xmlns:p14="http://schemas.microsoft.com/office/powerpoint/2010/main" val="21222099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9DE369-B9B2-05B0-7767-F196654B8560}"/>
              </a:ext>
            </a:extLst>
          </p:cNvPr>
          <p:cNvSpPr>
            <a:spLocks noGrp="1"/>
          </p:cNvSpPr>
          <p:nvPr>
            <p:ph type="title"/>
          </p:nvPr>
        </p:nvSpPr>
        <p:spPr/>
        <p:txBody>
          <a:bodyPr>
            <a:normAutofit/>
          </a:bodyPr>
          <a:lstStyle/>
          <a:p>
            <a:r>
              <a:rPr lang="en-IN" sz="3600" dirty="0"/>
              <a:t>Performance Engineering Cycle</a:t>
            </a:r>
            <a:endParaRPr lang="en-US" sz="3600" dirty="0"/>
          </a:p>
        </p:txBody>
      </p:sp>
      <p:graphicFrame>
        <p:nvGraphicFramePr>
          <p:cNvPr id="4" name="Content Placeholder 3">
            <a:extLst>
              <a:ext uri="{FF2B5EF4-FFF2-40B4-BE49-F238E27FC236}">
                <a16:creationId xmlns:a16="http://schemas.microsoft.com/office/drawing/2014/main" id="{BA95E01F-08F7-A116-A107-52448AD58D3C}"/>
              </a:ext>
            </a:extLst>
          </p:cNvPr>
          <p:cNvGraphicFramePr>
            <a:graphicFrameLocks noGrp="1"/>
          </p:cNvGraphicFramePr>
          <p:nvPr>
            <p:ph idx="1"/>
            <p:extLst>
              <p:ext uri="{D42A27DB-BD31-4B8C-83A1-F6EECF244321}">
                <p14:modId xmlns:p14="http://schemas.microsoft.com/office/powerpoint/2010/main" val="2518038784"/>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84969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AD22C4-780E-983B-848B-8EC71DAC4FB6}"/>
              </a:ext>
            </a:extLst>
          </p:cNvPr>
          <p:cNvSpPr>
            <a:spLocks noGrp="1"/>
          </p:cNvSpPr>
          <p:nvPr>
            <p:ph type="title"/>
          </p:nvPr>
        </p:nvSpPr>
        <p:spPr/>
        <p:txBody>
          <a:bodyPr>
            <a:normAutofit/>
          </a:bodyPr>
          <a:lstStyle/>
          <a:p>
            <a:r>
              <a:rPr lang="en-IN" sz="3600" dirty="0"/>
              <a:t>Key Performance Metrics : Throughput</a:t>
            </a:r>
            <a:endParaRPr lang="en-US" sz="3600" dirty="0"/>
          </a:p>
        </p:txBody>
      </p:sp>
      <p:sp>
        <p:nvSpPr>
          <p:cNvPr id="3" name="Content Placeholder 2">
            <a:extLst>
              <a:ext uri="{FF2B5EF4-FFF2-40B4-BE49-F238E27FC236}">
                <a16:creationId xmlns:a16="http://schemas.microsoft.com/office/drawing/2014/main" id="{601D7B5D-7F91-F261-BB63-166027DBF7FC}"/>
              </a:ext>
            </a:extLst>
          </p:cNvPr>
          <p:cNvSpPr>
            <a:spLocks noGrp="1"/>
          </p:cNvSpPr>
          <p:nvPr>
            <p:ph idx="1"/>
          </p:nvPr>
        </p:nvSpPr>
        <p:spPr/>
        <p:txBody>
          <a:bodyPr/>
          <a:lstStyle/>
          <a:p>
            <a:pPr marL="514350" indent="-514350">
              <a:buFont typeface="+mj-lt"/>
              <a:buAutoNum type="arabicPeriod"/>
            </a:pPr>
            <a:r>
              <a:rPr lang="en-IN" b="1" dirty="0"/>
              <a:t>Throughput</a:t>
            </a:r>
          </a:p>
          <a:p>
            <a:pPr lvl="1"/>
            <a:r>
              <a:rPr lang="en-IN" dirty="0"/>
              <a:t>Requests processed per second</a:t>
            </a:r>
          </a:p>
          <a:p>
            <a:pPr lvl="1"/>
            <a:r>
              <a:rPr lang="en-IN" dirty="0"/>
              <a:t>Throughput = Total Requests / Time</a:t>
            </a:r>
          </a:p>
          <a:p>
            <a:pPr lvl="1"/>
            <a:r>
              <a:rPr lang="en-IN" dirty="0"/>
              <a:t>Example : 10,000 requests in 10 sec :: 1000 </a:t>
            </a:r>
            <a:r>
              <a:rPr lang="en-IN" dirty="0" err="1"/>
              <a:t>req</a:t>
            </a:r>
            <a:r>
              <a:rPr lang="en-IN" dirty="0"/>
              <a:t>/sec</a:t>
            </a:r>
            <a:endParaRPr lang="en-US" dirty="0"/>
          </a:p>
        </p:txBody>
      </p:sp>
    </p:spTree>
    <p:extLst>
      <p:ext uri="{BB962C8B-B14F-4D97-AF65-F5344CB8AC3E}">
        <p14:creationId xmlns:p14="http://schemas.microsoft.com/office/powerpoint/2010/main" val="3242233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FC0B02-F3CB-9C1E-4049-C5279D9DC947}"/>
              </a:ext>
            </a:extLst>
          </p:cNvPr>
          <p:cNvSpPr>
            <a:spLocks noGrp="1"/>
          </p:cNvSpPr>
          <p:nvPr>
            <p:ph type="title"/>
          </p:nvPr>
        </p:nvSpPr>
        <p:spPr/>
        <p:txBody>
          <a:bodyPr vert="horz" lIns="91440" tIns="45720" rIns="91440" bIns="45720" rtlCol="0" anchor="ctr">
            <a:normAutofit/>
          </a:bodyPr>
          <a:lstStyle/>
          <a:p>
            <a:r>
              <a:rPr lang="en-IN" sz="3600" dirty="0"/>
              <a:t>Key Performance Metrics : Latency</a:t>
            </a:r>
            <a:endParaRPr lang="en-US" sz="3600" dirty="0"/>
          </a:p>
        </p:txBody>
      </p:sp>
      <p:sp>
        <p:nvSpPr>
          <p:cNvPr id="3" name="Content Placeholder 2">
            <a:extLst>
              <a:ext uri="{FF2B5EF4-FFF2-40B4-BE49-F238E27FC236}">
                <a16:creationId xmlns:a16="http://schemas.microsoft.com/office/drawing/2014/main" id="{8AC64EAA-1834-6490-5D59-AB1903507E84}"/>
              </a:ext>
            </a:extLst>
          </p:cNvPr>
          <p:cNvSpPr>
            <a:spLocks noGrp="1"/>
          </p:cNvSpPr>
          <p:nvPr>
            <p:ph idx="1"/>
          </p:nvPr>
        </p:nvSpPr>
        <p:spPr/>
        <p:txBody>
          <a:bodyPr/>
          <a:lstStyle/>
          <a:p>
            <a:pPr marL="514350" indent="-514350">
              <a:buFont typeface="+mj-lt"/>
              <a:buAutoNum type="arabicPeriod" startAt="2"/>
            </a:pPr>
            <a:r>
              <a:rPr lang="en-IN" b="1" dirty="0"/>
              <a:t>Latency</a:t>
            </a:r>
          </a:p>
          <a:p>
            <a:pPr lvl="1"/>
            <a:r>
              <a:rPr lang="en-IN" dirty="0"/>
              <a:t>Time taken to process a request</a:t>
            </a:r>
          </a:p>
          <a:p>
            <a:pPr lvl="1"/>
            <a:r>
              <a:rPr lang="en-IN" b="1" dirty="0"/>
              <a:t>Types</a:t>
            </a:r>
          </a:p>
          <a:p>
            <a:pPr lvl="2"/>
            <a:r>
              <a:rPr lang="en-IN" b="1" dirty="0"/>
              <a:t>Average latency </a:t>
            </a:r>
            <a:r>
              <a:rPr lang="en-IN" dirty="0"/>
              <a:t>– misleading</a:t>
            </a:r>
          </a:p>
          <a:p>
            <a:pPr lvl="2"/>
            <a:r>
              <a:rPr lang="en-IN" b="1" dirty="0"/>
              <a:t>P92 / P99 latency </a:t>
            </a:r>
            <a:r>
              <a:rPr lang="en-IN" dirty="0"/>
              <a:t>– real production metric</a:t>
            </a:r>
          </a:p>
          <a:p>
            <a:pPr lvl="2"/>
            <a:r>
              <a:rPr lang="en-IN" dirty="0"/>
              <a:t>Example : </a:t>
            </a:r>
          </a:p>
          <a:p>
            <a:pPr lvl="3"/>
            <a:r>
              <a:rPr lang="en-IN" dirty="0" err="1"/>
              <a:t>avg</a:t>
            </a:r>
            <a:r>
              <a:rPr lang="en-IN" dirty="0"/>
              <a:t> = 100ms</a:t>
            </a:r>
          </a:p>
          <a:p>
            <a:pPr lvl="3"/>
            <a:r>
              <a:rPr lang="en-US" dirty="0"/>
              <a:t>P99 = 2 seconds ! (bad UX)</a:t>
            </a:r>
          </a:p>
          <a:p>
            <a:pPr marL="457200" lvl="1" indent="0">
              <a:buNone/>
            </a:pPr>
            <a:endParaRPr lang="en-IN" b="1" dirty="0"/>
          </a:p>
        </p:txBody>
      </p:sp>
    </p:spTree>
    <p:extLst>
      <p:ext uri="{BB962C8B-B14F-4D97-AF65-F5344CB8AC3E}">
        <p14:creationId xmlns:p14="http://schemas.microsoft.com/office/powerpoint/2010/main" val="2174728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EC085B-3B2B-AC30-9DAE-1A840D1B6F36}"/>
              </a:ext>
            </a:extLst>
          </p:cNvPr>
          <p:cNvSpPr>
            <a:spLocks noGrp="1"/>
          </p:cNvSpPr>
          <p:nvPr>
            <p:ph type="title"/>
          </p:nvPr>
        </p:nvSpPr>
        <p:spPr>
          <a:solidFill>
            <a:schemeClr val="accent6">
              <a:lumMod val="20000"/>
              <a:lumOff val="80000"/>
            </a:schemeClr>
          </a:solidFill>
        </p:spPr>
        <p:txBody>
          <a:bodyPr>
            <a:normAutofit/>
          </a:bodyPr>
          <a:lstStyle/>
          <a:p>
            <a:r>
              <a:rPr lang="en-IN" sz="3600" dirty="0"/>
              <a:t>Key Performance Metrics : Response Time</a:t>
            </a:r>
            <a:endParaRPr lang="en-US" sz="3600" dirty="0"/>
          </a:p>
        </p:txBody>
      </p:sp>
      <p:sp>
        <p:nvSpPr>
          <p:cNvPr id="3" name="Content Placeholder 2">
            <a:extLst>
              <a:ext uri="{FF2B5EF4-FFF2-40B4-BE49-F238E27FC236}">
                <a16:creationId xmlns:a16="http://schemas.microsoft.com/office/drawing/2014/main" id="{A36D6B02-9416-2750-F493-3397A17F5D1F}"/>
              </a:ext>
            </a:extLst>
          </p:cNvPr>
          <p:cNvSpPr>
            <a:spLocks noGrp="1"/>
          </p:cNvSpPr>
          <p:nvPr>
            <p:ph idx="1"/>
          </p:nvPr>
        </p:nvSpPr>
        <p:spPr/>
        <p:txBody>
          <a:bodyPr/>
          <a:lstStyle/>
          <a:p>
            <a:pPr marL="514350" indent="-514350">
              <a:buFont typeface="+mj-lt"/>
              <a:buAutoNum type="arabicPeriod" startAt="3"/>
            </a:pPr>
            <a:r>
              <a:rPr lang="en-IN" b="1" dirty="0"/>
              <a:t>Response Time = Total time from client request to full response received</a:t>
            </a:r>
          </a:p>
          <a:p>
            <a:pPr lvl="2"/>
            <a:r>
              <a:rPr lang="en-IN" dirty="0"/>
              <a:t>It is end-to-end not just what your code executes.</a:t>
            </a:r>
          </a:p>
          <a:p>
            <a:pPr lvl="2"/>
            <a:r>
              <a:rPr lang="en-IN" b="1" dirty="0"/>
              <a:t>Includes</a:t>
            </a:r>
          </a:p>
          <a:p>
            <a:pPr lvl="3"/>
            <a:r>
              <a:rPr lang="en-IN" dirty="0"/>
              <a:t>Network delay</a:t>
            </a:r>
          </a:p>
          <a:p>
            <a:pPr lvl="3"/>
            <a:r>
              <a:rPr lang="en-IN" dirty="0"/>
              <a:t>Processing time</a:t>
            </a:r>
          </a:p>
          <a:p>
            <a:pPr lvl="3"/>
            <a:r>
              <a:rPr lang="en-IN" dirty="0"/>
              <a:t>DB time</a:t>
            </a:r>
            <a:endParaRPr lang="en-US" dirty="0"/>
          </a:p>
        </p:txBody>
      </p:sp>
    </p:spTree>
    <p:extLst>
      <p:ext uri="{BB962C8B-B14F-4D97-AF65-F5344CB8AC3E}">
        <p14:creationId xmlns:p14="http://schemas.microsoft.com/office/powerpoint/2010/main" val="2742208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1FD157-CE83-02BF-5A2E-6C5DAE375A2E}"/>
              </a:ext>
            </a:extLst>
          </p:cNvPr>
          <p:cNvSpPr>
            <a:spLocks noGrp="1"/>
          </p:cNvSpPr>
          <p:nvPr>
            <p:ph type="title"/>
          </p:nvPr>
        </p:nvSpPr>
        <p:spPr>
          <a:solidFill>
            <a:schemeClr val="accent6">
              <a:lumMod val="20000"/>
              <a:lumOff val="80000"/>
            </a:schemeClr>
          </a:solidFill>
        </p:spPr>
        <p:txBody>
          <a:bodyPr>
            <a:normAutofit/>
          </a:bodyPr>
          <a:lstStyle/>
          <a:p>
            <a:r>
              <a:rPr lang="en-IN" sz="3600" dirty="0"/>
              <a:t>Key Performance Metrics : Memory Footprint</a:t>
            </a:r>
            <a:endParaRPr lang="en-US" sz="3600" dirty="0"/>
          </a:p>
        </p:txBody>
      </p:sp>
      <p:sp>
        <p:nvSpPr>
          <p:cNvPr id="3" name="Content Placeholder 2">
            <a:extLst>
              <a:ext uri="{FF2B5EF4-FFF2-40B4-BE49-F238E27FC236}">
                <a16:creationId xmlns:a16="http://schemas.microsoft.com/office/drawing/2014/main" id="{AF691FEA-514A-5D61-05C6-9BB2A1012E00}"/>
              </a:ext>
            </a:extLst>
          </p:cNvPr>
          <p:cNvSpPr>
            <a:spLocks noGrp="1"/>
          </p:cNvSpPr>
          <p:nvPr>
            <p:ph idx="1"/>
          </p:nvPr>
        </p:nvSpPr>
        <p:spPr/>
        <p:txBody>
          <a:bodyPr/>
          <a:lstStyle/>
          <a:p>
            <a:pPr marL="514350" indent="-514350">
              <a:buFont typeface="+mj-lt"/>
              <a:buAutoNum type="arabicPeriod" startAt="4"/>
            </a:pPr>
            <a:r>
              <a:rPr lang="en-IN" b="1" dirty="0"/>
              <a:t>Memory Footprint = How much memory your application uses + how efficiently it uses it</a:t>
            </a:r>
            <a:endParaRPr lang="en-US" b="1" dirty="0"/>
          </a:p>
          <a:p>
            <a:pPr lvl="1"/>
            <a:r>
              <a:rPr lang="en-IN" dirty="0"/>
              <a:t>It directly impacts</a:t>
            </a:r>
          </a:p>
          <a:p>
            <a:pPr lvl="2"/>
            <a:r>
              <a:rPr lang="en-IN" dirty="0"/>
              <a:t>GC frequency</a:t>
            </a:r>
          </a:p>
          <a:p>
            <a:pPr lvl="2"/>
            <a:r>
              <a:rPr lang="en-IN" dirty="0"/>
              <a:t>Latency</a:t>
            </a:r>
          </a:p>
          <a:p>
            <a:pPr lvl="2"/>
            <a:r>
              <a:rPr lang="en-IN" dirty="0"/>
              <a:t>Scalability</a:t>
            </a:r>
          </a:p>
        </p:txBody>
      </p:sp>
    </p:spTree>
    <p:extLst>
      <p:ext uri="{BB962C8B-B14F-4D97-AF65-F5344CB8AC3E}">
        <p14:creationId xmlns:p14="http://schemas.microsoft.com/office/powerpoint/2010/main" val="3485848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3FB568-DCAC-CF7C-54F1-13AB1126228F}"/>
              </a:ext>
            </a:extLst>
          </p:cNvPr>
          <p:cNvSpPr>
            <a:spLocks noGrp="1"/>
          </p:cNvSpPr>
          <p:nvPr>
            <p:ph type="title"/>
          </p:nvPr>
        </p:nvSpPr>
        <p:spPr/>
        <p:txBody>
          <a:bodyPr>
            <a:normAutofit/>
          </a:bodyPr>
          <a:lstStyle/>
          <a:p>
            <a:r>
              <a:rPr lang="en-IN" sz="3600" dirty="0"/>
              <a:t>Common Performance Bottlenecks : CPU Bottlenecks</a:t>
            </a:r>
            <a:endParaRPr lang="en-US" sz="3600" dirty="0"/>
          </a:p>
        </p:txBody>
      </p:sp>
      <p:sp>
        <p:nvSpPr>
          <p:cNvPr id="3" name="Content Placeholder 2">
            <a:extLst>
              <a:ext uri="{FF2B5EF4-FFF2-40B4-BE49-F238E27FC236}">
                <a16:creationId xmlns:a16="http://schemas.microsoft.com/office/drawing/2014/main" id="{8B5636A5-2949-20FD-2720-E4EFE70AB041}"/>
              </a:ext>
            </a:extLst>
          </p:cNvPr>
          <p:cNvSpPr>
            <a:spLocks noGrp="1"/>
          </p:cNvSpPr>
          <p:nvPr>
            <p:ph idx="1"/>
          </p:nvPr>
        </p:nvSpPr>
        <p:spPr/>
        <p:txBody>
          <a:bodyPr/>
          <a:lstStyle/>
          <a:p>
            <a:pPr marL="514350" indent="-514350">
              <a:buFont typeface="+mj-lt"/>
              <a:buAutoNum type="arabicPeriod"/>
            </a:pPr>
            <a:r>
              <a:rPr lang="en-IN" b="1" dirty="0"/>
              <a:t>CPU Bottlenecks</a:t>
            </a:r>
          </a:p>
          <a:p>
            <a:pPr lvl="1"/>
            <a:r>
              <a:rPr lang="en-IN" b="1" dirty="0"/>
              <a:t>Symptoms</a:t>
            </a:r>
          </a:p>
          <a:p>
            <a:pPr lvl="2"/>
            <a:r>
              <a:rPr lang="en-IN" dirty="0"/>
              <a:t>High CPU usage</a:t>
            </a:r>
          </a:p>
          <a:p>
            <a:pPr lvl="2"/>
            <a:r>
              <a:rPr lang="en-IN" dirty="0"/>
              <a:t>Threads in RUNNABLE state</a:t>
            </a:r>
            <a:endParaRPr lang="en-US" dirty="0"/>
          </a:p>
        </p:txBody>
      </p:sp>
    </p:spTree>
    <p:extLst>
      <p:ext uri="{BB962C8B-B14F-4D97-AF65-F5344CB8AC3E}">
        <p14:creationId xmlns:p14="http://schemas.microsoft.com/office/powerpoint/2010/main" val="2552204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BE204-4985-78B0-EDD8-269AD6E977A6}"/>
              </a:ext>
            </a:extLst>
          </p:cNvPr>
          <p:cNvSpPr>
            <a:spLocks noGrp="1"/>
          </p:cNvSpPr>
          <p:nvPr>
            <p:ph type="title"/>
          </p:nvPr>
        </p:nvSpPr>
        <p:spPr/>
        <p:txBody>
          <a:bodyPr>
            <a:normAutofit/>
          </a:bodyPr>
          <a:lstStyle/>
          <a:p>
            <a:r>
              <a:rPr lang="en-IN" sz="3600" dirty="0"/>
              <a:t>Common Performance Bottlenecks : Memory Bottleneck</a:t>
            </a:r>
            <a:endParaRPr lang="en-US" sz="3600" dirty="0"/>
          </a:p>
        </p:txBody>
      </p:sp>
      <p:sp>
        <p:nvSpPr>
          <p:cNvPr id="3" name="Content Placeholder 2">
            <a:extLst>
              <a:ext uri="{FF2B5EF4-FFF2-40B4-BE49-F238E27FC236}">
                <a16:creationId xmlns:a16="http://schemas.microsoft.com/office/drawing/2014/main" id="{E9879173-146B-D0AA-C7F8-2AA6C67FE998}"/>
              </a:ext>
            </a:extLst>
          </p:cNvPr>
          <p:cNvSpPr>
            <a:spLocks noGrp="1"/>
          </p:cNvSpPr>
          <p:nvPr>
            <p:ph idx="1"/>
          </p:nvPr>
        </p:nvSpPr>
        <p:spPr/>
        <p:txBody>
          <a:bodyPr/>
          <a:lstStyle/>
          <a:p>
            <a:pPr marL="514350" indent="-514350">
              <a:buFont typeface="+mj-lt"/>
              <a:buAutoNum type="arabicPeriod" startAt="2"/>
            </a:pPr>
            <a:r>
              <a:rPr lang="en-IN" b="1" dirty="0"/>
              <a:t>Memory Bottlenecks</a:t>
            </a:r>
          </a:p>
          <a:p>
            <a:pPr lvl="1"/>
            <a:r>
              <a:rPr lang="en-IN" b="1" dirty="0"/>
              <a:t>Symptoms</a:t>
            </a:r>
          </a:p>
          <a:p>
            <a:pPr lvl="2"/>
            <a:r>
              <a:rPr lang="en-IN" dirty="0"/>
              <a:t>Frequent GC</a:t>
            </a:r>
          </a:p>
          <a:p>
            <a:pPr lvl="2"/>
            <a:r>
              <a:rPr lang="en-IN" dirty="0"/>
              <a:t>High allocation rate</a:t>
            </a:r>
          </a:p>
          <a:p>
            <a:pPr lvl="2"/>
            <a:r>
              <a:rPr lang="en-IN" dirty="0" err="1"/>
              <a:t>OutOfMemoryError</a:t>
            </a:r>
            <a:endParaRPr lang="en-US" dirty="0"/>
          </a:p>
        </p:txBody>
      </p:sp>
    </p:spTree>
    <p:extLst>
      <p:ext uri="{BB962C8B-B14F-4D97-AF65-F5344CB8AC3E}">
        <p14:creationId xmlns:p14="http://schemas.microsoft.com/office/powerpoint/2010/main" val="9523756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323B0-9F85-5854-1CC0-B12213623B23}"/>
              </a:ext>
            </a:extLst>
          </p:cNvPr>
          <p:cNvSpPr>
            <a:spLocks noGrp="1"/>
          </p:cNvSpPr>
          <p:nvPr>
            <p:ph type="title"/>
          </p:nvPr>
        </p:nvSpPr>
        <p:spPr/>
        <p:txBody>
          <a:bodyPr>
            <a:normAutofit/>
          </a:bodyPr>
          <a:lstStyle/>
          <a:p>
            <a:r>
              <a:rPr lang="en-IN" sz="3600" dirty="0"/>
              <a:t>Common Performance Bottlenecks : Thread Contention</a:t>
            </a:r>
            <a:endParaRPr lang="en-US" sz="3600" dirty="0"/>
          </a:p>
        </p:txBody>
      </p:sp>
      <p:sp>
        <p:nvSpPr>
          <p:cNvPr id="3" name="Content Placeholder 2">
            <a:extLst>
              <a:ext uri="{FF2B5EF4-FFF2-40B4-BE49-F238E27FC236}">
                <a16:creationId xmlns:a16="http://schemas.microsoft.com/office/drawing/2014/main" id="{89243957-5E40-14D5-6745-7E1F399DF2E9}"/>
              </a:ext>
            </a:extLst>
          </p:cNvPr>
          <p:cNvSpPr>
            <a:spLocks noGrp="1"/>
          </p:cNvSpPr>
          <p:nvPr>
            <p:ph idx="1"/>
          </p:nvPr>
        </p:nvSpPr>
        <p:spPr/>
        <p:txBody>
          <a:bodyPr/>
          <a:lstStyle/>
          <a:p>
            <a:pPr marL="514350" indent="-514350">
              <a:buFont typeface="+mj-lt"/>
              <a:buAutoNum type="arabicPeriod" startAt="3"/>
            </a:pPr>
            <a:r>
              <a:rPr lang="en-IN" b="1" dirty="0"/>
              <a:t>Thread Contention</a:t>
            </a:r>
          </a:p>
          <a:p>
            <a:pPr lvl="1"/>
            <a:r>
              <a:rPr lang="en-IN" b="1" dirty="0"/>
              <a:t>Symptoms</a:t>
            </a:r>
          </a:p>
          <a:p>
            <a:pPr lvl="3"/>
            <a:r>
              <a:rPr lang="en-IN" dirty="0"/>
              <a:t>Blocked threads</a:t>
            </a:r>
          </a:p>
          <a:p>
            <a:pPr lvl="3"/>
            <a:r>
              <a:rPr lang="en-IN" dirty="0"/>
              <a:t>Low CPU but slow app</a:t>
            </a:r>
            <a:endParaRPr lang="en-US" dirty="0"/>
          </a:p>
        </p:txBody>
      </p:sp>
    </p:spTree>
    <p:extLst>
      <p:ext uri="{BB962C8B-B14F-4D97-AF65-F5344CB8AC3E}">
        <p14:creationId xmlns:p14="http://schemas.microsoft.com/office/powerpoint/2010/main" val="5084588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940339-2CF7-05B6-0B17-E0B0A337065F}"/>
              </a:ext>
            </a:extLst>
          </p:cNvPr>
          <p:cNvSpPr>
            <a:spLocks noGrp="1"/>
          </p:cNvSpPr>
          <p:nvPr>
            <p:ph type="title"/>
          </p:nvPr>
        </p:nvSpPr>
        <p:spPr/>
        <p:txBody>
          <a:bodyPr>
            <a:normAutofit/>
          </a:bodyPr>
          <a:lstStyle/>
          <a:p>
            <a:r>
              <a:rPr lang="en-IN" sz="3600" dirty="0"/>
              <a:t>Common Performance Bottlenecks : I/O Bottlenecks</a:t>
            </a:r>
            <a:endParaRPr lang="en-US" sz="3600" dirty="0"/>
          </a:p>
        </p:txBody>
      </p:sp>
      <p:sp>
        <p:nvSpPr>
          <p:cNvPr id="3" name="Content Placeholder 2">
            <a:extLst>
              <a:ext uri="{FF2B5EF4-FFF2-40B4-BE49-F238E27FC236}">
                <a16:creationId xmlns:a16="http://schemas.microsoft.com/office/drawing/2014/main" id="{39923435-129B-B335-B085-FB3B133E5D48}"/>
              </a:ext>
            </a:extLst>
          </p:cNvPr>
          <p:cNvSpPr>
            <a:spLocks noGrp="1"/>
          </p:cNvSpPr>
          <p:nvPr>
            <p:ph idx="1"/>
          </p:nvPr>
        </p:nvSpPr>
        <p:spPr/>
        <p:txBody>
          <a:bodyPr/>
          <a:lstStyle/>
          <a:p>
            <a:pPr marL="514350" indent="-514350">
              <a:buFont typeface="+mj-lt"/>
              <a:buAutoNum type="arabicPeriod" startAt="4"/>
            </a:pPr>
            <a:r>
              <a:rPr lang="en-IN" b="1" dirty="0"/>
              <a:t>IO Bottlenecks</a:t>
            </a:r>
          </a:p>
          <a:p>
            <a:pPr lvl="1"/>
            <a:r>
              <a:rPr lang="en-IN" b="1" dirty="0"/>
              <a:t>Symptoms</a:t>
            </a:r>
          </a:p>
          <a:p>
            <a:pPr lvl="3"/>
            <a:r>
              <a:rPr lang="en-IN" dirty="0"/>
              <a:t>Slow DB calls</a:t>
            </a:r>
          </a:p>
          <a:p>
            <a:pPr lvl="3"/>
            <a:r>
              <a:rPr lang="en-IN" dirty="0"/>
              <a:t>Network delays</a:t>
            </a:r>
            <a:endParaRPr lang="en-US" dirty="0"/>
          </a:p>
          <a:p>
            <a:endParaRPr lang="en-US" dirty="0"/>
          </a:p>
        </p:txBody>
      </p:sp>
    </p:spTree>
    <p:extLst>
      <p:ext uri="{BB962C8B-B14F-4D97-AF65-F5344CB8AC3E}">
        <p14:creationId xmlns:p14="http://schemas.microsoft.com/office/powerpoint/2010/main" val="101263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EFE45A-D74B-8827-8F4A-03FC72F21239}"/>
              </a:ext>
            </a:extLst>
          </p:cNvPr>
          <p:cNvSpPr>
            <a:spLocks noGrp="1"/>
          </p:cNvSpPr>
          <p:nvPr>
            <p:ph type="title"/>
          </p:nvPr>
        </p:nvSpPr>
        <p:spPr/>
        <p:txBody>
          <a:bodyPr>
            <a:normAutofit/>
          </a:bodyPr>
          <a:lstStyle/>
          <a:p>
            <a:r>
              <a:rPr lang="en-IN" sz="3600" dirty="0"/>
              <a:t>Common Performance Bottlenecks : Database Bottleneck</a:t>
            </a:r>
            <a:endParaRPr lang="en-US" sz="3600" dirty="0"/>
          </a:p>
        </p:txBody>
      </p:sp>
      <p:sp>
        <p:nvSpPr>
          <p:cNvPr id="3" name="Content Placeholder 2">
            <a:extLst>
              <a:ext uri="{FF2B5EF4-FFF2-40B4-BE49-F238E27FC236}">
                <a16:creationId xmlns:a16="http://schemas.microsoft.com/office/drawing/2014/main" id="{08296796-1318-57D4-FE34-02407A9C14F6}"/>
              </a:ext>
            </a:extLst>
          </p:cNvPr>
          <p:cNvSpPr>
            <a:spLocks noGrp="1"/>
          </p:cNvSpPr>
          <p:nvPr>
            <p:ph idx="1"/>
          </p:nvPr>
        </p:nvSpPr>
        <p:spPr/>
        <p:txBody>
          <a:bodyPr/>
          <a:lstStyle/>
          <a:p>
            <a:pPr marL="514350" indent="-514350">
              <a:buFont typeface="+mj-lt"/>
              <a:buAutoNum type="arabicPeriod" startAt="5"/>
            </a:pPr>
            <a:r>
              <a:rPr lang="en-IN" b="1" dirty="0"/>
              <a:t>Database Bottleneck</a:t>
            </a:r>
          </a:p>
          <a:p>
            <a:pPr lvl="1"/>
            <a:r>
              <a:rPr lang="en-IN" b="1" dirty="0"/>
              <a:t>Common issues</a:t>
            </a:r>
          </a:p>
          <a:p>
            <a:pPr lvl="2"/>
            <a:r>
              <a:rPr lang="en-IN" dirty="0"/>
              <a:t>N + 1 queries</a:t>
            </a:r>
          </a:p>
          <a:p>
            <a:pPr lvl="2"/>
            <a:r>
              <a:rPr lang="en-IN" dirty="0"/>
              <a:t>Missing indexes</a:t>
            </a:r>
          </a:p>
          <a:p>
            <a:pPr lvl="2"/>
            <a:r>
              <a:rPr lang="en-IN" dirty="0"/>
              <a:t>Full table scan</a:t>
            </a:r>
            <a:endParaRPr lang="en-US" dirty="0"/>
          </a:p>
        </p:txBody>
      </p:sp>
    </p:spTree>
    <p:extLst>
      <p:ext uri="{BB962C8B-B14F-4D97-AF65-F5344CB8AC3E}">
        <p14:creationId xmlns:p14="http://schemas.microsoft.com/office/powerpoint/2010/main" val="825077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9434DB-0247-FAE6-9255-E149B2DA0FE6}"/>
              </a:ext>
            </a:extLst>
          </p:cNvPr>
          <p:cNvSpPr>
            <a:spLocks noGrp="1"/>
          </p:cNvSpPr>
          <p:nvPr>
            <p:ph type="title"/>
          </p:nvPr>
        </p:nvSpPr>
        <p:spPr/>
        <p:txBody>
          <a:bodyPr>
            <a:normAutofit/>
          </a:bodyPr>
          <a:lstStyle/>
          <a:p>
            <a:r>
              <a:rPr lang="en-IN" sz="3600" dirty="0"/>
              <a:t>Tools Overview</a:t>
            </a:r>
            <a:endParaRPr lang="en-US" sz="3600" dirty="0"/>
          </a:p>
        </p:txBody>
      </p:sp>
      <p:sp>
        <p:nvSpPr>
          <p:cNvPr id="3" name="Content Placeholder 2">
            <a:extLst>
              <a:ext uri="{FF2B5EF4-FFF2-40B4-BE49-F238E27FC236}">
                <a16:creationId xmlns:a16="http://schemas.microsoft.com/office/drawing/2014/main" id="{0FFE9AFA-F959-3B42-0F95-958A9E56B2FB}"/>
              </a:ext>
            </a:extLst>
          </p:cNvPr>
          <p:cNvSpPr>
            <a:spLocks noGrp="1"/>
          </p:cNvSpPr>
          <p:nvPr>
            <p:ph sz="half" idx="1"/>
          </p:nvPr>
        </p:nvSpPr>
        <p:spPr/>
        <p:txBody>
          <a:bodyPr/>
          <a:lstStyle/>
          <a:p>
            <a:r>
              <a:rPr lang="en-IN" b="1" dirty="0"/>
              <a:t>JVM Tools</a:t>
            </a:r>
          </a:p>
          <a:p>
            <a:pPr marL="914400" lvl="1" indent="-457200">
              <a:buFont typeface="+mj-lt"/>
              <a:buAutoNum type="arabicPeriod"/>
            </a:pPr>
            <a:r>
              <a:rPr lang="en-IN" b="1" dirty="0" err="1"/>
              <a:t>JConsole</a:t>
            </a:r>
            <a:endParaRPr lang="en-IN" b="1" dirty="0"/>
          </a:p>
          <a:p>
            <a:pPr lvl="2"/>
            <a:r>
              <a:rPr lang="en-IN" dirty="0"/>
              <a:t>Basic monitoring</a:t>
            </a:r>
          </a:p>
          <a:p>
            <a:pPr lvl="2"/>
            <a:r>
              <a:rPr lang="en-IN" dirty="0"/>
              <a:t>Thread, memory</a:t>
            </a:r>
          </a:p>
          <a:p>
            <a:pPr marL="914400" lvl="1" indent="-457200">
              <a:buFont typeface="+mj-lt"/>
              <a:buAutoNum type="arabicPeriod"/>
            </a:pPr>
            <a:r>
              <a:rPr lang="en-IN" b="1" dirty="0" err="1"/>
              <a:t>VisualVM</a:t>
            </a:r>
            <a:endParaRPr lang="en-IN" b="1" dirty="0"/>
          </a:p>
          <a:p>
            <a:pPr lvl="2"/>
            <a:r>
              <a:rPr lang="en-IN" dirty="0"/>
              <a:t>CPU profiling</a:t>
            </a:r>
          </a:p>
          <a:p>
            <a:pPr lvl="2"/>
            <a:r>
              <a:rPr lang="en-IN" dirty="0"/>
              <a:t>Heap dump analysis</a:t>
            </a:r>
          </a:p>
          <a:p>
            <a:pPr marL="914400" lvl="1" indent="-457200">
              <a:buFont typeface="+mj-lt"/>
              <a:buAutoNum type="arabicPeriod"/>
            </a:pPr>
            <a:r>
              <a:rPr lang="en-IN" b="1" dirty="0"/>
              <a:t>JMC – Java Mission Control</a:t>
            </a:r>
          </a:p>
          <a:p>
            <a:pPr lvl="2"/>
            <a:r>
              <a:rPr lang="en-IN" dirty="0"/>
              <a:t>Production-grade tool</a:t>
            </a:r>
            <a:endParaRPr lang="en-US" dirty="0"/>
          </a:p>
        </p:txBody>
      </p:sp>
      <p:sp>
        <p:nvSpPr>
          <p:cNvPr id="4" name="Content Placeholder 3">
            <a:extLst>
              <a:ext uri="{FF2B5EF4-FFF2-40B4-BE49-F238E27FC236}">
                <a16:creationId xmlns:a16="http://schemas.microsoft.com/office/drawing/2014/main" id="{7E7CD2E0-B8C6-80C9-FFF4-CF51991142E0}"/>
              </a:ext>
            </a:extLst>
          </p:cNvPr>
          <p:cNvSpPr>
            <a:spLocks noGrp="1"/>
          </p:cNvSpPr>
          <p:nvPr>
            <p:ph sz="half" idx="2"/>
          </p:nvPr>
        </p:nvSpPr>
        <p:spPr/>
        <p:txBody>
          <a:bodyPr/>
          <a:lstStyle/>
          <a:p>
            <a:pPr marL="514350" indent="-514350">
              <a:buFont typeface="+mj-lt"/>
              <a:buAutoNum type="arabicPeriod" startAt="4"/>
            </a:pPr>
            <a:r>
              <a:rPr lang="en-IN" b="1" dirty="0"/>
              <a:t>JFR – Java Flight Recorder</a:t>
            </a:r>
          </a:p>
          <a:p>
            <a:pPr lvl="1"/>
            <a:r>
              <a:rPr lang="en-IN" dirty="0"/>
              <a:t>Low overhead profiling</a:t>
            </a:r>
          </a:p>
          <a:p>
            <a:pPr marL="514350" indent="-514350">
              <a:buFont typeface="+mj-lt"/>
              <a:buAutoNum type="arabicPeriod" startAt="5"/>
            </a:pPr>
            <a:r>
              <a:rPr lang="en-IN" b="1" dirty="0" err="1"/>
              <a:t>Jstack</a:t>
            </a:r>
            <a:endParaRPr lang="en-IN" b="1" dirty="0"/>
          </a:p>
          <a:p>
            <a:pPr lvl="1"/>
            <a:r>
              <a:rPr lang="en-IN" dirty="0"/>
              <a:t>Thread dump analysis</a:t>
            </a:r>
          </a:p>
          <a:p>
            <a:pPr marL="514350" indent="-514350">
              <a:buFont typeface="+mj-lt"/>
              <a:buAutoNum type="arabicPeriod" startAt="6"/>
            </a:pPr>
            <a:r>
              <a:rPr lang="en-US" b="1" dirty="0"/>
              <a:t>Jstat</a:t>
            </a:r>
          </a:p>
          <a:p>
            <a:pPr lvl="1"/>
            <a:r>
              <a:rPr lang="en-US" dirty="0"/>
              <a:t>GC stats </a:t>
            </a:r>
          </a:p>
        </p:txBody>
      </p:sp>
    </p:spTree>
    <p:extLst>
      <p:ext uri="{BB962C8B-B14F-4D97-AF65-F5344CB8AC3E}">
        <p14:creationId xmlns:p14="http://schemas.microsoft.com/office/powerpoint/2010/main" val="3281436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
                                            <p:txEl>
                                              <p:pRg st="0" end="0"/>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2" end="2"/>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
                                            <p:txEl>
                                              <p:pRg st="4" end="4"/>
                                            </p:txEl>
                                          </p:spTgt>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CBA12B-82D0-48A6-35AD-05588922D38B}"/>
              </a:ext>
            </a:extLst>
          </p:cNvPr>
          <p:cNvSpPr>
            <a:spLocks noGrp="1"/>
          </p:cNvSpPr>
          <p:nvPr>
            <p:ph type="title"/>
          </p:nvPr>
        </p:nvSpPr>
        <p:spPr/>
        <p:txBody>
          <a:bodyPr>
            <a:normAutofit/>
          </a:bodyPr>
          <a:lstStyle/>
          <a:p>
            <a:r>
              <a:rPr lang="en-IN" sz="3600" dirty="0"/>
              <a:t>Tools Overview</a:t>
            </a:r>
            <a:endParaRPr lang="en-US" sz="3600" dirty="0"/>
          </a:p>
        </p:txBody>
      </p:sp>
      <p:sp>
        <p:nvSpPr>
          <p:cNvPr id="3" name="Content Placeholder 2">
            <a:extLst>
              <a:ext uri="{FF2B5EF4-FFF2-40B4-BE49-F238E27FC236}">
                <a16:creationId xmlns:a16="http://schemas.microsoft.com/office/drawing/2014/main" id="{60F93EAF-63AB-D1D1-6A9E-332B5D5ECCA6}"/>
              </a:ext>
            </a:extLst>
          </p:cNvPr>
          <p:cNvSpPr>
            <a:spLocks noGrp="1"/>
          </p:cNvSpPr>
          <p:nvPr>
            <p:ph idx="1"/>
          </p:nvPr>
        </p:nvSpPr>
        <p:spPr/>
        <p:txBody>
          <a:bodyPr/>
          <a:lstStyle/>
          <a:p>
            <a:r>
              <a:rPr lang="en-IN" b="1" dirty="0"/>
              <a:t>APM Tools</a:t>
            </a:r>
          </a:p>
          <a:p>
            <a:pPr lvl="1"/>
            <a:r>
              <a:rPr lang="en-IN" dirty="0"/>
              <a:t>New Relic</a:t>
            </a:r>
          </a:p>
          <a:p>
            <a:pPr lvl="1"/>
            <a:r>
              <a:rPr lang="en-IN" dirty="0"/>
              <a:t>Dynatrace</a:t>
            </a:r>
          </a:p>
          <a:p>
            <a:pPr lvl="1"/>
            <a:r>
              <a:rPr lang="en-IN" dirty="0"/>
              <a:t>AppDynamics</a:t>
            </a:r>
          </a:p>
          <a:p>
            <a:r>
              <a:rPr lang="en-IN" b="1" dirty="0"/>
              <a:t>Used for</a:t>
            </a:r>
          </a:p>
          <a:p>
            <a:pPr lvl="1"/>
            <a:r>
              <a:rPr lang="en-IN" dirty="0"/>
              <a:t>Distributed tracing</a:t>
            </a:r>
          </a:p>
          <a:p>
            <a:pPr lvl="1"/>
            <a:r>
              <a:rPr lang="en-IN" dirty="0"/>
              <a:t>SLA monitoring</a:t>
            </a:r>
          </a:p>
          <a:p>
            <a:pPr lvl="1"/>
            <a:r>
              <a:rPr lang="en-IN" dirty="0"/>
              <a:t>Bottleneck detection</a:t>
            </a:r>
            <a:endParaRPr lang="en-US" dirty="0"/>
          </a:p>
        </p:txBody>
      </p:sp>
    </p:spTree>
    <p:extLst>
      <p:ext uri="{BB962C8B-B14F-4D97-AF65-F5344CB8AC3E}">
        <p14:creationId xmlns:p14="http://schemas.microsoft.com/office/powerpoint/2010/main" val="2515335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9FE87-D85E-157F-2F46-78350F088B8D}"/>
              </a:ext>
            </a:extLst>
          </p:cNvPr>
          <p:cNvSpPr>
            <a:spLocks noGrp="1"/>
          </p:cNvSpPr>
          <p:nvPr>
            <p:ph type="title"/>
          </p:nvPr>
        </p:nvSpPr>
        <p:spPr/>
        <p:txBody>
          <a:bodyPr/>
          <a:lstStyle/>
          <a:p>
            <a:r>
              <a:rPr lang="en-GB" dirty="0"/>
              <a:t>MCQ</a:t>
            </a:r>
            <a:endParaRPr lang="en-US" dirty="0"/>
          </a:p>
        </p:txBody>
      </p:sp>
      <p:sp>
        <p:nvSpPr>
          <p:cNvPr id="3" name="Content Placeholder 2">
            <a:extLst>
              <a:ext uri="{FF2B5EF4-FFF2-40B4-BE49-F238E27FC236}">
                <a16:creationId xmlns:a16="http://schemas.microsoft.com/office/drawing/2014/main" id="{BD54ADBB-3068-5A55-9A28-7CFAE77F79C0}"/>
              </a:ext>
            </a:extLst>
          </p:cNvPr>
          <p:cNvSpPr>
            <a:spLocks noGrp="1"/>
          </p:cNvSpPr>
          <p:nvPr>
            <p:ph idx="1"/>
          </p:nvPr>
        </p:nvSpPr>
        <p:spPr/>
        <p:txBody>
          <a:bodyPr>
            <a:normAutofit fontScale="77500" lnSpcReduction="20000"/>
          </a:bodyPr>
          <a:lstStyle/>
          <a:p>
            <a:pPr marL="0" indent="0">
              <a:buNone/>
            </a:pPr>
            <a:r>
              <a:rPr lang="en-GB" b="1" dirty="0"/>
              <a:t>1. What is the primary goal of performance tuning?</a:t>
            </a:r>
          </a:p>
          <a:p>
            <a:pPr marL="914400" lvl="1" indent="-457200">
              <a:buFont typeface="+mj-lt"/>
              <a:buAutoNum type="alphaUcPeriod"/>
            </a:pPr>
            <a:r>
              <a:rPr lang="en-GB" dirty="0"/>
              <a:t>To reduce code size</a:t>
            </a:r>
          </a:p>
          <a:p>
            <a:pPr marL="914400" lvl="1" indent="-457200">
              <a:buFont typeface="+mj-lt"/>
              <a:buAutoNum type="alphaUcPeriod"/>
            </a:pPr>
            <a:r>
              <a:rPr lang="en-GB" dirty="0"/>
              <a:t>To improve application speed, scalability, and resource usage</a:t>
            </a:r>
          </a:p>
          <a:p>
            <a:pPr marL="914400" lvl="1" indent="-457200">
              <a:buFont typeface="+mj-lt"/>
              <a:buAutoNum type="alphaUcPeriod"/>
            </a:pPr>
            <a:r>
              <a:rPr lang="en-GB" dirty="0"/>
              <a:t>To increase memory consumption</a:t>
            </a:r>
          </a:p>
          <a:p>
            <a:pPr marL="914400" lvl="1" indent="-457200">
              <a:buFont typeface="+mj-lt"/>
              <a:buAutoNum type="alphaUcPeriod"/>
            </a:pPr>
            <a:r>
              <a:rPr lang="en-GB" dirty="0"/>
              <a:t>To add more features</a:t>
            </a:r>
          </a:p>
          <a:p>
            <a:pPr lvl="1"/>
            <a:r>
              <a:rPr lang="en-GB" b="1" dirty="0"/>
              <a:t>Correct Answer:</a:t>
            </a:r>
            <a:r>
              <a:rPr lang="en-GB" dirty="0"/>
              <a:t> B</a:t>
            </a:r>
            <a:br>
              <a:rPr lang="en-GB" dirty="0"/>
            </a:br>
            <a:r>
              <a:rPr lang="en-GB" b="1" dirty="0"/>
              <a:t>Explanation:</a:t>
            </a:r>
            <a:r>
              <a:rPr lang="en-GB" dirty="0"/>
              <a:t> Performance tuning focuses on optimizing speed, scalability, and efficient resource utilization.</a:t>
            </a:r>
          </a:p>
          <a:p>
            <a:pPr marL="0" indent="0">
              <a:buNone/>
            </a:pPr>
            <a:r>
              <a:rPr lang="en-GB" b="1" dirty="0"/>
              <a:t>2. Which of the following is a key performance metric?</a:t>
            </a:r>
          </a:p>
          <a:p>
            <a:pPr marL="914400" lvl="1" indent="-457200">
              <a:buFont typeface="+mj-lt"/>
              <a:buAutoNum type="alphaUcPeriod"/>
            </a:pPr>
            <a:r>
              <a:rPr lang="en-GB" dirty="0"/>
              <a:t>Code readability</a:t>
            </a:r>
          </a:p>
          <a:p>
            <a:pPr marL="914400" lvl="1" indent="-457200">
              <a:buFont typeface="+mj-lt"/>
              <a:buAutoNum type="alphaUcPeriod"/>
            </a:pPr>
            <a:r>
              <a:rPr lang="en-GB" dirty="0"/>
              <a:t>Throughput</a:t>
            </a:r>
          </a:p>
          <a:p>
            <a:pPr marL="914400" lvl="1" indent="-457200">
              <a:buFont typeface="+mj-lt"/>
              <a:buAutoNum type="alphaUcPeriod"/>
            </a:pPr>
            <a:r>
              <a:rPr lang="en-GB" dirty="0"/>
              <a:t>Number of classes</a:t>
            </a:r>
          </a:p>
          <a:p>
            <a:pPr marL="914400" lvl="1" indent="-457200">
              <a:buFont typeface="+mj-lt"/>
              <a:buAutoNum type="alphaUcPeriod"/>
            </a:pPr>
            <a:r>
              <a:rPr lang="en-GB" dirty="0"/>
              <a:t>Lines of code</a:t>
            </a:r>
          </a:p>
          <a:p>
            <a:pPr lvl="1"/>
            <a:r>
              <a:rPr lang="en-GB" b="1" dirty="0"/>
              <a:t>Correct Answer:</a:t>
            </a:r>
            <a:r>
              <a:rPr lang="en-GB" dirty="0"/>
              <a:t> B</a:t>
            </a:r>
            <a:br>
              <a:rPr lang="en-GB" dirty="0"/>
            </a:br>
            <a:r>
              <a:rPr lang="en-GB" b="1" dirty="0"/>
              <a:t>Explanation:</a:t>
            </a:r>
            <a:r>
              <a:rPr lang="en-GB" dirty="0"/>
              <a:t> Throughput measures how much work an application can handle in a given time.</a:t>
            </a:r>
            <a:endParaRPr lang="en-US" dirty="0"/>
          </a:p>
        </p:txBody>
      </p:sp>
    </p:spTree>
    <p:extLst>
      <p:ext uri="{BB962C8B-B14F-4D97-AF65-F5344CB8AC3E}">
        <p14:creationId xmlns:p14="http://schemas.microsoft.com/office/powerpoint/2010/main" val="9273442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CB595D-5250-D4E0-3DBC-C83DC3CA13FA}"/>
              </a:ext>
            </a:extLst>
          </p:cNvPr>
          <p:cNvSpPr>
            <a:spLocks noGrp="1"/>
          </p:cNvSpPr>
          <p:nvPr>
            <p:ph type="title"/>
          </p:nvPr>
        </p:nvSpPr>
        <p:spPr/>
        <p:txBody>
          <a:bodyPr/>
          <a:lstStyle/>
          <a:p>
            <a:r>
              <a:rPr lang="en-GB" dirty="0"/>
              <a:t>MCQ</a:t>
            </a:r>
            <a:endParaRPr lang="en-US" dirty="0"/>
          </a:p>
        </p:txBody>
      </p:sp>
      <p:sp>
        <p:nvSpPr>
          <p:cNvPr id="3" name="Content Placeholder 2">
            <a:extLst>
              <a:ext uri="{FF2B5EF4-FFF2-40B4-BE49-F238E27FC236}">
                <a16:creationId xmlns:a16="http://schemas.microsoft.com/office/drawing/2014/main" id="{B8C20F27-AF45-8E83-D0A4-43BEDF087B7D}"/>
              </a:ext>
            </a:extLst>
          </p:cNvPr>
          <p:cNvSpPr>
            <a:spLocks noGrp="1"/>
          </p:cNvSpPr>
          <p:nvPr>
            <p:ph idx="1"/>
          </p:nvPr>
        </p:nvSpPr>
        <p:spPr/>
        <p:txBody>
          <a:bodyPr>
            <a:normAutofit fontScale="85000" lnSpcReduction="20000"/>
          </a:bodyPr>
          <a:lstStyle/>
          <a:p>
            <a:pPr marL="0" indent="0">
              <a:buNone/>
            </a:pPr>
            <a:r>
              <a:rPr lang="en-GB" b="1" dirty="0"/>
              <a:t>3. What does latency represent in a system?</a:t>
            </a:r>
          </a:p>
          <a:p>
            <a:pPr marL="914400" lvl="1" indent="-457200">
              <a:buFont typeface="+mj-lt"/>
              <a:buAutoNum type="alphaUcPeriod"/>
            </a:pPr>
            <a:r>
              <a:rPr lang="en-GB" dirty="0"/>
              <a:t>Total number of requests processed</a:t>
            </a:r>
          </a:p>
          <a:p>
            <a:pPr marL="914400" lvl="1" indent="-457200">
              <a:buFont typeface="+mj-lt"/>
              <a:buAutoNum type="alphaUcPeriod"/>
            </a:pPr>
            <a:r>
              <a:rPr lang="en-GB" dirty="0"/>
              <a:t>Time taken to respond to a request</a:t>
            </a:r>
          </a:p>
          <a:p>
            <a:pPr marL="914400" lvl="1" indent="-457200">
              <a:buFont typeface="+mj-lt"/>
              <a:buAutoNum type="alphaUcPeriod"/>
            </a:pPr>
            <a:r>
              <a:rPr lang="en-GB" dirty="0"/>
              <a:t>Memory usage of application</a:t>
            </a:r>
          </a:p>
          <a:p>
            <a:pPr marL="914400" lvl="1" indent="-457200">
              <a:buFont typeface="+mj-lt"/>
              <a:buAutoNum type="alphaUcPeriod"/>
            </a:pPr>
            <a:r>
              <a:rPr lang="en-GB" dirty="0"/>
              <a:t>CPU utilization percentage</a:t>
            </a:r>
          </a:p>
          <a:p>
            <a:pPr lvl="1"/>
            <a:r>
              <a:rPr lang="en-GB" b="1" dirty="0"/>
              <a:t>Correct Answer:</a:t>
            </a:r>
            <a:r>
              <a:rPr lang="en-GB" dirty="0"/>
              <a:t> B</a:t>
            </a:r>
            <a:br>
              <a:rPr lang="en-GB" dirty="0"/>
            </a:br>
            <a:r>
              <a:rPr lang="en-GB" b="1" dirty="0"/>
              <a:t>Explanation:</a:t>
            </a:r>
            <a:r>
              <a:rPr lang="en-GB" dirty="0"/>
              <a:t> Latency is the delay between request and response</a:t>
            </a:r>
          </a:p>
          <a:p>
            <a:pPr marL="0" indent="0">
              <a:buNone/>
            </a:pPr>
            <a:r>
              <a:rPr lang="en-GB" b="1" dirty="0"/>
              <a:t>4. Which of the following is a common performance bottleneck in Java applications?</a:t>
            </a:r>
          </a:p>
          <a:p>
            <a:pPr marL="914400" lvl="1" indent="-457200">
              <a:buFont typeface="+mj-lt"/>
              <a:buAutoNum type="alphaUcPeriod"/>
            </a:pPr>
            <a:r>
              <a:rPr lang="en-GB" dirty="0"/>
              <a:t>Proper indexing</a:t>
            </a:r>
          </a:p>
          <a:p>
            <a:pPr marL="914400" lvl="1" indent="-457200">
              <a:buFont typeface="+mj-lt"/>
              <a:buAutoNum type="alphaUcPeriod"/>
            </a:pPr>
            <a:r>
              <a:rPr lang="en-GB" dirty="0"/>
              <a:t>Efficient garbage collection</a:t>
            </a:r>
          </a:p>
          <a:p>
            <a:pPr marL="914400" lvl="1" indent="-457200">
              <a:buFont typeface="+mj-lt"/>
              <a:buAutoNum type="alphaUcPeriod"/>
            </a:pPr>
            <a:r>
              <a:rPr lang="en-GB" dirty="0"/>
              <a:t>Excessive synchronization</a:t>
            </a:r>
          </a:p>
          <a:p>
            <a:pPr marL="914400" lvl="1" indent="-457200">
              <a:buFont typeface="+mj-lt"/>
              <a:buAutoNum type="alphaUcPeriod"/>
            </a:pPr>
            <a:r>
              <a:rPr lang="en-GB" dirty="0"/>
              <a:t>Optimized algorithms</a:t>
            </a:r>
          </a:p>
          <a:p>
            <a:pPr lvl="1"/>
            <a:r>
              <a:rPr lang="en-GB" b="1" dirty="0"/>
              <a:t>Correct Answer:</a:t>
            </a:r>
            <a:r>
              <a:rPr lang="en-GB" dirty="0"/>
              <a:t> C</a:t>
            </a:r>
            <a:br>
              <a:rPr lang="en-GB" dirty="0"/>
            </a:br>
            <a:r>
              <a:rPr lang="en-GB" b="1" dirty="0"/>
              <a:t>Explanation:</a:t>
            </a:r>
            <a:r>
              <a:rPr lang="en-GB" dirty="0"/>
              <a:t> Excessive synchronization can cause thread contention and reduce performance</a:t>
            </a:r>
          </a:p>
          <a:p>
            <a:endParaRPr lang="en-US" dirty="0"/>
          </a:p>
        </p:txBody>
      </p:sp>
    </p:spTree>
    <p:extLst>
      <p:ext uri="{BB962C8B-B14F-4D97-AF65-F5344CB8AC3E}">
        <p14:creationId xmlns:p14="http://schemas.microsoft.com/office/powerpoint/2010/main" val="1070555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754A3-B401-6004-3555-7E08BBB4EB1E}"/>
              </a:ext>
            </a:extLst>
          </p:cNvPr>
          <p:cNvSpPr>
            <a:spLocks noGrp="1"/>
          </p:cNvSpPr>
          <p:nvPr>
            <p:ph type="title"/>
          </p:nvPr>
        </p:nvSpPr>
        <p:spPr/>
        <p:txBody>
          <a:bodyPr/>
          <a:lstStyle/>
          <a:p>
            <a:r>
              <a:rPr lang="en-GB" dirty="0"/>
              <a:t>MCQ</a:t>
            </a:r>
            <a:endParaRPr lang="en-US" dirty="0"/>
          </a:p>
        </p:txBody>
      </p:sp>
      <p:sp>
        <p:nvSpPr>
          <p:cNvPr id="3" name="Content Placeholder 2">
            <a:extLst>
              <a:ext uri="{FF2B5EF4-FFF2-40B4-BE49-F238E27FC236}">
                <a16:creationId xmlns:a16="http://schemas.microsoft.com/office/drawing/2014/main" id="{32E3BC36-57F3-7473-05FD-6A5E6BD6D885}"/>
              </a:ext>
            </a:extLst>
          </p:cNvPr>
          <p:cNvSpPr>
            <a:spLocks noGrp="1"/>
          </p:cNvSpPr>
          <p:nvPr>
            <p:ph idx="1"/>
          </p:nvPr>
        </p:nvSpPr>
        <p:spPr/>
        <p:txBody>
          <a:bodyPr/>
          <a:lstStyle/>
          <a:p>
            <a:pPr marL="0" indent="0">
              <a:buNone/>
            </a:pPr>
            <a:r>
              <a:rPr lang="en-GB" b="1" dirty="0"/>
              <a:t>5. Which tool is used for Java monitoring and profiling?</a:t>
            </a:r>
          </a:p>
          <a:p>
            <a:pPr marL="914400" lvl="1" indent="-457200">
              <a:buFont typeface="+mj-lt"/>
              <a:buAutoNum type="alphaUcPeriod"/>
            </a:pPr>
            <a:r>
              <a:rPr lang="en-GB" dirty="0"/>
              <a:t>Git</a:t>
            </a:r>
          </a:p>
          <a:p>
            <a:pPr marL="914400" lvl="1" indent="-457200">
              <a:buFont typeface="+mj-lt"/>
              <a:buAutoNum type="alphaUcPeriod"/>
            </a:pPr>
            <a:r>
              <a:rPr lang="en-GB" dirty="0" err="1"/>
              <a:t>Jconsole</a:t>
            </a:r>
            <a:endParaRPr lang="en-GB" dirty="0"/>
          </a:p>
          <a:p>
            <a:pPr marL="914400" lvl="1" indent="-457200">
              <a:buFont typeface="+mj-lt"/>
              <a:buAutoNum type="alphaUcPeriod"/>
            </a:pPr>
            <a:r>
              <a:rPr lang="en-GB" dirty="0"/>
              <a:t>Maven</a:t>
            </a:r>
          </a:p>
          <a:p>
            <a:pPr marL="914400" lvl="1" indent="-457200">
              <a:buFont typeface="+mj-lt"/>
              <a:buAutoNum type="alphaUcPeriod"/>
            </a:pPr>
            <a:r>
              <a:rPr lang="en-GB" dirty="0"/>
              <a:t>Jenkins</a:t>
            </a:r>
          </a:p>
          <a:p>
            <a:pPr lvl="1"/>
            <a:r>
              <a:rPr lang="en-GB" b="1" dirty="0"/>
              <a:t>Correct Answer:</a:t>
            </a:r>
            <a:r>
              <a:rPr lang="en-GB" dirty="0"/>
              <a:t> B</a:t>
            </a:r>
            <a:br>
              <a:rPr lang="en-GB" dirty="0"/>
            </a:br>
            <a:r>
              <a:rPr lang="en-GB" b="1" dirty="0"/>
              <a:t>Explanation:</a:t>
            </a:r>
            <a:r>
              <a:rPr lang="en-GB" dirty="0"/>
              <a:t> </a:t>
            </a:r>
            <a:r>
              <a:rPr lang="en-GB" dirty="0" err="1"/>
              <a:t>JConsole</a:t>
            </a:r>
            <a:r>
              <a:rPr lang="en-GB" dirty="0"/>
              <a:t> is a built-in Java monitoring and management tool.</a:t>
            </a:r>
          </a:p>
          <a:p>
            <a:endParaRPr lang="en-US" dirty="0"/>
          </a:p>
        </p:txBody>
      </p:sp>
    </p:spTree>
    <p:extLst>
      <p:ext uri="{BB962C8B-B14F-4D97-AF65-F5344CB8AC3E}">
        <p14:creationId xmlns:p14="http://schemas.microsoft.com/office/powerpoint/2010/main" val="3309131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2">
            <a:lumMod val="9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6E73F-BF11-F6C6-1A22-B7D08C3E8655}"/>
              </a:ext>
            </a:extLst>
          </p:cNvPr>
          <p:cNvSpPr>
            <a:spLocks noGrp="1"/>
          </p:cNvSpPr>
          <p:nvPr>
            <p:ph type="title"/>
          </p:nvPr>
        </p:nvSpPr>
        <p:spPr/>
        <p:txBody>
          <a:bodyPr>
            <a:normAutofit/>
          </a:bodyPr>
          <a:lstStyle/>
          <a:p>
            <a:r>
              <a:rPr lang="en-GB" sz="3600" dirty="0"/>
              <a:t>Session 2 : JVM Architecture Deep Dive</a:t>
            </a:r>
            <a:endParaRPr lang="en-US" sz="3600" dirty="0"/>
          </a:p>
        </p:txBody>
      </p:sp>
      <p:sp>
        <p:nvSpPr>
          <p:cNvPr id="3" name="Content Placeholder 2">
            <a:extLst>
              <a:ext uri="{FF2B5EF4-FFF2-40B4-BE49-F238E27FC236}">
                <a16:creationId xmlns:a16="http://schemas.microsoft.com/office/drawing/2014/main" id="{B3B12711-1FDA-B268-C400-31171C59E16E}"/>
              </a:ext>
            </a:extLst>
          </p:cNvPr>
          <p:cNvSpPr>
            <a:spLocks noGrp="1"/>
          </p:cNvSpPr>
          <p:nvPr>
            <p:ph idx="1"/>
          </p:nvPr>
        </p:nvSpPr>
        <p:spPr/>
        <p:txBody>
          <a:bodyPr/>
          <a:lstStyle/>
          <a:p>
            <a:r>
              <a:rPr lang="en-GB" dirty="0"/>
              <a:t>Session Objective</a:t>
            </a:r>
          </a:p>
          <a:p>
            <a:pPr lvl="1"/>
            <a:r>
              <a:rPr lang="en-US" dirty="0"/>
              <a:t>Understand </a:t>
            </a:r>
            <a:r>
              <a:rPr lang="en-US" b="1" dirty="0"/>
              <a:t>how JVM executes Java programs internally</a:t>
            </a:r>
          </a:p>
          <a:p>
            <a:pPr lvl="1"/>
            <a:r>
              <a:rPr lang="en-US" dirty="0"/>
              <a:t>Identify </a:t>
            </a:r>
            <a:r>
              <a:rPr lang="en-US" b="1" dirty="0"/>
              <a:t>JVM memory components </a:t>
            </a:r>
            <a:r>
              <a:rPr lang="en-US" dirty="0"/>
              <a:t>and their roles</a:t>
            </a:r>
          </a:p>
          <a:p>
            <a:pPr lvl="1"/>
            <a:r>
              <a:rPr lang="en-US" dirty="0"/>
              <a:t>Understand </a:t>
            </a:r>
            <a:r>
              <a:rPr lang="en-US" b="1" dirty="0"/>
              <a:t>JIT &amp; runtime optimizations</a:t>
            </a:r>
          </a:p>
          <a:p>
            <a:pPr lvl="1"/>
            <a:r>
              <a:rPr lang="en-US" dirty="0"/>
              <a:t>Relate </a:t>
            </a:r>
            <a:r>
              <a:rPr lang="en-US" b="1" dirty="0"/>
              <a:t>JVM internals with performance issues</a:t>
            </a:r>
          </a:p>
        </p:txBody>
      </p:sp>
    </p:spTree>
    <p:extLst>
      <p:ext uri="{BB962C8B-B14F-4D97-AF65-F5344CB8AC3E}">
        <p14:creationId xmlns:p14="http://schemas.microsoft.com/office/powerpoint/2010/main" val="24077179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2">
            <a:lumMod val="9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429FF-ADE5-A70E-57E7-5D2E7AED1500}"/>
              </a:ext>
            </a:extLst>
          </p:cNvPr>
          <p:cNvSpPr>
            <a:spLocks noGrp="1"/>
          </p:cNvSpPr>
          <p:nvPr>
            <p:ph type="title"/>
          </p:nvPr>
        </p:nvSpPr>
        <p:spPr/>
        <p:txBody>
          <a:bodyPr vert="horz" lIns="91440" tIns="45720" rIns="91440" bIns="45720" rtlCol="0" anchor="ctr">
            <a:normAutofit/>
          </a:bodyPr>
          <a:lstStyle/>
          <a:p>
            <a:r>
              <a:rPr lang="en-GB" sz="3600" dirty="0"/>
              <a:t>What happens inside normal </a:t>
            </a:r>
            <a:r>
              <a:rPr lang="en-GB" sz="3600"/>
              <a:t>JDK?</a:t>
            </a:r>
            <a:endParaRPr lang="en-US" sz="3600" dirty="0"/>
          </a:p>
        </p:txBody>
      </p:sp>
      <p:sp>
        <p:nvSpPr>
          <p:cNvPr id="4" name="Rectangle 3">
            <a:extLst>
              <a:ext uri="{FF2B5EF4-FFF2-40B4-BE49-F238E27FC236}">
                <a16:creationId xmlns:a16="http://schemas.microsoft.com/office/drawing/2014/main" id="{7B56F72A-00B5-7DEE-2A9F-60C4E3B04E3F}"/>
              </a:ext>
            </a:extLst>
          </p:cNvPr>
          <p:cNvSpPr/>
          <p:nvPr/>
        </p:nvSpPr>
        <p:spPr>
          <a:xfrm>
            <a:off x="2044423" y="3170452"/>
            <a:ext cx="726728" cy="86648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Java</a:t>
            </a:r>
            <a:br>
              <a:rPr lang="en-GB" dirty="0"/>
            </a:br>
            <a:r>
              <a:rPr lang="en-GB" dirty="0"/>
              <a:t>Code</a:t>
            </a:r>
            <a:endParaRPr lang="en-US" dirty="0"/>
          </a:p>
        </p:txBody>
      </p:sp>
      <p:sp>
        <p:nvSpPr>
          <p:cNvPr id="5" name="Rectangle 4">
            <a:extLst>
              <a:ext uri="{FF2B5EF4-FFF2-40B4-BE49-F238E27FC236}">
                <a16:creationId xmlns:a16="http://schemas.microsoft.com/office/drawing/2014/main" id="{361992BE-CDAD-24C7-F6DF-42CFCE52458A}"/>
              </a:ext>
            </a:extLst>
          </p:cNvPr>
          <p:cNvSpPr/>
          <p:nvPr/>
        </p:nvSpPr>
        <p:spPr>
          <a:xfrm>
            <a:off x="4120789" y="3170452"/>
            <a:ext cx="726728" cy="86648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.class</a:t>
            </a:r>
            <a:endParaRPr lang="en-US" dirty="0"/>
          </a:p>
        </p:txBody>
      </p:sp>
      <p:cxnSp>
        <p:nvCxnSpPr>
          <p:cNvPr id="7" name="Straight Arrow Connector 6">
            <a:extLst>
              <a:ext uri="{FF2B5EF4-FFF2-40B4-BE49-F238E27FC236}">
                <a16:creationId xmlns:a16="http://schemas.microsoft.com/office/drawing/2014/main" id="{DC9C5A34-8133-911C-4BD5-9B06B1CAB5F8}"/>
              </a:ext>
            </a:extLst>
          </p:cNvPr>
          <p:cNvCxnSpPr/>
          <p:nvPr/>
        </p:nvCxnSpPr>
        <p:spPr>
          <a:xfrm>
            <a:off x="2986774" y="3603694"/>
            <a:ext cx="87846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90DCF3E5-FEF5-6C15-334C-B4CD83C23CC6}"/>
              </a:ext>
            </a:extLst>
          </p:cNvPr>
          <p:cNvSpPr txBox="1"/>
          <p:nvPr/>
        </p:nvSpPr>
        <p:spPr>
          <a:xfrm>
            <a:off x="2888998" y="3298195"/>
            <a:ext cx="1072730" cy="261610"/>
          </a:xfrm>
          <a:prstGeom prst="rect">
            <a:avLst/>
          </a:prstGeom>
          <a:noFill/>
        </p:spPr>
        <p:txBody>
          <a:bodyPr wrap="none" rtlCol="0">
            <a:spAutoFit/>
          </a:bodyPr>
          <a:lstStyle/>
          <a:p>
            <a:r>
              <a:rPr lang="en-GB" sz="1100" dirty="0" err="1"/>
              <a:t>javac</a:t>
            </a:r>
            <a:r>
              <a:rPr lang="en-GB" sz="1100" dirty="0"/>
              <a:t> Hello.java</a:t>
            </a:r>
            <a:endParaRPr lang="en-US" sz="1100" dirty="0"/>
          </a:p>
        </p:txBody>
      </p:sp>
      <p:cxnSp>
        <p:nvCxnSpPr>
          <p:cNvPr id="9" name="Straight Arrow Connector 8">
            <a:extLst>
              <a:ext uri="{FF2B5EF4-FFF2-40B4-BE49-F238E27FC236}">
                <a16:creationId xmlns:a16="http://schemas.microsoft.com/office/drawing/2014/main" id="{85847B7D-B03D-67FB-6C17-61E1D02234DF}"/>
              </a:ext>
            </a:extLst>
          </p:cNvPr>
          <p:cNvCxnSpPr/>
          <p:nvPr/>
        </p:nvCxnSpPr>
        <p:spPr>
          <a:xfrm>
            <a:off x="5055814" y="3603694"/>
            <a:ext cx="87846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FDDC562E-D352-E668-6CF5-4BBBAEA1D68B}"/>
              </a:ext>
            </a:extLst>
          </p:cNvPr>
          <p:cNvSpPr txBox="1"/>
          <p:nvPr/>
        </p:nvSpPr>
        <p:spPr>
          <a:xfrm>
            <a:off x="5122186" y="3298195"/>
            <a:ext cx="745717" cy="261610"/>
          </a:xfrm>
          <a:prstGeom prst="rect">
            <a:avLst/>
          </a:prstGeom>
          <a:noFill/>
        </p:spPr>
        <p:txBody>
          <a:bodyPr wrap="none" rtlCol="0">
            <a:spAutoFit/>
          </a:bodyPr>
          <a:lstStyle/>
          <a:p>
            <a:r>
              <a:rPr lang="en-GB" sz="1100" dirty="0"/>
              <a:t>java Hello</a:t>
            </a:r>
            <a:endParaRPr lang="en-US" sz="1100" dirty="0"/>
          </a:p>
        </p:txBody>
      </p:sp>
      <p:sp>
        <p:nvSpPr>
          <p:cNvPr id="11" name="Rectangle 10">
            <a:extLst>
              <a:ext uri="{FF2B5EF4-FFF2-40B4-BE49-F238E27FC236}">
                <a16:creationId xmlns:a16="http://schemas.microsoft.com/office/drawing/2014/main" id="{FE68F423-328B-25D5-86E4-918834E052C6}"/>
              </a:ext>
            </a:extLst>
          </p:cNvPr>
          <p:cNvSpPr/>
          <p:nvPr/>
        </p:nvSpPr>
        <p:spPr>
          <a:xfrm>
            <a:off x="6093338" y="3170452"/>
            <a:ext cx="726728" cy="86648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JVM</a:t>
            </a:r>
            <a:endParaRPr lang="en-US" dirty="0"/>
          </a:p>
        </p:txBody>
      </p:sp>
      <p:cxnSp>
        <p:nvCxnSpPr>
          <p:cNvPr id="12" name="Straight Arrow Connector 11">
            <a:extLst>
              <a:ext uri="{FF2B5EF4-FFF2-40B4-BE49-F238E27FC236}">
                <a16:creationId xmlns:a16="http://schemas.microsoft.com/office/drawing/2014/main" id="{9A37C06B-0DEE-43E7-02EA-A771B364672D}"/>
              </a:ext>
            </a:extLst>
          </p:cNvPr>
          <p:cNvCxnSpPr/>
          <p:nvPr/>
        </p:nvCxnSpPr>
        <p:spPr>
          <a:xfrm>
            <a:off x="6912755" y="3614342"/>
            <a:ext cx="87846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D58CC095-413F-FEE3-C2E2-298E2640F4FB}"/>
              </a:ext>
            </a:extLst>
          </p:cNvPr>
          <p:cNvSpPr txBox="1"/>
          <p:nvPr/>
        </p:nvSpPr>
        <p:spPr>
          <a:xfrm>
            <a:off x="6983005" y="3298195"/>
            <a:ext cx="591829" cy="261610"/>
          </a:xfrm>
          <a:prstGeom prst="rect">
            <a:avLst/>
          </a:prstGeom>
          <a:noFill/>
        </p:spPr>
        <p:txBody>
          <a:bodyPr wrap="none" rtlCol="0">
            <a:spAutoFit/>
          </a:bodyPr>
          <a:lstStyle/>
          <a:p>
            <a:r>
              <a:rPr lang="en-GB" sz="1100" dirty="0"/>
              <a:t>Output</a:t>
            </a:r>
            <a:endParaRPr lang="en-US" sz="1100" dirty="0"/>
          </a:p>
        </p:txBody>
      </p:sp>
      <p:sp>
        <p:nvSpPr>
          <p:cNvPr id="14" name="Rectangle 13">
            <a:extLst>
              <a:ext uri="{FF2B5EF4-FFF2-40B4-BE49-F238E27FC236}">
                <a16:creationId xmlns:a16="http://schemas.microsoft.com/office/drawing/2014/main" id="{B90C5DE9-B274-5D62-EB04-5666903D6025}"/>
              </a:ext>
            </a:extLst>
          </p:cNvPr>
          <p:cNvSpPr/>
          <p:nvPr/>
        </p:nvSpPr>
        <p:spPr>
          <a:xfrm>
            <a:off x="7950279" y="3408036"/>
            <a:ext cx="951478" cy="3913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Output</a:t>
            </a:r>
            <a:endParaRPr lang="en-US" dirty="0"/>
          </a:p>
        </p:txBody>
      </p:sp>
    </p:spTree>
    <p:extLst>
      <p:ext uri="{BB962C8B-B14F-4D97-AF65-F5344CB8AC3E}">
        <p14:creationId xmlns:p14="http://schemas.microsoft.com/office/powerpoint/2010/main" val="1560408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8" grpId="0"/>
      <p:bldP spid="10" grpId="0"/>
      <p:bldP spid="11" grpId="0" animBg="1"/>
      <p:bldP spid="13" grpId="0"/>
      <p:bldP spid="14"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2">
            <a:lumMod val="9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F34ECC-F7FB-09DD-0444-B69C0740D463}"/>
              </a:ext>
            </a:extLst>
          </p:cNvPr>
          <p:cNvSpPr>
            <a:spLocks noGrp="1"/>
          </p:cNvSpPr>
          <p:nvPr>
            <p:ph type="title"/>
          </p:nvPr>
        </p:nvSpPr>
        <p:spPr/>
        <p:txBody>
          <a:bodyPr vert="horz" lIns="91440" tIns="45720" rIns="91440" bIns="45720" rtlCol="0" anchor="ctr">
            <a:normAutofit/>
          </a:bodyPr>
          <a:lstStyle/>
          <a:p>
            <a:r>
              <a:rPr lang="en-GB" sz="3600" dirty="0"/>
              <a:t>What happens inside JVM?</a:t>
            </a:r>
            <a:endParaRPr lang="en-US" sz="3600" dirty="0"/>
          </a:p>
        </p:txBody>
      </p:sp>
      <p:sp>
        <p:nvSpPr>
          <p:cNvPr id="3" name="Content Placeholder 2">
            <a:extLst>
              <a:ext uri="{FF2B5EF4-FFF2-40B4-BE49-F238E27FC236}">
                <a16:creationId xmlns:a16="http://schemas.microsoft.com/office/drawing/2014/main" id="{84B7DD72-5131-349B-F7D0-5510326DE754}"/>
              </a:ext>
            </a:extLst>
          </p:cNvPr>
          <p:cNvSpPr>
            <a:spLocks noGrp="1"/>
          </p:cNvSpPr>
          <p:nvPr>
            <p:ph idx="1"/>
          </p:nvPr>
        </p:nvSpPr>
        <p:spPr/>
        <p:txBody>
          <a:bodyPr>
            <a:normAutofit fontScale="62500" lnSpcReduction="20000"/>
          </a:bodyPr>
          <a:lstStyle/>
          <a:p>
            <a:r>
              <a:rPr lang="en-GB" b="1" dirty="0"/>
              <a:t>Class Loading</a:t>
            </a:r>
          </a:p>
          <a:p>
            <a:pPr lvl="1"/>
            <a:r>
              <a:rPr lang="en-GB" dirty="0"/>
              <a:t>The JVM starts by loading the necessary classes and resources required by the program.</a:t>
            </a:r>
          </a:p>
          <a:p>
            <a:pPr lvl="1"/>
            <a:r>
              <a:rPr lang="en-GB" dirty="0"/>
              <a:t>It searches for bytecode files(.class) that correspond to the classes used in the program and loads them into memory.</a:t>
            </a:r>
          </a:p>
          <a:p>
            <a:r>
              <a:rPr lang="en-GB" b="1" dirty="0"/>
              <a:t>Bytecode Verification</a:t>
            </a:r>
          </a:p>
          <a:p>
            <a:pPr lvl="1"/>
            <a:r>
              <a:rPr lang="en-GB" dirty="0"/>
              <a:t> Once the classes are loaded, the JVM preforms bytecode verification. It checks the bytecode for any violations of the Java language specification.</a:t>
            </a:r>
          </a:p>
          <a:p>
            <a:pPr lvl="1"/>
            <a:r>
              <a:rPr lang="en-GB" dirty="0"/>
              <a:t> This step ensures the safety and security of the JVM by preventing the execution of malicious or malformed bytecode.</a:t>
            </a:r>
          </a:p>
          <a:p>
            <a:r>
              <a:rPr lang="en-GB" b="1" dirty="0"/>
              <a:t>Just-In-Time(JIT) Compilation</a:t>
            </a:r>
          </a:p>
          <a:p>
            <a:pPr lvl="1"/>
            <a:r>
              <a:rPr lang="en-US" dirty="0"/>
              <a:t>After the bytecode is verified, the JVM employs a Just-In-Time(JIT) compiler to convert the bytecode into machine code. The JIT compiler analyzes the bytecode and identifies portions of the code that are frequently executed, known as hot spots.</a:t>
            </a:r>
          </a:p>
          <a:p>
            <a:pPr lvl="1"/>
            <a:r>
              <a:rPr lang="en-US" dirty="0"/>
              <a:t>It optimizes the hot spots by translating them into highly optimized machine code, specific to the underlying hardware and operating system.</a:t>
            </a:r>
          </a:p>
          <a:p>
            <a:pPr lvl="1"/>
            <a:r>
              <a:rPr lang="en-US" dirty="0"/>
              <a:t>This compilation process is known as dynamic or on-the-fly compilation because it happens during runtime.</a:t>
            </a:r>
          </a:p>
          <a:p>
            <a:r>
              <a:rPr lang="en-US" b="1" dirty="0"/>
              <a:t>Execution</a:t>
            </a:r>
          </a:p>
          <a:p>
            <a:pPr lvl="1"/>
            <a:r>
              <a:rPr lang="en-US" dirty="0"/>
              <a:t>Once JIT compilation is completed, JVM starts executing the optimized machine code. </a:t>
            </a:r>
          </a:p>
          <a:p>
            <a:pPr lvl="1"/>
            <a:r>
              <a:rPr lang="en-US" dirty="0"/>
              <a:t>It interprets the bytecode and executes the corresponding instructions. At this stage, the Java program is running natively on the underlying hardware, similar to programs written in other programming languages.</a:t>
            </a:r>
          </a:p>
        </p:txBody>
      </p:sp>
    </p:spTree>
    <p:extLst>
      <p:ext uri="{BB962C8B-B14F-4D97-AF65-F5344CB8AC3E}">
        <p14:creationId xmlns:p14="http://schemas.microsoft.com/office/powerpoint/2010/main" val="203081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2">
            <a:lumMod val="9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A7C7D-DB48-5FA6-DC4B-AAB1C0C43488}"/>
              </a:ext>
            </a:extLst>
          </p:cNvPr>
          <p:cNvSpPr>
            <a:spLocks noGrp="1"/>
          </p:cNvSpPr>
          <p:nvPr>
            <p:ph type="title"/>
          </p:nvPr>
        </p:nvSpPr>
        <p:spPr/>
        <p:txBody>
          <a:bodyPr/>
          <a:lstStyle/>
          <a:p>
            <a:r>
              <a:rPr lang="en-GB" dirty="0"/>
              <a:t>Understanding Bytecode instructions </a:t>
            </a:r>
            <a:endParaRPr lang="en-US" dirty="0"/>
          </a:p>
        </p:txBody>
      </p:sp>
      <p:sp>
        <p:nvSpPr>
          <p:cNvPr id="4" name="Content Placeholder 3">
            <a:extLst>
              <a:ext uri="{FF2B5EF4-FFF2-40B4-BE49-F238E27FC236}">
                <a16:creationId xmlns:a16="http://schemas.microsoft.com/office/drawing/2014/main" id="{ECEC6D1F-FD18-E11A-66C9-2A37A5D15E59}"/>
              </a:ext>
            </a:extLst>
          </p:cNvPr>
          <p:cNvSpPr>
            <a:spLocks noGrp="1"/>
          </p:cNvSpPr>
          <p:nvPr>
            <p:ph sz="half" idx="1"/>
          </p:nvPr>
        </p:nvSpPr>
        <p:spPr/>
        <p:txBody>
          <a:bodyPr/>
          <a:lstStyle/>
          <a:p>
            <a:r>
              <a:rPr lang="en-GB" dirty="0"/>
              <a:t>Step 1 : Write Simple Java Code</a:t>
            </a:r>
          </a:p>
          <a:p>
            <a:r>
              <a:rPr lang="en-GB" dirty="0"/>
              <a:t>Step 2 : Compile it</a:t>
            </a:r>
          </a:p>
          <a:p>
            <a:endParaRPr lang="en-US" dirty="0"/>
          </a:p>
        </p:txBody>
      </p:sp>
      <p:sp>
        <p:nvSpPr>
          <p:cNvPr id="7" name="TextBox 6">
            <a:extLst>
              <a:ext uri="{FF2B5EF4-FFF2-40B4-BE49-F238E27FC236}">
                <a16:creationId xmlns:a16="http://schemas.microsoft.com/office/drawing/2014/main" id="{C1C4E5D8-3652-9C52-D125-614F9BF4D4CA}"/>
              </a:ext>
            </a:extLst>
          </p:cNvPr>
          <p:cNvSpPr txBox="1"/>
          <p:nvPr/>
        </p:nvSpPr>
        <p:spPr>
          <a:xfrm>
            <a:off x="6600148" y="1825625"/>
            <a:ext cx="4710316" cy="1815882"/>
          </a:xfrm>
          <a:prstGeom prst="rect">
            <a:avLst/>
          </a:prstGeom>
          <a:solidFill>
            <a:schemeClr val="bg2">
              <a:lumMod val="90000"/>
            </a:schemeClr>
          </a:solidFill>
          <a:ln>
            <a:solidFill>
              <a:srgbClr val="00B0F0"/>
            </a:solidFill>
          </a:ln>
        </p:spPr>
        <p:txBody>
          <a:bodyPr wrap="square">
            <a:spAutoFit/>
          </a:bodyPr>
          <a:lstStyle/>
          <a:p>
            <a:r>
              <a:rPr lang="en-US" sz="1400" dirty="0">
                <a:latin typeface="Consolas" panose="020B0609020204030204" pitchFamily="49" charset="0"/>
              </a:rPr>
              <a:t>public class Test {</a:t>
            </a:r>
          </a:p>
          <a:p>
            <a:r>
              <a:rPr lang="en-US" sz="1400" dirty="0">
                <a:latin typeface="Consolas" panose="020B0609020204030204" pitchFamily="49" charset="0"/>
              </a:rPr>
              <a:t>    public static void main(String[] </a:t>
            </a:r>
            <a:r>
              <a:rPr lang="en-US" sz="1400" dirty="0" err="1">
                <a:latin typeface="Consolas" panose="020B0609020204030204" pitchFamily="49" charset="0"/>
              </a:rPr>
              <a:t>args</a:t>
            </a:r>
            <a:r>
              <a:rPr lang="en-US" sz="1400" dirty="0">
                <a:latin typeface="Consolas" panose="020B0609020204030204" pitchFamily="49" charset="0"/>
              </a:rPr>
              <a:t>) {</a:t>
            </a:r>
          </a:p>
          <a:p>
            <a:r>
              <a:rPr lang="en-US" sz="1400" dirty="0">
                <a:latin typeface="Consolas" panose="020B0609020204030204" pitchFamily="49" charset="0"/>
              </a:rPr>
              <a:t>        int a = 10;</a:t>
            </a:r>
          </a:p>
          <a:p>
            <a:r>
              <a:rPr lang="en-US" sz="1400" dirty="0">
                <a:latin typeface="Consolas" panose="020B0609020204030204" pitchFamily="49" charset="0"/>
              </a:rPr>
              <a:t>        int b = 20;</a:t>
            </a:r>
          </a:p>
          <a:p>
            <a:r>
              <a:rPr lang="en-US" sz="1400" dirty="0">
                <a:latin typeface="Consolas" panose="020B0609020204030204" pitchFamily="49" charset="0"/>
              </a:rPr>
              <a:t>        int c = a + b;</a:t>
            </a:r>
          </a:p>
          <a:p>
            <a:r>
              <a:rPr lang="en-US" sz="1400" dirty="0">
                <a:latin typeface="Consolas" panose="020B0609020204030204" pitchFamily="49" charset="0"/>
              </a:rPr>
              <a:t>        </a:t>
            </a:r>
            <a:r>
              <a:rPr lang="en-US" sz="1400" dirty="0" err="1">
                <a:latin typeface="Consolas" panose="020B0609020204030204" pitchFamily="49" charset="0"/>
              </a:rPr>
              <a:t>System.out.println</a:t>
            </a:r>
            <a:r>
              <a:rPr lang="en-US" sz="1400" dirty="0">
                <a:latin typeface="Consolas" panose="020B0609020204030204" pitchFamily="49" charset="0"/>
              </a:rPr>
              <a:t>(c);</a:t>
            </a:r>
          </a:p>
          <a:p>
            <a:r>
              <a:rPr lang="en-US" sz="1400" dirty="0">
                <a:latin typeface="Consolas" panose="020B0609020204030204" pitchFamily="49" charset="0"/>
              </a:rPr>
              <a:t>    }</a:t>
            </a:r>
          </a:p>
          <a:p>
            <a:r>
              <a:rPr lang="en-US" sz="1400" dirty="0">
                <a:latin typeface="Consolas" panose="020B0609020204030204" pitchFamily="49" charset="0"/>
              </a:rPr>
              <a:t>}</a:t>
            </a:r>
          </a:p>
        </p:txBody>
      </p:sp>
    </p:spTree>
    <p:extLst>
      <p:ext uri="{BB962C8B-B14F-4D97-AF65-F5344CB8AC3E}">
        <p14:creationId xmlns:p14="http://schemas.microsoft.com/office/powerpoint/2010/main" val="30724194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7"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2">
            <a:lumMod val="9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2B189A-2033-AE7A-90EA-A95DC0267756}"/>
              </a:ext>
            </a:extLst>
          </p:cNvPr>
          <p:cNvSpPr>
            <a:spLocks noGrp="1"/>
          </p:cNvSpPr>
          <p:nvPr>
            <p:ph type="title"/>
          </p:nvPr>
        </p:nvSpPr>
        <p:spPr/>
        <p:txBody>
          <a:bodyPr/>
          <a:lstStyle/>
          <a:p>
            <a:r>
              <a:rPr lang="en-GB" dirty="0"/>
              <a:t>Understanding Bytecode instructions </a:t>
            </a:r>
            <a:endParaRPr lang="en-US" dirty="0"/>
          </a:p>
        </p:txBody>
      </p:sp>
      <p:sp>
        <p:nvSpPr>
          <p:cNvPr id="7" name="TextBox 6">
            <a:extLst>
              <a:ext uri="{FF2B5EF4-FFF2-40B4-BE49-F238E27FC236}">
                <a16:creationId xmlns:a16="http://schemas.microsoft.com/office/drawing/2014/main" id="{E3EBFD9F-1C81-A72E-C531-C2F8CDC7A79A}"/>
              </a:ext>
            </a:extLst>
          </p:cNvPr>
          <p:cNvSpPr txBox="1"/>
          <p:nvPr/>
        </p:nvSpPr>
        <p:spPr>
          <a:xfrm>
            <a:off x="1152209" y="1606659"/>
            <a:ext cx="9887582" cy="4832092"/>
          </a:xfrm>
          <a:prstGeom prst="rect">
            <a:avLst/>
          </a:prstGeom>
          <a:solidFill>
            <a:schemeClr val="bg2">
              <a:lumMod val="90000"/>
            </a:schemeClr>
          </a:solidFill>
          <a:ln>
            <a:solidFill>
              <a:srgbClr val="00B0F0"/>
            </a:solidFill>
          </a:ln>
        </p:spPr>
        <p:txBody>
          <a:bodyPr wrap="square">
            <a:spAutoFit/>
          </a:bodyPr>
          <a:lstStyle/>
          <a:p>
            <a:r>
              <a:rPr lang="en-US" sz="1400" dirty="0">
                <a:latin typeface="Consolas" panose="020B0609020204030204" pitchFamily="49" charset="0"/>
              </a:rPr>
              <a:t>public class Test {</a:t>
            </a:r>
          </a:p>
          <a:p>
            <a:r>
              <a:rPr lang="en-US" sz="1400" dirty="0">
                <a:latin typeface="Consolas" panose="020B0609020204030204" pitchFamily="49" charset="0"/>
              </a:rPr>
              <a:t>  public Test();</a:t>
            </a:r>
          </a:p>
          <a:p>
            <a:r>
              <a:rPr lang="en-US" sz="1400" dirty="0">
                <a:latin typeface="Consolas" panose="020B0609020204030204" pitchFamily="49" charset="0"/>
              </a:rPr>
              <a:t>    Code:</a:t>
            </a:r>
          </a:p>
          <a:p>
            <a:r>
              <a:rPr lang="en-US" sz="1400" dirty="0">
                <a:latin typeface="Consolas" panose="020B0609020204030204" pitchFamily="49" charset="0"/>
              </a:rPr>
              <a:t>         0: aload_0</a:t>
            </a:r>
          </a:p>
          <a:p>
            <a:r>
              <a:rPr lang="en-US" sz="1400" dirty="0">
                <a:latin typeface="Consolas" panose="020B0609020204030204" pitchFamily="49" charset="0"/>
              </a:rPr>
              <a:t>         1: </a:t>
            </a:r>
            <a:r>
              <a:rPr lang="en-US" sz="1400" dirty="0" err="1">
                <a:latin typeface="Consolas" panose="020B0609020204030204" pitchFamily="49" charset="0"/>
              </a:rPr>
              <a:t>invokespecial</a:t>
            </a:r>
            <a:r>
              <a:rPr lang="en-US" sz="1400" dirty="0">
                <a:latin typeface="Consolas" panose="020B0609020204030204" pitchFamily="49" charset="0"/>
              </a:rPr>
              <a:t> #1                  // Method java/lang/Object."&lt;</a:t>
            </a:r>
            <a:r>
              <a:rPr lang="en-US" sz="1400" dirty="0" err="1">
                <a:latin typeface="Consolas" panose="020B0609020204030204" pitchFamily="49" charset="0"/>
              </a:rPr>
              <a:t>init</a:t>
            </a:r>
            <a:r>
              <a:rPr lang="en-US" sz="1400" dirty="0">
                <a:latin typeface="Consolas" panose="020B0609020204030204" pitchFamily="49" charset="0"/>
              </a:rPr>
              <a:t>&gt;":()V</a:t>
            </a:r>
          </a:p>
          <a:p>
            <a:r>
              <a:rPr lang="en-US" sz="1400" dirty="0">
                <a:latin typeface="Consolas" panose="020B0609020204030204" pitchFamily="49" charset="0"/>
              </a:rPr>
              <a:t>         4: return</a:t>
            </a:r>
          </a:p>
          <a:p>
            <a:endParaRPr lang="en-US" sz="1400" dirty="0">
              <a:latin typeface="Consolas" panose="020B0609020204030204" pitchFamily="49" charset="0"/>
            </a:endParaRPr>
          </a:p>
          <a:p>
            <a:r>
              <a:rPr lang="en-US" sz="1400" dirty="0">
                <a:latin typeface="Consolas" panose="020B0609020204030204" pitchFamily="49" charset="0"/>
              </a:rPr>
              <a:t>  public static void main(</a:t>
            </a:r>
            <a:r>
              <a:rPr lang="en-US" sz="1400" dirty="0" err="1">
                <a:latin typeface="Consolas" panose="020B0609020204030204" pitchFamily="49" charset="0"/>
              </a:rPr>
              <a:t>java.lang.String</a:t>
            </a:r>
            <a:r>
              <a:rPr lang="en-US" sz="1400" dirty="0">
                <a:latin typeface="Consolas" panose="020B0609020204030204" pitchFamily="49" charset="0"/>
              </a:rPr>
              <a:t>[]);</a:t>
            </a:r>
          </a:p>
          <a:p>
            <a:r>
              <a:rPr lang="en-US" sz="1400" dirty="0">
                <a:latin typeface="Consolas" panose="020B0609020204030204" pitchFamily="49" charset="0"/>
              </a:rPr>
              <a:t>    Code:</a:t>
            </a:r>
          </a:p>
          <a:p>
            <a:r>
              <a:rPr lang="en-US" sz="1400" dirty="0">
                <a:latin typeface="Consolas" panose="020B0609020204030204" pitchFamily="49" charset="0"/>
              </a:rPr>
              <a:t>         0: </a:t>
            </a:r>
            <a:r>
              <a:rPr lang="en-US" sz="1400" dirty="0" err="1">
                <a:latin typeface="Consolas" panose="020B0609020204030204" pitchFamily="49" charset="0"/>
              </a:rPr>
              <a:t>bipush</a:t>
            </a:r>
            <a:r>
              <a:rPr lang="en-US" sz="1400" dirty="0">
                <a:latin typeface="Consolas" panose="020B0609020204030204" pitchFamily="49" charset="0"/>
              </a:rPr>
              <a:t>        10</a:t>
            </a:r>
          </a:p>
          <a:p>
            <a:r>
              <a:rPr lang="en-US" sz="1400" dirty="0">
                <a:latin typeface="Consolas" panose="020B0609020204030204" pitchFamily="49" charset="0"/>
              </a:rPr>
              <a:t>         2: istore_1</a:t>
            </a:r>
          </a:p>
          <a:p>
            <a:r>
              <a:rPr lang="en-US" sz="1400" dirty="0">
                <a:latin typeface="Consolas" panose="020B0609020204030204" pitchFamily="49" charset="0"/>
              </a:rPr>
              <a:t>         3: </a:t>
            </a:r>
            <a:r>
              <a:rPr lang="en-US" sz="1400" dirty="0" err="1">
                <a:latin typeface="Consolas" panose="020B0609020204030204" pitchFamily="49" charset="0"/>
              </a:rPr>
              <a:t>bipush</a:t>
            </a:r>
            <a:r>
              <a:rPr lang="en-US" sz="1400" dirty="0">
                <a:latin typeface="Consolas" panose="020B0609020204030204" pitchFamily="49" charset="0"/>
              </a:rPr>
              <a:t>        20</a:t>
            </a:r>
          </a:p>
          <a:p>
            <a:r>
              <a:rPr lang="en-US" sz="1400" dirty="0">
                <a:latin typeface="Consolas" panose="020B0609020204030204" pitchFamily="49" charset="0"/>
              </a:rPr>
              <a:t>         5: istore_2</a:t>
            </a:r>
          </a:p>
          <a:p>
            <a:r>
              <a:rPr lang="en-US" sz="1400" dirty="0">
                <a:latin typeface="Consolas" panose="020B0609020204030204" pitchFamily="49" charset="0"/>
              </a:rPr>
              <a:t>         6: iload_1</a:t>
            </a:r>
          </a:p>
          <a:p>
            <a:r>
              <a:rPr lang="en-US" sz="1400" dirty="0">
                <a:latin typeface="Consolas" panose="020B0609020204030204" pitchFamily="49" charset="0"/>
              </a:rPr>
              <a:t>         7: iload_2</a:t>
            </a:r>
          </a:p>
          <a:p>
            <a:r>
              <a:rPr lang="en-US" sz="1400" dirty="0">
                <a:latin typeface="Consolas" panose="020B0609020204030204" pitchFamily="49" charset="0"/>
              </a:rPr>
              <a:t>         8: </a:t>
            </a:r>
            <a:r>
              <a:rPr lang="en-US" sz="1400" dirty="0" err="1">
                <a:latin typeface="Consolas" panose="020B0609020204030204" pitchFamily="49" charset="0"/>
              </a:rPr>
              <a:t>iadd</a:t>
            </a:r>
            <a:endParaRPr lang="en-US" sz="1400" dirty="0">
              <a:latin typeface="Consolas" panose="020B0609020204030204" pitchFamily="49" charset="0"/>
            </a:endParaRPr>
          </a:p>
          <a:p>
            <a:r>
              <a:rPr lang="en-US" sz="1400" dirty="0">
                <a:latin typeface="Consolas" panose="020B0609020204030204" pitchFamily="49" charset="0"/>
              </a:rPr>
              <a:t>         9: istore_3</a:t>
            </a:r>
          </a:p>
          <a:p>
            <a:r>
              <a:rPr lang="en-US" sz="1400" dirty="0">
                <a:latin typeface="Consolas" panose="020B0609020204030204" pitchFamily="49" charset="0"/>
              </a:rPr>
              <a:t>        10: </a:t>
            </a:r>
            <a:r>
              <a:rPr lang="en-US" sz="1400" dirty="0" err="1">
                <a:latin typeface="Consolas" panose="020B0609020204030204" pitchFamily="49" charset="0"/>
              </a:rPr>
              <a:t>getstatic</a:t>
            </a:r>
            <a:r>
              <a:rPr lang="en-US" sz="1400" dirty="0">
                <a:latin typeface="Consolas" panose="020B0609020204030204" pitchFamily="49" charset="0"/>
              </a:rPr>
              <a:t>     #7                  // Field java/lang/</a:t>
            </a:r>
            <a:r>
              <a:rPr lang="en-US" sz="1400" dirty="0" err="1">
                <a:latin typeface="Consolas" panose="020B0609020204030204" pitchFamily="49" charset="0"/>
              </a:rPr>
              <a:t>System.out:Ljava</a:t>
            </a:r>
            <a:r>
              <a:rPr lang="en-US" sz="1400" dirty="0">
                <a:latin typeface="Consolas" panose="020B0609020204030204" pitchFamily="49" charset="0"/>
              </a:rPr>
              <a:t>/io/</a:t>
            </a:r>
            <a:r>
              <a:rPr lang="en-US" sz="1400" dirty="0" err="1">
                <a:latin typeface="Consolas" panose="020B0609020204030204" pitchFamily="49" charset="0"/>
              </a:rPr>
              <a:t>PrintStream</a:t>
            </a:r>
            <a:r>
              <a:rPr lang="en-US" sz="1400" dirty="0">
                <a:latin typeface="Consolas" panose="020B0609020204030204" pitchFamily="49" charset="0"/>
              </a:rPr>
              <a:t>;</a:t>
            </a:r>
          </a:p>
          <a:p>
            <a:r>
              <a:rPr lang="en-US" sz="1400" dirty="0">
                <a:latin typeface="Consolas" panose="020B0609020204030204" pitchFamily="49" charset="0"/>
              </a:rPr>
              <a:t>        13: iload_3</a:t>
            </a:r>
          </a:p>
          <a:p>
            <a:r>
              <a:rPr lang="en-US" sz="1400" dirty="0">
                <a:latin typeface="Consolas" panose="020B0609020204030204" pitchFamily="49" charset="0"/>
              </a:rPr>
              <a:t>        14: </a:t>
            </a:r>
            <a:r>
              <a:rPr lang="en-US" sz="1400" dirty="0" err="1">
                <a:latin typeface="Consolas" panose="020B0609020204030204" pitchFamily="49" charset="0"/>
              </a:rPr>
              <a:t>invokevirtual</a:t>
            </a:r>
            <a:r>
              <a:rPr lang="en-US" sz="1400" dirty="0">
                <a:latin typeface="Consolas" panose="020B0609020204030204" pitchFamily="49" charset="0"/>
              </a:rPr>
              <a:t> #13                 // Method java/io/</a:t>
            </a:r>
            <a:r>
              <a:rPr lang="en-US" sz="1400" dirty="0" err="1">
                <a:latin typeface="Consolas" panose="020B0609020204030204" pitchFamily="49" charset="0"/>
              </a:rPr>
              <a:t>PrintStream.println</a:t>
            </a:r>
            <a:r>
              <a:rPr lang="en-US" sz="1400" dirty="0">
                <a:latin typeface="Consolas" panose="020B0609020204030204" pitchFamily="49" charset="0"/>
              </a:rPr>
              <a:t>:(I)V</a:t>
            </a:r>
          </a:p>
          <a:p>
            <a:r>
              <a:rPr lang="en-US" sz="1400" dirty="0">
                <a:latin typeface="Consolas" panose="020B0609020204030204" pitchFamily="49" charset="0"/>
              </a:rPr>
              <a:t>        17: return</a:t>
            </a:r>
          </a:p>
          <a:p>
            <a:r>
              <a:rPr lang="en-US" sz="1400" dirty="0">
                <a:latin typeface="Consolas" panose="020B0609020204030204" pitchFamily="49" charset="0"/>
              </a:rPr>
              <a:t>}</a:t>
            </a:r>
          </a:p>
        </p:txBody>
      </p:sp>
      <p:sp>
        <p:nvSpPr>
          <p:cNvPr id="10" name="Call-out: Line 9">
            <a:extLst>
              <a:ext uri="{FF2B5EF4-FFF2-40B4-BE49-F238E27FC236}">
                <a16:creationId xmlns:a16="http://schemas.microsoft.com/office/drawing/2014/main" id="{B238C70A-9644-E2D5-1323-90213D5FBFB2}"/>
              </a:ext>
            </a:extLst>
          </p:cNvPr>
          <p:cNvSpPr/>
          <p:nvPr/>
        </p:nvSpPr>
        <p:spPr>
          <a:xfrm>
            <a:off x="4788683" y="1513008"/>
            <a:ext cx="4983696" cy="355359"/>
          </a:xfrm>
          <a:prstGeom prst="borderCallout1">
            <a:avLst>
              <a:gd name="adj1" fmla="val 51676"/>
              <a:gd name="adj2" fmla="val -2508"/>
              <a:gd name="adj3" fmla="val 133232"/>
              <a:gd name="adj4" fmla="val -3817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JVM Automatically adds default constructor</a:t>
            </a:r>
            <a:endParaRPr lang="en-US" dirty="0"/>
          </a:p>
        </p:txBody>
      </p:sp>
      <p:sp>
        <p:nvSpPr>
          <p:cNvPr id="11" name="Call-out: Line 10">
            <a:extLst>
              <a:ext uri="{FF2B5EF4-FFF2-40B4-BE49-F238E27FC236}">
                <a16:creationId xmlns:a16="http://schemas.microsoft.com/office/drawing/2014/main" id="{79257DDB-C27C-5736-2024-6BADDCE12733}"/>
              </a:ext>
            </a:extLst>
          </p:cNvPr>
          <p:cNvSpPr/>
          <p:nvPr/>
        </p:nvSpPr>
        <p:spPr>
          <a:xfrm>
            <a:off x="5058092" y="1929761"/>
            <a:ext cx="4983696" cy="355359"/>
          </a:xfrm>
          <a:prstGeom prst="borderCallout1">
            <a:avLst>
              <a:gd name="adj1" fmla="val 51676"/>
              <a:gd name="adj2" fmla="val -2508"/>
              <a:gd name="adj3" fmla="val 133232"/>
              <a:gd name="adj4" fmla="val -3817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Load current object (this)</a:t>
            </a:r>
            <a:endParaRPr lang="en-US" dirty="0"/>
          </a:p>
        </p:txBody>
      </p:sp>
      <p:sp>
        <p:nvSpPr>
          <p:cNvPr id="12" name="Call-out: Line 11">
            <a:extLst>
              <a:ext uri="{FF2B5EF4-FFF2-40B4-BE49-F238E27FC236}">
                <a16:creationId xmlns:a16="http://schemas.microsoft.com/office/drawing/2014/main" id="{C1C459D4-FA68-E7FF-6D9F-14C0E67484D5}"/>
              </a:ext>
            </a:extLst>
          </p:cNvPr>
          <p:cNvSpPr/>
          <p:nvPr/>
        </p:nvSpPr>
        <p:spPr>
          <a:xfrm>
            <a:off x="5058092" y="2378771"/>
            <a:ext cx="4983696" cy="355359"/>
          </a:xfrm>
          <a:prstGeom prst="borderCallout1">
            <a:avLst>
              <a:gd name="adj1" fmla="val 51676"/>
              <a:gd name="adj2" fmla="val -2508"/>
              <a:gd name="adj3" fmla="val 63720"/>
              <a:gd name="adj4" fmla="val -1956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Call parent constructor (Object)</a:t>
            </a:r>
            <a:endParaRPr lang="en-US" dirty="0"/>
          </a:p>
        </p:txBody>
      </p:sp>
      <p:sp>
        <p:nvSpPr>
          <p:cNvPr id="13" name="Call-out: Line 12">
            <a:extLst>
              <a:ext uri="{FF2B5EF4-FFF2-40B4-BE49-F238E27FC236}">
                <a16:creationId xmlns:a16="http://schemas.microsoft.com/office/drawing/2014/main" id="{84B9B1BD-DC1D-7A6E-4F22-DC3FF59D6497}"/>
              </a:ext>
            </a:extLst>
          </p:cNvPr>
          <p:cNvSpPr/>
          <p:nvPr/>
        </p:nvSpPr>
        <p:spPr>
          <a:xfrm>
            <a:off x="5132486" y="3442841"/>
            <a:ext cx="4983696" cy="355359"/>
          </a:xfrm>
          <a:prstGeom prst="borderCallout1">
            <a:avLst>
              <a:gd name="adj1" fmla="val 51676"/>
              <a:gd name="adj2" fmla="val -2508"/>
              <a:gd name="adj3" fmla="val 63720"/>
              <a:gd name="adj4" fmla="val -1956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Value = 10</a:t>
            </a:r>
            <a:endParaRPr lang="en-US" dirty="0"/>
          </a:p>
        </p:txBody>
      </p:sp>
      <p:sp>
        <p:nvSpPr>
          <p:cNvPr id="14" name="Call-out: Line 13">
            <a:extLst>
              <a:ext uri="{FF2B5EF4-FFF2-40B4-BE49-F238E27FC236}">
                <a16:creationId xmlns:a16="http://schemas.microsoft.com/office/drawing/2014/main" id="{BC72AAA4-B2D6-7431-E330-D8AA0D885D99}"/>
              </a:ext>
            </a:extLst>
          </p:cNvPr>
          <p:cNvSpPr/>
          <p:nvPr/>
        </p:nvSpPr>
        <p:spPr>
          <a:xfrm>
            <a:off x="5132486" y="3845025"/>
            <a:ext cx="4983696" cy="355359"/>
          </a:xfrm>
          <a:prstGeom prst="borderCallout1">
            <a:avLst>
              <a:gd name="adj1" fmla="val 51676"/>
              <a:gd name="adj2" fmla="val -2508"/>
              <a:gd name="adj3" fmla="val 19818"/>
              <a:gd name="adj4" fmla="val -36779"/>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Stores in a</a:t>
            </a:r>
            <a:endParaRPr lang="en-US" dirty="0"/>
          </a:p>
        </p:txBody>
      </p:sp>
    </p:spTree>
    <p:extLst>
      <p:ext uri="{BB962C8B-B14F-4D97-AF65-F5344CB8AC3E}">
        <p14:creationId xmlns:p14="http://schemas.microsoft.com/office/powerpoint/2010/main" val="24043454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P spid="11" grpId="0" animBg="1"/>
      <p:bldP spid="12" grpId="0" animBg="1"/>
      <p:bldP spid="13" grpId="0" animBg="1"/>
      <p:bldP spid="14"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2">
            <a:lumMod val="9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EFA0A-7ADC-E7DF-4ECE-E2D252827A54}"/>
              </a:ext>
            </a:extLst>
          </p:cNvPr>
          <p:cNvSpPr>
            <a:spLocks noGrp="1"/>
          </p:cNvSpPr>
          <p:nvPr>
            <p:ph type="title"/>
          </p:nvPr>
        </p:nvSpPr>
        <p:spPr/>
        <p:txBody>
          <a:bodyPr>
            <a:normAutofit/>
          </a:bodyPr>
          <a:lstStyle/>
          <a:p>
            <a:r>
              <a:rPr lang="en-GB" sz="3600" dirty="0"/>
              <a:t>Types of Class Loaders</a:t>
            </a:r>
            <a:endParaRPr lang="en-US" sz="3600" dirty="0"/>
          </a:p>
        </p:txBody>
      </p:sp>
      <p:sp>
        <p:nvSpPr>
          <p:cNvPr id="3" name="Content Placeholder 2">
            <a:extLst>
              <a:ext uri="{FF2B5EF4-FFF2-40B4-BE49-F238E27FC236}">
                <a16:creationId xmlns:a16="http://schemas.microsoft.com/office/drawing/2014/main" id="{F65C4322-936B-88F7-B06C-AE776542B1CB}"/>
              </a:ext>
            </a:extLst>
          </p:cNvPr>
          <p:cNvSpPr>
            <a:spLocks noGrp="1"/>
          </p:cNvSpPr>
          <p:nvPr>
            <p:ph idx="1"/>
          </p:nvPr>
        </p:nvSpPr>
        <p:spPr/>
        <p:txBody>
          <a:bodyPr/>
          <a:lstStyle/>
          <a:p>
            <a:r>
              <a:rPr lang="en-GB" dirty="0"/>
              <a:t>Bootstrap Class Loader – Loads core Java Classes</a:t>
            </a:r>
          </a:p>
          <a:p>
            <a:r>
              <a:rPr lang="en-US" dirty="0"/>
              <a:t>Extension Class Loader – Loads classes from the JDK extension library(lib/</a:t>
            </a:r>
            <a:r>
              <a:rPr lang="en-US" dirty="0" err="1"/>
              <a:t>ext</a:t>
            </a:r>
            <a:r>
              <a:rPr lang="en-US" dirty="0"/>
              <a:t>)</a:t>
            </a:r>
          </a:p>
          <a:p>
            <a:r>
              <a:rPr lang="en-US" dirty="0"/>
              <a:t>Application Class Loader – Loads classes from the applications </a:t>
            </a:r>
            <a:r>
              <a:rPr lang="en-US" dirty="0" err="1"/>
              <a:t>classpath</a:t>
            </a:r>
            <a:r>
              <a:rPr lang="en-US" dirty="0"/>
              <a:t> (your project classes)</a:t>
            </a:r>
          </a:p>
        </p:txBody>
      </p:sp>
    </p:spTree>
    <p:extLst>
      <p:ext uri="{BB962C8B-B14F-4D97-AF65-F5344CB8AC3E}">
        <p14:creationId xmlns:p14="http://schemas.microsoft.com/office/powerpoint/2010/main" val="19752610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2">
            <a:lumMod val="9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1A738A-082D-B494-904E-848CBC4D3F59}"/>
              </a:ext>
            </a:extLst>
          </p:cNvPr>
          <p:cNvSpPr>
            <a:spLocks noGrp="1"/>
          </p:cNvSpPr>
          <p:nvPr>
            <p:ph type="title"/>
          </p:nvPr>
        </p:nvSpPr>
        <p:spPr/>
        <p:txBody>
          <a:bodyPr>
            <a:normAutofit/>
          </a:bodyPr>
          <a:lstStyle/>
          <a:p>
            <a:r>
              <a:rPr lang="en-GB" sz="3600" dirty="0"/>
              <a:t>Class Loader Subsystem</a:t>
            </a:r>
            <a:endParaRPr lang="en-US" sz="3600" dirty="0"/>
          </a:p>
        </p:txBody>
      </p:sp>
      <p:sp>
        <p:nvSpPr>
          <p:cNvPr id="3" name="Content Placeholder 2">
            <a:extLst>
              <a:ext uri="{FF2B5EF4-FFF2-40B4-BE49-F238E27FC236}">
                <a16:creationId xmlns:a16="http://schemas.microsoft.com/office/drawing/2014/main" id="{DCA8E7A4-9B15-E50F-FD89-01B78A221CC5}"/>
              </a:ext>
            </a:extLst>
          </p:cNvPr>
          <p:cNvSpPr>
            <a:spLocks noGrp="1"/>
          </p:cNvSpPr>
          <p:nvPr>
            <p:ph sz="half" idx="1"/>
          </p:nvPr>
        </p:nvSpPr>
        <p:spPr/>
        <p:txBody>
          <a:bodyPr>
            <a:normAutofit fontScale="92500" lnSpcReduction="20000"/>
          </a:bodyPr>
          <a:lstStyle/>
          <a:p>
            <a:r>
              <a:rPr lang="en-GB" dirty="0"/>
              <a:t>Role</a:t>
            </a:r>
          </a:p>
          <a:p>
            <a:pPr lvl="1"/>
            <a:r>
              <a:rPr lang="en-GB" dirty="0"/>
              <a:t>Loads .class files into JVM</a:t>
            </a:r>
          </a:p>
          <a:p>
            <a:r>
              <a:rPr lang="en-GB" dirty="0"/>
              <a:t>Phases</a:t>
            </a:r>
          </a:p>
          <a:p>
            <a:pPr marL="914400" lvl="1" indent="-457200">
              <a:buFont typeface="+mj-lt"/>
              <a:buAutoNum type="arabicPeriod"/>
            </a:pPr>
            <a:r>
              <a:rPr lang="en-GB" b="1" dirty="0"/>
              <a:t>Loading</a:t>
            </a:r>
          </a:p>
          <a:p>
            <a:pPr marL="1371600" lvl="2" indent="-457200">
              <a:buFont typeface="+mj-lt"/>
              <a:buAutoNum type="alphaLcPeriod"/>
            </a:pPr>
            <a:r>
              <a:rPr lang="en-GB" dirty="0"/>
              <a:t>Reads .class file</a:t>
            </a:r>
          </a:p>
          <a:p>
            <a:pPr marL="1371600" lvl="2" indent="-457200">
              <a:buFont typeface="+mj-lt"/>
              <a:buAutoNum type="alphaLcPeriod"/>
            </a:pPr>
            <a:r>
              <a:rPr lang="en-GB" dirty="0"/>
              <a:t>Creates binary representation</a:t>
            </a:r>
          </a:p>
          <a:p>
            <a:pPr marL="914400" lvl="1" indent="-457200">
              <a:buFont typeface="+mj-lt"/>
              <a:buAutoNum type="arabicPeriod"/>
            </a:pPr>
            <a:r>
              <a:rPr lang="en-GB" b="1" dirty="0"/>
              <a:t>Linking</a:t>
            </a:r>
          </a:p>
          <a:p>
            <a:pPr marL="1371600" lvl="2" indent="-457200">
              <a:buFont typeface="+mj-lt"/>
              <a:buAutoNum type="alphaLcPeriod"/>
            </a:pPr>
            <a:r>
              <a:rPr lang="en-GB" b="1" dirty="0"/>
              <a:t>Verification</a:t>
            </a:r>
            <a:r>
              <a:rPr lang="en-GB" dirty="0"/>
              <a:t> – checks bytecode safety</a:t>
            </a:r>
          </a:p>
          <a:p>
            <a:pPr marL="1371600" lvl="2" indent="-457200">
              <a:buFont typeface="+mj-lt"/>
              <a:buAutoNum type="alphaLcPeriod"/>
            </a:pPr>
            <a:r>
              <a:rPr lang="en-US" b="1" dirty="0"/>
              <a:t>Preparation</a:t>
            </a:r>
            <a:r>
              <a:rPr lang="en-US" dirty="0"/>
              <a:t> – allocates memory for static variables</a:t>
            </a:r>
          </a:p>
          <a:p>
            <a:pPr marL="1371600" lvl="2" indent="-457200">
              <a:buFont typeface="+mj-lt"/>
              <a:buAutoNum type="alphaLcPeriod"/>
            </a:pPr>
            <a:r>
              <a:rPr lang="en-US" b="1" dirty="0"/>
              <a:t>Resolution</a:t>
            </a:r>
            <a:r>
              <a:rPr lang="en-US" dirty="0"/>
              <a:t> – replaces symbolic reference </a:t>
            </a:r>
          </a:p>
          <a:p>
            <a:pPr marL="914400" lvl="1" indent="-457200">
              <a:buFont typeface="+mj-lt"/>
              <a:buAutoNum type="arabicPeriod"/>
            </a:pPr>
            <a:r>
              <a:rPr lang="en-US" b="1" dirty="0"/>
              <a:t>Initialization</a:t>
            </a:r>
          </a:p>
          <a:p>
            <a:pPr marL="1371600" lvl="2" indent="-457200">
              <a:buFont typeface="+mj-lt"/>
              <a:buAutoNum type="alphaLcPeriod"/>
            </a:pPr>
            <a:r>
              <a:rPr lang="en-US" dirty="0"/>
              <a:t>Executes static blocks</a:t>
            </a:r>
          </a:p>
        </p:txBody>
      </p:sp>
      <p:pic>
        <p:nvPicPr>
          <p:cNvPr id="6" name="Content Placeholder 5">
            <a:extLst>
              <a:ext uri="{FF2B5EF4-FFF2-40B4-BE49-F238E27FC236}">
                <a16:creationId xmlns:a16="http://schemas.microsoft.com/office/drawing/2014/main" id="{730DC837-B557-95E9-47E7-9156B31FCCDB}"/>
              </a:ext>
            </a:extLst>
          </p:cNvPr>
          <p:cNvPicPr>
            <a:picLocks noGrp="1" noChangeAspect="1"/>
          </p:cNvPicPr>
          <p:nvPr>
            <p:ph sz="half" idx="2"/>
          </p:nvPr>
        </p:nvPicPr>
        <p:blipFill>
          <a:blip r:embed="rId2"/>
          <a:stretch>
            <a:fillRect/>
          </a:stretch>
        </p:blipFill>
        <p:spPr>
          <a:xfrm>
            <a:off x="6172200" y="2705894"/>
            <a:ext cx="5181600" cy="2590800"/>
          </a:xfrm>
          <a:prstGeom prst="rect">
            <a:avLst/>
          </a:prstGeom>
        </p:spPr>
      </p:pic>
    </p:spTree>
    <p:extLst>
      <p:ext uri="{BB962C8B-B14F-4D97-AF65-F5344CB8AC3E}">
        <p14:creationId xmlns:p14="http://schemas.microsoft.com/office/powerpoint/2010/main" val="33255878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2">
            <a:lumMod val="9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ACAB28-5CCC-86C1-0684-FF9EF024CD60}"/>
              </a:ext>
            </a:extLst>
          </p:cNvPr>
          <p:cNvSpPr>
            <a:spLocks noGrp="1"/>
          </p:cNvSpPr>
          <p:nvPr>
            <p:ph type="title"/>
          </p:nvPr>
        </p:nvSpPr>
        <p:spPr/>
        <p:txBody>
          <a:bodyPr>
            <a:normAutofit/>
          </a:bodyPr>
          <a:lstStyle/>
          <a:p>
            <a:r>
              <a:rPr lang="en-GB" sz="3600" dirty="0"/>
              <a:t>Class Loading Demo</a:t>
            </a:r>
            <a:endParaRPr lang="en-US" sz="3600" dirty="0"/>
          </a:p>
        </p:txBody>
      </p:sp>
      <p:sp>
        <p:nvSpPr>
          <p:cNvPr id="4" name="Content Placeholder 3">
            <a:extLst>
              <a:ext uri="{FF2B5EF4-FFF2-40B4-BE49-F238E27FC236}">
                <a16:creationId xmlns:a16="http://schemas.microsoft.com/office/drawing/2014/main" id="{7645EC6C-6C29-287A-2AFC-0FD98858D61F}"/>
              </a:ext>
            </a:extLst>
          </p:cNvPr>
          <p:cNvSpPr>
            <a:spLocks noGrp="1"/>
          </p:cNvSpPr>
          <p:nvPr>
            <p:ph sz="half" idx="1"/>
          </p:nvPr>
        </p:nvSpPr>
        <p:spPr/>
        <p:txBody>
          <a:bodyPr/>
          <a:lstStyle/>
          <a:p>
            <a:r>
              <a:rPr lang="en-GB" dirty="0"/>
              <a:t>When you run a Java program</a:t>
            </a:r>
          </a:p>
          <a:p>
            <a:pPr lvl="1"/>
            <a:r>
              <a:rPr lang="en-GB" dirty="0"/>
              <a:t>Classes are not magically available</a:t>
            </a:r>
          </a:p>
          <a:p>
            <a:pPr lvl="1"/>
            <a:r>
              <a:rPr lang="en-GB" dirty="0"/>
              <a:t>They are loaded by </a:t>
            </a:r>
            <a:r>
              <a:rPr lang="en-GB" dirty="0" err="1"/>
              <a:t>ClassLoaders</a:t>
            </a:r>
            <a:endParaRPr lang="en-US" dirty="0"/>
          </a:p>
        </p:txBody>
      </p:sp>
      <p:sp>
        <p:nvSpPr>
          <p:cNvPr id="6" name="TextBox 5">
            <a:extLst>
              <a:ext uri="{FF2B5EF4-FFF2-40B4-BE49-F238E27FC236}">
                <a16:creationId xmlns:a16="http://schemas.microsoft.com/office/drawing/2014/main" id="{98F2C80B-5B23-64C5-84C2-C3CA6556C068}"/>
              </a:ext>
            </a:extLst>
          </p:cNvPr>
          <p:cNvSpPr txBox="1"/>
          <p:nvPr/>
        </p:nvSpPr>
        <p:spPr>
          <a:xfrm>
            <a:off x="838200" y="3174450"/>
            <a:ext cx="7140236" cy="1384995"/>
          </a:xfrm>
          <a:prstGeom prst="rect">
            <a:avLst/>
          </a:prstGeom>
          <a:solidFill>
            <a:schemeClr val="bg2">
              <a:lumMod val="90000"/>
            </a:schemeClr>
          </a:solidFill>
          <a:ln>
            <a:solidFill>
              <a:srgbClr val="00B0F0"/>
            </a:solidFill>
          </a:ln>
        </p:spPr>
        <p:txBody>
          <a:bodyPr wrap="square">
            <a:spAutoFit/>
          </a:bodyPr>
          <a:lstStyle/>
          <a:p>
            <a:r>
              <a:rPr lang="en-US" sz="1400" dirty="0">
                <a:latin typeface="Consolas" panose="020B0609020204030204" pitchFamily="49" charset="0"/>
              </a:rPr>
              <a:t>public class </a:t>
            </a:r>
            <a:r>
              <a:rPr lang="en-US" sz="1400" dirty="0" err="1">
                <a:latin typeface="Consolas" panose="020B0609020204030204" pitchFamily="49" charset="0"/>
              </a:rPr>
              <a:t>ClassLoaderDemo</a:t>
            </a:r>
            <a:r>
              <a:rPr lang="en-US" sz="1400" dirty="0">
                <a:latin typeface="Consolas" panose="020B0609020204030204" pitchFamily="49" charset="0"/>
              </a:rPr>
              <a:t> {</a:t>
            </a:r>
          </a:p>
          <a:p>
            <a:r>
              <a:rPr lang="en-US" sz="1400" dirty="0">
                <a:latin typeface="Consolas" panose="020B0609020204030204" pitchFamily="49" charset="0"/>
              </a:rPr>
              <a:t>    public static void main(String[] </a:t>
            </a:r>
            <a:r>
              <a:rPr lang="en-US" sz="1400" dirty="0" err="1">
                <a:latin typeface="Consolas" panose="020B0609020204030204" pitchFamily="49" charset="0"/>
              </a:rPr>
              <a:t>args</a:t>
            </a:r>
            <a:r>
              <a:rPr lang="en-US" sz="1400" dirty="0">
                <a:latin typeface="Consolas" panose="020B0609020204030204" pitchFamily="49" charset="0"/>
              </a:rPr>
              <a:t>) {</a:t>
            </a:r>
          </a:p>
          <a:p>
            <a:r>
              <a:rPr lang="en-US" sz="1400" dirty="0">
                <a:latin typeface="Consolas" panose="020B0609020204030204" pitchFamily="49" charset="0"/>
              </a:rPr>
              <a:t>        </a:t>
            </a:r>
            <a:r>
              <a:rPr lang="en-US" sz="1400" dirty="0" err="1">
                <a:latin typeface="Consolas" panose="020B0609020204030204" pitchFamily="49" charset="0"/>
              </a:rPr>
              <a:t>System.out.println</a:t>
            </a:r>
            <a:r>
              <a:rPr lang="en-US" sz="1400" dirty="0">
                <a:latin typeface="Consolas" panose="020B0609020204030204" pitchFamily="49" charset="0"/>
              </a:rPr>
              <a:t>(</a:t>
            </a:r>
            <a:r>
              <a:rPr lang="en-US" sz="1400" dirty="0" err="1">
                <a:latin typeface="Consolas" panose="020B0609020204030204" pitchFamily="49" charset="0"/>
              </a:rPr>
              <a:t>String.class.getClassLoader</a:t>
            </a:r>
            <a:r>
              <a:rPr lang="en-US" sz="1400" dirty="0">
                <a:latin typeface="Consolas" panose="020B0609020204030204" pitchFamily="49" charset="0"/>
              </a:rPr>
              <a:t>());</a:t>
            </a:r>
          </a:p>
          <a:p>
            <a:r>
              <a:rPr lang="en-US" sz="1400" dirty="0">
                <a:latin typeface="Consolas" panose="020B0609020204030204" pitchFamily="49" charset="0"/>
              </a:rPr>
              <a:t>        </a:t>
            </a:r>
            <a:r>
              <a:rPr lang="en-US" sz="1400" dirty="0" err="1">
                <a:latin typeface="Consolas" panose="020B0609020204030204" pitchFamily="49" charset="0"/>
              </a:rPr>
              <a:t>System.out.println</a:t>
            </a:r>
            <a:r>
              <a:rPr lang="en-US" sz="1400" dirty="0">
                <a:latin typeface="Consolas" panose="020B0609020204030204" pitchFamily="49" charset="0"/>
              </a:rPr>
              <a:t>(</a:t>
            </a:r>
            <a:r>
              <a:rPr lang="en-US" sz="1400" dirty="0" err="1">
                <a:latin typeface="Consolas" panose="020B0609020204030204" pitchFamily="49" charset="0"/>
              </a:rPr>
              <a:t>ClassLoaderDemo.class.getClassLoader</a:t>
            </a:r>
            <a:r>
              <a:rPr lang="en-US" sz="1400" dirty="0">
                <a:latin typeface="Consolas" panose="020B0609020204030204" pitchFamily="49" charset="0"/>
              </a:rPr>
              <a:t>());</a:t>
            </a:r>
          </a:p>
          <a:p>
            <a:r>
              <a:rPr lang="en-US" sz="1400" dirty="0">
                <a:latin typeface="Consolas" panose="020B0609020204030204" pitchFamily="49" charset="0"/>
              </a:rPr>
              <a:t>    }</a:t>
            </a:r>
          </a:p>
          <a:p>
            <a:r>
              <a:rPr lang="en-US" sz="1400" dirty="0">
                <a:latin typeface="Consolas" panose="020B0609020204030204" pitchFamily="49" charset="0"/>
              </a:rPr>
              <a:t>}</a:t>
            </a:r>
          </a:p>
        </p:txBody>
      </p:sp>
      <p:pic>
        <p:nvPicPr>
          <p:cNvPr id="8" name="Picture 7">
            <a:extLst>
              <a:ext uri="{FF2B5EF4-FFF2-40B4-BE49-F238E27FC236}">
                <a16:creationId xmlns:a16="http://schemas.microsoft.com/office/drawing/2014/main" id="{D2D246B5-F0DE-0111-755D-3F29FBF5B692}"/>
              </a:ext>
            </a:extLst>
          </p:cNvPr>
          <p:cNvPicPr>
            <a:picLocks noChangeAspect="1"/>
          </p:cNvPicPr>
          <p:nvPr/>
        </p:nvPicPr>
        <p:blipFill>
          <a:blip r:embed="rId2"/>
          <a:stretch>
            <a:fillRect/>
          </a:stretch>
        </p:blipFill>
        <p:spPr>
          <a:xfrm>
            <a:off x="838200" y="4758813"/>
            <a:ext cx="7332790" cy="1811473"/>
          </a:xfrm>
          <a:prstGeom prst="rect">
            <a:avLst/>
          </a:prstGeom>
        </p:spPr>
      </p:pic>
      <p:sp>
        <p:nvSpPr>
          <p:cNvPr id="9" name="Call-out: Line 8">
            <a:extLst>
              <a:ext uri="{FF2B5EF4-FFF2-40B4-BE49-F238E27FC236}">
                <a16:creationId xmlns:a16="http://schemas.microsoft.com/office/drawing/2014/main" id="{766758EB-B441-9E70-8CC4-E0DF829ED3AC}"/>
              </a:ext>
            </a:extLst>
          </p:cNvPr>
          <p:cNvSpPr/>
          <p:nvPr/>
        </p:nvSpPr>
        <p:spPr>
          <a:xfrm>
            <a:off x="6172202" y="4967649"/>
            <a:ext cx="5706694" cy="355359"/>
          </a:xfrm>
          <a:prstGeom prst="borderCallout1">
            <a:avLst>
              <a:gd name="adj1" fmla="val 51676"/>
              <a:gd name="adj2" fmla="val -2508"/>
              <a:gd name="adj3" fmla="val 196647"/>
              <a:gd name="adj4" fmla="val -85128"/>
            </a:avLst>
          </a:prstGeom>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String is loaded by Bootstrap Class Loader and its native </a:t>
            </a:r>
            <a:endParaRPr lang="en-US" dirty="0"/>
          </a:p>
        </p:txBody>
      </p:sp>
      <p:sp>
        <p:nvSpPr>
          <p:cNvPr id="10" name="Call-out: Line 9">
            <a:extLst>
              <a:ext uri="{FF2B5EF4-FFF2-40B4-BE49-F238E27FC236}">
                <a16:creationId xmlns:a16="http://schemas.microsoft.com/office/drawing/2014/main" id="{4633B0C8-ADEC-3D43-467B-AB20D1C466C0}"/>
              </a:ext>
            </a:extLst>
          </p:cNvPr>
          <p:cNvSpPr/>
          <p:nvPr/>
        </p:nvSpPr>
        <p:spPr>
          <a:xfrm>
            <a:off x="6172202" y="5486869"/>
            <a:ext cx="5706694" cy="355359"/>
          </a:xfrm>
          <a:prstGeom prst="borderCallout1">
            <a:avLst>
              <a:gd name="adj1" fmla="val 51676"/>
              <a:gd name="adj2" fmla="val -2508"/>
              <a:gd name="adj3" fmla="val 85671"/>
              <a:gd name="adj4" fmla="val -6682"/>
            </a:avLst>
          </a:prstGeom>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Your class is loaded by Application Class Loader</a:t>
            </a:r>
            <a:endParaRPr lang="en-US" dirty="0"/>
          </a:p>
        </p:txBody>
      </p:sp>
    </p:spTree>
    <p:extLst>
      <p:ext uri="{BB962C8B-B14F-4D97-AF65-F5344CB8AC3E}">
        <p14:creationId xmlns:p14="http://schemas.microsoft.com/office/powerpoint/2010/main" val="2958891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6" grpId="0" animBg="1"/>
      <p:bldP spid="9" grpId="0" animBg="1"/>
      <p:bldP spid="10"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2">
            <a:lumMod val="9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D0434A-6439-2FF7-0197-2EB1D96BD433}"/>
              </a:ext>
            </a:extLst>
          </p:cNvPr>
          <p:cNvSpPr>
            <a:spLocks noGrp="1"/>
          </p:cNvSpPr>
          <p:nvPr>
            <p:ph type="title"/>
          </p:nvPr>
        </p:nvSpPr>
        <p:spPr/>
        <p:txBody>
          <a:bodyPr/>
          <a:lstStyle/>
          <a:p>
            <a:r>
              <a:rPr lang="en-GB" dirty="0"/>
              <a:t>JIT Compiler &amp; </a:t>
            </a:r>
            <a:r>
              <a:rPr lang="en-GB" dirty="0" err="1"/>
              <a:t>HotSpot</a:t>
            </a:r>
            <a:r>
              <a:rPr lang="en-GB" dirty="0"/>
              <a:t> Optimizations</a:t>
            </a:r>
            <a:endParaRPr lang="en-US" dirty="0"/>
          </a:p>
        </p:txBody>
      </p:sp>
      <p:sp>
        <p:nvSpPr>
          <p:cNvPr id="3" name="Content Placeholder 2">
            <a:extLst>
              <a:ext uri="{FF2B5EF4-FFF2-40B4-BE49-F238E27FC236}">
                <a16:creationId xmlns:a16="http://schemas.microsoft.com/office/drawing/2014/main" id="{8E2277F4-AB01-D4A5-A565-03FB286EFD78}"/>
              </a:ext>
            </a:extLst>
          </p:cNvPr>
          <p:cNvSpPr>
            <a:spLocks noGrp="1"/>
          </p:cNvSpPr>
          <p:nvPr>
            <p:ph idx="1"/>
          </p:nvPr>
        </p:nvSpPr>
        <p:spPr/>
        <p:txBody>
          <a:bodyPr>
            <a:normAutofit lnSpcReduction="10000"/>
          </a:bodyPr>
          <a:lstStyle/>
          <a:p>
            <a:r>
              <a:rPr lang="en-GB" b="1" dirty="0"/>
              <a:t>Interpreter</a:t>
            </a:r>
            <a:r>
              <a:rPr lang="en-GB" dirty="0"/>
              <a:t> = slow but immediate</a:t>
            </a:r>
          </a:p>
          <a:p>
            <a:r>
              <a:rPr lang="en-GB" b="1" dirty="0"/>
              <a:t>JIT</a:t>
            </a:r>
            <a:r>
              <a:rPr lang="en-GB" dirty="0"/>
              <a:t> = compiles hot code for speed</a:t>
            </a:r>
          </a:p>
          <a:p>
            <a:r>
              <a:rPr lang="en-GB" b="1" dirty="0" err="1"/>
              <a:t>HotSpot</a:t>
            </a:r>
            <a:r>
              <a:rPr lang="en-GB" b="1" dirty="0"/>
              <a:t> Concept</a:t>
            </a:r>
          </a:p>
          <a:p>
            <a:pPr lvl="1"/>
            <a:r>
              <a:rPr lang="en-GB" dirty="0"/>
              <a:t>Frequently executed code = Hot Methods</a:t>
            </a:r>
          </a:p>
          <a:p>
            <a:pPr lvl="1"/>
            <a:r>
              <a:rPr lang="en-GB" dirty="0"/>
              <a:t>Converted to native code</a:t>
            </a:r>
          </a:p>
          <a:p>
            <a:r>
              <a:rPr lang="en-GB" b="1" dirty="0"/>
              <a:t>Optimizations</a:t>
            </a:r>
            <a:r>
              <a:rPr lang="en-GB" dirty="0"/>
              <a:t>	</a:t>
            </a:r>
          </a:p>
          <a:p>
            <a:pPr lvl="1"/>
            <a:r>
              <a:rPr lang="en-GB" dirty="0"/>
              <a:t>Method inlining</a:t>
            </a:r>
          </a:p>
          <a:p>
            <a:pPr lvl="1"/>
            <a:r>
              <a:rPr lang="en-GB" dirty="0"/>
              <a:t>Loop unrolling</a:t>
            </a:r>
          </a:p>
          <a:p>
            <a:pPr lvl="1"/>
            <a:r>
              <a:rPr lang="en-GB" dirty="0"/>
              <a:t>Dead code elimination</a:t>
            </a:r>
          </a:p>
          <a:p>
            <a:pPr lvl="1"/>
            <a:r>
              <a:rPr lang="en-GB" dirty="0"/>
              <a:t>Escape analysis</a:t>
            </a:r>
          </a:p>
          <a:p>
            <a:endParaRPr lang="en-GB" dirty="0"/>
          </a:p>
          <a:p>
            <a:endParaRPr lang="en-GB" dirty="0"/>
          </a:p>
          <a:p>
            <a:endParaRPr lang="en-GB" dirty="0"/>
          </a:p>
          <a:p>
            <a:endParaRPr lang="en-US" dirty="0"/>
          </a:p>
        </p:txBody>
      </p:sp>
    </p:spTree>
    <p:extLst>
      <p:ext uri="{BB962C8B-B14F-4D97-AF65-F5344CB8AC3E}">
        <p14:creationId xmlns:p14="http://schemas.microsoft.com/office/powerpoint/2010/main" val="11976540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2">
            <a:lumMod val="9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A1069-870E-A7BC-E91A-2521367B12F6}"/>
              </a:ext>
            </a:extLst>
          </p:cNvPr>
          <p:cNvSpPr>
            <a:spLocks noGrp="1"/>
          </p:cNvSpPr>
          <p:nvPr>
            <p:ph type="title"/>
          </p:nvPr>
        </p:nvSpPr>
        <p:spPr/>
        <p:txBody>
          <a:bodyPr/>
          <a:lstStyle/>
          <a:p>
            <a:r>
              <a:rPr lang="en-GB" dirty="0"/>
              <a:t>JIT Compiler &amp; </a:t>
            </a:r>
            <a:r>
              <a:rPr lang="en-GB" dirty="0" err="1"/>
              <a:t>HotSpot</a:t>
            </a:r>
            <a:r>
              <a:rPr lang="en-GB" dirty="0"/>
              <a:t> Optimizations</a:t>
            </a:r>
            <a:endParaRPr lang="en-US" dirty="0"/>
          </a:p>
        </p:txBody>
      </p:sp>
      <p:sp>
        <p:nvSpPr>
          <p:cNvPr id="4" name="Content Placeholder 3">
            <a:extLst>
              <a:ext uri="{FF2B5EF4-FFF2-40B4-BE49-F238E27FC236}">
                <a16:creationId xmlns:a16="http://schemas.microsoft.com/office/drawing/2014/main" id="{637A8158-36A1-E891-2E17-89E627D2E67F}"/>
              </a:ext>
            </a:extLst>
          </p:cNvPr>
          <p:cNvSpPr>
            <a:spLocks noGrp="1"/>
          </p:cNvSpPr>
          <p:nvPr>
            <p:ph sz="half" idx="1"/>
          </p:nvPr>
        </p:nvSpPr>
        <p:spPr/>
        <p:txBody>
          <a:bodyPr/>
          <a:lstStyle/>
          <a:p>
            <a:r>
              <a:rPr lang="en-GB" dirty="0"/>
              <a:t>Run twice – second run faster</a:t>
            </a:r>
            <a:endParaRPr lang="en-US" dirty="0"/>
          </a:p>
        </p:txBody>
      </p:sp>
      <p:sp>
        <p:nvSpPr>
          <p:cNvPr id="6" name="TextBox 5">
            <a:extLst>
              <a:ext uri="{FF2B5EF4-FFF2-40B4-BE49-F238E27FC236}">
                <a16:creationId xmlns:a16="http://schemas.microsoft.com/office/drawing/2014/main" id="{A7C14B45-9E6E-7CBF-8A84-4D534335543E}"/>
              </a:ext>
            </a:extLst>
          </p:cNvPr>
          <p:cNvSpPr txBox="1"/>
          <p:nvPr/>
        </p:nvSpPr>
        <p:spPr>
          <a:xfrm>
            <a:off x="838199" y="2410667"/>
            <a:ext cx="8665493" cy="3323987"/>
          </a:xfrm>
          <a:prstGeom prst="rect">
            <a:avLst/>
          </a:prstGeom>
          <a:solidFill>
            <a:schemeClr val="bg2">
              <a:lumMod val="90000"/>
            </a:schemeClr>
          </a:solidFill>
          <a:ln>
            <a:solidFill>
              <a:srgbClr val="00B0F0"/>
            </a:solidFill>
          </a:ln>
        </p:spPr>
        <p:txBody>
          <a:bodyPr wrap="square">
            <a:spAutoFit/>
          </a:bodyPr>
          <a:lstStyle/>
          <a:p>
            <a:r>
              <a:rPr lang="en-US" sz="1400" dirty="0">
                <a:latin typeface="Consolas" panose="020B0609020204030204" pitchFamily="49" charset="0"/>
              </a:rPr>
              <a:t>public class </a:t>
            </a:r>
            <a:r>
              <a:rPr lang="en-US" sz="1400" dirty="0" err="1">
                <a:latin typeface="Consolas" panose="020B0609020204030204" pitchFamily="49" charset="0"/>
              </a:rPr>
              <a:t>JITCompiler</a:t>
            </a:r>
            <a:r>
              <a:rPr lang="en-US" sz="1400" dirty="0">
                <a:latin typeface="Consolas" panose="020B0609020204030204" pitchFamily="49" charset="0"/>
              </a:rPr>
              <a:t> {</a:t>
            </a:r>
          </a:p>
          <a:p>
            <a:r>
              <a:rPr lang="en-US" sz="1400" dirty="0">
                <a:latin typeface="Consolas" panose="020B0609020204030204" pitchFamily="49" charset="0"/>
              </a:rPr>
              <a:t>    public static void main(String[] </a:t>
            </a:r>
            <a:r>
              <a:rPr lang="en-US" sz="1400" dirty="0" err="1">
                <a:latin typeface="Consolas" panose="020B0609020204030204" pitchFamily="49" charset="0"/>
              </a:rPr>
              <a:t>args</a:t>
            </a:r>
            <a:r>
              <a:rPr lang="en-US" sz="1400" dirty="0">
                <a:latin typeface="Consolas" panose="020B0609020204030204" pitchFamily="49" charset="0"/>
              </a:rPr>
              <a:t>) {</a:t>
            </a:r>
          </a:p>
          <a:p>
            <a:r>
              <a:rPr lang="en-US" sz="1400" dirty="0">
                <a:latin typeface="Consolas" panose="020B0609020204030204" pitchFamily="49" charset="0"/>
              </a:rPr>
              <a:t>        long start = </a:t>
            </a:r>
            <a:r>
              <a:rPr lang="en-US" sz="1400" dirty="0" err="1">
                <a:latin typeface="Consolas" panose="020B0609020204030204" pitchFamily="49" charset="0"/>
              </a:rPr>
              <a:t>System.currentTimeMillis</a:t>
            </a:r>
            <a:r>
              <a:rPr lang="en-US" sz="1400" dirty="0">
                <a:latin typeface="Consolas" panose="020B0609020204030204" pitchFamily="49" charset="0"/>
              </a:rPr>
              <a:t>();</a:t>
            </a:r>
          </a:p>
          <a:p>
            <a:endParaRPr lang="en-US" sz="1400" dirty="0">
              <a:latin typeface="Consolas" panose="020B0609020204030204" pitchFamily="49" charset="0"/>
            </a:endParaRPr>
          </a:p>
          <a:p>
            <a:r>
              <a:rPr lang="en-US" sz="1400" dirty="0">
                <a:latin typeface="Consolas" panose="020B0609020204030204" pitchFamily="49" charset="0"/>
              </a:rPr>
              <a:t>        for (int </a:t>
            </a:r>
            <a:r>
              <a:rPr lang="en-US" sz="1400" dirty="0" err="1">
                <a:latin typeface="Consolas" panose="020B0609020204030204" pitchFamily="49" charset="0"/>
              </a:rPr>
              <a:t>i</a:t>
            </a:r>
            <a:r>
              <a:rPr lang="en-US" sz="1400" dirty="0">
                <a:latin typeface="Consolas" panose="020B0609020204030204" pitchFamily="49" charset="0"/>
              </a:rPr>
              <a:t> = 0; </a:t>
            </a:r>
            <a:r>
              <a:rPr lang="en-US" sz="1400" dirty="0" err="1">
                <a:latin typeface="Consolas" panose="020B0609020204030204" pitchFamily="49" charset="0"/>
              </a:rPr>
              <a:t>i</a:t>
            </a:r>
            <a:r>
              <a:rPr lang="en-US" sz="1400" dirty="0">
                <a:latin typeface="Consolas" panose="020B0609020204030204" pitchFamily="49" charset="0"/>
              </a:rPr>
              <a:t> &lt; 100_000_000; </a:t>
            </a:r>
            <a:r>
              <a:rPr lang="en-US" sz="1400" dirty="0" err="1">
                <a:latin typeface="Consolas" panose="020B0609020204030204" pitchFamily="49" charset="0"/>
              </a:rPr>
              <a:t>i</a:t>
            </a:r>
            <a:r>
              <a:rPr lang="en-US" sz="1400" dirty="0">
                <a:latin typeface="Consolas" panose="020B0609020204030204" pitchFamily="49" charset="0"/>
              </a:rPr>
              <a:t>++) {</a:t>
            </a:r>
          </a:p>
          <a:p>
            <a:r>
              <a:rPr lang="en-US" sz="1400" dirty="0">
                <a:latin typeface="Consolas" panose="020B0609020204030204" pitchFamily="49" charset="0"/>
              </a:rPr>
              <a:t>            calculate();</a:t>
            </a:r>
          </a:p>
          <a:p>
            <a:r>
              <a:rPr lang="en-US" sz="1400" dirty="0">
                <a:latin typeface="Consolas" panose="020B0609020204030204" pitchFamily="49" charset="0"/>
              </a:rPr>
              <a:t>        }</a:t>
            </a:r>
          </a:p>
          <a:p>
            <a:endParaRPr lang="en-US" sz="1400" dirty="0">
              <a:latin typeface="Consolas" panose="020B0609020204030204" pitchFamily="49" charset="0"/>
            </a:endParaRPr>
          </a:p>
          <a:p>
            <a:r>
              <a:rPr lang="en-US" sz="1400" dirty="0">
                <a:latin typeface="Consolas" panose="020B0609020204030204" pitchFamily="49" charset="0"/>
              </a:rPr>
              <a:t>        </a:t>
            </a:r>
            <a:r>
              <a:rPr lang="en-US" sz="1400" dirty="0" err="1">
                <a:latin typeface="Consolas" panose="020B0609020204030204" pitchFamily="49" charset="0"/>
              </a:rPr>
              <a:t>System.out.println</a:t>
            </a:r>
            <a:r>
              <a:rPr lang="en-US" sz="1400" dirty="0">
                <a:latin typeface="Consolas" panose="020B0609020204030204" pitchFamily="49" charset="0"/>
              </a:rPr>
              <a:t>("Time: " + (</a:t>
            </a:r>
            <a:r>
              <a:rPr lang="en-US" sz="1400" dirty="0" err="1">
                <a:latin typeface="Consolas" panose="020B0609020204030204" pitchFamily="49" charset="0"/>
              </a:rPr>
              <a:t>System.currentTimeMillis</a:t>
            </a:r>
            <a:r>
              <a:rPr lang="en-US" sz="1400" dirty="0">
                <a:latin typeface="Consolas" panose="020B0609020204030204" pitchFamily="49" charset="0"/>
              </a:rPr>
              <a:t>() - start));</a:t>
            </a:r>
          </a:p>
          <a:p>
            <a:r>
              <a:rPr lang="en-US" sz="1400" dirty="0">
                <a:latin typeface="Consolas" panose="020B0609020204030204" pitchFamily="49" charset="0"/>
              </a:rPr>
              <a:t>    }</a:t>
            </a:r>
          </a:p>
          <a:p>
            <a:endParaRPr lang="en-US" sz="1400" dirty="0">
              <a:latin typeface="Consolas" panose="020B0609020204030204" pitchFamily="49" charset="0"/>
            </a:endParaRPr>
          </a:p>
          <a:p>
            <a:r>
              <a:rPr lang="en-US" sz="1400" dirty="0">
                <a:latin typeface="Consolas" panose="020B0609020204030204" pitchFamily="49" charset="0"/>
              </a:rPr>
              <a:t>    static int calculate() {</a:t>
            </a:r>
          </a:p>
          <a:p>
            <a:r>
              <a:rPr lang="en-US" sz="1400" dirty="0">
                <a:latin typeface="Consolas" panose="020B0609020204030204" pitchFamily="49" charset="0"/>
              </a:rPr>
              <a:t>        return 10 * 20;</a:t>
            </a:r>
          </a:p>
          <a:p>
            <a:r>
              <a:rPr lang="en-US" sz="1400" dirty="0">
                <a:latin typeface="Consolas" panose="020B0609020204030204" pitchFamily="49" charset="0"/>
              </a:rPr>
              <a:t>    }</a:t>
            </a:r>
          </a:p>
          <a:p>
            <a:r>
              <a:rPr lang="en-US" sz="1400" dirty="0">
                <a:latin typeface="Consolas" panose="020B0609020204030204" pitchFamily="49" charset="0"/>
              </a:rPr>
              <a:t>}</a:t>
            </a:r>
          </a:p>
        </p:txBody>
      </p:sp>
    </p:spTree>
    <p:extLst>
      <p:ext uri="{BB962C8B-B14F-4D97-AF65-F5344CB8AC3E}">
        <p14:creationId xmlns:p14="http://schemas.microsoft.com/office/powerpoint/2010/main" val="3979597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2">
            <a:lumMod val="9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794B4E-6B2E-AFD3-9AA5-F681EEE2D87C}"/>
              </a:ext>
            </a:extLst>
          </p:cNvPr>
          <p:cNvSpPr>
            <a:spLocks noGrp="1"/>
          </p:cNvSpPr>
          <p:nvPr>
            <p:ph type="title"/>
          </p:nvPr>
        </p:nvSpPr>
        <p:spPr/>
        <p:txBody>
          <a:bodyPr/>
          <a:lstStyle/>
          <a:p>
            <a:r>
              <a:rPr lang="en-IN" dirty="0"/>
              <a:t>JIT Compiler &amp; </a:t>
            </a:r>
            <a:r>
              <a:rPr lang="en-IN" dirty="0" err="1"/>
              <a:t>HotSpot</a:t>
            </a:r>
            <a:r>
              <a:rPr lang="en-IN" dirty="0"/>
              <a:t> Optimizations</a:t>
            </a:r>
            <a:endParaRPr lang="en-US" dirty="0"/>
          </a:p>
        </p:txBody>
      </p:sp>
      <p:sp>
        <p:nvSpPr>
          <p:cNvPr id="6" name="Content Placeholder 5">
            <a:extLst>
              <a:ext uri="{FF2B5EF4-FFF2-40B4-BE49-F238E27FC236}">
                <a16:creationId xmlns:a16="http://schemas.microsoft.com/office/drawing/2014/main" id="{D5E41FD3-C0EC-9EB4-96FF-D9296707C840}"/>
              </a:ext>
            </a:extLst>
          </p:cNvPr>
          <p:cNvSpPr>
            <a:spLocks noGrp="1"/>
          </p:cNvSpPr>
          <p:nvPr>
            <p:ph sz="half" idx="1"/>
          </p:nvPr>
        </p:nvSpPr>
        <p:spPr/>
        <p:txBody>
          <a:bodyPr>
            <a:normAutofit/>
          </a:bodyPr>
          <a:lstStyle/>
          <a:p>
            <a:r>
              <a:rPr lang="en-IN" sz="2000" dirty="0"/>
              <a:t>First Column = Number of millisecond since the virtual machine started</a:t>
            </a:r>
          </a:p>
          <a:p>
            <a:r>
              <a:rPr lang="en-IN" sz="2000" dirty="0"/>
              <a:t>Second Column = Order in which method or block is compiled</a:t>
            </a:r>
          </a:p>
          <a:p>
            <a:r>
              <a:rPr lang="en-IN" sz="2000" dirty="0"/>
              <a:t>n = Native method</a:t>
            </a:r>
          </a:p>
          <a:p>
            <a:r>
              <a:rPr lang="en-IN" sz="2000" dirty="0"/>
              <a:t>0 - 4 = What kind of compilation</a:t>
            </a:r>
          </a:p>
          <a:p>
            <a:r>
              <a:rPr lang="en-US" sz="2000" dirty="0"/>
              <a:t>1, 2, 3, 4 = Means the deeper level of compilation</a:t>
            </a:r>
          </a:p>
          <a:p>
            <a:r>
              <a:rPr lang="en-US" sz="2000" dirty="0"/>
              <a:t>% = Code is Natively compiled and now it is running in special part of memory called as code cache.</a:t>
            </a:r>
          </a:p>
          <a:p>
            <a:r>
              <a:rPr lang="en-US" sz="2000" dirty="0"/>
              <a:t>! = Exception Handling</a:t>
            </a:r>
          </a:p>
          <a:p>
            <a:pPr marL="0" indent="0">
              <a:buNone/>
            </a:pPr>
            <a:endParaRPr lang="en-US" sz="2000" dirty="0"/>
          </a:p>
          <a:p>
            <a:endParaRPr lang="en-US" sz="2000" dirty="0"/>
          </a:p>
        </p:txBody>
      </p:sp>
      <p:pic>
        <p:nvPicPr>
          <p:cNvPr id="9" name="Content Placeholder 8">
            <a:extLst>
              <a:ext uri="{FF2B5EF4-FFF2-40B4-BE49-F238E27FC236}">
                <a16:creationId xmlns:a16="http://schemas.microsoft.com/office/drawing/2014/main" id="{4ABD74CA-5ED5-8208-1048-7272F3CA2880}"/>
              </a:ext>
            </a:extLst>
          </p:cNvPr>
          <p:cNvPicPr>
            <a:picLocks noGrp="1" noChangeAspect="1"/>
          </p:cNvPicPr>
          <p:nvPr>
            <p:ph sz="half" idx="2"/>
          </p:nvPr>
        </p:nvPicPr>
        <p:blipFill>
          <a:blip r:embed="rId2"/>
          <a:stretch>
            <a:fillRect/>
          </a:stretch>
        </p:blipFill>
        <p:spPr>
          <a:xfrm>
            <a:off x="6592231" y="1421437"/>
            <a:ext cx="5238604" cy="5359062"/>
          </a:xfrm>
          <a:prstGeom prst="rect">
            <a:avLst/>
          </a:prstGeom>
        </p:spPr>
      </p:pic>
    </p:spTree>
    <p:extLst>
      <p:ext uri="{BB962C8B-B14F-4D97-AF65-F5344CB8AC3E}">
        <p14:creationId xmlns:p14="http://schemas.microsoft.com/office/powerpoint/2010/main" val="2648452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2">
            <a:lumMod val="9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57C8B5-7C9A-244D-2C38-B47ED1F8A838}"/>
              </a:ext>
            </a:extLst>
          </p:cNvPr>
          <p:cNvSpPr>
            <a:spLocks noGrp="1"/>
          </p:cNvSpPr>
          <p:nvPr>
            <p:ph type="title"/>
          </p:nvPr>
        </p:nvSpPr>
        <p:spPr/>
        <p:txBody>
          <a:bodyPr>
            <a:normAutofit/>
          </a:bodyPr>
          <a:lstStyle/>
          <a:p>
            <a:r>
              <a:rPr lang="en-GB" sz="3600" dirty="0"/>
              <a:t>JVM Memory Components (Core Section)</a:t>
            </a:r>
            <a:endParaRPr lang="en-US" sz="3600" dirty="0"/>
          </a:p>
        </p:txBody>
      </p:sp>
      <p:sp>
        <p:nvSpPr>
          <p:cNvPr id="14" name="Content Placeholder 13">
            <a:extLst>
              <a:ext uri="{FF2B5EF4-FFF2-40B4-BE49-F238E27FC236}">
                <a16:creationId xmlns:a16="http://schemas.microsoft.com/office/drawing/2014/main" id="{041A227D-EC38-E972-862C-4B283761B4D1}"/>
              </a:ext>
            </a:extLst>
          </p:cNvPr>
          <p:cNvSpPr>
            <a:spLocks noGrp="1"/>
          </p:cNvSpPr>
          <p:nvPr>
            <p:ph idx="1"/>
          </p:nvPr>
        </p:nvSpPr>
        <p:spPr/>
        <p:txBody>
          <a:bodyPr/>
          <a:lstStyle/>
          <a:p>
            <a:r>
              <a:rPr lang="en-GB" b="1" dirty="0"/>
              <a:t>Memory Areas</a:t>
            </a:r>
          </a:p>
          <a:p>
            <a:pPr lvl="1"/>
            <a:r>
              <a:rPr lang="en-GB" dirty="0"/>
              <a:t>Heap</a:t>
            </a:r>
          </a:p>
          <a:p>
            <a:pPr lvl="1"/>
            <a:r>
              <a:rPr lang="en-GB" dirty="0"/>
              <a:t>Stack</a:t>
            </a:r>
          </a:p>
          <a:p>
            <a:pPr lvl="1"/>
            <a:r>
              <a:rPr lang="en-GB" dirty="0" err="1"/>
              <a:t>Metaspace</a:t>
            </a:r>
            <a:endParaRPr lang="en-GB" dirty="0"/>
          </a:p>
          <a:p>
            <a:pPr lvl="1"/>
            <a:r>
              <a:rPr lang="en-GB" dirty="0"/>
              <a:t>Code Cache</a:t>
            </a:r>
            <a:endParaRPr lang="en-US" dirty="0"/>
          </a:p>
        </p:txBody>
      </p:sp>
    </p:spTree>
    <p:extLst>
      <p:ext uri="{BB962C8B-B14F-4D97-AF65-F5344CB8AC3E}">
        <p14:creationId xmlns:p14="http://schemas.microsoft.com/office/powerpoint/2010/main" val="21853280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2">
            <a:lumMod val="9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EEACB-D691-456B-FCD5-A7BD5BA2027B}"/>
              </a:ext>
            </a:extLst>
          </p:cNvPr>
          <p:cNvSpPr>
            <a:spLocks noGrp="1"/>
          </p:cNvSpPr>
          <p:nvPr>
            <p:ph type="title"/>
          </p:nvPr>
        </p:nvSpPr>
        <p:spPr/>
        <p:txBody>
          <a:bodyPr/>
          <a:lstStyle/>
          <a:p>
            <a:r>
              <a:rPr lang="en-GB" dirty="0"/>
              <a:t>Heap (Shared)</a:t>
            </a:r>
            <a:endParaRPr lang="en-US" dirty="0"/>
          </a:p>
        </p:txBody>
      </p:sp>
      <p:sp>
        <p:nvSpPr>
          <p:cNvPr id="3" name="Content Placeholder 2">
            <a:extLst>
              <a:ext uri="{FF2B5EF4-FFF2-40B4-BE49-F238E27FC236}">
                <a16:creationId xmlns:a16="http://schemas.microsoft.com/office/drawing/2014/main" id="{77E76F5F-618D-B282-215D-9D196EB03359}"/>
              </a:ext>
            </a:extLst>
          </p:cNvPr>
          <p:cNvSpPr>
            <a:spLocks noGrp="1"/>
          </p:cNvSpPr>
          <p:nvPr>
            <p:ph idx="1"/>
          </p:nvPr>
        </p:nvSpPr>
        <p:spPr/>
        <p:txBody>
          <a:bodyPr/>
          <a:lstStyle/>
          <a:p>
            <a:r>
              <a:rPr lang="en-GB" dirty="0"/>
              <a:t>Objects stored here</a:t>
            </a:r>
          </a:p>
          <a:p>
            <a:r>
              <a:rPr lang="en-GB" dirty="0"/>
              <a:t>GC runs here</a:t>
            </a:r>
          </a:p>
        </p:txBody>
      </p:sp>
    </p:spTree>
    <p:extLst>
      <p:ext uri="{BB962C8B-B14F-4D97-AF65-F5344CB8AC3E}">
        <p14:creationId xmlns:p14="http://schemas.microsoft.com/office/powerpoint/2010/main" val="20560696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2">
            <a:lumMod val="9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8E2F0-D281-1B1E-72D7-3F2BAE4C8A9B}"/>
              </a:ext>
            </a:extLst>
          </p:cNvPr>
          <p:cNvSpPr>
            <a:spLocks noGrp="1"/>
          </p:cNvSpPr>
          <p:nvPr>
            <p:ph type="title"/>
          </p:nvPr>
        </p:nvSpPr>
        <p:spPr/>
        <p:txBody>
          <a:bodyPr/>
          <a:lstStyle/>
          <a:p>
            <a:r>
              <a:rPr lang="en-GB" dirty="0"/>
              <a:t>Stack – Thread-specific</a:t>
            </a:r>
            <a:endParaRPr lang="en-US" dirty="0"/>
          </a:p>
        </p:txBody>
      </p:sp>
      <p:sp>
        <p:nvSpPr>
          <p:cNvPr id="3" name="Content Placeholder 2">
            <a:extLst>
              <a:ext uri="{FF2B5EF4-FFF2-40B4-BE49-F238E27FC236}">
                <a16:creationId xmlns:a16="http://schemas.microsoft.com/office/drawing/2014/main" id="{89FB18E9-A193-CCB2-FEC8-B2B258CB042A}"/>
              </a:ext>
            </a:extLst>
          </p:cNvPr>
          <p:cNvSpPr>
            <a:spLocks noGrp="1"/>
          </p:cNvSpPr>
          <p:nvPr>
            <p:ph idx="1"/>
          </p:nvPr>
        </p:nvSpPr>
        <p:spPr/>
        <p:txBody>
          <a:bodyPr/>
          <a:lstStyle/>
          <a:p>
            <a:r>
              <a:rPr lang="en-GB" dirty="0"/>
              <a:t>Stores method calls </a:t>
            </a:r>
          </a:p>
          <a:p>
            <a:r>
              <a:rPr lang="en-GB" dirty="0"/>
              <a:t>Local variables</a:t>
            </a:r>
          </a:p>
          <a:p>
            <a:r>
              <a:rPr lang="en-GB" dirty="0"/>
              <a:t>Fast access</a:t>
            </a:r>
            <a:endParaRPr lang="en-US" dirty="0"/>
          </a:p>
        </p:txBody>
      </p:sp>
    </p:spTree>
    <p:extLst>
      <p:ext uri="{BB962C8B-B14F-4D97-AF65-F5344CB8AC3E}">
        <p14:creationId xmlns:p14="http://schemas.microsoft.com/office/powerpoint/2010/main" val="32482874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2">
            <a:lumMod val="9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C4249-909C-ED21-A0B2-A560DC5CFE4D}"/>
              </a:ext>
            </a:extLst>
          </p:cNvPr>
          <p:cNvSpPr>
            <a:spLocks noGrp="1"/>
          </p:cNvSpPr>
          <p:nvPr>
            <p:ph type="title"/>
          </p:nvPr>
        </p:nvSpPr>
        <p:spPr/>
        <p:txBody>
          <a:bodyPr/>
          <a:lstStyle/>
          <a:p>
            <a:r>
              <a:rPr lang="en-GB" dirty="0" err="1"/>
              <a:t>Metaspace</a:t>
            </a:r>
            <a:endParaRPr lang="en-US" dirty="0"/>
          </a:p>
        </p:txBody>
      </p:sp>
      <p:sp>
        <p:nvSpPr>
          <p:cNvPr id="3" name="Content Placeholder 2">
            <a:extLst>
              <a:ext uri="{FF2B5EF4-FFF2-40B4-BE49-F238E27FC236}">
                <a16:creationId xmlns:a16="http://schemas.microsoft.com/office/drawing/2014/main" id="{BBA06046-087B-3B0A-3F8A-1165E3EF770A}"/>
              </a:ext>
            </a:extLst>
          </p:cNvPr>
          <p:cNvSpPr>
            <a:spLocks noGrp="1"/>
          </p:cNvSpPr>
          <p:nvPr>
            <p:ph idx="1"/>
          </p:nvPr>
        </p:nvSpPr>
        <p:spPr/>
        <p:txBody>
          <a:bodyPr/>
          <a:lstStyle/>
          <a:p>
            <a:r>
              <a:rPr lang="en-GB" dirty="0"/>
              <a:t>Class metadata</a:t>
            </a:r>
          </a:p>
          <a:p>
            <a:r>
              <a:rPr lang="en-GB" dirty="0"/>
              <a:t>Replaced </a:t>
            </a:r>
            <a:r>
              <a:rPr lang="en-GB" dirty="0" err="1"/>
              <a:t>PermGen</a:t>
            </a:r>
            <a:r>
              <a:rPr lang="en-GB" dirty="0"/>
              <a:t> (Java 8+)</a:t>
            </a:r>
            <a:endParaRPr lang="en-US" dirty="0"/>
          </a:p>
        </p:txBody>
      </p:sp>
    </p:spTree>
    <p:extLst>
      <p:ext uri="{BB962C8B-B14F-4D97-AF65-F5344CB8AC3E}">
        <p14:creationId xmlns:p14="http://schemas.microsoft.com/office/powerpoint/2010/main" val="920932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2">
            <a:lumMod val="9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BEB56-73A5-A310-7532-C5A5F12F2F9D}"/>
              </a:ext>
            </a:extLst>
          </p:cNvPr>
          <p:cNvSpPr>
            <a:spLocks noGrp="1"/>
          </p:cNvSpPr>
          <p:nvPr>
            <p:ph type="title"/>
          </p:nvPr>
        </p:nvSpPr>
        <p:spPr/>
        <p:txBody>
          <a:bodyPr/>
          <a:lstStyle/>
          <a:p>
            <a:r>
              <a:rPr lang="en-GB" dirty="0"/>
              <a:t>Code Cache</a:t>
            </a:r>
            <a:endParaRPr lang="en-US" dirty="0"/>
          </a:p>
        </p:txBody>
      </p:sp>
      <p:sp>
        <p:nvSpPr>
          <p:cNvPr id="3" name="Content Placeholder 2">
            <a:extLst>
              <a:ext uri="{FF2B5EF4-FFF2-40B4-BE49-F238E27FC236}">
                <a16:creationId xmlns:a16="http://schemas.microsoft.com/office/drawing/2014/main" id="{CB973132-9C62-CEE0-2CA8-90D0094D2B18}"/>
              </a:ext>
            </a:extLst>
          </p:cNvPr>
          <p:cNvSpPr>
            <a:spLocks noGrp="1"/>
          </p:cNvSpPr>
          <p:nvPr>
            <p:ph idx="1"/>
          </p:nvPr>
        </p:nvSpPr>
        <p:spPr>
          <a:solidFill>
            <a:schemeClr val="bg2">
              <a:lumMod val="90000"/>
            </a:schemeClr>
          </a:solidFill>
        </p:spPr>
        <p:txBody>
          <a:bodyPr/>
          <a:lstStyle/>
          <a:p>
            <a:r>
              <a:rPr lang="en-GB" dirty="0"/>
              <a:t>JIT compiled code stored</a:t>
            </a:r>
            <a:endParaRPr lang="en-US" dirty="0"/>
          </a:p>
        </p:txBody>
      </p:sp>
    </p:spTree>
    <p:extLst>
      <p:ext uri="{BB962C8B-B14F-4D97-AF65-F5344CB8AC3E}">
        <p14:creationId xmlns:p14="http://schemas.microsoft.com/office/powerpoint/2010/main" val="1517128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Lst>
  </p:timing>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2">
            <a:lumMod val="9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5B1046-13A2-233E-26FE-C19BB1095AA0}"/>
              </a:ext>
            </a:extLst>
          </p:cNvPr>
          <p:cNvSpPr>
            <a:spLocks noGrp="1"/>
          </p:cNvSpPr>
          <p:nvPr>
            <p:ph type="title"/>
          </p:nvPr>
        </p:nvSpPr>
        <p:spPr/>
        <p:txBody>
          <a:bodyPr/>
          <a:lstStyle/>
          <a:p>
            <a:r>
              <a:rPr lang="en-IN" dirty="0"/>
              <a:t>Memory Observation (Visual VM) : Demo</a:t>
            </a:r>
            <a:endParaRPr lang="en-US" dirty="0"/>
          </a:p>
        </p:txBody>
      </p:sp>
      <p:pic>
        <p:nvPicPr>
          <p:cNvPr id="5" name="Content Placeholder 4">
            <a:extLst>
              <a:ext uri="{FF2B5EF4-FFF2-40B4-BE49-F238E27FC236}">
                <a16:creationId xmlns:a16="http://schemas.microsoft.com/office/drawing/2014/main" id="{D17CB212-E117-D226-D1F1-27455754E2D1}"/>
              </a:ext>
            </a:extLst>
          </p:cNvPr>
          <p:cNvPicPr>
            <a:picLocks noGrp="1" noChangeAspect="1"/>
          </p:cNvPicPr>
          <p:nvPr>
            <p:ph idx="1"/>
          </p:nvPr>
        </p:nvPicPr>
        <p:blipFill>
          <a:blip r:embed="rId2"/>
          <a:stretch>
            <a:fillRect/>
          </a:stretch>
        </p:blipFill>
        <p:spPr>
          <a:xfrm>
            <a:off x="2291696" y="1885137"/>
            <a:ext cx="7193225" cy="4803196"/>
          </a:xfrm>
          <a:prstGeom prst="rect">
            <a:avLst/>
          </a:prstGeom>
        </p:spPr>
      </p:pic>
    </p:spTree>
    <p:extLst>
      <p:ext uri="{BB962C8B-B14F-4D97-AF65-F5344CB8AC3E}">
        <p14:creationId xmlns:p14="http://schemas.microsoft.com/office/powerpoint/2010/main" val="33699478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2">
            <a:lumMod val="9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FDB7C3-A670-7362-C3AD-055C5417075B}"/>
              </a:ext>
            </a:extLst>
          </p:cNvPr>
          <p:cNvSpPr>
            <a:spLocks noGrp="1"/>
          </p:cNvSpPr>
          <p:nvPr>
            <p:ph type="title"/>
          </p:nvPr>
        </p:nvSpPr>
        <p:spPr/>
        <p:txBody>
          <a:bodyPr/>
          <a:lstStyle/>
          <a:p>
            <a:r>
              <a:rPr lang="en-IN" dirty="0"/>
              <a:t>Object Lifecycle &amp; Escape Analysis</a:t>
            </a:r>
            <a:endParaRPr lang="en-US" dirty="0"/>
          </a:p>
        </p:txBody>
      </p:sp>
      <p:sp>
        <p:nvSpPr>
          <p:cNvPr id="3" name="Content Placeholder 2">
            <a:extLst>
              <a:ext uri="{FF2B5EF4-FFF2-40B4-BE49-F238E27FC236}">
                <a16:creationId xmlns:a16="http://schemas.microsoft.com/office/drawing/2014/main" id="{725B737C-710D-5933-9562-C1BE44EF9EDD}"/>
              </a:ext>
            </a:extLst>
          </p:cNvPr>
          <p:cNvSpPr>
            <a:spLocks noGrp="1"/>
          </p:cNvSpPr>
          <p:nvPr>
            <p:ph idx="1"/>
          </p:nvPr>
        </p:nvSpPr>
        <p:spPr/>
        <p:txBody>
          <a:bodyPr/>
          <a:lstStyle/>
          <a:p>
            <a:r>
              <a:rPr lang="en-IN" dirty="0"/>
              <a:t>Lifecycle</a:t>
            </a:r>
          </a:p>
          <a:p>
            <a:pPr lvl="1"/>
            <a:r>
              <a:rPr lang="en-IN" dirty="0"/>
              <a:t>Created – Heap </a:t>
            </a:r>
          </a:p>
          <a:p>
            <a:pPr lvl="1"/>
            <a:r>
              <a:rPr lang="en-IN" dirty="0"/>
              <a:t>Used</a:t>
            </a:r>
          </a:p>
          <a:p>
            <a:pPr lvl="1"/>
            <a:r>
              <a:rPr lang="en-IN" dirty="0"/>
              <a:t>Becomes unreachable</a:t>
            </a:r>
          </a:p>
          <a:p>
            <a:pPr lvl="1"/>
            <a:r>
              <a:rPr lang="en-IN" dirty="0"/>
              <a:t>GC Collects</a:t>
            </a:r>
            <a:endParaRPr lang="en-US" dirty="0"/>
          </a:p>
        </p:txBody>
      </p:sp>
    </p:spTree>
    <p:extLst>
      <p:ext uri="{BB962C8B-B14F-4D97-AF65-F5344CB8AC3E}">
        <p14:creationId xmlns:p14="http://schemas.microsoft.com/office/powerpoint/2010/main" val="5677056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2">
            <a:lumMod val="9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5CEAB3-47BC-BF57-4744-CC27688F44E5}"/>
              </a:ext>
            </a:extLst>
          </p:cNvPr>
          <p:cNvSpPr>
            <a:spLocks noGrp="1"/>
          </p:cNvSpPr>
          <p:nvPr>
            <p:ph type="title"/>
          </p:nvPr>
        </p:nvSpPr>
        <p:spPr/>
        <p:txBody>
          <a:bodyPr/>
          <a:lstStyle/>
          <a:p>
            <a:r>
              <a:rPr lang="en-IN" dirty="0"/>
              <a:t>Escape Analysis</a:t>
            </a:r>
            <a:endParaRPr lang="en-US" dirty="0"/>
          </a:p>
        </p:txBody>
      </p:sp>
      <p:sp>
        <p:nvSpPr>
          <p:cNvPr id="3" name="Content Placeholder 2">
            <a:extLst>
              <a:ext uri="{FF2B5EF4-FFF2-40B4-BE49-F238E27FC236}">
                <a16:creationId xmlns:a16="http://schemas.microsoft.com/office/drawing/2014/main" id="{D4713C0B-A6EF-0090-D79C-CF18AA6A6266}"/>
              </a:ext>
            </a:extLst>
          </p:cNvPr>
          <p:cNvSpPr>
            <a:spLocks noGrp="1"/>
          </p:cNvSpPr>
          <p:nvPr>
            <p:ph idx="1"/>
          </p:nvPr>
        </p:nvSpPr>
        <p:spPr/>
        <p:txBody>
          <a:bodyPr>
            <a:normAutofit/>
          </a:bodyPr>
          <a:lstStyle/>
          <a:p>
            <a:r>
              <a:rPr lang="en-IN" sz="2400" dirty="0"/>
              <a:t>JVM tries to answer</a:t>
            </a:r>
          </a:p>
          <a:p>
            <a:pPr lvl="1"/>
            <a:r>
              <a:rPr lang="en-IN" sz="2000" dirty="0"/>
              <a:t>Does this object really need to go into Heap ?</a:t>
            </a:r>
          </a:p>
          <a:p>
            <a:r>
              <a:rPr lang="en-IN" sz="2400" dirty="0"/>
              <a:t>Not all objects need Heap</a:t>
            </a:r>
          </a:p>
          <a:p>
            <a:r>
              <a:rPr lang="en-IN" sz="2400" dirty="0"/>
              <a:t>Some objects can be stay in Stack</a:t>
            </a:r>
          </a:p>
          <a:p>
            <a:r>
              <a:rPr lang="en-IN" sz="2400" dirty="0"/>
              <a:t>That’s what Escape Analysis decides</a:t>
            </a:r>
          </a:p>
          <a:p>
            <a:r>
              <a:rPr lang="en-IN" sz="2400" dirty="0"/>
              <a:t>JVM is smart. If object is used only inside method, it avoids Heap allocation and puts it in Stack.</a:t>
            </a:r>
          </a:p>
        </p:txBody>
      </p:sp>
    </p:spTree>
    <p:extLst>
      <p:ext uri="{BB962C8B-B14F-4D97-AF65-F5344CB8AC3E}">
        <p14:creationId xmlns:p14="http://schemas.microsoft.com/office/powerpoint/2010/main" val="25227313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2">
            <a:lumMod val="9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13BFE6-212B-2ABF-9A9B-746F96FB501C}"/>
              </a:ext>
            </a:extLst>
          </p:cNvPr>
          <p:cNvSpPr>
            <a:spLocks noGrp="1"/>
          </p:cNvSpPr>
          <p:nvPr>
            <p:ph type="title"/>
          </p:nvPr>
        </p:nvSpPr>
        <p:spPr/>
        <p:txBody>
          <a:bodyPr/>
          <a:lstStyle/>
          <a:p>
            <a:r>
              <a:rPr lang="en-IN" dirty="0"/>
              <a:t>Why this matters for performance</a:t>
            </a:r>
            <a:endParaRPr lang="en-US" dirty="0"/>
          </a:p>
        </p:txBody>
      </p:sp>
      <p:sp>
        <p:nvSpPr>
          <p:cNvPr id="3" name="Content Placeholder 2">
            <a:extLst>
              <a:ext uri="{FF2B5EF4-FFF2-40B4-BE49-F238E27FC236}">
                <a16:creationId xmlns:a16="http://schemas.microsoft.com/office/drawing/2014/main" id="{C6B3C303-CAB9-4258-C033-EEA9395B9501}"/>
              </a:ext>
            </a:extLst>
          </p:cNvPr>
          <p:cNvSpPr>
            <a:spLocks noGrp="1"/>
          </p:cNvSpPr>
          <p:nvPr>
            <p:ph idx="1"/>
          </p:nvPr>
        </p:nvSpPr>
        <p:spPr/>
        <p:txBody>
          <a:bodyPr/>
          <a:lstStyle/>
          <a:p>
            <a:r>
              <a:rPr lang="en-IN" dirty="0"/>
              <a:t>Without Escape Analysis</a:t>
            </a:r>
          </a:p>
          <a:p>
            <a:pPr lvl="1"/>
            <a:r>
              <a:rPr lang="en-IN" dirty="0"/>
              <a:t>Object will get stored in Heap</a:t>
            </a:r>
          </a:p>
          <a:p>
            <a:pPr lvl="1"/>
            <a:r>
              <a:rPr lang="en-IN" dirty="0"/>
              <a:t>Which needs garbage collection</a:t>
            </a:r>
          </a:p>
          <a:p>
            <a:r>
              <a:rPr lang="en-IN" dirty="0"/>
              <a:t>With Escape Analysis – Default in Java8+</a:t>
            </a:r>
          </a:p>
          <a:p>
            <a:pPr lvl="1"/>
            <a:r>
              <a:rPr lang="en-IN" dirty="0"/>
              <a:t>Object will get stored in Stack</a:t>
            </a:r>
          </a:p>
          <a:p>
            <a:pPr lvl="1"/>
            <a:r>
              <a:rPr lang="en-IN" dirty="0"/>
              <a:t>No garbage collection is required</a:t>
            </a:r>
          </a:p>
          <a:p>
            <a:r>
              <a:rPr lang="en-IN" dirty="0"/>
              <a:t>Faster + less memory pressure</a:t>
            </a:r>
            <a:endParaRPr lang="en-US" dirty="0"/>
          </a:p>
        </p:txBody>
      </p:sp>
    </p:spTree>
    <p:extLst>
      <p:ext uri="{BB962C8B-B14F-4D97-AF65-F5344CB8AC3E}">
        <p14:creationId xmlns:p14="http://schemas.microsoft.com/office/powerpoint/2010/main" val="18617166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2">
            <a:lumMod val="9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CD9292-2FFC-EC27-85C8-7E80EA064FF5}"/>
              </a:ext>
            </a:extLst>
          </p:cNvPr>
          <p:cNvSpPr>
            <a:spLocks noGrp="1"/>
          </p:cNvSpPr>
          <p:nvPr>
            <p:ph type="title"/>
          </p:nvPr>
        </p:nvSpPr>
        <p:spPr/>
        <p:txBody>
          <a:bodyPr/>
          <a:lstStyle/>
          <a:p>
            <a:r>
              <a:rPr lang="en-IN" dirty="0"/>
              <a:t>Important Clarification</a:t>
            </a:r>
            <a:endParaRPr lang="en-US" dirty="0"/>
          </a:p>
        </p:txBody>
      </p:sp>
      <p:sp>
        <p:nvSpPr>
          <p:cNvPr id="3" name="Content Placeholder 2">
            <a:extLst>
              <a:ext uri="{FF2B5EF4-FFF2-40B4-BE49-F238E27FC236}">
                <a16:creationId xmlns:a16="http://schemas.microsoft.com/office/drawing/2014/main" id="{051A3C2E-D03A-C1E9-AEA9-B2D71BA19EAE}"/>
              </a:ext>
            </a:extLst>
          </p:cNvPr>
          <p:cNvSpPr>
            <a:spLocks noGrp="1"/>
          </p:cNvSpPr>
          <p:nvPr>
            <p:ph idx="1"/>
          </p:nvPr>
        </p:nvSpPr>
        <p:spPr/>
        <p:txBody>
          <a:bodyPr/>
          <a:lstStyle/>
          <a:p>
            <a:r>
              <a:rPr lang="en-IN" dirty="0"/>
              <a:t>Stack allocation is</a:t>
            </a:r>
          </a:p>
          <a:p>
            <a:pPr lvl="1"/>
            <a:r>
              <a:rPr lang="en-IN" dirty="0"/>
              <a:t>Not guaranteed</a:t>
            </a:r>
          </a:p>
          <a:p>
            <a:pPr lvl="1"/>
            <a:r>
              <a:rPr lang="en-IN" dirty="0"/>
              <a:t>Optimization done by JVM – JIT decides</a:t>
            </a:r>
            <a:endParaRPr lang="en-US" dirty="0"/>
          </a:p>
        </p:txBody>
      </p:sp>
    </p:spTree>
    <p:extLst>
      <p:ext uri="{BB962C8B-B14F-4D97-AF65-F5344CB8AC3E}">
        <p14:creationId xmlns:p14="http://schemas.microsoft.com/office/powerpoint/2010/main" val="7421023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2">
            <a:lumMod val="9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53BADA-FBE5-CEAB-C031-EB9D469E94CC}"/>
              </a:ext>
            </a:extLst>
          </p:cNvPr>
          <p:cNvSpPr>
            <a:spLocks noGrp="1"/>
          </p:cNvSpPr>
          <p:nvPr>
            <p:ph type="title"/>
          </p:nvPr>
        </p:nvSpPr>
        <p:spPr/>
        <p:txBody>
          <a:bodyPr/>
          <a:lstStyle/>
          <a:p>
            <a:r>
              <a:rPr lang="en-IN" dirty="0"/>
              <a:t>Common Misconfigurations</a:t>
            </a:r>
            <a:endParaRPr lang="en-US" dirty="0"/>
          </a:p>
        </p:txBody>
      </p:sp>
      <p:sp>
        <p:nvSpPr>
          <p:cNvPr id="3" name="Content Placeholder 2">
            <a:extLst>
              <a:ext uri="{FF2B5EF4-FFF2-40B4-BE49-F238E27FC236}">
                <a16:creationId xmlns:a16="http://schemas.microsoft.com/office/drawing/2014/main" id="{7A1D5817-76C8-A829-9077-08D7BE8D8D38}"/>
              </a:ext>
            </a:extLst>
          </p:cNvPr>
          <p:cNvSpPr>
            <a:spLocks noGrp="1"/>
          </p:cNvSpPr>
          <p:nvPr>
            <p:ph idx="1"/>
          </p:nvPr>
        </p:nvSpPr>
        <p:spPr/>
        <p:txBody>
          <a:bodyPr/>
          <a:lstStyle/>
          <a:p>
            <a:r>
              <a:rPr lang="en-IN" dirty="0"/>
              <a:t>Real-world Issues</a:t>
            </a:r>
          </a:p>
          <a:p>
            <a:pPr lvl="1"/>
            <a:r>
              <a:rPr lang="en-IN" dirty="0"/>
              <a:t>Too small heap – frequent GC</a:t>
            </a:r>
          </a:p>
          <a:p>
            <a:pPr lvl="1"/>
            <a:r>
              <a:rPr lang="en-IN" dirty="0"/>
              <a:t>Too large heap – long  GC pauses</a:t>
            </a:r>
          </a:p>
          <a:p>
            <a:pPr lvl="1"/>
            <a:r>
              <a:rPr lang="en-IN" dirty="0"/>
              <a:t>Wrong GC selection</a:t>
            </a:r>
          </a:p>
          <a:p>
            <a:pPr lvl="1"/>
            <a:r>
              <a:rPr lang="en-IN" dirty="0"/>
              <a:t>Too many threads</a:t>
            </a:r>
          </a:p>
          <a:p>
            <a:pPr lvl="1"/>
            <a:r>
              <a:rPr lang="en-IN" dirty="0"/>
              <a:t>Blocking I/O</a:t>
            </a:r>
            <a:endParaRPr lang="en-US" dirty="0"/>
          </a:p>
        </p:txBody>
      </p:sp>
    </p:spTree>
    <p:extLst>
      <p:ext uri="{BB962C8B-B14F-4D97-AF65-F5344CB8AC3E}">
        <p14:creationId xmlns:p14="http://schemas.microsoft.com/office/powerpoint/2010/main" val="321900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2">
            <a:lumMod val="9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0188F6-74EA-CFDC-F75B-AB3072C4B02E}"/>
              </a:ext>
            </a:extLst>
          </p:cNvPr>
          <p:cNvSpPr>
            <a:spLocks noGrp="1"/>
          </p:cNvSpPr>
          <p:nvPr>
            <p:ph type="title"/>
          </p:nvPr>
        </p:nvSpPr>
        <p:spPr/>
        <p:txBody>
          <a:bodyPr/>
          <a:lstStyle/>
          <a:p>
            <a:r>
              <a:rPr lang="en-GB" dirty="0"/>
              <a:t>MCQ</a:t>
            </a:r>
            <a:endParaRPr lang="en-US" dirty="0"/>
          </a:p>
        </p:txBody>
      </p:sp>
      <p:sp>
        <p:nvSpPr>
          <p:cNvPr id="3" name="Content Placeholder 2">
            <a:extLst>
              <a:ext uri="{FF2B5EF4-FFF2-40B4-BE49-F238E27FC236}">
                <a16:creationId xmlns:a16="http://schemas.microsoft.com/office/drawing/2014/main" id="{66648C8D-7206-425C-0004-0CB35AA93A3F}"/>
              </a:ext>
            </a:extLst>
          </p:cNvPr>
          <p:cNvSpPr>
            <a:spLocks noGrp="1"/>
          </p:cNvSpPr>
          <p:nvPr>
            <p:ph idx="1"/>
          </p:nvPr>
        </p:nvSpPr>
        <p:spPr/>
        <p:txBody>
          <a:bodyPr>
            <a:normAutofit fontScale="85000" lnSpcReduction="20000"/>
          </a:bodyPr>
          <a:lstStyle/>
          <a:p>
            <a:pPr marL="0" indent="0">
              <a:buNone/>
            </a:pPr>
            <a:r>
              <a:rPr lang="en-GB" b="1" dirty="0"/>
              <a:t>1. Which component of JVM is responsible for loading class files?</a:t>
            </a:r>
          </a:p>
          <a:p>
            <a:pPr marL="914400" lvl="1" indent="-457200">
              <a:buFont typeface="+mj-lt"/>
              <a:buAutoNum type="alphaUcPeriod"/>
            </a:pPr>
            <a:r>
              <a:rPr lang="en-GB" dirty="0"/>
              <a:t>Execution Engine</a:t>
            </a:r>
          </a:p>
          <a:p>
            <a:pPr marL="914400" lvl="1" indent="-457200">
              <a:buFont typeface="+mj-lt"/>
              <a:buAutoNum type="alphaUcPeriod"/>
            </a:pPr>
            <a:r>
              <a:rPr lang="en-GB" dirty="0"/>
              <a:t>Class Loader</a:t>
            </a:r>
          </a:p>
          <a:p>
            <a:pPr marL="914400" lvl="1" indent="-457200">
              <a:buFont typeface="+mj-lt"/>
              <a:buAutoNum type="alphaUcPeriod"/>
            </a:pPr>
            <a:r>
              <a:rPr lang="en-GB" dirty="0"/>
              <a:t>Garbage Collector</a:t>
            </a:r>
          </a:p>
          <a:p>
            <a:pPr marL="914400" lvl="1" indent="-457200">
              <a:buFont typeface="+mj-lt"/>
              <a:buAutoNum type="alphaUcPeriod"/>
            </a:pPr>
            <a:r>
              <a:rPr lang="en-GB" dirty="0"/>
              <a:t>JIT Compiler</a:t>
            </a:r>
          </a:p>
          <a:p>
            <a:pPr marL="457200" lvl="1" indent="0">
              <a:buNone/>
            </a:pPr>
            <a:r>
              <a:rPr lang="en-GB" b="1" dirty="0"/>
              <a:t>Correct Answer:</a:t>
            </a:r>
            <a:r>
              <a:rPr lang="en-GB" dirty="0"/>
              <a:t> B</a:t>
            </a:r>
            <a:br>
              <a:rPr lang="en-GB" dirty="0"/>
            </a:br>
            <a:r>
              <a:rPr lang="en-GB" b="1" dirty="0"/>
              <a:t>Explanation:</a:t>
            </a:r>
            <a:r>
              <a:rPr lang="en-GB" dirty="0"/>
              <a:t> The Class Loader loads .class files into memory.</a:t>
            </a:r>
          </a:p>
          <a:p>
            <a:r>
              <a:rPr lang="en-GB" b="1" dirty="0"/>
              <a:t>2. What is the primary role of the JIT (Just-In-Time) compiler?</a:t>
            </a:r>
          </a:p>
          <a:p>
            <a:pPr lvl="1"/>
            <a:r>
              <a:rPr lang="en-GB" dirty="0"/>
              <a:t>Compile Java code to bytecode</a:t>
            </a:r>
          </a:p>
          <a:p>
            <a:pPr lvl="1"/>
            <a:r>
              <a:rPr lang="en-GB" dirty="0"/>
              <a:t>Interpret bytecode line by line</a:t>
            </a:r>
          </a:p>
          <a:p>
            <a:pPr lvl="1"/>
            <a:r>
              <a:rPr lang="en-GB" dirty="0"/>
              <a:t>Convert bytecode into optimized native machine code at runtime</a:t>
            </a:r>
          </a:p>
          <a:p>
            <a:pPr lvl="1"/>
            <a:r>
              <a:rPr lang="en-GB" dirty="0"/>
              <a:t>Manage memory allocation</a:t>
            </a:r>
          </a:p>
          <a:p>
            <a:pPr lvl="1"/>
            <a:r>
              <a:rPr lang="en-GB" b="1" dirty="0"/>
              <a:t>Correct Answer:</a:t>
            </a:r>
            <a:r>
              <a:rPr lang="en-GB" dirty="0"/>
              <a:t> C</a:t>
            </a:r>
            <a:br>
              <a:rPr lang="en-GB" dirty="0"/>
            </a:br>
            <a:r>
              <a:rPr lang="en-GB" b="1" dirty="0"/>
              <a:t>Explanation:</a:t>
            </a:r>
            <a:r>
              <a:rPr lang="en-GB" dirty="0"/>
              <a:t> JIT improves performance by converting frequently used bytecode into optimized native code.</a:t>
            </a:r>
          </a:p>
          <a:p>
            <a:endParaRPr lang="en-GB" dirty="0"/>
          </a:p>
          <a:p>
            <a:endParaRPr lang="en-GB" dirty="0"/>
          </a:p>
          <a:p>
            <a:pPr marL="457200" lvl="1" indent="0">
              <a:buNone/>
            </a:pPr>
            <a:endParaRPr lang="en-GB" dirty="0"/>
          </a:p>
          <a:p>
            <a:endParaRPr lang="en-US" dirty="0"/>
          </a:p>
        </p:txBody>
      </p:sp>
    </p:spTree>
    <p:extLst>
      <p:ext uri="{BB962C8B-B14F-4D97-AF65-F5344CB8AC3E}">
        <p14:creationId xmlns:p14="http://schemas.microsoft.com/office/powerpoint/2010/main" val="564287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2">
            <a:lumMod val="9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9A764F-C680-E4D6-C3D7-8A84F69BA710}"/>
              </a:ext>
            </a:extLst>
          </p:cNvPr>
          <p:cNvSpPr>
            <a:spLocks noGrp="1"/>
          </p:cNvSpPr>
          <p:nvPr>
            <p:ph type="title"/>
          </p:nvPr>
        </p:nvSpPr>
        <p:spPr/>
        <p:txBody>
          <a:bodyPr/>
          <a:lstStyle/>
          <a:p>
            <a:r>
              <a:rPr lang="en-GB" dirty="0"/>
              <a:t>MCQ</a:t>
            </a:r>
            <a:endParaRPr lang="en-US" dirty="0"/>
          </a:p>
        </p:txBody>
      </p:sp>
      <p:sp>
        <p:nvSpPr>
          <p:cNvPr id="3" name="Content Placeholder 2">
            <a:extLst>
              <a:ext uri="{FF2B5EF4-FFF2-40B4-BE49-F238E27FC236}">
                <a16:creationId xmlns:a16="http://schemas.microsoft.com/office/drawing/2014/main" id="{D0001FE2-E427-479D-B296-DE4C1469489E}"/>
              </a:ext>
            </a:extLst>
          </p:cNvPr>
          <p:cNvSpPr>
            <a:spLocks noGrp="1"/>
          </p:cNvSpPr>
          <p:nvPr>
            <p:ph idx="1"/>
          </p:nvPr>
        </p:nvSpPr>
        <p:spPr/>
        <p:txBody>
          <a:bodyPr>
            <a:normAutofit fontScale="85000" lnSpcReduction="20000"/>
          </a:bodyPr>
          <a:lstStyle/>
          <a:p>
            <a:pPr marL="0" indent="0">
              <a:buNone/>
            </a:pPr>
            <a:r>
              <a:rPr lang="en-US" b="1" dirty="0"/>
              <a:t>3. Which JVM memory area stores method-level data and class metadata?</a:t>
            </a:r>
          </a:p>
          <a:p>
            <a:pPr lvl="1"/>
            <a:r>
              <a:rPr lang="en-US" dirty="0"/>
              <a:t>Heap</a:t>
            </a:r>
          </a:p>
          <a:p>
            <a:pPr lvl="1"/>
            <a:r>
              <a:rPr lang="en-US" dirty="0"/>
              <a:t>Stack</a:t>
            </a:r>
          </a:p>
          <a:p>
            <a:pPr lvl="1"/>
            <a:r>
              <a:rPr lang="en-US" dirty="0" err="1"/>
              <a:t>MetaSpace</a:t>
            </a:r>
            <a:endParaRPr lang="en-US" dirty="0"/>
          </a:p>
          <a:p>
            <a:pPr lvl="1"/>
            <a:r>
              <a:rPr lang="en-US" dirty="0"/>
              <a:t>Code Cache</a:t>
            </a:r>
          </a:p>
          <a:p>
            <a:pPr lvl="1"/>
            <a:r>
              <a:rPr lang="en-US" b="1" dirty="0"/>
              <a:t>Correct Answer:</a:t>
            </a:r>
            <a:r>
              <a:rPr lang="en-US" dirty="0"/>
              <a:t> C</a:t>
            </a:r>
            <a:br>
              <a:rPr lang="en-US" dirty="0"/>
            </a:br>
            <a:r>
              <a:rPr lang="en-US" b="1" dirty="0"/>
              <a:t>Explanation:</a:t>
            </a:r>
            <a:r>
              <a:rPr lang="en-US" dirty="0"/>
              <a:t> </a:t>
            </a:r>
            <a:r>
              <a:rPr lang="en-US" dirty="0" err="1"/>
              <a:t>MetaSpace</a:t>
            </a:r>
            <a:r>
              <a:rPr lang="en-US" dirty="0"/>
              <a:t> stores class metadata (replaced </a:t>
            </a:r>
            <a:r>
              <a:rPr lang="en-US" dirty="0" err="1"/>
              <a:t>PermGen</a:t>
            </a:r>
            <a:r>
              <a:rPr lang="en-US" dirty="0"/>
              <a:t> in Java 8+).</a:t>
            </a:r>
          </a:p>
          <a:p>
            <a:pPr marL="0" indent="0">
              <a:buNone/>
            </a:pPr>
            <a:r>
              <a:rPr lang="en-GB" b="1" dirty="0"/>
              <a:t>4. Where are local variables and method calls stored?</a:t>
            </a:r>
          </a:p>
          <a:p>
            <a:pPr lvl="1"/>
            <a:r>
              <a:rPr lang="en-GB" dirty="0"/>
              <a:t>Heap</a:t>
            </a:r>
          </a:p>
          <a:p>
            <a:pPr lvl="1"/>
            <a:r>
              <a:rPr lang="en-GB" dirty="0"/>
              <a:t>Stack</a:t>
            </a:r>
          </a:p>
          <a:p>
            <a:pPr lvl="1"/>
            <a:r>
              <a:rPr lang="en-GB" dirty="0" err="1"/>
              <a:t>MetaSpace</a:t>
            </a:r>
            <a:endParaRPr lang="en-GB" dirty="0"/>
          </a:p>
          <a:p>
            <a:pPr lvl="1"/>
            <a:r>
              <a:rPr lang="en-GB" dirty="0"/>
              <a:t>Code Cache</a:t>
            </a:r>
          </a:p>
          <a:p>
            <a:pPr lvl="1"/>
            <a:r>
              <a:rPr lang="en-GB" b="1" dirty="0"/>
              <a:t>Correct Answer:</a:t>
            </a:r>
            <a:r>
              <a:rPr lang="en-GB" dirty="0"/>
              <a:t> B</a:t>
            </a:r>
            <a:br>
              <a:rPr lang="en-GB" dirty="0"/>
            </a:br>
            <a:r>
              <a:rPr lang="en-GB" b="1" dirty="0"/>
              <a:t>Explanation:</a:t>
            </a:r>
            <a:r>
              <a:rPr lang="en-GB" dirty="0"/>
              <a:t> Each thread has its own stack for method calls and local variables.</a:t>
            </a:r>
          </a:p>
          <a:p>
            <a:endParaRPr lang="en-US" dirty="0"/>
          </a:p>
          <a:p>
            <a:endParaRPr lang="en-US" dirty="0"/>
          </a:p>
        </p:txBody>
      </p:sp>
    </p:spTree>
    <p:extLst>
      <p:ext uri="{BB962C8B-B14F-4D97-AF65-F5344CB8AC3E}">
        <p14:creationId xmlns:p14="http://schemas.microsoft.com/office/powerpoint/2010/main" val="1022984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2">
            <a:lumMod val="9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BF9F98-F1CE-1D0F-325F-EB91D04AE106}"/>
              </a:ext>
            </a:extLst>
          </p:cNvPr>
          <p:cNvSpPr>
            <a:spLocks noGrp="1"/>
          </p:cNvSpPr>
          <p:nvPr>
            <p:ph type="title"/>
          </p:nvPr>
        </p:nvSpPr>
        <p:spPr/>
        <p:txBody>
          <a:bodyPr/>
          <a:lstStyle/>
          <a:p>
            <a:r>
              <a:rPr lang="en-GB" dirty="0"/>
              <a:t>MCQ</a:t>
            </a:r>
            <a:endParaRPr lang="en-US" dirty="0"/>
          </a:p>
        </p:txBody>
      </p:sp>
      <p:sp>
        <p:nvSpPr>
          <p:cNvPr id="3" name="Content Placeholder 2">
            <a:extLst>
              <a:ext uri="{FF2B5EF4-FFF2-40B4-BE49-F238E27FC236}">
                <a16:creationId xmlns:a16="http://schemas.microsoft.com/office/drawing/2014/main" id="{18F5EB9A-2050-CE0F-AEB2-ACEA2E314972}"/>
              </a:ext>
            </a:extLst>
          </p:cNvPr>
          <p:cNvSpPr>
            <a:spLocks noGrp="1"/>
          </p:cNvSpPr>
          <p:nvPr>
            <p:ph idx="1"/>
          </p:nvPr>
        </p:nvSpPr>
        <p:spPr/>
        <p:txBody>
          <a:bodyPr/>
          <a:lstStyle/>
          <a:p>
            <a:pPr marL="0" indent="0">
              <a:buNone/>
            </a:pPr>
            <a:r>
              <a:rPr lang="en-GB" b="1" dirty="0"/>
              <a:t>5. What is Escape Analysis used for in JVM?</a:t>
            </a:r>
          </a:p>
          <a:p>
            <a:pPr lvl="1"/>
            <a:r>
              <a:rPr lang="en-GB" dirty="0"/>
              <a:t>A. Detect memory leaks</a:t>
            </a:r>
          </a:p>
          <a:p>
            <a:pPr lvl="1"/>
            <a:r>
              <a:rPr lang="en-GB" dirty="0"/>
              <a:t>B. </a:t>
            </a:r>
            <a:r>
              <a:rPr lang="en-GB" dirty="0" err="1"/>
              <a:t>Analyze</a:t>
            </a:r>
            <a:r>
              <a:rPr lang="en-GB" dirty="0"/>
              <a:t> thread scheduling</a:t>
            </a:r>
          </a:p>
          <a:p>
            <a:pPr lvl="1"/>
            <a:r>
              <a:rPr lang="en-GB" dirty="0"/>
              <a:t>C. Determine if an object can be allocated on stack instead of heap</a:t>
            </a:r>
          </a:p>
          <a:p>
            <a:pPr lvl="1"/>
            <a:r>
              <a:rPr lang="en-GB" dirty="0"/>
              <a:t>D. Monitor GC performance</a:t>
            </a:r>
          </a:p>
          <a:p>
            <a:pPr lvl="1"/>
            <a:r>
              <a:rPr lang="en-GB" b="1" dirty="0"/>
              <a:t>Correct Answer:</a:t>
            </a:r>
            <a:r>
              <a:rPr lang="en-GB" dirty="0"/>
              <a:t> C</a:t>
            </a:r>
            <a:br>
              <a:rPr lang="en-GB" dirty="0"/>
            </a:br>
            <a:r>
              <a:rPr lang="en-GB" b="1" dirty="0"/>
              <a:t>Explanation:</a:t>
            </a:r>
            <a:r>
              <a:rPr lang="en-GB" dirty="0"/>
              <a:t> Escape Analysis helps optimize memory allocation by avoiding heap allocation when possible.</a:t>
            </a:r>
          </a:p>
        </p:txBody>
      </p:sp>
    </p:spTree>
    <p:extLst>
      <p:ext uri="{BB962C8B-B14F-4D97-AF65-F5344CB8AC3E}">
        <p14:creationId xmlns:p14="http://schemas.microsoft.com/office/powerpoint/2010/main" val="15457942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94DD4-222F-8E20-71A8-D22C6B05BECF}"/>
              </a:ext>
            </a:extLst>
          </p:cNvPr>
          <p:cNvSpPr>
            <a:spLocks noGrp="1"/>
          </p:cNvSpPr>
          <p:nvPr>
            <p:ph type="title"/>
          </p:nvPr>
        </p:nvSpPr>
        <p:spPr/>
        <p:txBody>
          <a:bodyPr>
            <a:normAutofit/>
          </a:bodyPr>
          <a:lstStyle/>
          <a:p>
            <a:r>
              <a:rPr lang="en-IN" sz="3600" dirty="0"/>
              <a:t>Session 3 : Java Memory Model &amp; Heap Optimization</a:t>
            </a:r>
            <a:endParaRPr lang="en-US" sz="3600" dirty="0"/>
          </a:p>
        </p:txBody>
      </p:sp>
      <p:sp>
        <p:nvSpPr>
          <p:cNvPr id="3" name="Content Placeholder 2">
            <a:extLst>
              <a:ext uri="{FF2B5EF4-FFF2-40B4-BE49-F238E27FC236}">
                <a16:creationId xmlns:a16="http://schemas.microsoft.com/office/drawing/2014/main" id="{DDB15D76-9A26-A4E2-3C4B-FC9B1F0E2186}"/>
              </a:ext>
            </a:extLst>
          </p:cNvPr>
          <p:cNvSpPr>
            <a:spLocks noGrp="1"/>
          </p:cNvSpPr>
          <p:nvPr>
            <p:ph idx="1"/>
          </p:nvPr>
        </p:nvSpPr>
        <p:spPr/>
        <p:txBody>
          <a:bodyPr/>
          <a:lstStyle/>
          <a:p>
            <a:r>
              <a:rPr lang="en-IN" dirty="0"/>
              <a:t>Session Objective</a:t>
            </a:r>
          </a:p>
          <a:p>
            <a:pPr lvl="1"/>
            <a:r>
              <a:rPr lang="en-IN" dirty="0"/>
              <a:t>Understand how </a:t>
            </a:r>
            <a:r>
              <a:rPr lang="en-IN" b="1" dirty="0"/>
              <a:t>Java Memory Model(JMM) </a:t>
            </a:r>
            <a:r>
              <a:rPr lang="en-IN" dirty="0"/>
              <a:t>controls thread interaction</a:t>
            </a:r>
          </a:p>
          <a:p>
            <a:pPr lvl="1"/>
            <a:r>
              <a:rPr lang="en-IN" dirty="0"/>
              <a:t>Identify </a:t>
            </a:r>
            <a:r>
              <a:rPr lang="en-IN" b="1" dirty="0"/>
              <a:t>visibility and ordering issue</a:t>
            </a:r>
            <a:r>
              <a:rPr lang="en-IN" dirty="0"/>
              <a:t> in multithreaded programs</a:t>
            </a:r>
          </a:p>
          <a:p>
            <a:pPr lvl="1"/>
            <a:r>
              <a:rPr lang="en-IN" dirty="0"/>
              <a:t>Understand </a:t>
            </a:r>
            <a:r>
              <a:rPr lang="en-IN" b="1" dirty="0"/>
              <a:t>heap structure and object lifecycle</a:t>
            </a:r>
          </a:p>
          <a:p>
            <a:pPr lvl="1"/>
            <a:r>
              <a:rPr lang="en-IN" dirty="0"/>
              <a:t>Analyse </a:t>
            </a:r>
            <a:r>
              <a:rPr lang="en-IN" b="1" dirty="0"/>
              <a:t>object creation cost and allocation patterns</a:t>
            </a:r>
          </a:p>
          <a:p>
            <a:pPr lvl="1"/>
            <a:r>
              <a:rPr lang="en-IN" dirty="0"/>
              <a:t>Apply techniques to </a:t>
            </a:r>
            <a:r>
              <a:rPr lang="en-IN" b="1" dirty="0"/>
              <a:t>reduce GC pressure</a:t>
            </a:r>
          </a:p>
          <a:p>
            <a:pPr lvl="1"/>
            <a:r>
              <a:rPr lang="en-IN" dirty="0"/>
              <a:t>Correlate </a:t>
            </a:r>
            <a:r>
              <a:rPr lang="en-IN" b="1" dirty="0"/>
              <a:t>memory behaviour with application performance</a:t>
            </a:r>
            <a:endParaRPr lang="en-US" b="1" dirty="0"/>
          </a:p>
        </p:txBody>
      </p:sp>
    </p:spTree>
    <p:extLst>
      <p:ext uri="{BB962C8B-B14F-4D97-AF65-F5344CB8AC3E}">
        <p14:creationId xmlns:p14="http://schemas.microsoft.com/office/powerpoint/2010/main" val="26733960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45BEE9-0D39-2E5D-1ABE-FBC48D0A694E}"/>
              </a:ext>
            </a:extLst>
          </p:cNvPr>
          <p:cNvSpPr>
            <a:spLocks noGrp="1"/>
          </p:cNvSpPr>
          <p:nvPr>
            <p:ph type="title"/>
          </p:nvPr>
        </p:nvSpPr>
        <p:spPr/>
        <p:txBody>
          <a:bodyPr>
            <a:normAutofit/>
          </a:bodyPr>
          <a:lstStyle/>
          <a:p>
            <a:r>
              <a:rPr lang="en-US" sz="3600" dirty="0"/>
              <a:t>Java Memory Model (JMM)</a:t>
            </a:r>
          </a:p>
        </p:txBody>
      </p:sp>
      <p:sp>
        <p:nvSpPr>
          <p:cNvPr id="3" name="Content Placeholder 2">
            <a:extLst>
              <a:ext uri="{FF2B5EF4-FFF2-40B4-BE49-F238E27FC236}">
                <a16:creationId xmlns:a16="http://schemas.microsoft.com/office/drawing/2014/main" id="{EDDBB69E-F75B-CD7D-8641-5E100477E475}"/>
              </a:ext>
            </a:extLst>
          </p:cNvPr>
          <p:cNvSpPr>
            <a:spLocks noGrp="1"/>
          </p:cNvSpPr>
          <p:nvPr>
            <p:ph idx="1"/>
          </p:nvPr>
        </p:nvSpPr>
        <p:spPr/>
        <p:txBody>
          <a:bodyPr/>
          <a:lstStyle/>
          <a:p>
            <a:r>
              <a:rPr lang="en-IN" dirty="0"/>
              <a:t>Why sometimes one thread updates a variable but another thread doesn’t see it ?</a:t>
            </a:r>
          </a:p>
          <a:p>
            <a:r>
              <a:rPr lang="en-IN" dirty="0"/>
              <a:t>What is JMM ?</a:t>
            </a:r>
          </a:p>
          <a:p>
            <a:pPr lvl="1"/>
            <a:r>
              <a:rPr lang="en-US" dirty="0"/>
              <a:t>Defines how threads interact through memory</a:t>
            </a:r>
          </a:p>
          <a:p>
            <a:pPr lvl="1"/>
            <a:r>
              <a:rPr lang="en-US" dirty="0"/>
              <a:t>Controls</a:t>
            </a:r>
          </a:p>
          <a:p>
            <a:pPr lvl="2"/>
            <a:r>
              <a:rPr lang="en-US" dirty="0"/>
              <a:t>Visibility</a:t>
            </a:r>
          </a:p>
          <a:p>
            <a:pPr lvl="2"/>
            <a:r>
              <a:rPr lang="en-US" dirty="0"/>
              <a:t>Ordering</a:t>
            </a:r>
          </a:p>
          <a:p>
            <a:pPr lvl="2"/>
            <a:r>
              <a:rPr lang="en-US" dirty="0"/>
              <a:t>Atomicity</a:t>
            </a:r>
          </a:p>
        </p:txBody>
      </p:sp>
    </p:spTree>
    <p:extLst>
      <p:ext uri="{BB962C8B-B14F-4D97-AF65-F5344CB8AC3E}">
        <p14:creationId xmlns:p14="http://schemas.microsoft.com/office/powerpoint/2010/main" val="3873455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1F93B-60C7-A2AF-3981-1D7B91844F81}"/>
              </a:ext>
            </a:extLst>
          </p:cNvPr>
          <p:cNvSpPr>
            <a:spLocks noGrp="1"/>
          </p:cNvSpPr>
          <p:nvPr>
            <p:ph type="title"/>
          </p:nvPr>
        </p:nvSpPr>
        <p:spPr/>
        <p:txBody>
          <a:bodyPr>
            <a:normAutofit/>
          </a:bodyPr>
          <a:lstStyle/>
          <a:p>
            <a:r>
              <a:rPr lang="en-IN" sz="3600" dirty="0"/>
              <a:t>Heap &amp; Object Allocation</a:t>
            </a:r>
            <a:endParaRPr lang="en-US" sz="3600" dirty="0"/>
          </a:p>
        </p:txBody>
      </p:sp>
      <p:sp>
        <p:nvSpPr>
          <p:cNvPr id="3" name="Content Placeholder 2">
            <a:extLst>
              <a:ext uri="{FF2B5EF4-FFF2-40B4-BE49-F238E27FC236}">
                <a16:creationId xmlns:a16="http://schemas.microsoft.com/office/drawing/2014/main" id="{8F59EB45-AD70-4C64-F28A-2F644AFE1287}"/>
              </a:ext>
            </a:extLst>
          </p:cNvPr>
          <p:cNvSpPr>
            <a:spLocks noGrp="1"/>
          </p:cNvSpPr>
          <p:nvPr>
            <p:ph idx="1"/>
          </p:nvPr>
        </p:nvSpPr>
        <p:spPr/>
        <p:txBody>
          <a:bodyPr/>
          <a:lstStyle/>
          <a:p>
            <a:r>
              <a:rPr lang="en-IN" dirty="0"/>
              <a:t>Key Regions</a:t>
            </a:r>
          </a:p>
          <a:p>
            <a:pPr lvl="1"/>
            <a:r>
              <a:rPr lang="en-IN" dirty="0"/>
              <a:t>Young Gen</a:t>
            </a:r>
          </a:p>
          <a:p>
            <a:pPr lvl="2"/>
            <a:r>
              <a:rPr lang="en-IN" dirty="0"/>
              <a:t>Eden</a:t>
            </a:r>
          </a:p>
          <a:p>
            <a:pPr lvl="2"/>
            <a:r>
              <a:rPr lang="en-IN" dirty="0"/>
              <a:t>Survivor (S0,S1)</a:t>
            </a:r>
          </a:p>
          <a:p>
            <a:pPr lvl="1"/>
            <a:r>
              <a:rPr lang="en-IN" dirty="0"/>
              <a:t>Old Gen</a:t>
            </a:r>
            <a:endParaRPr lang="en-US" dirty="0"/>
          </a:p>
        </p:txBody>
      </p:sp>
    </p:spTree>
    <p:extLst>
      <p:ext uri="{BB962C8B-B14F-4D97-AF65-F5344CB8AC3E}">
        <p14:creationId xmlns:p14="http://schemas.microsoft.com/office/powerpoint/2010/main" val="5903529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FEF4A-AC8C-5BB9-D869-1D6251AF9FE9}"/>
              </a:ext>
            </a:extLst>
          </p:cNvPr>
          <p:cNvSpPr>
            <a:spLocks noGrp="1"/>
          </p:cNvSpPr>
          <p:nvPr>
            <p:ph type="title"/>
          </p:nvPr>
        </p:nvSpPr>
        <p:spPr>
          <a:solidFill>
            <a:schemeClr val="accent6">
              <a:lumMod val="40000"/>
              <a:lumOff val="60000"/>
            </a:schemeClr>
          </a:solidFill>
        </p:spPr>
        <p:txBody>
          <a:bodyPr/>
          <a:lstStyle/>
          <a:p>
            <a:r>
              <a:rPr lang="en-IN" dirty="0"/>
              <a:t>Young Generation – Where objects are born</a:t>
            </a:r>
            <a:endParaRPr lang="en-US" dirty="0"/>
          </a:p>
        </p:txBody>
      </p:sp>
      <p:sp>
        <p:nvSpPr>
          <p:cNvPr id="3" name="Content Placeholder 2">
            <a:extLst>
              <a:ext uri="{FF2B5EF4-FFF2-40B4-BE49-F238E27FC236}">
                <a16:creationId xmlns:a16="http://schemas.microsoft.com/office/drawing/2014/main" id="{E51B81E9-C803-3832-1BB5-55F00037436B}"/>
              </a:ext>
            </a:extLst>
          </p:cNvPr>
          <p:cNvSpPr>
            <a:spLocks noGrp="1"/>
          </p:cNvSpPr>
          <p:nvPr>
            <p:ph sz="half" idx="1"/>
          </p:nvPr>
        </p:nvSpPr>
        <p:spPr/>
        <p:txBody>
          <a:bodyPr>
            <a:normAutofit/>
          </a:bodyPr>
          <a:lstStyle/>
          <a:p>
            <a:r>
              <a:rPr lang="en-IN" sz="2400" dirty="0"/>
              <a:t>Purpose</a:t>
            </a:r>
          </a:p>
          <a:p>
            <a:pPr lvl="1"/>
            <a:r>
              <a:rPr lang="en-IN" sz="2000" dirty="0"/>
              <a:t>Handle newly created objects</a:t>
            </a:r>
          </a:p>
          <a:p>
            <a:pPr lvl="1"/>
            <a:r>
              <a:rPr lang="en-IN" sz="2000" dirty="0"/>
              <a:t>Optimized for fast allocation &amp; quick cleanup</a:t>
            </a:r>
          </a:p>
          <a:p>
            <a:pPr lvl="1"/>
            <a:r>
              <a:rPr lang="en-IN" sz="2000" dirty="0"/>
              <a:t>Contains</a:t>
            </a:r>
          </a:p>
          <a:p>
            <a:pPr lvl="2"/>
            <a:r>
              <a:rPr lang="en-IN" sz="1800" dirty="0"/>
              <a:t>Eden</a:t>
            </a:r>
          </a:p>
          <a:p>
            <a:pPr lvl="2"/>
            <a:r>
              <a:rPr lang="en-IN" sz="1800" dirty="0"/>
              <a:t>Survivor S0</a:t>
            </a:r>
          </a:p>
          <a:p>
            <a:pPr lvl="2"/>
            <a:r>
              <a:rPr lang="en-IN" sz="1800" dirty="0"/>
              <a:t>Survivor S1</a:t>
            </a:r>
          </a:p>
          <a:p>
            <a:r>
              <a:rPr lang="en-IN" sz="2400" dirty="0"/>
              <a:t>Most objects in Java die quickly, so JVM keeps them in Young Gen for fast cleanup </a:t>
            </a:r>
            <a:endParaRPr lang="en-US" sz="2400" dirty="0"/>
          </a:p>
        </p:txBody>
      </p:sp>
      <p:pic>
        <p:nvPicPr>
          <p:cNvPr id="7" name="Content Placeholder 6">
            <a:extLst>
              <a:ext uri="{FF2B5EF4-FFF2-40B4-BE49-F238E27FC236}">
                <a16:creationId xmlns:a16="http://schemas.microsoft.com/office/drawing/2014/main" id="{6A5EB21A-9580-FDB4-906E-FFC470A1946D}"/>
              </a:ext>
            </a:extLst>
          </p:cNvPr>
          <p:cNvPicPr>
            <a:picLocks noGrp="1" noChangeAspect="1"/>
          </p:cNvPicPr>
          <p:nvPr>
            <p:ph sz="half" idx="2"/>
          </p:nvPr>
        </p:nvPicPr>
        <p:blipFill>
          <a:blip r:embed="rId2"/>
          <a:stretch>
            <a:fillRect/>
          </a:stretch>
        </p:blipFill>
        <p:spPr>
          <a:xfrm>
            <a:off x="6096000" y="2084859"/>
            <a:ext cx="5992152" cy="3832870"/>
          </a:xfrm>
          <a:prstGeom prst="rect">
            <a:avLst/>
          </a:prstGeom>
        </p:spPr>
      </p:pic>
    </p:spTree>
    <p:extLst>
      <p:ext uri="{BB962C8B-B14F-4D97-AF65-F5344CB8AC3E}">
        <p14:creationId xmlns:p14="http://schemas.microsoft.com/office/powerpoint/2010/main" val="36565996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7A47FF-32BC-4B68-A169-9494935FD858}"/>
              </a:ext>
            </a:extLst>
          </p:cNvPr>
          <p:cNvSpPr>
            <a:spLocks noGrp="1"/>
          </p:cNvSpPr>
          <p:nvPr>
            <p:ph type="title"/>
          </p:nvPr>
        </p:nvSpPr>
        <p:spPr/>
        <p:txBody>
          <a:bodyPr/>
          <a:lstStyle/>
          <a:p>
            <a:r>
              <a:rPr lang="en-IN" dirty="0"/>
              <a:t>Eden Space (Object Birthplace)</a:t>
            </a:r>
            <a:endParaRPr lang="en-US" dirty="0"/>
          </a:p>
        </p:txBody>
      </p:sp>
      <p:sp>
        <p:nvSpPr>
          <p:cNvPr id="3" name="Content Placeholder 2">
            <a:extLst>
              <a:ext uri="{FF2B5EF4-FFF2-40B4-BE49-F238E27FC236}">
                <a16:creationId xmlns:a16="http://schemas.microsoft.com/office/drawing/2014/main" id="{7B00FAA0-E46B-5B4F-D83C-6D24BCE07B80}"/>
              </a:ext>
            </a:extLst>
          </p:cNvPr>
          <p:cNvSpPr>
            <a:spLocks noGrp="1"/>
          </p:cNvSpPr>
          <p:nvPr>
            <p:ph sz="half" idx="1"/>
          </p:nvPr>
        </p:nvSpPr>
        <p:spPr/>
        <p:txBody>
          <a:bodyPr>
            <a:normAutofit lnSpcReduction="10000"/>
          </a:bodyPr>
          <a:lstStyle/>
          <a:p>
            <a:r>
              <a:rPr lang="en-IN" dirty="0"/>
              <a:t>Purpose</a:t>
            </a:r>
          </a:p>
          <a:p>
            <a:pPr lvl="1"/>
            <a:r>
              <a:rPr lang="en-IN" dirty="0"/>
              <a:t>All new objects are created here</a:t>
            </a:r>
          </a:p>
          <a:p>
            <a:pPr lvl="1"/>
            <a:r>
              <a:rPr lang="en-IN" dirty="0"/>
              <a:t>Every object you create using new goes into Eden first</a:t>
            </a:r>
          </a:p>
          <a:p>
            <a:r>
              <a:rPr lang="en-IN" dirty="0"/>
              <a:t>Behaviour</a:t>
            </a:r>
          </a:p>
          <a:p>
            <a:pPr lvl="1"/>
            <a:r>
              <a:rPr lang="en-IN" dirty="0"/>
              <a:t>Fills up quickly</a:t>
            </a:r>
          </a:p>
          <a:p>
            <a:pPr lvl="1"/>
            <a:r>
              <a:rPr lang="en-IN" dirty="0"/>
              <a:t>When full – Minor GC triggered</a:t>
            </a:r>
          </a:p>
          <a:p>
            <a:r>
              <a:rPr lang="en-IN" dirty="0"/>
              <a:t>What happens During GC ?</a:t>
            </a:r>
          </a:p>
          <a:p>
            <a:pPr marL="914400" lvl="1" indent="-457200">
              <a:buFont typeface="+mj-lt"/>
              <a:buAutoNum type="arabicPeriod"/>
            </a:pPr>
            <a:r>
              <a:rPr lang="en-US" dirty="0"/>
              <a:t>Unused objects – removed</a:t>
            </a:r>
          </a:p>
          <a:p>
            <a:pPr marL="914400" lvl="1" indent="-457200">
              <a:buFont typeface="+mj-lt"/>
              <a:buAutoNum type="arabicPeriod"/>
            </a:pPr>
            <a:r>
              <a:rPr lang="en-US" dirty="0"/>
              <a:t>Surviving objects – moved to Survivor</a:t>
            </a:r>
          </a:p>
        </p:txBody>
      </p:sp>
      <p:pic>
        <p:nvPicPr>
          <p:cNvPr id="6" name="Content Placeholder 5">
            <a:extLst>
              <a:ext uri="{FF2B5EF4-FFF2-40B4-BE49-F238E27FC236}">
                <a16:creationId xmlns:a16="http://schemas.microsoft.com/office/drawing/2014/main" id="{769F7288-D0D6-34F2-546B-75AFAA5AB778}"/>
              </a:ext>
            </a:extLst>
          </p:cNvPr>
          <p:cNvPicPr>
            <a:picLocks noGrp="1" noChangeAspect="1"/>
          </p:cNvPicPr>
          <p:nvPr>
            <p:ph sz="half" idx="2"/>
          </p:nvPr>
        </p:nvPicPr>
        <p:blipFill>
          <a:blip r:embed="rId2"/>
          <a:stretch>
            <a:fillRect/>
          </a:stretch>
        </p:blipFill>
        <p:spPr>
          <a:xfrm>
            <a:off x="7035751" y="1825625"/>
            <a:ext cx="3454497" cy="4351338"/>
          </a:xfrm>
          <a:prstGeom prst="rect">
            <a:avLst/>
          </a:prstGeom>
        </p:spPr>
      </p:pic>
    </p:spTree>
    <p:extLst>
      <p:ext uri="{BB962C8B-B14F-4D97-AF65-F5344CB8AC3E}">
        <p14:creationId xmlns:p14="http://schemas.microsoft.com/office/powerpoint/2010/main" val="37904658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AB9C2-4651-925D-C312-301A6566476B}"/>
              </a:ext>
            </a:extLst>
          </p:cNvPr>
          <p:cNvSpPr>
            <a:spLocks noGrp="1"/>
          </p:cNvSpPr>
          <p:nvPr>
            <p:ph type="title"/>
          </p:nvPr>
        </p:nvSpPr>
        <p:spPr/>
        <p:txBody>
          <a:bodyPr/>
          <a:lstStyle/>
          <a:p>
            <a:r>
              <a:rPr lang="en-IN" dirty="0"/>
              <a:t>Survivor Spaces (S0 &amp; S1)</a:t>
            </a:r>
            <a:endParaRPr lang="en-US" dirty="0"/>
          </a:p>
        </p:txBody>
      </p:sp>
      <p:sp>
        <p:nvSpPr>
          <p:cNvPr id="3" name="Content Placeholder 2">
            <a:extLst>
              <a:ext uri="{FF2B5EF4-FFF2-40B4-BE49-F238E27FC236}">
                <a16:creationId xmlns:a16="http://schemas.microsoft.com/office/drawing/2014/main" id="{A440EB8E-10AA-72FC-B947-978806447D36}"/>
              </a:ext>
            </a:extLst>
          </p:cNvPr>
          <p:cNvSpPr>
            <a:spLocks noGrp="1"/>
          </p:cNvSpPr>
          <p:nvPr>
            <p:ph sz="half" idx="1"/>
          </p:nvPr>
        </p:nvSpPr>
        <p:spPr/>
        <p:txBody>
          <a:bodyPr/>
          <a:lstStyle/>
          <a:p>
            <a:r>
              <a:rPr lang="en-IN" dirty="0"/>
              <a:t>Purpose</a:t>
            </a:r>
          </a:p>
          <a:p>
            <a:pPr lvl="1"/>
            <a:r>
              <a:rPr lang="en-IN" dirty="0"/>
              <a:t>Some objects that survive Eden GC</a:t>
            </a:r>
          </a:p>
          <a:p>
            <a:pPr lvl="1"/>
            <a:r>
              <a:rPr lang="en-IN" dirty="0"/>
              <a:t>Objects bounce between S0 and S1 until JVM decides they are long-lived.</a:t>
            </a:r>
          </a:p>
          <a:p>
            <a:pPr lvl="1"/>
            <a:r>
              <a:rPr lang="en-IN" dirty="0"/>
              <a:t>Survivor spaces help JVM decide which objects are temporary and </a:t>
            </a:r>
          </a:p>
          <a:p>
            <a:r>
              <a:rPr lang="en-IN" dirty="0"/>
              <a:t>Aging Concept</a:t>
            </a:r>
          </a:p>
          <a:p>
            <a:pPr lvl="1"/>
            <a:r>
              <a:rPr lang="en-IN" dirty="0"/>
              <a:t>Each GC – object age increases </a:t>
            </a:r>
          </a:p>
          <a:p>
            <a:pPr lvl="1"/>
            <a:r>
              <a:rPr lang="en-IN" dirty="0"/>
              <a:t>If age &gt; threshold – moves to Old Gen</a:t>
            </a:r>
            <a:endParaRPr lang="en-US" dirty="0"/>
          </a:p>
        </p:txBody>
      </p:sp>
      <p:pic>
        <p:nvPicPr>
          <p:cNvPr id="5" name="Content Placeholder 5">
            <a:extLst>
              <a:ext uri="{FF2B5EF4-FFF2-40B4-BE49-F238E27FC236}">
                <a16:creationId xmlns:a16="http://schemas.microsoft.com/office/drawing/2014/main" id="{15692BAB-3CDD-B9CB-2220-72A789E88336}"/>
              </a:ext>
            </a:extLst>
          </p:cNvPr>
          <p:cNvPicPr>
            <a:picLocks noGrp="1" noChangeAspect="1"/>
          </p:cNvPicPr>
          <p:nvPr>
            <p:ph sz="half" idx="2"/>
          </p:nvPr>
        </p:nvPicPr>
        <p:blipFill>
          <a:blip r:embed="rId2"/>
          <a:stretch>
            <a:fillRect/>
          </a:stretch>
        </p:blipFill>
        <p:spPr>
          <a:xfrm>
            <a:off x="7035751" y="1825625"/>
            <a:ext cx="3454497" cy="4351338"/>
          </a:xfrm>
          <a:prstGeom prst="rect">
            <a:avLst/>
          </a:prstGeom>
        </p:spPr>
      </p:pic>
    </p:spTree>
    <p:extLst>
      <p:ext uri="{BB962C8B-B14F-4D97-AF65-F5344CB8AC3E}">
        <p14:creationId xmlns:p14="http://schemas.microsoft.com/office/powerpoint/2010/main" val="2752511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A7E120-9BB4-FEE6-BC80-0D3A4807E8C9}"/>
              </a:ext>
            </a:extLst>
          </p:cNvPr>
          <p:cNvSpPr>
            <a:spLocks noGrp="1"/>
          </p:cNvSpPr>
          <p:nvPr>
            <p:ph type="title"/>
          </p:nvPr>
        </p:nvSpPr>
        <p:spPr/>
        <p:txBody>
          <a:bodyPr/>
          <a:lstStyle/>
          <a:p>
            <a:r>
              <a:rPr lang="en-IN" dirty="0"/>
              <a:t>Old Generation ( Long-lived objects )</a:t>
            </a:r>
            <a:endParaRPr lang="en-US" dirty="0"/>
          </a:p>
        </p:txBody>
      </p:sp>
      <p:sp>
        <p:nvSpPr>
          <p:cNvPr id="3" name="Content Placeholder 2">
            <a:extLst>
              <a:ext uri="{FF2B5EF4-FFF2-40B4-BE49-F238E27FC236}">
                <a16:creationId xmlns:a16="http://schemas.microsoft.com/office/drawing/2014/main" id="{2C3AD228-D41E-8AC0-910A-FE884F4E47DF}"/>
              </a:ext>
            </a:extLst>
          </p:cNvPr>
          <p:cNvSpPr>
            <a:spLocks noGrp="1"/>
          </p:cNvSpPr>
          <p:nvPr>
            <p:ph sz="half" idx="1"/>
          </p:nvPr>
        </p:nvSpPr>
        <p:spPr/>
        <p:txBody>
          <a:bodyPr>
            <a:normAutofit fontScale="92500" lnSpcReduction="20000"/>
          </a:bodyPr>
          <a:lstStyle/>
          <a:p>
            <a:r>
              <a:rPr lang="en-IN" dirty="0"/>
              <a:t>Purpose</a:t>
            </a:r>
          </a:p>
          <a:p>
            <a:pPr lvl="1"/>
            <a:r>
              <a:rPr lang="en-IN" dirty="0"/>
              <a:t>Store objects that survived long enough are promoted to Old Gen</a:t>
            </a:r>
          </a:p>
          <a:p>
            <a:r>
              <a:rPr lang="en-IN" dirty="0"/>
              <a:t>Behaviour</a:t>
            </a:r>
          </a:p>
          <a:p>
            <a:pPr lvl="1"/>
            <a:r>
              <a:rPr lang="en-IN" dirty="0"/>
              <a:t>Less frequent GC</a:t>
            </a:r>
          </a:p>
          <a:p>
            <a:pPr lvl="1"/>
            <a:r>
              <a:rPr lang="en-IN" dirty="0"/>
              <a:t>GC is slow and expensive</a:t>
            </a:r>
          </a:p>
          <a:p>
            <a:r>
              <a:rPr lang="en-IN" dirty="0"/>
              <a:t>Major GC / Full GC</a:t>
            </a:r>
          </a:p>
          <a:p>
            <a:pPr lvl="1"/>
            <a:r>
              <a:rPr lang="en-IN" dirty="0"/>
              <a:t>Triggered when Old Gen fills up</a:t>
            </a:r>
          </a:p>
          <a:p>
            <a:pPr lvl="1"/>
            <a:r>
              <a:rPr lang="en-IN" dirty="0"/>
              <a:t>Causes </a:t>
            </a:r>
          </a:p>
          <a:p>
            <a:pPr lvl="2"/>
            <a:r>
              <a:rPr lang="en-IN" dirty="0"/>
              <a:t>Long pauses</a:t>
            </a:r>
          </a:p>
          <a:p>
            <a:pPr lvl="2"/>
            <a:r>
              <a:rPr lang="en-IN" dirty="0"/>
              <a:t>Performance Issues</a:t>
            </a:r>
          </a:p>
          <a:p>
            <a:r>
              <a:rPr lang="en-IN" dirty="0"/>
              <a:t>Old Gen is where performance problem usually start</a:t>
            </a:r>
          </a:p>
        </p:txBody>
      </p:sp>
      <p:pic>
        <p:nvPicPr>
          <p:cNvPr id="5" name="Content Placeholder 5">
            <a:extLst>
              <a:ext uri="{FF2B5EF4-FFF2-40B4-BE49-F238E27FC236}">
                <a16:creationId xmlns:a16="http://schemas.microsoft.com/office/drawing/2014/main" id="{8A6C0EDD-F173-7AC9-3EBF-16CC17929E00}"/>
              </a:ext>
            </a:extLst>
          </p:cNvPr>
          <p:cNvPicPr>
            <a:picLocks noGrp="1" noChangeAspect="1"/>
          </p:cNvPicPr>
          <p:nvPr>
            <p:ph sz="half" idx="2"/>
          </p:nvPr>
        </p:nvPicPr>
        <p:blipFill>
          <a:blip r:embed="rId2"/>
          <a:stretch>
            <a:fillRect/>
          </a:stretch>
        </p:blipFill>
        <p:spPr>
          <a:xfrm>
            <a:off x="7035751" y="1825625"/>
            <a:ext cx="3454497" cy="4351338"/>
          </a:xfrm>
          <a:prstGeom prst="rect">
            <a:avLst/>
          </a:prstGeom>
        </p:spPr>
      </p:pic>
    </p:spTree>
    <p:extLst>
      <p:ext uri="{BB962C8B-B14F-4D97-AF65-F5344CB8AC3E}">
        <p14:creationId xmlns:p14="http://schemas.microsoft.com/office/powerpoint/2010/main" val="38075944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12DC3-362E-5F81-D2AF-AF81B05C5FCD}"/>
              </a:ext>
            </a:extLst>
          </p:cNvPr>
          <p:cNvSpPr>
            <a:spLocks noGrp="1"/>
          </p:cNvSpPr>
          <p:nvPr>
            <p:ph type="title"/>
          </p:nvPr>
        </p:nvSpPr>
        <p:spPr/>
        <p:txBody>
          <a:bodyPr/>
          <a:lstStyle/>
          <a:p>
            <a:r>
              <a:rPr lang="en-GB" dirty="0"/>
              <a:t>Object Creation Cost &amp; Escape Analysis</a:t>
            </a:r>
            <a:endParaRPr lang="en-US" dirty="0"/>
          </a:p>
        </p:txBody>
      </p:sp>
      <p:sp>
        <p:nvSpPr>
          <p:cNvPr id="3" name="Content Placeholder 2">
            <a:extLst>
              <a:ext uri="{FF2B5EF4-FFF2-40B4-BE49-F238E27FC236}">
                <a16:creationId xmlns:a16="http://schemas.microsoft.com/office/drawing/2014/main" id="{8F822363-3023-F384-E307-5D46570E7706}"/>
              </a:ext>
            </a:extLst>
          </p:cNvPr>
          <p:cNvSpPr>
            <a:spLocks noGrp="1"/>
          </p:cNvSpPr>
          <p:nvPr>
            <p:ph idx="1"/>
          </p:nvPr>
        </p:nvSpPr>
        <p:spPr/>
        <p:txBody>
          <a:bodyPr/>
          <a:lstStyle/>
          <a:p>
            <a:r>
              <a:rPr lang="en-GB" dirty="0"/>
              <a:t>Every object you create has a cost — not just memory, but CPU and GC overhead.</a:t>
            </a:r>
          </a:p>
          <a:p>
            <a:r>
              <a:rPr lang="en-GB" dirty="0"/>
              <a:t>What happens when you write</a:t>
            </a:r>
            <a:r>
              <a:rPr lang="en-US" dirty="0"/>
              <a:t> : new Object();</a:t>
            </a:r>
          </a:p>
          <a:p>
            <a:r>
              <a:rPr lang="en-US" dirty="0"/>
              <a:t>Behind the scenes:</a:t>
            </a:r>
          </a:p>
          <a:p>
            <a:pPr lvl="1"/>
            <a:r>
              <a:rPr lang="en-US" dirty="0"/>
              <a:t>Memory allocation is Eden</a:t>
            </a:r>
          </a:p>
          <a:p>
            <a:pPr lvl="1"/>
            <a:r>
              <a:rPr lang="en-US" dirty="0"/>
              <a:t>Object header initialization</a:t>
            </a:r>
          </a:p>
          <a:p>
            <a:pPr lvl="1"/>
            <a:r>
              <a:rPr lang="en-US" dirty="0"/>
              <a:t>Reference assignment</a:t>
            </a:r>
          </a:p>
          <a:p>
            <a:pPr lvl="1"/>
            <a:r>
              <a:rPr lang="en-US" dirty="0"/>
              <a:t>Later – GC has to clean it </a:t>
            </a:r>
          </a:p>
          <a:p>
            <a:r>
              <a:rPr lang="en-US" dirty="0"/>
              <a:t>Object creation is cheap, but cleaning them (GC ) is expensive.</a:t>
            </a:r>
            <a:endParaRPr lang="en-GB" dirty="0"/>
          </a:p>
        </p:txBody>
      </p:sp>
    </p:spTree>
    <p:extLst>
      <p:ext uri="{BB962C8B-B14F-4D97-AF65-F5344CB8AC3E}">
        <p14:creationId xmlns:p14="http://schemas.microsoft.com/office/powerpoint/2010/main" val="4203180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5A90E-37AC-3198-8CD4-8F0F6B279EDF}"/>
              </a:ext>
            </a:extLst>
          </p:cNvPr>
          <p:cNvSpPr>
            <a:spLocks noGrp="1"/>
          </p:cNvSpPr>
          <p:nvPr>
            <p:ph type="title"/>
          </p:nvPr>
        </p:nvSpPr>
        <p:spPr/>
        <p:txBody>
          <a:bodyPr/>
          <a:lstStyle/>
          <a:p>
            <a:r>
              <a:rPr lang="en-US" dirty="0"/>
              <a:t>Object Creation Impact</a:t>
            </a:r>
          </a:p>
        </p:txBody>
      </p:sp>
      <p:pic>
        <p:nvPicPr>
          <p:cNvPr id="7" name="Content Placeholder 6">
            <a:extLst>
              <a:ext uri="{FF2B5EF4-FFF2-40B4-BE49-F238E27FC236}">
                <a16:creationId xmlns:a16="http://schemas.microsoft.com/office/drawing/2014/main" id="{6D372FF3-0173-CF64-EC16-1C5D56FA3910}"/>
              </a:ext>
            </a:extLst>
          </p:cNvPr>
          <p:cNvPicPr>
            <a:picLocks noGrp="1" noChangeAspect="1"/>
          </p:cNvPicPr>
          <p:nvPr>
            <p:ph sz="half" idx="2"/>
          </p:nvPr>
        </p:nvPicPr>
        <p:blipFill>
          <a:blip r:embed="rId2"/>
          <a:stretch>
            <a:fillRect/>
          </a:stretch>
        </p:blipFill>
        <p:spPr>
          <a:xfrm>
            <a:off x="7824561" y="1690688"/>
            <a:ext cx="3428326" cy="4351338"/>
          </a:xfrm>
          <a:prstGeom prst="rect">
            <a:avLst/>
          </a:prstGeom>
        </p:spPr>
      </p:pic>
      <p:sp>
        <p:nvSpPr>
          <p:cNvPr id="5" name="TextBox 4">
            <a:extLst>
              <a:ext uri="{FF2B5EF4-FFF2-40B4-BE49-F238E27FC236}">
                <a16:creationId xmlns:a16="http://schemas.microsoft.com/office/drawing/2014/main" id="{AD903B5D-3ABC-8E79-4E32-D3B323763CC5}"/>
              </a:ext>
            </a:extLst>
          </p:cNvPr>
          <p:cNvSpPr txBox="1"/>
          <p:nvPr/>
        </p:nvSpPr>
        <p:spPr>
          <a:xfrm>
            <a:off x="336835" y="1867803"/>
            <a:ext cx="5682966" cy="1815882"/>
          </a:xfrm>
          <a:prstGeom prst="rect">
            <a:avLst/>
          </a:prstGeom>
          <a:noFill/>
          <a:ln>
            <a:solidFill>
              <a:srgbClr val="FFFF00"/>
            </a:solidFill>
          </a:ln>
        </p:spPr>
        <p:txBody>
          <a:bodyPr wrap="none" rtlCol="0">
            <a:spAutoFit/>
          </a:bodyPr>
          <a:lstStyle/>
          <a:p>
            <a:r>
              <a:rPr lang="en-GB" sz="1600" dirty="0">
                <a:latin typeface="Consolas" panose="020B0609020204030204" pitchFamily="49" charset="0"/>
              </a:rPr>
              <a:t>public class </a:t>
            </a:r>
            <a:r>
              <a:rPr lang="en-GB" sz="1600" dirty="0" err="1">
                <a:latin typeface="Consolas" panose="020B0609020204030204" pitchFamily="49" charset="0"/>
              </a:rPr>
              <a:t>ObjectCreationDemo</a:t>
            </a:r>
            <a:r>
              <a:rPr lang="en-GB" sz="1600" dirty="0">
                <a:latin typeface="Consolas" panose="020B0609020204030204" pitchFamily="49" charset="0"/>
              </a:rPr>
              <a:t> {</a:t>
            </a:r>
          </a:p>
          <a:p>
            <a:r>
              <a:rPr lang="en-GB" sz="1600" dirty="0">
                <a:latin typeface="Consolas" panose="020B0609020204030204" pitchFamily="49" charset="0"/>
              </a:rPr>
              <a:t>    public static void main(String[] </a:t>
            </a:r>
            <a:r>
              <a:rPr lang="en-GB" sz="1600" dirty="0" err="1">
                <a:latin typeface="Consolas" panose="020B0609020204030204" pitchFamily="49" charset="0"/>
              </a:rPr>
              <a:t>args</a:t>
            </a:r>
            <a:r>
              <a:rPr lang="en-GB" sz="1600" dirty="0">
                <a:latin typeface="Consolas" panose="020B0609020204030204" pitchFamily="49" charset="0"/>
              </a:rPr>
              <a:t>) {</a:t>
            </a:r>
          </a:p>
          <a:p>
            <a:r>
              <a:rPr lang="en-GB" sz="1600" dirty="0">
                <a:latin typeface="Consolas" panose="020B0609020204030204" pitchFamily="49" charset="0"/>
              </a:rPr>
              <a:t>        while (true) {</a:t>
            </a:r>
          </a:p>
          <a:p>
            <a:r>
              <a:rPr lang="en-GB" sz="1600" dirty="0">
                <a:latin typeface="Consolas" panose="020B0609020204030204" pitchFamily="49" charset="0"/>
              </a:rPr>
              <a:t>            String s = new String("performance");</a:t>
            </a:r>
          </a:p>
          <a:p>
            <a:r>
              <a:rPr lang="en-GB" sz="1600" dirty="0">
                <a:latin typeface="Consolas" panose="020B0609020204030204" pitchFamily="49" charset="0"/>
              </a:rPr>
              <a:t>        }</a:t>
            </a:r>
          </a:p>
          <a:p>
            <a:r>
              <a:rPr lang="en-GB" sz="1600" dirty="0">
                <a:latin typeface="Consolas" panose="020B0609020204030204" pitchFamily="49" charset="0"/>
              </a:rPr>
              <a:t>    }</a:t>
            </a:r>
          </a:p>
          <a:p>
            <a:r>
              <a:rPr lang="en-GB" sz="1600" dirty="0">
                <a:latin typeface="Consolas" panose="020B0609020204030204" pitchFamily="49" charset="0"/>
              </a:rPr>
              <a:t>}</a:t>
            </a:r>
            <a:endParaRPr lang="en-US" sz="1600" dirty="0">
              <a:latin typeface="Consolas" panose="020B0609020204030204" pitchFamily="49" charset="0"/>
            </a:endParaRPr>
          </a:p>
        </p:txBody>
      </p:sp>
      <p:sp>
        <p:nvSpPr>
          <p:cNvPr id="8" name="TextBox 7">
            <a:extLst>
              <a:ext uri="{FF2B5EF4-FFF2-40B4-BE49-F238E27FC236}">
                <a16:creationId xmlns:a16="http://schemas.microsoft.com/office/drawing/2014/main" id="{D961DF56-20FA-1521-2486-4C5ABA226C34}"/>
              </a:ext>
            </a:extLst>
          </p:cNvPr>
          <p:cNvSpPr txBox="1"/>
          <p:nvPr/>
        </p:nvSpPr>
        <p:spPr>
          <a:xfrm>
            <a:off x="332795" y="4064963"/>
            <a:ext cx="2845523" cy="1200329"/>
          </a:xfrm>
          <a:prstGeom prst="rect">
            <a:avLst/>
          </a:prstGeom>
          <a:noFill/>
        </p:spPr>
        <p:txBody>
          <a:bodyPr wrap="none" rtlCol="0">
            <a:spAutoFit/>
          </a:bodyPr>
          <a:lstStyle/>
          <a:p>
            <a:pPr marL="285750" indent="-285750">
              <a:buFont typeface="Arial" panose="020B0604020202020204" pitchFamily="34" charset="0"/>
              <a:buChar char="•"/>
            </a:pPr>
            <a:r>
              <a:rPr lang="en-IN" dirty="0"/>
              <a:t>Observation in </a:t>
            </a:r>
            <a:r>
              <a:rPr lang="en-IN" dirty="0" err="1"/>
              <a:t>VisualVM</a:t>
            </a:r>
            <a:endParaRPr lang="en-IN" dirty="0"/>
          </a:p>
          <a:p>
            <a:pPr marL="742950" lvl="1" indent="-285750">
              <a:buFont typeface="Arial" panose="020B0604020202020204" pitchFamily="34" charset="0"/>
              <a:buChar char="•"/>
            </a:pPr>
            <a:r>
              <a:rPr lang="en-IN" dirty="0"/>
              <a:t>Eden fills quickly</a:t>
            </a:r>
          </a:p>
          <a:p>
            <a:pPr marL="742950" lvl="1" indent="-285750">
              <a:buFont typeface="Arial" panose="020B0604020202020204" pitchFamily="34" charset="0"/>
              <a:buChar char="•"/>
            </a:pPr>
            <a:r>
              <a:rPr lang="en-IN" dirty="0"/>
              <a:t>Frequent Minor GC</a:t>
            </a:r>
          </a:p>
          <a:p>
            <a:pPr marL="742950" lvl="1" indent="-285750">
              <a:buFont typeface="Arial" panose="020B0604020202020204" pitchFamily="34" charset="0"/>
              <a:buChar char="•"/>
            </a:pPr>
            <a:r>
              <a:rPr lang="en-IN" dirty="0"/>
              <a:t>CPU usage increases</a:t>
            </a:r>
            <a:endParaRPr lang="en-US" dirty="0"/>
          </a:p>
        </p:txBody>
      </p:sp>
    </p:spTree>
    <p:extLst>
      <p:ext uri="{BB962C8B-B14F-4D97-AF65-F5344CB8AC3E}">
        <p14:creationId xmlns:p14="http://schemas.microsoft.com/office/powerpoint/2010/main" val="4516864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p:bldLst>
  </p:timing>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C26EE-5456-7CD1-F58A-86A4319ABF60}"/>
              </a:ext>
            </a:extLst>
          </p:cNvPr>
          <p:cNvSpPr>
            <a:spLocks noGrp="1"/>
          </p:cNvSpPr>
          <p:nvPr>
            <p:ph type="title"/>
          </p:nvPr>
        </p:nvSpPr>
        <p:spPr/>
        <p:txBody>
          <a:bodyPr/>
          <a:lstStyle/>
          <a:p>
            <a:r>
              <a:rPr lang="en-IN" dirty="0"/>
              <a:t>Escape Analysis</a:t>
            </a:r>
            <a:endParaRPr lang="en-US" dirty="0"/>
          </a:p>
        </p:txBody>
      </p:sp>
      <p:sp>
        <p:nvSpPr>
          <p:cNvPr id="6" name="Text Placeholder 5">
            <a:extLst>
              <a:ext uri="{FF2B5EF4-FFF2-40B4-BE49-F238E27FC236}">
                <a16:creationId xmlns:a16="http://schemas.microsoft.com/office/drawing/2014/main" id="{A10A330C-983F-41DB-2997-ADED557DAB8A}"/>
              </a:ext>
            </a:extLst>
          </p:cNvPr>
          <p:cNvSpPr>
            <a:spLocks noGrp="1"/>
          </p:cNvSpPr>
          <p:nvPr>
            <p:ph type="body" idx="1"/>
          </p:nvPr>
        </p:nvSpPr>
        <p:spPr/>
        <p:txBody>
          <a:bodyPr/>
          <a:lstStyle/>
          <a:p>
            <a:r>
              <a:rPr lang="en-GB" dirty="0"/>
              <a:t>Case 1: Object Escapes (More GC)</a:t>
            </a:r>
            <a:endParaRPr lang="en-US" dirty="0"/>
          </a:p>
        </p:txBody>
      </p:sp>
      <p:sp>
        <p:nvSpPr>
          <p:cNvPr id="8" name="Text Placeholder 7">
            <a:extLst>
              <a:ext uri="{FF2B5EF4-FFF2-40B4-BE49-F238E27FC236}">
                <a16:creationId xmlns:a16="http://schemas.microsoft.com/office/drawing/2014/main" id="{C61A7E34-393A-98EF-0C2C-27AE7A0B7292}"/>
              </a:ext>
            </a:extLst>
          </p:cNvPr>
          <p:cNvSpPr>
            <a:spLocks noGrp="1"/>
          </p:cNvSpPr>
          <p:nvPr>
            <p:ph type="body" sz="quarter" idx="3"/>
          </p:nvPr>
        </p:nvSpPr>
        <p:spPr/>
        <p:txBody>
          <a:bodyPr/>
          <a:lstStyle/>
          <a:p>
            <a:r>
              <a:rPr lang="en-US" dirty="0"/>
              <a:t>Case 2: No Escape (Optimizable)</a:t>
            </a:r>
          </a:p>
        </p:txBody>
      </p:sp>
      <p:sp>
        <p:nvSpPr>
          <p:cNvPr id="11" name="TextBox 10">
            <a:extLst>
              <a:ext uri="{FF2B5EF4-FFF2-40B4-BE49-F238E27FC236}">
                <a16:creationId xmlns:a16="http://schemas.microsoft.com/office/drawing/2014/main" id="{304C85F6-DA7E-BDB7-3667-AE04ED5A55C5}"/>
              </a:ext>
            </a:extLst>
          </p:cNvPr>
          <p:cNvSpPr txBox="1"/>
          <p:nvPr/>
        </p:nvSpPr>
        <p:spPr>
          <a:xfrm>
            <a:off x="371043" y="2834898"/>
            <a:ext cx="5801157" cy="3354765"/>
          </a:xfrm>
          <a:prstGeom prst="rect">
            <a:avLst/>
          </a:prstGeom>
          <a:noFill/>
          <a:ln>
            <a:solidFill>
              <a:srgbClr val="FFFF00"/>
            </a:solidFill>
          </a:ln>
        </p:spPr>
        <p:txBody>
          <a:bodyPr wrap="square">
            <a:spAutoFit/>
          </a:bodyPr>
          <a:lstStyle/>
          <a:p>
            <a:r>
              <a:rPr lang="en-US" sz="1600" dirty="0">
                <a:latin typeface="Consolas" panose="020B0609020204030204" pitchFamily="49" charset="0"/>
              </a:rPr>
              <a:t>public class Escape {</a:t>
            </a:r>
          </a:p>
          <a:p>
            <a:r>
              <a:rPr lang="en-US" sz="1600" dirty="0">
                <a:latin typeface="Consolas" panose="020B0609020204030204" pitchFamily="49" charset="0"/>
              </a:rPr>
              <a:t>    static Object obj;</a:t>
            </a:r>
          </a:p>
          <a:p>
            <a:endParaRPr lang="en-US" sz="1600" dirty="0">
              <a:latin typeface="Consolas" panose="020B0609020204030204" pitchFamily="49" charset="0"/>
            </a:endParaRPr>
          </a:p>
          <a:p>
            <a:r>
              <a:rPr lang="en-US" sz="1600" dirty="0">
                <a:latin typeface="Consolas" panose="020B0609020204030204" pitchFamily="49" charset="0"/>
              </a:rPr>
              <a:t>    public static void main(String[] </a:t>
            </a:r>
            <a:r>
              <a:rPr lang="en-US" sz="1600" dirty="0" err="1">
                <a:latin typeface="Consolas" panose="020B0609020204030204" pitchFamily="49" charset="0"/>
              </a:rPr>
              <a:t>args</a:t>
            </a:r>
            <a:r>
              <a:rPr lang="en-US" sz="1600" dirty="0">
                <a:latin typeface="Consolas" panose="020B0609020204030204" pitchFamily="49" charset="0"/>
              </a:rPr>
              <a:t>) {</a:t>
            </a:r>
          </a:p>
          <a:p>
            <a:r>
              <a:rPr lang="en-US" sz="1600" dirty="0">
                <a:latin typeface="Consolas" panose="020B0609020204030204" pitchFamily="49" charset="0"/>
              </a:rPr>
              <a:t>        while (true) {</a:t>
            </a:r>
          </a:p>
          <a:p>
            <a:r>
              <a:rPr lang="en-US" sz="1600" dirty="0">
                <a:latin typeface="Consolas" panose="020B0609020204030204" pitchFamily="49" charset="0"/>
              </a:rPr>
              <a:t>            create();</a:t>
            </a:r>
          </a:p>
          <a:p>
            <a:r>
              <a:rPr lang="en-US" sz="1600" dirty="0">
                <a:latin typeface="Consolas" panose="020B0609020204030204" pitchFamily="49" charset="0"/>
              </a:rPr>
              <a:t>        }</a:t>
            </a:r>
          </a:p>
          <a:p>
            <a:r>
              <a:rPr lang="en-US" sz="1600" dirty="0">
                <a:latin typeface="Consolas" panose="020B0609020204030204" pitchFamily="49" charset="0"/>
              </a:rPr>
              <a:t>    }</a:t>
            </a:r>
          </a:p>
          <a:p>
            <a:endParaRPr lang="en-US" sz="1600" dirty="0">
              <a:latin typeface="Consolas" panose="020B0609020204030204" pitchFamily="49" charset="0"/>
            </a:endParaRPr>
          </a:p>
          <a:p>
            <a:r>
              <a:rPr lang="en-US" sz="1600" dirty="0">
                <a:latin typeface="Consolas" panose="020B0609020204030204" pitchFamily="49" charset="0"/>
              </a:rPr>
              <a:t>    public static void create() {</a:t>
            </a:r>
          </a:p>
          <a:p>
            <a:r>
              <a:rPr lang="en-US" sz="1600" dirty="0">
                <a:latin typeface="Consolas" panose="020B0609020204030204" pitchFamily="49" charset="0"/>
              </a:rPr>
              <a:t>        obj = new Object(); // Escapes to global</a:t>
            </a:r>
          </a:p>
          <a:p>
            <a:r>
              <a:rPr lang="en-US" sz="1600" dirty="0">
                <a:latin typeface="Consolas" panose="020B0609020204030204" pitchFamily="49" charset="0"/>
              </a:rPr>
              <a:t>    }</a:t>
            </a:r>
          </a:p>
          <a:p>
            <a:r>
              <a:rPr lang="en-US" sz="1600" dirty="0">
                <a:latin typeface="Consolas" panose="020B0609020204030204" pitchFamily="49" charset="0"/>
              </a:rPr>
              <a:t>}</a:t>
            </a:r>
          </a:p>
        </p:txBody>
      </p:sp>
      <p:sp>
        <p:nvSpPr>
          <p:cNvPr id="12" name="TextBox 11">
            <a:extLst>
              <a:ext uri="{FF2B5EF4-FFF2-40B4-BE49-F238E27FC236}">
                <a16:creationId xmlns:a16="http://schemas.microsoft.com/office/drawing/2014/main" id="{2A1E010F-13D7-FF24-689C-D0992A10079B}"/>
              </a:ext>
            </a:extLst>
          </p:cNvPr>
          <p:cNvSpPr txBox="1"/>
          <p:nvPr/>
        </p:nvSpPr>
        <p:spPr>
          <a:xfrm>
            <a:off x="6173283" y="2834897"/>
            <a:ext cx="5801157" cy="2800767"/>
          </a:xfrm>
          <a:prstGeom prst="rect">
            <a:avLst/>
          </a:prstGeom>
          <a:noFill/>
          <a:ln>
            <a:solidFill>
              <a:srgbClr val="FFFF00"/>
            </a:solidFill>
          </a:ln>
        </p:spPr>
        <p:txBody>
          <a:bodyPr wrap="square">
            <a:spAutoFit/>
          </a:bodyPr>
          <a:lstStyle/>
          <a:p>
            <a:r>
              <a:rPr lang="en-US" sz="1600" dirty="0">
                <a:latin typeface="Consolas" panose="020B0609020204030204" pitchFamily="49" charset="0"/>
              </a:rPr>
              <a:t>public class Escape {</a:t>
            </a:r>
          </a:p>
          <a:p>
            <a:r>
              <a:rPr lang="en-US" sz="1600" dirty="0">
                <a:latin typeface="Consolas" panose="020B0609020204030204" pitchFamily="49" charset="0"/>
              </a:rPr>
              <a:t>    public static void main(String[] </a:t>
            </a:r>
            <a:r>
              <a:rPr lang="en-US" sz="1600" dirty="0" err="1">
                <a:latin typeface="Consolas" panose="020B0609020204030204" pitchFamily="49" charset="0"/>
              </a:rPr>
              <a:t>args</a:t>
            </a:r>
            <a:r>
              <a:rPr lang="en-US" sz="1600" dirty="0">
                <a:latin typeface="Consolas" panose="020B0609020204030204" pitchFamily="49" charset="0"/>
              </a:rPr>
              <a:t>) {</a:t>
            </a:r>
          </a:p>
          <a:p>
            <a:r>
              <a:rPr lang="en-US" sz="1600" dirty="0">
                <a:latin typeface="Consolas" panose="020B0609020204030204" pitchFamily="49" charset="0"/>
              </a:rPr>
              <a:t>        while (true) {</a:t>
            </a:r>
          </a:p>
          <a:p>
            <a:r>
              <a:rPr lang="en-US" sz="1600" dirty="0">
                <a:latin typeface="Consolas" panose="020B0609020204030204" pitchFamily="49" charset="0"/>
              </a:rPr>
              <a:t>            create();</a:t>
            </a:r>
          </a:p>
          <a:p>
            <a:r>
              <a:rPr lang="en-US" sz="1600" dirty="0">
                <a:latin typeface="Consolas" panose="020B0609020204030204" pitchFamily="49" charset="0"/>
              </a:rPr>
              <a:t>        }</a:t>
            </a:r>
          </a:p>
          <a:p>
            <a:r>
              <a:rPr lang="en-US" sz="1600" dirty="0">
                <a:latin typeface="Consolas" panose="020B0609020204030204" pitchFamily="49" charset="0"/>
              </a:rPr>
              <a:t>    }</a:t>
            </a:r>
          </a:p>
          <a:p>
            <a:endParaRPr lang="en-US" sz="1600" dirty="0">
              <a:latin typeface="Consolas" panose="020B0609020204030204" pitchFamily="49" charset="0"/>
            </a:endParaRPr>
          </a:p>
          <a:p>
            <a:r>
              <a:rPr lang="en-US" sz="1600" dirty="0">
                <a:latin typeface="Consolas" panose="020B0609020204030204" pitchFamily="49" charset="0"/>
              </a:rPr>
              <a:t>    public static void create() {</a:t>
            </a:r>
          </a:p>
          <a:p>
            <a:r>
              <a:rPr lang="en-US" sz="1600" dirty="0">
                <a:latin typeface="Consolas" panose="020B0609020204030204" pitchFamily="49" charset="0"/>
              </a:rPr>
              <a:t>        Object obj = new Object(); // No escape</a:t>
            </a:r>
          </a:p>
          <a:p>
            <a:r>
              <a:rPr lang="en-US" sz="1600" dirty="0">
                <a:latin typeface="Consolas" panose="020B0609020204030204" pitchFamily="49" charset="0"/>
              </a:rPr>
              <a:t>    }</a:t>
            </a:r>
          </a:p>
          <a:p>
            <a:r>
              <a:rPr lang="en-US" sz="1600" dirty="0">
                <a:latin typeface="Consolas" panose="020B0609020204030204" pitchFamily="49" charset="0"/>
              </a:rPr>
              <a:t>}</a:t>
            </a:r>
          </a:p>
        </p:txBody>
      </p:sp>
    </p:spTree>
    <p:extLst>
      <p:ext uri="{BB962C8B-B14F-4D97-AF65-F5344CB8AC3E}">
        <p14:creationId xmlns:p14="http://schemas.microsoft.com/office/powerpoint/2010/main" val="3580601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bg/>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xEl>
                                              <p:pRg st="0" end="0"/>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xEl>
                                              <p:pRg st="1" end="1"/>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xEl>
                                              <p:pRg st="2" end="2"/>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xEl>
                                              <p:pRg st="3" end="3"/>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xEl>
                                              <p:pRg st="4" end="4"/>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2">
                                            <p:txEl>
                                              <p:pRg st="5" end="5"/>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
                                            <p:txEl>
                                              <p:pRg st="7" end="7"/>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2">
                                            <p:txEl>
                                              <p:pRg st="8" end="8"/>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2">
                                            <p:txEl>
                                              <p:pRg st="9" end="9"/>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8" grpId="0" build="p"/>
      <p:bldP spid="11" grpId="0" animBg="1"/>
      <p:bldP spid="12" grpId="0" build="allAtOnce" animBg="1"/>
    </p:bldLst>
  </p:timing>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F9D60CE-F085-1D1F-EA39-4FDDEE83D057}"/>
              </a:ext>
            </a:extLst>
          </p:cNvPr>
          <p:cNvSpPr>
            <a:spLocks noGrp="1"/>
          </p:cNvSpPr>
          <p:nvPr>
            <p:ph type="title"/>
          </p:nvPr>
        </p:nvSpPr>
        <p:spPr/>
        <p:txBody>
          <a:bodyPr/>
          <a:lstStyle/>
          <a:p>
            <a:r>
              <a:rPr lang="en-IN" dirty="0" err="1"/>
              <a:t>VisualVM</a:t>
            </a:r>
            <a:r>
              <a:rPr lang="en-IN" dirty="0"/>
              <a:t> observations</a:t>
            </a:r>
            <a:endParaRPr lang="en-US" dirty="0"/>
          </a:p>
        </p:txBody>
      </p:sp>
      <p:graphicFrame>
        <p:nvGraphicFramePr>
          <p:cNvPr id="9" name="Content Placeholder 8">
            <a:extLst>
              <a:ext uri="{FF2B5EF4-FFF2-40B4-BE49-F238E27FC236}">
                <a16:creationId xmlns:a16="http://schemas.microsoft.com/office/drawing/2014/main" id="{0729F572-0417-9C4D-DD37-A9721F4089EC}"/>
              </a:ext>
            </a:extLst>
          </p:cNvPr>
          <p:cNvGraphicFramePr>
            <a:graphicFrameLocks noGrp="1"/>
          </p:cNvGraphicFramePr>
          <p:nvPr>
            <p:ph idx="1"/>
            <p:extLst>
              <p:ext uri="{D42A27DB-BD31-4B8C-83A1-F6EECF244321}">
                <p14:modId xmlns:p14="http://schemas.microsoft.com/office/powerpoint/2010/main" val="1368485654"/>
              </p:ext>
            </p:extLst>
          </p:nvPr>
        </p:nvGraphicFramePr>
        <p:xfrm>
          <a:off x="838200" y="1825625"/>
          <a:ext cx="6309360" cy="1483360"/>
        </p:xfrm>
        <a:graphic>
          <a:graphicData uri="http://schemas.openxmlformats.org/drawingml/2006/table">
            <a:tbl>
              <a:tblPr firstRow="1" bandRow="1">
                <a:tableStyleId>{00A15C55-8517-42AA-B614-E9B94910E393}</a:tableStyleId>
              </a:tblPr>
              <a:tblGrid>
                <a:gridCol w="2103120">
                  <a:extLst>
                    <a:ext uri="{9D8B030D-6E8A-4147-A177-3AD203B41FA5}">
                      <a16:colId xmlns:a16="http://schemas.microsoft.com/office/drawing/2014/main" val="682473461"/>
                    </a:ext>
                  </a:extLst>
                </a:gridCol>
                <a:gridCol w="2103120">
                  <a:extLst>
                    <a:ext uri="{9D8B030D-6E8A-4147-A177-3AD203B41FA5}">
                      <a16:colId xmlns:a16="http://schemas.microsoft.com/office/drawing/2014/main" val="756273703"/>
                    </a:ext>
                  </a:extLst>
                </a:gridCol>
                <a:gridCol w="2103120">
                  <a:extLst>
                    <a:ext uri="{9D8B030D-6E8A-4147-A177-3AD203B41FA5}">
                      <a16:colId xmlns:a16="http://schemas.microsoft.com/office/drawing/2014/main" val="2627500832"/>
                    </a:ext>
                  </a:extLst>
                </a:gridCol>
              </a:tblGrid>
              <a:tr h="370840">
                <a:tc>
                  <a:txBody>
                    <a:bodyPr/>
                    <a:lstStyle/>
                    <a:p>
                      <a:pPr>
                        <a:buNone/>
                      </a:pPr>
                      <a:r>
                        <a:rPr lang="en-US" dirty="0"/>
                        <a:t>Behavior</a:t>
                      </a:r>
                    </a:p>
                  </a:txBody>
                  <a:tcPr anchor="ctr"/>
                </a:tc>
                <a:tc>
                  <a:txBody>
                    <a:bodyPr/>
                    <a:lstStyle/>
                    <a:p>
                      <a:pPr>
                        <a:buNone/>
                      </a:pPr>
                      <a:r>
                        <a:rPr lang="en-US"/>
                        <a:t>EscapeYes</a:t>
                      </a:r>
                    </a:p>
                  </a:txBody>
                  <a:tcPr anchor="ctr"/>
                </a:tc>
                <a:tc>
                  <a:txBody>
                    <a:bodyPr/>
                    <a:lstStyle/>
                    <a:p>
                      <a:pPr>
                        <a:buNone/>
                      </a:pPr>
                      <a:r>
                        <a:rPr lang="en-US"/>
                        <a:t>EscapeNo</a:t>
                      </a:r>
                    </a:p>
                  </a:txBody>
                  <a:tcPr anchor="ctr"/>
                </a:tc>
                <a:extLst>
                  <a:ext uri="{0D108BD9-81ED-4DB2-BD59-A6C34878D82A}">
                    <a16:rowId xmlns:a16="http://schemas.microsoft.com/office/drawing/2014/main" val="3999050413"/>
                  </a:ext>
                </a:extLst>
              </a:tr>
              <a:tr h="370840">
                <a:tc>
                  <a:txBody>
                    <a:bodyPr/>
                    <a:lstStyle/>
                    <a:p>
                      <a:pPr>
                        <a:buNone/>
                      </a:pPr>
                      <a:r>
                        <a:rPr lang="en-US"/>
                        <a:t>GC Activity</a:t>
                      </a:r>
                    </a:p>
                  </a:txBody>
                  <a:tcPr anchor="ctr"/>
                </a:tc>
                <a:tc>
                  <a:txBody>
                    <a:bodyPr/>
                    <a:lstStyle/>
                    <a:p>
                      <a:pPr>
                        <a:buNone/>
                      </a:pPr>
                      <a:r>
                        <a:rPr lang="en-US"/>
                        <a:t>Higher</a:t>
                      </a:r>
                    </a:p>
                  </a:txBody>
                  <a:tcPr anchor="ctr"/>
                </a:tc>
                <a:tc>
                  <a:txBody>
                    <a:bodyPr/>
                    <a:lstStyle/>
                    <a:p>
                      <a:pPr>
                        <a:buNone/>
                      </a:pPr>
                      <a:r>
                        <a:rPr lang="en-US"/>
                        <a:t>Lower</a:t>
                      </a:r>
                    </a:p>
                  </a:txBody>
                  <a:tcPr anchor="ctr"/>
                </a:tc>
                <a:extLst>
                  <a:ext uri="{0D108BD9-81ED-4DB2-BD59-A6C34878D82A}">
                    <a16:rowId xmlns:a16="http://schemas.microsoft.com/office/drawing/2014/main" val="4046252965"/>
                  </a:ext>
                </a:extLst>
              </a:tr>
              <a:tr h="370840">
                <a:tc>
                  <a:txBody>
                    <a:bodyPr/>
                    <a:lstStyle/>
                    <a:p>
                      <a:pPr>
                        <a:buNone/>
                      </a:pPr>
                      <a:r>
                        <a:rPr lang="en-US" dirty="0"/>
                        <a:t>Memory Pressure</a:t>
                      </a:r>
                    </a:p>
                  </a:txBody>
                  <a:tcPr anchor="ctr"/>
                </a:tc>
                <a:tc>
                  <a:txBody>
                    <a:bodyPr/>
                    <a:lstStyle/>
                    <a:p>
                      <a:pPr>
                        <a:buNone/>
                      </a:pPr>
                      <a:r>
                        <a:rPr lang="en-US"/>
                        <a:t>High</a:t>
                      </a:r>
                    </a:p>
                  </a:txBody>
                  <a:tcPr anchor="ctr"/>
                </a:tc>
                <a:tc>
                  <a:txBody>
                    <a:bodyPr/>
                    <a:lstStyle/>
                    <a:p>
                      <a:pPr>
                        <a:buNone/>
                      </a:pPr>
                      <a:r>
                        <a:rPr lang="en-US"/>
                        <a:t>Lower</a:t>
                      </a:r>
                    </a:p>
                  </a:txBody>
                  <a:tcPr anchor="ctr"/>
                </a:tc>
                <a:extLst>
                  <a:ext uri="{0D108BD9-81ED-4DB2-BD59-A6C34878D82A}">
                    <a16:rowId xmlns:a16="http://schemas.microsoft.com/office/drawing/2014/main" val="1160311580"/>
                  </a:ext>
                </a:extLst>
              </a:tr>
              <a:tr h="370840">
                <a:tc>
                  <a:txBody>
                    <a:bodyPr/>
                    <a:lstStyle/>
                    <a:p>
                      <a:pPr>
                        <a:buNone/>
                      </a:pPr>
                      <a:r>
                        <a:rPr lang="en-US"/>
                        <a:t>Optimization</a:t>
                      </a:r>
                    </a:p>
                  </a:txBody>
                  <a:tcPr anchor="ctr"/>
                </a:tc>
                <a:tc>
                  <a:txBody>
                    <a:bodyPr/>
                    <a:lstStyle/>
                    <a:p>
                      <a:pPr>
                        <a:buNone/>
                      </a:pPr>
                      <a:r>
                        <a:rPr lang="en-US"/>
                        <a:t>No</a:t>
                      </a:r>
                    </a:p>
                  </a:txBody>
                  <a:tcPr anchor="ctr"/>
                </a:tc>
                <a:tc>
                  <a:txBody>
                    <a:bodyPr/>
                    <a:lstStyle/>
                    <a:p>
                      <a:pPr>
                        <a:buNone/>
                      </a:pPr>
                      <a:r>
                        <a:rPr lang="en-US" dirty="0"/>
                        <a:t>Yes</a:t>
                      </a:r>
                    </a:p>
                  </a:txBody>
                  <a:tcPr anchor="ctr"/>
                </a:tc>
                <a:extLst>
                  <a:ext uri="{0D108BD9-81ED-4DB2-BD59-A6C34878D82A}">
                    <a16:rowId xmlns:a16="http://schemas.microsoft.com/office/drawing/2014/main" val="3652320484"/>
                  </a:ext>
                </a:extLst>
              </a:tr>
            </a:tbl>
          </a:graphicData>
        </a:graphic>
      </p:graphicFrame>
    </p:spTree>
    <p:extLst>
      <p:ext uri="{BB962C8B-B14F-4D97-AF65-F5344CB8AC3E}">
        <p14:creationId xmlns:p14="http://schemas.microsoft.com/office/powerpoint/2010/main" val="780420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DE82D-4AAC-72CF-E8C8-C9FFF13A8219}"/>
              </a:ext>
            </a:extLst>
          </p:cNvPr>
          <p:cNvSpPr>
            <a:spLocks noGrp="1"/>
          </p:cNvSpPr>
          <p:nvPr>
            <p:ph type="title"/>
          </p:nvPr>
        </p:nvSpPr>
        <p:spPr/>
        <p:txBody>
          <a:bodyPr/>
          <a:lstStyle/>
          <a:p>
            <a:r>
              <a:rPr lang="en-IN" dirty="0"/>
              <a:t>Reducing GC Pressure</a:t>
            </a:r>
            <a:endParaRPr lang="en-US" dirty="0"/>
          </a:p>
        </p:txBody>
      </p:sp>
      <p:sp>
        <p:nvSpPr>
          <p:cNvPr id="3" name="Content Placeholder 2">
            <a:extLst>
              <a:ext uri="{FF2B5EF4-FFF2-40B4-BE49-F238E27FC236}">
                <a16:creationId xmlns:a16="http://schemas.microsoft.com/office/drawing/2014/main" id="{440A1352-C7CA-0636-8521-2C34C486EEDE}"/>
              </a:ext>
            </a:extLst>
          </p:cNvPr>
          <p:cNvSpPr>
            <a:spLocks noGrp="1"/>
          </p:cNvSpPr>
          <p:nvPr>
            <p:ph idx="1"/>
          </p:nvPr>
        </p:nvSpPr>
        <p:spPr/>
        <p:txBody>
          <a:bodyPr/>
          <a:lstStyle/>
          <a:p>
            <a:r>
              <a:rPr lang="en-IN" dirty="0"/>
              <a:t>GC problem are actually object creation problems</a:t>
            </a:r>
          </a:p>
          <a:p>
            <a:pPr marL="914400" lvl="1" indent="-457200">
              <a:buFont typeface="+mj-lt"/>
              <a:buAutoNum type="arabicPeriod"/>
            </a:pPr>
            <a:r>
              <a:rPr lang="en-IN" dirty="0"/>
              <a:t>Avoiding temporary object creation</a:t>
            </a:r>
          </a:p>
          <a:p>
            <a:pPr marL="914400" lvl="1" indent="-457200">
              <a:buFont typeface="+mj-lt"/>
              <a:buAutoNum type="arabicPeriod"/>
            </a:pPr>
            <a:r>
              <a:rPr lang="en-IN" dirty="0"/>
              <a:t>Using mutable objects effectively</a:t>
            </a:r>
          </a:p>
          <a:p>
            <a:pPr marL="914400" lvl="1" indent="-457200">
              <a:buFont typeface="+mj-lt"/>
              <a:buAutoNum type="arabicPeriod"/>
            </a:pPr>
            <a:r>
              <a:rPr lang="en-IN" dirty="0"/>
              <a:t>Using Off-Heap Structures</a:t>
            </a:r>
            <a:endParaRPr lang="en-US" dirty="0"/>
          </a:p>
        </p:txBody>
      </p:sp>
    </p:spTree>
    <p:extLst>
      <p:ext uri="{BB962C8B-B14F-4D97-AF65-F5344CB8AC3E}">
        <p14:creationId xmlns:p14="http://schemas.microsoft.com/office/powerpoint/2010/main" val="1422563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994B6D-78B8-C798-AE23-27315891A751}"/>
              </a:ext>
            </a:extLst>
          </p:cNvPr>
          <p:cNvSpPr>
            <a:spLocks noGrp="1"/>
          </p:cNvSpPr>
          <p:nvPr>
            <p:ph type="title"/>
          </p:nvPr>
        </p:nvSpPr>
        <p:spPr/>
        <p:txBody>
          <a:bodyPr>
            <a:normAutofit/>
          </a:bodyPr>
          <a:lstStyle/>
          <a:p>
            <a:r>
              <a:rPr lang="en-IN" sz="3600" dirty="0"/>
              <a:t>Avoiding Temporary Object Creation &amp; </a:t>
            </a:r>
            <a:r>
              <a:rPr lang="en-US" sz="3600" dirty="0"/>
              <a:t>Mutable Objects</a:t>
            </a:r>
          </a:p>
        </p:txBody>
      </p:sp>
      <p:sp>
        <p:nvSpPr>
          <p:cNvPr id="4" name="Text Placeholder 3">
            <a:extLst>
              <a:ext uri="{FF2B5EF4-FFF2-40B4-BE49-F238E27FC236}">
                <a16:creationId xmlns:a16="http://schemas.microsoft.com/office/drawing/2014/main" id="{B30D6AE6-EDFC-F1FA-26E7-BCD635604499}"/>
              </a:ext>
            </a:extLst>
          </p:cNvPr>
          <p:cNvSpPr>
            <a:spLocks noGrp="1"/>
          </p:cNvSpPr>
          <p:nvPr>
            <p:ph type="body" idx="1"/>
          </p:nvPr>
        </p:nvSpPr>
        <p:spPr/>
        <p:txBody>
          <a:bodyPr/>
          <a:lstStyle/>
          <a:p>
            <a:r>
              <a:rPr lang="en-IN" dirty="0"/>
              <a:t>Bad </a:t>
            </a:r>
            <a:endParaRPr lang="en-US" dirty="0"/>
          </a:p>
        </p:txBody>
      </p:sp>
      <p:sp>
        <p:nvSpPr>
          <p:cNvPr id="5" name="Content Placeholder 4">
            <a:extLst>
              <a:ext uri="{FF2B5EF4-FFF2-40B4-BE49-F238E27FC236}">
                <a16:creationId xmlns:a16="http://schemas.microsoft.com/office/drawing/2014/main" id="{F1A5BEC7-5209-6703-0888-DEB193BE9FF8}"/>
              </a:ext>
            </a:extLst>
          </p:cNvPr>
          <p:cNvSpPr>
            <a:spLocks noGrp="1"/>
          </p:cNvSpPr>
          <p:nvPr>
            <p:ph sz="half" idx="2"/>
          </p:nvPr>
        </p:nvSpPr>
        <p:spPr>
          <a:xfrm>
            <a:off x="839788" y="2505075"/>
            <a:ext cx="5157787" cy="1026849"/>
          </a:xfrm>
          <a:ln>
            <a:solidFill>
              <a:srgbClr val="FFFF00"/>
            </a:solidFill>
          </a:ln>
        </p:spPr>
        <p:txBody>
          <a:bodyPr>
            <a:normAutofit lnSpcReduction="10000"/>
          </a:bodyPr>
          <a:lstStyle/>
          <a:p>
            <a:pPr marL="0" indent="0">
              <a:buNone/>
            </a:pPr>
            <a:r>
              <a:rPr lang="en-US" sz="1800" dirty="0">
                <a:latin typeface="Consolas" panose="020B0609020204030204" pitchFamily="49" charset="0"/>
              </a:rPr>
              <a:t>for (int </a:t>
            </a:r>
            <a:r>
              <a:rPr lang="en-US" sz="1800" dirty="0" err="1">
                <a:latin typeface="Consolas" panose="020B0609020204030204" pitchFamily="49" charset="0"/>
              </a:rPr>
              <a:t>i</a:t>
            </a:r>
            <a:r>
              <a:rPr lang="en-US" sz="1800" dirty="0">
                <a:latin typeface="Consolas" panose="020B0609020204030204" pitchFamily="49" charset="0"/>
              </a:rPr>
              <a:t> = 0; </a:t>
            </a:r>
            <a:r>
              <a:rPr lang="en-US" sz="1800" dirty="0" err="1">
                <a:latin typeface="Consolas" panose="020B0609020204030204" pitchFamily="49" charset="0"/>
              </a:rPr>
              <a:t>i</a:t>
            </a:r>
            <a:r>
              <a:rPr lang="en-US" sz="1800" dirty="0">
                <a:latin typeface="Consolas" panose="020B0609020204030204" pitchFamily="49" charset="0"/>
              </a:rPr>
              <a:t> &lt; 10000; </a:t>
            </a:r>
            <a:r>
              <a:rPr lang="en-US" sz="1800" dirty="0" err="1">
                <a:latin typeface="Consolas" panose="020B0609020204030204" pitchFamily="49" charset="0"/>
              </a:rPr>
              <a:t>i</a:t>
            </a:r>
            <a:r>
              <a:rPr lang="en-US" sz="1800" dirty="0">
                <a:latin typeface="Consolas" panose="020B0609020204030204" pitchFamily="49" charset="0"/>
              </a:rPr>
              <a:t>++) {    	String s = "Hello " + </a:t>
            </a:r>
            <a:r>
              <a:rPr lang="en-US" sz="1800" dirty="0" err="1">
                <a:latin typeface="Consolas" panose="020B0609020204030204" pitchFamily="49" charset="0"/>
              </a:rPr>
              <a:t>i</a:t>
            </a:r>
            <a:r>
              <a:rPr lang="en-US" sz="1800" dirty="0">
                <a:latin typeface="Consolas" panose="020B0609020204030204" pitchFamily="49" charset="0"/>
              </a:rPr>
              <a:t>;</a:t>
            </a:r>
          </a:p>
          <a:p>
            <a:pPr marL="0" indent="0">
              <a:buNone/>
            </a:pPr>
            <a:r>
              <a:rPr lang="en-US" sz="1800" dirty="0">
                <a:latin typeface="Consolas" panose="020B0609020204030204" pitchFamily="49" charset="0"/>
              </a:rPr>
              <a:t>}</a:t>
            </a:r>
          </a:p>
        </p:txBody>
      </p:sp>
      <p:sp>
        <p:nvSpPr>
          <p:cNvPr id="6" name="Text Placeholder 5">
            <a:extLst>
              <a:ext uri="{FF2B5EF4-FFF2-40B4-BE49-F238E27FC236}">
                <a16:creationId xmlns:a16="http://schemas.microsoft.com/office/drawing/2014/main" id="{B4616E06-1271-D367-5545-FCA9AEE6C6F4}"/>
              </a:ext>
            </a:extLst>
          </p:cNvPr>
          <p:cNvSpPr>
            <a:spLocks noGrp="1"/>
          </p:cNvSpPr>
          <p:nvPr>
            <p:ph type="body" sz="quarter" idx="3"/>
          </p:nvPr>
        </p:nvSpPr>
        <p:spPr/>
        <p:txBody>
          <a:bodyPr/>
          <a:lstStyle/>
          <a:p>
            <a:r>
              <a:rPr lang="en-IN" dirty="0"/>
              <a:t>Better </a:t>
            </a:r>
            <a:endParaRPr lang="en-US" dirty="0"/>
          </a:p>
        </p:txBody>
      </p:sp>
      <p:sp>
        <p:nvSpPr>
          <p:cNvPr id="7" name="Content Placeholder 6">
            <a:extLst>
              <a:ext uri="{FF2B5EF4-FFF2-40B4-BE49-F238E27FC236}">
                <a16:creationId xmlns:a16="http://schemas.microsoft.com/office/drawing/2014/main" id="{210A02BF-374E-E04D-FB2B-315291C1F5FD}"/>
              </a:ext>
            </a:extLst>
          </p:cNvPr>
          <p:cNvSpPr>
            <a:spLocks noGrp="1"/>
          </p:cNvSpPr>
          <p:nvPr>
            <p:ph sz="quarter" idx="4"/>
          </p:nvPr>
        </p:nvSpPr>
        <p:spPr>
          <a:xfrm>
            <a:off x="6172200" y="2505075"/>
            <a:ext cx="5183188" cy="1832908"/>
          </a:xfrm>
          <a:ln>
            <a:solidFill>
              <a:srgbClr val="FFFF00"/>
            </a:solidFill>
          </a:ln>
        </p:spPr>
        <p:txBody>
          <a:bodyPr vert="horz" lIns="91440" tIns="45720" rIns="91440" bIns="45720" rtlCol="0">
            <a:normAutofit lnSpcReduction="10000"/>
          </a:bodyPr>
          <a:lstStyle/>
          <a:p>
            <a:pPr marL="0" indent="0">
              <a:buNone/>
            </a:pPr>
            <a:r>
              <a:rPr lang="en-US" sz="1800" dirty="0">
                <a:latin typeface="Consolas" panose="020B0609020204030204" pitchFamily="49" charset="0"/>
              </a:rPr>
              <a:t>StringBuilder sb = new StringBuilder();</a:t>
            </a:r>
          </a:p>
          <a:p>
            <a:pPr marL="0" indent="0">
              <a:buNone/>
            </a:pPr>
            <a:r>
              <a:rPr lang="en-US" sz="1800" dirty="0">
                <a:latin typeface="Consolas" panose="020B0609020204030204" pitchFamily="49" charset="0"/>
              </a:rPr>
              <a:t>for (int </a:t>
            </a:r>
            <a:r>
              <a:rPr lang="en-US" sz="1800" dirty="0" err="1">
                <a:latin typeface="Consolas" panose="020B0609020204030204" pitchFamily="49" charset="0"/>
              </a:rPr>
              <a:t>i</a:t>
            </a:r>
            <a:r>
              <a:rPr lang="en-US" sz="1800" dirty="0">
                <a:latin typeface="Consolas" panose="020B0609020204030204" pitchFamily="49" charset="0"/>
              </a:rPr>
              <a:t> = 0; </a:t>
            </a:r>
            <a:r>
              <a:rPr lang="en-US" sz="1800" dirty="0" err="1">
                <a:latin typeface="Consolas" panose="020B0609020204030204" pitchFamily="49" charset="0"/>
              </a:rPr>
              <a:t>i</a:t>
            </a:r>
            <a:r>
              <a:rPr lang="en-US" sz="1800" dirty="0">
                <a:latin typeface="Consolas" panose="020B0609020204030204" pitchFamily="49" charset="0"/>
              </a:rPr>
              <a:t> &lt; 10000; </a:t>
            </a:r>
            <a:r>
              <a:rPr lang="en-US" sz="1800" dirty="0" err="1">
                <a:latin typeface="Consolas" panose="020B0609020204030204" pitchFamily="49" charset="0"/>
              </a:rPr>
              <a:t>i</a:t>
            </a:r>
            <a:r>
              <a:rPr lang="en-US" sz="1800" dirty="0">
                <a:latin typeface="Consolas" panose="020B0609020204030204" pitchFamily="49" charset="0"/>
              </a:rPr>
              <a:t>++) {</a:t>
            </a:r>
          </a:p>
          <a:p>
            <a:pPr marL="0" indent="0">
              <a:buNone/>
            </a:pPr>
            <a:r>
              <a:rPr lang="en-US" sz="1800" dirty="0">
                <a:latin typeface="Consolas" panose="020B0609020204030204" pitchFamily="49" charset="0"/>
              </a:rPr>
              <a:t>    </a:t>
            </a:r>
            <a:r>
              <a:rPr lang="en-US" sz="1800" dirty="0" err="1">
                <a:latin typeface="Consolas" panose="020B0609020204030204" pitchFamily="49" charset="0"/>
              </a:rPr>
              <a:t>sb.setLength</a:t>
            </a:r>
            <a:r>
              <a:rPr lang="en-US" sz="1800" dirty="0">
                <a:latin typeface="Consolas" panose="020B0609020204030204" pitchFamily="49" charset="0"/>
              </a:rPr>
              <a:t>(0);</a:t>
            </a:r>
          </a:p>
          <a:p>
            <a:pPr marL="0" indent="0">
              <a:buNone/>
            </a:pPr>
            <a:r>
              <a:rPr lang="en-US" sz="1800" dirty="0">
                <a:latin typeface="Consolas" panose="020B0609020204030204" pitchFamily="49" charset="0"/>
              </a:rPr>
              <a:t>    </a:t>
            </a:r>
            <a:r>
              <a:rPr lang="en-US" sz="1800" dirty="0" err="1">
                <a:latin typeface="Consolas" panose="020B0609020204030204" pitchFamily="49" charset="0"/>
              </a:rPr>
              <a:t>sb.append</a:t>
            </a:r>
            <a:r>
              <a:rPr lang="en-US" sz="1800" dirty="0">
                <a:latin typeface="Consolas" panose="020B0609020204030204" pitchFamily="49" charset="0"/>
              </a:rPr>
              <a:t>("Hello ").append(</a:t>
            </a:r>
            <a:r>
              <a:rPr lang="en-US" sz="1800" dirty="0" err="1">
                <a:latin typeface="Consolas" panose="020B0609020204030204" pitchFamily="49" charset="0"/>
              </a:rPr>
              <a:t>i</a:t>
            </a:r>
            <a:r>
              <a:rPr lang="en-US" sz="1800" dirty="0">
                <a:latin typeface="Consolas" panose="020B0609020204030204" pitchFamily="49" charset="0"/>
              </a:rPr>
              <a:t>);</a:t>
            </a:r>
          </a:p>
          <a:p>
            <a:pPr marL="0" indent="0">
              <a:buNone/>
            </a:pPr>
            <a:r>
              <a:rPr lang="en-US" sz="1800" dirty="0">
                <a:latin typeface="Consolas" panose="020B0609020204030204" pitchFamily="49" charset="0"/>
              </a:rPr>
              <a:t>}</a:t>
            </a:r>
          </a:p>
        </p:txBody>
      </p:sp>
    </p:spTree>
    <p:extLst>
      <p:ext uri="{BB962C8B-B14F-4D97-AF65-F5344CB8AC3E}">
        <p14:creationId xmlns:p14="http://schemas.microsoft.com/office/powerpoint/2010/main" val="5898067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bg/>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bg/>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xEl>
                                              <p:pRg st="0" end="0"/>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
                                            <p:txEl>
                                              <p:pRg st="1" end="1"/>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
                                            <p:txEl>
                                              <p:pRg st="2" end="2"/>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
                                            <p:txEl>
                                              <p:pRg st="3" end="3"/>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5" grpId="0" uiExpand="1" build="p" animBg="1"/>
      <p:bldP spid="6" grpId="0" build="p"/>
      <p:bldP spid="7" grpId="0" build="p" animBg="1"/>
    </p:bldLst>
  </p:timing>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AA20E2-FB35-6F25-E771-CB53341DC4DA}"/>
              </a:ext>
            </a:extLst>
          </p:cNvPr>
          <p:cNvSpPr>
            <a:spLocks noGrp="1"/>
          </p:cNvSpPr>
          <p:nvPr>
            <p:ph type="title"/>
          </p:nvPr>
        </p:nvSpPr>
        <p:spPr/>
        <p:txBody>
          <a:bodyPr>
            <a:normAutofit/>
          </a:bodyPr>
          <a:lstStyle/>
          <a:p>
            <a:r>
              <a:rPr lang="en-IN" sz="3600" dirty="0"/>
              <a:t>Using Off-Heap Structures – Advanced but Powerful</a:t>
            </a:r>
            <a:endParaRPr lang="en-US" sz="3600" dirty="0"/>
          </a:p>
        </p:txBody>
      </p:sp>
      <p:sp>
        <p:nvSpPr>
          <p:cNvPr id="3" name="Content Placeholder 2">
            <a:extLst>
              <a:ext uri="{FF2B5EF4-FFF2-40B4-BE49-F238E27FC236}">
                <a16:creationId xmlns:a16="http://schemas.microsoft.com/office/drawing/2014/main" id="{7EF75F3A-66A3-5612-8090-5D3BE8F96969}"/>
              </a:ext>
            </a:extLst>
          </p:cNvPr>
          <p:cNvSpPr>
            <a:spLocks noGrp="1"/>
          </p:cNvSpPr>
          <p:nvPr>
            <p:ph idx="1"/>
          </p:nvPr>
        </p:nvSpPr>
        <p:spPr>
          <a:xfrm>
            <a:off x="838200" y="1825625"/>
            <a:ext cx="10515600" cy="1970652"/>
          </a:xfrm>
        </p:spPr>
        <p:txBody>
          <a:bodyPr/>
          <a:lstStyle/>
          <a:p>
            <a:r>
              <a:rPr lang="en-GB" dirty="0"/>
              <a:t>What if we could store data outside JVM heap and avoid GC completely?</a:t>
            </a:r>
          </a:p>
          <a:p>
            <a:r>
              <a:rPr lang="en-GB" dirty="0"/>
              <a:t>Off-heap memory is memory allocated outside the JVM heap, not managed by Garbage Collector.</a:t>
            </a:r>
            <a:endParaRPr lang="en-US" dirty="0"/>
          </a:p>
        </p:txBody>
      </p:sp>
      <p:graphicFrame>
        <p:nvGraphicFramePr>
          <p:cNvPr id="4" name="Table 3">
            <a:extLst>
              <a:ext uri="{FF2B5EF4-FFF2-40B4-BE49-F238E27FC236}">
                <a16:creationId xmlns:a16="http://schemas.microsoft.com/office/drawing/2014/main" id="{BBD012AC-0472-C4F7-76F0-1D8C9CE65AE8}"/>
              </a:ext>
            </a:extLst>
          </p:cNvPr>
          <p:cNvGraphicFramePr>
            <a:graphicFrameLocks noGrp="1"/>
          </p:cNvGraphicFramePr>
          <p:nvPr>
            <p:extLst>
              <p:ext uri="{D42A27DB-BD31-4B8C-83A1-F6EECF244321}">
                <p14:modId xmlns:p14="http://schemas.microsoft.com/office/powerpoint/2010/main" val="3482786548"/>
              </p:ext>
            </p:extLst>
          </p:nvPr>
        </p:nvGraphicFramePr>
        <p:xfrm>
          <a:off x="838200" y="3857228"/>
          <a:ext cx="8127999" cy="1112520"/>
        </p:xfrm>
        <a:graphic>
          <a:graphicData uri="http://schemas.openxmlformats.org/drawingml/2006/table">
            <a:tbl>
              <a:tblPr firstRow="1" bandRow="1">
                <a:tableStyleId>{00A15C55-8517-42AA-B614-E9B94910E393}</a:tableStyleId>
              </a:tblPr>
              <a:tblGrid>
                <a:gridCol w="2709333">
                  <a:extLst>
                    <a:ext uri="{9D8B030D-6E8A-4147-A177-3AD203B41FA5}">
                      <a16:colId xmlns:a16="http://schemas.microsoft.com/office/drawing/2014/main" val="3332521983"/>
                    </a:ext>
                  </a:extLst>
                </a:gridCol>
                <a:gridCol w="2709333">
                  <a:extLst>
                    <a:ext uri="{9D8B030D-6E8A-4147-A177-3AD203B41FA5}">
                      <a16:colId xmlns:a16="http://schemas.microsoft.com/office/drawing/2014/main" val="922093177"/>
                    </a:ext>
                  </a:extLst>
                </a:gridCol>
                <a:gridCol w="2709333">
                  <a:extLst>
                    <a:ext uri="{9D8B030D-6E8A-4147-A177-3AD203B41FA5}">
                      <a16:colId xmlns:a16="http://schemas.microsoft.com/office/drawing/2014/main" val="821112535"/>
                    </a:ext>
                  </a:extLst>
                </a:gridCol>
              </a:tblGrid>
              <a:tr h="370840">
                <a:tc>
                  <a:txBody>
                    <a:bodyPr/>
                    <a:lstStyle/>
                    <a:p>
                      <a:pPr>
                        <a:buNone/>
                      </a:pPr>
                      <a:r>
                        <a:rPr lang="en-US" dirty="0"/>
                        <a:t>Type</a:t>
                      </a:r>
                    </a:p>
                  </a:txBody>
                  <a:tcPr anchor="ctr"/>
                </a:tc>
                <a:tc>
                  <a:txBody>
                    <a:bodyPr/>
                    <a:lstStyle/>
                    <a:p>
                      <a:pPr>
                        <a:buNone/>
                      </a:pPr>
                      <a:r>
                        <a:rPr lang="en-US"/>
                        <a:t>Managed By</a:t>
                      </a:r>
                    </a:p>
                  </a:txBody>
                  <a:tcPr anchor="ctr"/>
                </a:tc>
                <a:tc>
                  <a:txBody>
                    <a:bodyPr/>
                    <a:lstStyle/>
                    <a:p>
                      <a:pPr>
                        <a:buNone/>
                      </a:pPr>
                      <a:r>
                        <a:rPr lang="en-US"/>
                        <a:t>GC Impact</a:t>
                      </a:r>
                    </a:p>
                  </a:txBody>
                  <a:tcPr anchor="ctr"/>
                </a:tc>
                <a:extLst>
                  <a:ext uri="{0D108BD9-81ED-4DB2-BD59-A6C34878D82A}">
                    <a16:rowId xmlns:a16="http://schemas.microsoft.com/office/drawing/2014/main" val="3048962977"/>
                  </a:ext>
                </a:extLst>
              </a:tr>
              <a:tr h="370840">
                <a:tc>
                  <a:txBody>
                    <a:bodyPr/>
                    <a:lstStyle/>
                    <a:p>
                      <a:pPr>
                        <a:buNone/>
                      </a:pPr>
                      <a:r>
                        <a:rPr lang="en-US"/>
                        <a:t>Heap</a:t>
                      </a:r>
                    </a:p>
                  </a:txBody>
                  <a:tcPr anchor="ctr"/>
                </a:tc>
                <a:tc>
                  <a:txBody>
                    <a:bodyPr/>
                    <a:lstStyle/>
                    <a:p>
                      <a:pPr>
                        <a:buNone/>
                      </a:pPr>
                      <a:r>
                        <a:rPr lang="en-US"/>
                        <a:t>JVM</a:t>
                      </a:r>
                    </a:p>
                  </a:txBody>
                  <a:tcPr anchor="ctr"/>
                </a:tc>
                <a:tc>
                  <a:txBody>
                    <a:bodyPr/>
                    <a:lstStyle/>
                    <a:p>
                      <a:pPr>
                        <a:buNone/>
                      </a:pPr>
                      <a:r>
                        <a:rPr lang="en-US"/>
                        <a:t>Yes</a:t>
                      </a:r>
                    </a:p>
                  </a:txBody>
                  <a:tcPr anchor="ctr"/>
                </a:tc>
                <a:extLst>
                  <a:ext uri="{0D108BD9-81ED-4DB2-BD59-A6C34878D82A}">
                    <a16:rowId xmlns:a16="http://schemas.microsoft.com/office/drawing/2014/main" val="94407728"/>
                  </a:ext>
                </a:extLst>
              </a:tr>
              <a:tr h="370840">
                <a:tc>
                  <a:txBody>
                    <a:bodyPr/>
                    <a:lstStyle/>
                    <a:p>
                      <a:pPr>
                        <a:buNone/>
                      </a:pPr>
                      <a:r>
                        <a:rPr lang="en-US"/>
                        <a:t>Off-Heap</a:t>
                      </a:r>
                    </a:p>
                  </a:txBody>
                  <a:tcPr anchor="ctr"/>
                </a:tc>
                <a:tc>
                  <a:txBody>
                    <a:bodyPr/>
                    <a:lstStyle/>
                    <a:p>
                      <a:pPr>
                        <a:buNone/>
                      </a:pPr>
                      <a:r>
                        <a:rPr lang="en-US"/>
                        <a:t>OS / Native</a:t>
                      </a:r>
                    </a:p>
                  </a:txBody>
                  <a:tcPr anchor="ctr"/>
                </a:tc>
                <a:tc>
                  <a:txBody>
                    <a:bodyPr/>
                    <a:lstStyle/>
                    <a:p>
                      <a:pPr>
                        <a:buNone/>
                      </a:pPr>
                      <a:r>
                        <a:rPr lang="en-US" dirty="0"/>
                        <a:t>No</a:t>
                      </a:r>
                    </a:p>
                  </a:txBody>
                  <a:tcPr anchor="ctr"/>
                </a:tc>
                <a:extLst>
                  <a:ext uri="{0D108BD9-81ED-4DB2-BD59-A6C34878D82A}">
                    <a16:rowId xmlns:a16="http://schemas.microsoft.com/office/drawing/2014/main" val="3221992766"/>
                  </a:ext>
                </a:extLst>
              </a:tr>
            </a:tbl>
          </a:graphicData>
        </a:graphic>
      </p:graphicFrame>
    </p:spTree>
    <p:extLst>
      <p:ext uri="{BB962C8B-B14F-4D97-AF65-F5344CB8AC3E}">
        <p14:creationId xmlns:p14="http://schemas.microsoft.com/office/powerpoint/2010/main" val="278371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306BA-2365-DF57-A555-2899BDC6F949}"/>
              </a:ext>
            </a:extLst>
          </p:cNvPr>
          <p:cNvSpPr>
            <a:spLocks noGrp="1"/>
          </p:cNvSpPr>
          <p:nvPr>
            <p:ph type="title"/>
          </p:nvPr>
        </p:nvSpPr>
        <p:spPr/>
        <p:txBody>
          <a:bodyPr/>
          <a:lstStyle/>
          <a:p>
            <a:r>
              <a:rPr lang="en-IN" dirty="0"/>
              <a:t>Why Use Off-Heap Memory</a:t>
            </a:r>
            <a:endParaRPr lang="en-US" dirty="0"/>
          </a:p>
        </p:txBody>
      </p:sp>
      <p:sp>
        <p:nvSpPr>
          <p:cNvPr id="3" name="Content Placeholder 2">
            <a:extLst>
              <a:ext uri="{FF2B5EF4-FFF2-40B4-BE49-F238E27FC236}">
                <a16:creationId xmlns:a16="http://schemas.microsoft.com/office/drawing/2014/main" id="{FCBCDC60-BD5B-74BB-BD49-35626FB5D684}"/>
              </a:ext>
            </a:extLst>
          </p:cNvPr>
          <p:cNvSpPr>
            <a:spLocks noGrp="1"/>
          </p:cNvSpPr>
          <p:nvPr>
            <p:ph sz="half" idx="1"/>
          </p:nvPr>
        </p:nvSpPr>
        <p:spPr/>
        <p:txBody>
          <a:bodyPr>
            <a:normAutofit/>
          </a:bodyPr>
          <a:lstStyle/>
          <a:p>
            <a:r>
              <a:rPr lang="en-IN" sz="2400" dirty="0"/>
              <a:t>Problem</a:t>
            </a:r>
          </a:p>
          <a:p>
            <a:pPr lvl="1"/>
            <a:r>
              <a:rPr lang="en-IN" sz="2000" dirty="0"/>
              <a:t>Too many objects – Frequent GC</a:t>
            </a:r>
          </a:p>
          <a:p>
            <a:pPr lvl="1"/>
            <a:r>
              <a:rPr lang="en-IN" sz="2000" dirty="0"/>
              <a:t>Large data – long GC pauses</a:t>
            </a:r>
          </a:p>
          <a:p>
            <a:pPr lvl="1"/>
            <a:r>
              <a:rPr lang="en-IN" sz="2000" dirty="0"/>
              <a:t>Memory fragmentation</a:t>
            </a:r>
          </a:p>
          <a:p>
            <a:r>
              <a:rPr lang="en-IN" sz="2400" dirty="0"/>
              <a:t>Solution</a:t>
            </a:r>
          </a:p>
          <a:p>
            <a:pPr lvl="1"/>
            <a:r>
              <a:rPr lang="en-IN" sz="2000" dirty="0"/>
              <a:t>Store large data outside heap</a:t>
            </a:r>
          </a:p>
          <a:p>
            <a:pPr lvl="1"/>
            <a:r>
              <a:rPr lang="en-IN" sz="2000" dirty="0"/>
              <a:t>Reduce GC workload</a:t>
            </a:r>
          </a:p>
          <a:p>
            <a:pPr lvl="1"/>
            <a:r>
              <a:rPr lang="en-IN" sz="2000" dirty="0"/>
              <a:t>Improve latency</a:t>
            </a:r>
            <a:endParaRPr lang="en-US" sz="2000" dirty="0"/>
          </a:p>
        </p:txBody>
      </p:sp>
      <p:sp>
        <p:nvSpPr>
          <p:cNvPr id="4" name="Content Placeholder 3">
            <a:extLst>
              <a:ext uri="{FF2B5EF4-FFF2-40B4-BE49-F238E27FC236}">
                <a16:creationId xmlns:a16="http://schemas.microsoft.com/office/drawing/2014/main" id="{0671051D-8B41-F776-A343-E8D8FB576155}"/>
              </a:ext>
            </a:extLst>
          </p:cNvPr>
          <p:cNvSpPr>
            <a:spLocks noGrp="1"/>
          </p:cNvSpPr>
          <p:nvPr>
            <p:ph sz="half" idx="2"/>
          </p:nvPr>
        </p:nvSpPr>
        <p:spPr>
          <a:xfrm>
            <a:off x="4093633" y="4309672"/>
            <a:ext cx="7670800" cy="2421328"/>
          </a:xfrm>
          <a:ln>
            <a:solidFill>
              <a:srgbClr val="FFFF00"/>
            </a:solidFill>
          </a:ln>
        </p:spPr>
        <p:txBody>
          <a:bodyPr vert="horz" lIns="91440" tIns="45720" rIns="91440" bIns="45720" rtlCol="0">
            <a:normAutofit/>
          </a:bodyPr>
          <a:lstStyle/>
          <a:p>
            <a:pPr marL="0" indent="0">
              <a:buNone/>
            </a:pPr>
            <a:r>
              <a:rPr lang="en-US" sz="1400" dirty="0">
                <a:latin typeface="Consolas" panose="020B0609020204030204" pitchFamily="49" charset="0"/>
              </a:rPr>
              <a:t>List&lt;</a:t>
            </a:r>
            <a:r>
              <a:rPr lang="en-US" sz="1400" dirty="0" err="1">
                <a:latin typeface="Consolas" panose="020B0609020204030204" pitchFamily="49" charset="0"/>
              </a:rPr>
              <a:t>ByteBuffer</a:t>
            </a:r>
            <a:r>
              <a:rPr lang="en-US" sz="1400" dirty="0">
                <a:latin typeface="Consolas" panose="020B0609020204030204" pitchFamily="49" charset="0"/>
              </a:rPr>
              <a:t>&gt; list = new </a:t>
            </a:r>
            <a:r>
              <a:rPr lang="en-US" sz="1400" dirty="0" err="1">
                <a:latin typeface="Consolas" panose="020B0609020204030204" pitchFamily="49" charset="0"/>
              </a:rPr>
              <a:t>ArrayList</a:t>
            </a:r>
            <a:r>
              <a:rPr lang="en-US" sz="1400" dirty="0">
                <a:latin typeface="Consolas" panose="020B0609020204030204" pitchFamily="49" charset="0"/>
              </a:rPr>
              <a:t>&lt;&gt;();</a:t>
            </a:r>
          </a:p>
          <a:p>
            <a:pPr marL="0" indent="0">
              <a:buNone/>
            </a:pPr>
            <a:r>
              <a:rPr lang="en-US" sz="1400" dirty="0">
                <a:latin typeface="Consolas" panose="020B0609020204030204" pitchFamily="49" charset="0"/>
              </a:rPr>
              <a:t>while (true) {</a:t>
            </a:r>
          </a:p>
          <a:p>
            <a:pPr marL="0" indent="0">
              <a:buNone/>
            </a:pPr>
            <a:r>
              <a:rPr lang="en-US" sz="1400" dirty="0">
                <a:latin typeface="Consolas" panose="020B0609020204030204" pitchFamily="49" charset="0"/>
              </a:rPr>
              <a:t>	</a:t>
            </a:r>
            <a:r>
              <a:rPr lang="en-US" sz="1400" dirty="0" err="1">
                <a:latin typeface="Consolas" panose="020B0609020204030204" pitchFamily="49" charset="0"/>
              </a:rPr>
              <a:t>ByteBuffer</a:t>
            </a:r>
            <a:r>
              <a:rPr lang="en-US" sz="1400" dirty="0">
                <a:latin typeface="Consolas" panose="020B0609020204030204" pitchFamily="49" charset="0"/>
              </a:rPr>
              <a:t> buffer = </a:t>
            </a:r>
            <a:r>
              <a:rPr lang="en-US" sz="1400" dirty="0" err="1">
                <a:latin typeface="Consolas" panose="020B0609020204030204" pitchFamily="49" charset="0"/>
              </a:rPr>
              <a:t>ByteBuffer.allocateDirect</a:t>
            </a:r>
            <a:r>
              <a:rPr lang="en-US" sz="1400" dirty="0">
                <a:latin typeface="Consolas" panose="020B0609020204030204" pitchFamily="49" charset="0"/>
              </a:rPr>
              <a:t>(1024 * 1024); // 1MB</a:t>
            </a:r>
          </a:p>
          <a:p>
            <a:pPr marL="0" indent="0">
              <a:buNone/>
            </a:pPr>
            <a:r>
              <a:rPr lang="en-US" sz="1400" dirty="0">
                <a:latin typeface="Consolas" panose="020B0609020204030204" pitchFamily="49" charset="0"/>
              </a:rPr>
              <a:t>	</a:t>
            </a:r>
            <a:r>
              <a:rPr lang="en-US" sz="1400" dirty="0" err="1">
                <a:latin typeface="Consolas" panose="020B0609020204030204" pitchFamily="49" charset="0"/>
              </a:rPr>
              <a:t>list.add</a:t>
            </a:r>
            <a:r>
              <a:rPr lang="en-US" sz="1400" dirty="0">
                <a:latin typeface="Consolas" panose="020B0609020204030204" pitchFamily="49" charset="0"/>
              </a:rPr>
              <a:t>(buffer); // IMPORTANT: prevent GC</a:t>
            </a:r>
          </a:p>
          <a:p>
            <a:pPr marL="0" indent="0">
              <a:buNone/>
            </a:pPr>
            <a:r>
              <a:rPr lang="en-US" sz="1400" dirty="0">
                <a:latin typeface="Consolas" panose="020B0609020204030204" pitchFamily="49" charset="0"/>
              </a:rPr>
              <a:t>	</a:t>
            </a:r>
            <a:r>
              <a:rPr lang="en-US" sz="1400" dirty="0" err="1">
                <a:latin typeface="Consolas" panose="020B0609020204030204" pitchFamily="49" charset="0"/>
              </a:rPr>
              <a:t>Thread.sleep</a:t>
            </a:r>
            <a:r>
              <a:rPr lang="en-US" sz="1400" dirty="0">
                <a:latin typeface="Consolas" panose="020B0609020204030204" pitchFamily="49" charset="0"/>
              </a:rPr>
              <a:t>(100);</a:t>
            </a:r>
          </a:p>
          <a:p>
            <a:pPr marL="0" indent="0">
              <a:buNone/>
            </a:pPr>
            <a:r>
              <a:rPr lang="en-US" sz="1400" dirty="0">
                <a:latin typeface="Consolas" panose="020B0609020204030204" pitchFamily="49" charset="0"/>
              </a:rPr>
              <a:t>}</a:t>
            </a:r>
          </a:p>
        </p:txBody>
      </p:sp>
    </p:spTree>
    <p:extLst>
      <p:ext uri="{BB962C8B-B14F-4D97-AF65-F5344CB8AC3E}">
        <p14:creationId xmlns:p14="http://schemas.microsoft.com/office/powerpoint/2010/main" val="22696396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
                                            <p:bg/>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
                                            <p:txEl>
                                              <p:pRg st="0" end="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
                                            <p:txEl>
                                              <p:pRg st="1" end="1"/>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
                                            <p:txEl>
                                              <p:pRg st="2" end="2"/>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
                                            <p:txEl>
                                              <p:pRg st="3" end="3"/>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
                                            <p:txEl>
                                              <p:pRg st="4" end="4"/>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uild="p" animBg="1"/>
    </p:bldLst>
  </p:timing>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3F1D49-A9D0-B9BA-7ED8-82E4483135EE}"/>
              </a:ext>
            </a:extLst>
          </p:cNvPr>
          <p:cNvSpPr>
            <a:spLocks noGrp="1"/>
          </p:cNvSpPr>
          <p:nvPr>
            <p:ph type="title"/>
          </p:nvPr>
        </p:nvSpPr>
        <p:spPr/>
        <p:txBody>
          <a:bodyPr/>
          <a:lstStyle/>
          <a:p>
            <a:r>
              <a:rPr lang="en-IN" dirty="0"/>
              <a:t>Off Heap Memory : </a:t>
            </a:r>
            <a:r>
              <a:rPr lang="en-US" dirty="0"/>
              <a:t>Risks &amp; Caution</a:t>
            </a:r>
          </a:p>
        </p:txBody>
      </p:sp>
      <p:sp>
        <p:nvSpPr>
          <p:cNvPr id="3" name="Content Placeholder 2">
            <a:extLst>
              <a:ext uri="{FF2B5EF4-FFF2-40B4-BE49-F238E27FC236}">
                <a16:creationId xmlns:a16="http://schemas.microsoft.com/office/drawing/2014/main" id="{F6110383-D8D0-06D5-B219-2F84B49A3519}"/>
              </a:ext>
            </a:extLst>
          </p:cNvPr>
          <p:cNvSpPr>
            <a:spLocks noGrp="1"/>
          </p:cNvSpPr>
          <p:nvPr>
            <p:ph idx="1"/>
          </p:nvPr>
        </p:nvSpPr>
        <p:spPr/>
        <p:txBody>
          <a:bodyPr/>
          <a:lstStyle/>
          <a:p>
            <a:r>
              <a:rPr lang="en-IN" dirty="0"/>
              <a:t>Problem 1 : Memory Leak</a:t>
            </a:r>
          </a:p>
          <a:p>
            <a:pPr lvl="1"/>
            <a:r>
              <a:rPr lang="en-IN" dirty="0"/>
              <a:t>GC doesn’t control memory directly</a:t>
            </a:r>
          </a:p>
          <a:p>
            <a:pPr lvl="1"/>
            <a:r>
              <a:rPr lang="en-IN" dirty="0"/>
              <a:t>If not released – memory leak</a:t>
            </a:r>
          </a:p>
          <a:p>
            <a:r>
              <a:rPr lang="en-IN" dirty="0"/>
              <a:t>Problem 2 : Hard to Debug</a:t>
            </a:r>
          </a:p>
          <a:p>
            <a:pPr lvl="1"/>
            <a:r>
              <a:rPr lang="en-IN" dirty="0"/>
              <a:t>Not visible in heap dump</a:t>
            </a:r>
          </a:p>
          <a:p>
            <a:pPr lvl="1"/>
            <a:r>
              <a:rPr lang="en-IN" dirty="0"/>
              <a:t>Requires OS-level tools</a:t>
            </a:r>
          </a:p>
          <a:p>
            <a:r>
              <a:rPr lang="en-IN" dirty="0"/>
              <a:t>Problem 3 : Limited Memory</a:t>
            </a:r>
          </a:p>
        </p:txBody>
      </p:sp>
    </p:spTree>
    <p:extLst>
      <p:ext uri="{BB962C8B-B14F-4D97-AF65-F5344CB8AC3E}">
        <p14:creationId xmlns:p14="http://schemas.microsoft.com/office/powerpoint/2010/main" val="1422414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7C89AB-511B-839A-3672-91088B34687F}"/>
              </a:ext>
            </a:extLst>
          </p:cNvPr>
          <p:cNvSpPr>
            <a:spLocks noGrp="1"/>
          </p:cNvSpPr>
          <p:nvPr>
            <p:ph type="title"/>
          </p:nvPr>
        </p:nvSpPr>
        <p:spPr/>
        <p:txBody>
          <a:bodyPr/>
          <a:lstStyle/>
          <a:p>
            <a:r>
              <a:rPr lang="en-IN" dirty="0"/>
              <a:t>MCQ</a:t>
            </a:r>
            <a:endParaRPr lang="en-US" dirty="0"/>
          </a:p>
        </p:txBody>
      </p:sp>
      <p:sp>
        <p:nvSpPr>
          <p:cNvPr id="3" name="Content Placeholder 2">
            <a:extLst>
              <a:ext uri="{FF2B5EF4-FFF2-40B4-BE49-F238E27FC236}">
                <a16:creationId xmlns:a16="http://schemas.microsoft.com/office/drawing/2014/main" id="{092AC295-D951-9FF5-4278-890C12F7193B}"/>
              </a:ext>
            </a:extLst>
          </p:cNvPr>
          <p:cNvSpPr>
            <a:spLocks noGrp="1"/>
          </p:cNvSpPr>
          <p:nvPr>
            <p:ph idx="1"/>
          </p:nvPr>
        </p:nvSpPr>
        <p:spPr/>
        <p:txBody>
          <a:bodyPr>
            <a:normAutofit fontScale="85000" lnSpcReduction="20000"/>
          </a:bodyPr>
          <a:lstStyle/>
          <a:p>
            <a:pPr marL="0" indent="0">
              <a:buNone/>
            </a:pPr>
            <a:r>
              <a:rPr lang="en-GB" b="1" dirty="0"/>
              <a:t>1. What does the Java Memory Model (JMM) primarily define?</a:t>
            </a:r>
          </a:p>
          <a:p>
            <a:pPr marL="914400" lvl="1" indent="-457200">
              <a:buFont typeface="+mj-lt"/>
              <a:buAutoNum type="alphaUcPeriod"/>
            </a:pPr>
            <a:r>
              <a:rPr lang="en-GB" dirty="0"/>
              <a:t>JVM startup sequence</a:t>
            </a:r>
          </a:p>
          <a:p>
            <a:pPr marL="914400" lvl="1" indent="-457200">
              <a:buFont typeface="+mj-lt"/>
              <a:buAutoNum type="alphaUcPeriod"/>
            </a:pPr>
            <a:r>
              <a:rPr lang="en-GB" dirty="0"/>
              <a:t>Memory layout of heap</a:t>
            </a:r>
          </a:p>
          <a:p>
            <a:pPr marL="914400" lvl="1" indent="-457200">
              <a:buFont typeface="+mj-lt"/>
              <a:buAutoNum type="alphaUcPeriod"/>
            </a:pPr>
            <a:r>
              <a:rPr lang="en-GB" dirty="0"/>
              <a:t>Rules for visibility, ordering, and synchronization of shared variables</a:t>
            </a:r>
          </a:p>
          <a:p>
            <a:pPr marL="914400" lvl="1" indent="-457200">
              <a:buFont typeface="+mj-lt"/>
              <a:buAutoNum type="alphaUcPeriod"/>
            </a:pPr>
            <a:r>
              <a:rPr lang="en-GB" dirty="0"/>
              <a:t>Garbage collection algorithms</a:t>
            </a:r>
          </a:p>
          <a:p>
            <a:pPr lvl="1"/>
            <a:r>
              <a:rPr lang="en-GB" b="1" dirty="0"/>
              <a:t>Correct Answer:</a:t>
            </a:r>
            <a:r>
              <a:rPr lang="en-GB" dirty="0"/>
              <a:t> C</a:t>
            </a:r>
            <a:br>
              <a:rPr lang="en-GB" dirty="0"/>
            </a:br>
            <a:r>
              <a:rPr lang="en-GB" b="1" dirty="0"/>
              <a:t>Explanation:</a:t>
            </a:r>
            <a:r>
              <a:rPr lang="en-GB" dirty="0"/>
              <a:t> JMM defines how threads interact through memory, ensuring visibility and ordering guarantees.</a:t>
            </a:r>
          </a:p>
          <a:p>
            <a:r>
              <a:rPr lang="en-GB" b="1" dirty="0"/>
              <a:t>2. Which of the following ensures visibility of changes across threads?</a:t>
            </a:r>
          </a:p>
          <a:p>
            <a:pPr marL="914400" lvl="1" indent="-457200">
              <a:buFont typeface="+mj-lt"/>
              <a:buAutoNum type="alphaUcPeriod"/>
            </a:pPr>
            <a:r>
              <a:rPr lang="en-GB" dirty="0"/>
              <a:t>static keyword</a:t>
            </a:r>
          </a:p>
          <a:p>
            <a:pPr marL="914400" lvl="1" indent="-457200">
              <a:buFont typeface="+mj-lt"/>
              <a:buAutoNum type="alphaUcPeriod"/>
            </a:pPr>
            <a:r>
              <a:rPr lang="en-GB" dirty="0"/>
              <a:t>final keyword</a:t>
            </a:r>
          </a:p>
          <a:p>
            <a:pPr marL="914400" lvl="1" indent="-457200">
              <a:buFont typeface="+mj-lt"/>
              <a:buAutoNum type="alphaUcPeriod"/>
            </a:pPr>
            <a:r>
              <a:rPr lang="en-GB" dirty="0"/>
              <a:t>volatile keyword</a:t>
            </a:r>
          </a:p>
          <a:p>
            <a:pPr marL="914400" lvl="1" indent="-457200">
              <a:buFont typeface="+mj-lt"/>
              <a:buAutoNum type="alphaUcPeriod"/>
            </a:pPr>
            <a:r>
              <a:rPr lang="en-GB" dirty="0"/>
              <a:t>transient keyword</a:t>
            </a:r>
          </a:p>
          <a:p>
            <a:pPr lvl="1"/>
            <a:r>
              <a:rPr lang="en-GB" b="1" dirty="0"/>
              <a:t>Correct Answer:</a:t>
            </a:r>
            <a:r>
              <a:rPr lang="en-GB" dirty="0"/>
              <a:t> C</a:t>
            </a:r>
            <a:br>
              <a:rPr lang="en-GB" dirty="0"/>
            </a:br>
            <a:r>
              <a:rPr lang="en-GB" b="1" dirty="0"/>
              <a:t>Explanation:</a:t>
            </a:r>
            <a:r>
              <a:rPr lang="en-GB" dirty="0"/>
              <a:t> volatile ensures that updates to a variable are visible to all threads immediately.</a:t>
            </a:r>
          </a:p>
          <a:p>
            <a:endParaRPr lang="en-GB" dirty="0"/>
          </a:p>
          <a:p>
            <a:endParaRPr lang="en-US" dirty="0"/>
          </a:p>
        </p:txBody>
      </p:sp>
    </p:spTree>
    <p:extLst>
      <p:ext uri="{BB962C8B-B14F-4D97-AF65-F5344CB8AC3E}">
        <p14:creationId xmlns:p14="http://schemas.microsoft.com/office/powerpoint/2010/main" val="18683058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B255E-AFCE-1829-31A5-8707108B85F9}"/>
              </a:ext>
            </a:extLst>
          </p:cNvPr>
          <p:cNvSpPr>
            <a:spLocks noGrp="1"/>
          </p:cNvSpPr>
          <p:nvPr>
            <p:ph type="title"/>
          </p:nvPr>
        </p:nvSpPr>
        <p:spPr/>
        <p:txBody>
          <a:bodyPr/>
          <a:lstStyle/>
          <a:p>
            <a:r>
              <a:rPr lang="en-IN" dirty="0"/>
              <a:t>MCQ</a:t>
            </a:r>
            <a:endParaRPr lang="en-US" dirty="0"/>
          </a:p>
        </p:txBody>
      </p:sp>
      <p:sp>
        <p:nvSpPr>
          <p:cNvPr id="3" name="Content Placeholder 2">
            <a:extLst>
              <a:ext uri="{FF2B5EF4-FFF2-40B4-BE49-F238E27FC236}">
                <a16:creationId xmlns:a16="http://schemas.microsoft.com/office/drawing/2014/main" id="{38F03882-70FB-0A34-6DC1-BA7A92347728}"/>
              </a:ext>
            </a:extLst>
          </p:cNvPr>
          <p:cNvSpPr>
            <a:spLocks noGrp="1"/>
          </p:cNvSpPr>
          <p:nvPr>
            <p:ph idx="1"/>
          </p:nvPr>
        </p:nvSpPr>
        <p:spPr/>
        <p:txBody>
          <a:bodyPr>
            <a:normAutofit fontScale="85000" lnSpcReduction="20000"/>
          </a:bodyPr>
          <a:lstStyle/>
          <a:p>
            <a:r>
              <a:rPr lang="en-GB" b="1" dirty="0"/>
              <a:t>3. In JVM heap structure, where are newly created objects typically allocated?</a:t>
            </a:r>
          </a:p>
          <a:p>
            <a:pPr marL="914400" lvl="1" indent="-457200">
              <a:buFont typeface="+mj-lt"/>
              <a:buAutoNum type="alphaUcPeriod"/>
            </a:pPr>
            <a:r>
              <a:rPr lang="en-GB" dirty="0"/>
              <a:t>Old Generation</a:t>
            </a:r>
          </a:p>
          <a:p>
            <a:pPr marL="914400" lvl="1" indent="-457200">
              <a:buFont typeface="+mj-lt"/>
              <a:buAutoNum type="alphaUcPeriod"/>
            </a:pPr>
            <a:r>
              <a:rPr lang="en-GB" dirty="0" err="1"/>
              <a:t>MetaSpace</a:t>
            </a:r>
            <a:endParaRPr lang="en-GB" dirty="0"/>
          </a:p>
          <a:p>
            <a:pPr marL="914400" lvl="1" indent="-457200">
              <a:buFont typeface="+mj-lt"/>
              <a:buAutoNum type="alphaUcPeriod"/>
            </a:pPr>
            <a:r>
              <a:rPr lang="en-GB" dirty="0"/>
              <a:t>Young Generation</a:t>
            </a:r>
          </a:p>
          <a:p>
            <a:pPr marL="914400" lvl="1" indent="-457200">
              <a:buFont typeface="+mj-lt"/>
              <a:buAutoNum type="alphaUcPeriod"/>
            </a:pPr>
            <a:r>
              <a:rPr lang="en-GB" dirty="0"/>
              <a:t>Stack</a:t>
            </a:r>
          </a:p>
          <a:p>
            <a:pPr lvl="1"/>
            <a:r>
              <a:rPr lang="en-GB" b="1" dirty="0"/>
              <a:t>Correct Answer:</a:t>
            </a:r>
            <a:r>
              <a:rPr lang="en-GB" dirty="0"/>
              <a:t> C</a:t>
            </a:r>
            <a:br>
              <a:rPr lang="en-GB" dirty="0"/>
            </a:br>
            <a:r>
              <a:rPr lang="en-GB" b="1" dirty="0"/>
              <a:t>Explanation:</a:t>
            </a:r>
            <a:r>
              <a:rPr lang="en-GB" dirty="0"/>
              <a:t> Most objects are first created in the Young Generation (Eden space).</a:t>
            </a:r>
          </a:p>
          <a:p>
            <a:r>
              <a:rPr lang="en-GB" b="1" dirty="0"/>
              <a:t>4. Which practice helps reduce GC pressure?</a:t>
            </a:r>
          </a:p>
          <a:p>
            <a:pPr marL="914400" lvl="1" indent="-457200">
              <a:buFont typeface="+mj-lt"/>
              <a:buAutoNum type="alphaUcPeriod"/>
            </a:pPr>
            <a:r>
              <a:rPr lang="en-GB" dirty="0"/>
              <a:t>Creating many temporary objects</a:t>
            </a:r>
          </a:p>
          <a:p>
            <a:pPr marL="914400" lvl="1" indent="-457200">
              <a:buFont typeface="+mj-lt"/>
              <a:buAutoNum type="alphaUcPeriod"/>
            </a:pPr>
            <a:r>
              <a:rPr lang="en-GB" dirty="0"/>
              <a:t>Using immutable objects everywhere</a:t>
            </a:r>
          </a:p>
          <a:p>
            <a:pPr marL="914400" lvl="1" indent="-457200">
              <a:buFont typeface="+mj-lt"/>
              <a:buAutoNum type="alphaUcPeriod"/>
            </a:pPr>
            <a:r>
              <a:rPr lang="en-GB" dirty="0"/>
              <a:t>Avoiding unnecessary object creation</a:t>
            </a:r>
          </a:p>
          <a:p>
            <a:pPr marL="914400" lvl="1" indent="-457200">
              <a:buFont typeface="+mj-lt"/>
              <a:buAutoNum type="alphaUcPeriod"/>
            </a:pPr>
            <a:r>
              <a:rPr lang="en-GB" dirty="0"/>
              <a:t>Increasing thread count</a:t>
            </a:r>
          </a:p>
          <a:p>
            <a:pPr lvl="1"/>
            <a:r>
              <a:rPr lang="en-GB" b="1" dirty="0"/>
              <a:t>Correct Answer:</a:t>
            </a:r>
            <a:r>
              <a:rPr lang="en-GB" dirty="0"/>
              <a:t> C</a:t>
            </a:r>
            <a:br>
              <a:rPr lang="en-GB" dirty="0"/>
            </a:br>
            <a:r>
              <a:rPr lang="en-GB" b="1" dirty="0"/>
              <a:t>Explanation:</a:t>
            </a:r>
            <a:r>
              <a:rPr lang="en-GB" dirty="0"/>
              <a:t> Reducing temporary object creation lowers GC activity and improves performance.</a:t>
            </a:r>
          </a:p>
          <a:p>
            <a:endParaRPr lang="en-GB" dirty="0"/>
          </a:p>
          <a:p>
            <a:endParaRPr lang="en-US" dirty="0"/>
          </a:p>
        </p:txBody>
      </p:sp>
    </p:spTree>
    <p:extLst>
      <p:ext uri="{BB962C8B-B14F-4D97-AF65-F5344CB8AC3E}">
        <p14:creationId xmlns:p14="http://schemas.microsoft.com/office/powerpoint/2010/main" val="3838381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91967D-1B7E-5DBA-2E8A-75BA2988F6C6}"/>
              </a:ext>
            </a:extLst>
          </p:cNvPr>
          <p:cNvSpPr>
            <a:spLocks noGrp="1"/>
          </p:cNvSpPr>
          <p:nvPr>
            <p:ph type="title"/>
          </p:nvPr>
        </p:nvSpPr>
        <p:spPr/>
        <p:txBody>
          <a:bodyPr/>
          <a:lstStyle/>
          <a:p>
            <a:r>
              <a:rPr lang="en-IN" dirty="0"/>
              <a:t>MCQ</a:t>
            </a:r>
            <a:endParaRPr lang="en-US" dirty="0"/>
          </a:p>
        </p:txBody>
      </p:sp>
      <p:sp>
        <p:nvSpPr>
          <p:cNvPr id="3" name="Content Placeholder 2">
            <a:extLst>
              <a:ext uri="{FF2B5EF4-FFF2-40B4-BE49-F238E27FC236}">
                <a16:creationId xmlns:a16="http://schemas.microsoft.com/office/drawing/2014/main" id="{B0B3476A-633D-C2D1-87E2-F2F632ED4327}"/>
              </a:ext>
            </a:extLst>
          </p:cNvPr>
          <p:cNvSpPr>
            <a:spLocks noGrp="1"/>
          </p:cNvSpPr>
          <p:nvPr>
            <p:ph idx="1"/>
          </p:nvPr>
        </p:nvSpPr>
        <p:spPr/>
        <p:txBody>
          <a:bodyPr/>
          <a:lstStyle/>
          <a:p>
            <a:r>
              <a:rPr lang="en-GB" b="1" dirty="0"/>
              <a:t>5. What is the benefit of escape analysis in heap optimization?</a:t>
            </a:r>
          </a:p>
          <a:p>
            <a:pPr marL="914400" lvl="1" indent="-457200">
              <a:buFont typeface="+mj-lt"/>
              <a:buAutoNum type="alphaUcPeriod"/>
            </a:pPr>
            <a:r>
              <a:rPr lang="en-GB" dirty="0"/>
              <a:t>Improves network performance</a:t>
            </a:r>
          </a:p>
          <a:p>
            <a:pPr marL="914400" lvl="1" indent="-457200">
              <a:buFont typeface="+mj-lt"/>
              <a:buAutoNum type="alphaUcPeriod"/>
            </a:pPr>
            <a:r>
              <a:rPr lang="en-GB" dirty="0"/>
              <a:t>Detects deadlocks</a:t>
            </a:r>
          </a:p>
          <a:p>
            <a:pPr marL="914400" lvl="1" indent="-457200">
              <a:buFont typeface="+mj-lt"/>
              <a:buAutoNum type="alphaUcPeriod"/>
            </a:pPr>
            <a:r>
              <a:rPr lang="en-GB" dirty="0"/>
              <a:t>Avoids heap allocation for non-escaping objects</a:t>
            </a:r>
          </a:p>
          <a:p>
            <a:pPr marL="914400" lvl="1" indent="-457200">
              <a:buFont typeface="+mj-lt"/>
              <a:buAutoNum type="alphaUcPeriod"/>
            </a:pPr>
            <a:r>
              <a:rPr lang="en-GB" dirty="0"/>
              <a:t>Increases GC frequency</a:t>
            </a:r>
          </a:p>
          <a:p>
            <a:pPr lvl="1"/>
            <a:r>
              <a:rPr lang="en-GB" b="1" dirty="0"/>
              <a:t>Correct Answer:</a:t>
            </a:r>
            <a:r>
              <a:rPr lang="en-GB" dirty="0"/>
              <a:t> C</a:t>
            </a:r>
            <a:br>
              <a:rPr lang="en-GB" dirty="0"/>
            </a:br>
            <a:r>
              <a:rPr lang="en-GB" b="1" dirty="0"/>
              <a:t>Explanation:</a:t>
            </a:r>
            <a:r>
              <a:rPr lang="en-GB" dirty="0"/>
              <a:t> Objects that don’t escape a method can be allocated on the stack, reducing GC overhead.</a:t>
            </a:r>
          </a:p>
          <a:p>
            <a:endParaRPr lang="en-US" dirty="0"/>
          </a:p>
        </p:txBody>
      </p:sp>
    </p:spTree>
    <p:extLst>
      <p:ext uri="{BB962C8B-B14F-4D97-AF65-F5344CB8AC3E}">
        <p14:creationId xmlns:p14="http://schemas.microsoft.com/office/powerpoint/2010/main" val="732570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A2BD7F-FFAD-DE7C-9013-815C4AC551F6}"/>
              </a:ext>
            </a:extLst>
          </p:cNvPr>
          <p:cNvSpPr>
            <a:spLocks noGrp="1"/>
          </p:cNvSpPr>
          <p:nvPr>
            <p:ph type="title"/>
          </p:nvPr>
        </p:nvSpPr>
        <p:spPr/>
        <p:txBody>
          <a:bodyPr>
            <a:normAutofit/>
          </a:bodyPr>
          <a:lstStyle/>
          <a:p>
            <a:r>
              <a:rPr lang="en-IN" sz="3600" dirty="0"/>
              <a:t>Session 4 : Garbage Collection Algorithms &amp; Tuning</a:t>
            </a:r>
            <a:endParaRPr lang="en-US" sz="3600" dirty="0"/>
          </a:p>
        </p:txBody>
      </p:sp>
      <p:sp>
        <p:nvSpPr>
          <p:cNvPr id="3" name="Content Placeholder 2">
            <a:extLst>
              <a:ext uri="{FF2B5EF4-FFF2-40B4-BE49-F238E27FC236}">
                <a16:creationId xmlns:a16="http://schemas.microsoft.com/office/drawing/2014/main" id="{7D8FA835-2DE4-CB01-6F7A-9E5733D3BC92}"/>
              </a:ext>
            </a:extLst>
          </p:cNvPr>
          <p:cNvSpPr>
            <a:spLocks noGrp="1"/>
          </p:cNvSpPr>
          <p:nvPr>
            <p:ph idx="1"/>
          </p:nvPr>
        </p:nvSpPr>
        <p:spPr>
          <a:solidFill>
            <a:schemeClr val="bg1"/>
          </a:solidFill>
        </p:spPr>
        <p:txBody>
          <a:bodyPr/>
          <a:lstStyle/>
          <a:p>
            <a:r>
              <a:rPr lang="en-IN" dirty="0"/>
              <a:t>Session Objective</a:t>
            </a:r>
          </a:p>
          <a:p>
            <a:pPr lvl="1"/>
            <a:r>
              <a:rPr lang="en-IN" dirty="0"/>
              <a:t>Understand </a:t>
            </a:r>
            <a:r>
              <a:rPr lang="en-IN" b="1" dirty="0"/>
              <a:t>how GC works internally</a:t>
            </a:r>
          </a:p>
          <a:p>
            <a:pPr lvl="1"/>
            <a:r>
              <a:rPr lang="en-IN" dirty="0"/>
              <a:t>Compare different </a:t>
            </a:r>
            <a:r>
              <a:rPr lang="en-IN" b="1" dirty="0"/>
              <a:t>GC algorithms</a:t>
            </a:r>
          </a:p>
          <a:p>
            <a:pPr lvl="1"/>
            <a:r>
              <a:rPr lang="en-IN" dirty="0"/>
              <a:t>Read </a:t>
            </a:r>
            <a:r>
              <a:rPr lang="en-IN" b="1" dirty="0"/>
              <a:t>GC logs</a:t>
            </a:r>
          </a:p>
          <a:p>
            <a:pPr lvl="1"/>
            <a:r>
              <a:rPr lang="en-IN" dirty="0"/>
              <a:t>Do basic </a:t>
            </a:r>
            <a:r>
              <a:rPr lang="en-IN" b="1" dirty="0"/>
              <a:t>JVM tuning</a:t>
            </a:r>
            <a:endParaRPr lang="en-US" b="1" dirty="0"/>
          </a:p>
        </p:txBody>
      </p:sp>
    </p:spTree>
    <p:extLst>
      <p:ext uri="{BB962C8B-B14F-4D97-AF65-F5344CB8AC3E}">
        <p14:creationId xmlns:p14="http://schemas.microsoft.com/office/powerpoint/2010/main" val="134719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95BE14-3ADA-6DD4-5C93-FB4BC133779D}"/>
              </a:ext>
            </a:extLst>
          </p:cNvPr>
          <p:cNvSpPr>
            <a:spLocks noGrp="1"/>
          </p:cNvSpPr>
          <p:nvPr>
            <p:ph type="title"/>
          </p:nvPr>
        </p:nvSpPr>
        <p:spPr/>
        <p:txBody>
          <a:bodyPr/>
          <a:lstStyle/>
          <a:p>
            <a:r>
              <a:rPr lang="en-IN" dirty="0"/>
              <a:t>What is Garbage Collection ?</a:t>
            </a:r>
            <a:endParaRPr lang="en-US" dirty="0"/>
          </a:p>
        </p:txBody>
      </p:sp>
      <p:sp>
        <p:nvSpPr>
          <p:cNvPr id="3" name="Content Placeholder 2">
            <a:extLst>
              <a:ext uri="{FF2B5EF4-FFF2-40B4-BE49-F238E27FC236}">
                <a16:creationId xmlns:a16="http://schemas.microsoft.com/office/drawing/2014/main" id="{AB77D705-5FD9-0AE9-7B26-0ED430F74283}"/>
              </a:ext>
            </a:extLst>
          </p:cNvPr>
          <p:cNvSpPr>
            <a:spLocks noGrp="1"/>
          </p:cNvSpPr>
          <p:nvPr>
            <p:ph idx="1"/>
          </p:nvPr>
        </p:nvSpPr>
        <p:spPr/>
        <p:txBody>
          <a:bodyPr/>
          <a:lstStyle/>
          <a:p>
            <a:r>
              <a:rPr lang="en-IN" dirty="0"/>
              <a:t>JVM automatically frees memory of unused objects.</a:t>
            </a:r>
          </a:p>
          <a:p>
            <a:r>
              <a:rPr lang="en-IN" dirty="0"/>
              <a:t>Objects created – Heap</a:t>
            </a:r>
          </a:p>
          <a:p>
            <a:r>
              <a:rPr lang="en-IN" dirty="0"/>
              <a:t>Objects no longer referenced – Garbage</a:t>
            </a:r>
          </a:p>
          <a:p>
            <a:r>
              <a:rPr lang="en-IN" dirty="0"/>
              <a:t>GC removes them – Frees memory </a:t>
            </a:r>
            <a:endParaRPr lang="en-US" dirty="0"/>
          </a:p>
        </p:txBody>
      </p:sp>
    </p:spTree>
    <p:extLst>
      <p:ext uri="{BB962C8B-B14F-4D97-AF65-F5344CB8AC3E}">
        <p14:creationId xmlns:p14="http://schemas.microsoft.com/office/powerpoint/2010/main" val="1146584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06368-E406-FCDD-5CCE-02B2456B75D8}"/>
              </a:ext>
            </a:extLst>
          </p:cNvPr>
          <p:cNvSpPr>
            <a:spLocks noGrp="1"/>
          </p:cNvSpPr>
          <p:nvPr>
            <p:ph type="title"/>
          </p:nvPr>
        </p:nvSpPr>
        <p:spPr/>
        <p:txBody>
          <a:bodyPr/>
          <a:lstStyle/>
          <a:p>
            <a:r>
              <a:rPr lang="en-IN" dirty="0"/>
              <a:t>Why GC matters for performance ?</a:t>
            </a:r>
            <a:endParaRPr lang="en-US" dirty="0"/>
          </a:p>
        </p:txBody>
      </p:sp>
      <p:sp>
        <p:nvSpPr>
          <p:cNvPr id="3" name="Content Placeholder 2">
            <a:extLst>
              <a:ext uri="{FF2B5EF4-FFF2-40B4-BE49-F238E27FC236}">
                <a16:creationId xmlns:a16="http://schemas.microsoft.com/office/drawing/2014/main" id="{472B67B3-2C41-571C-5A6F-5548BC10BBDC}"/>
              </a:ext>
            </a:extLst>
          </p:cNvPr>
          <p:cNvSpPr>
            <a:spLocks noGrp="1"/>
          </p:cNvSpPr>
          <p:nvPr>
            <p:ph idx="1"/>
          </p:nvPr>
        </p:nvSpPr>
        <p:spPr/>
        <p:txBody>
          <a:bodyPr/>
          <a:lstStyle/>
          <a:p>
            <a:r>
              <a:rPr lang="en-IN" dirty="0"/>
              <a:t>GC is not free – It causes pause times (Stop – The – World)</a:t>
            </a:r>
          </a:p>
          <a:p>
            <a:r>
              <a:rPr lang="en-IN" dirty="0"/>
              <a:t>API response delayed because GC paused thread</a:t>
            </a:r>
          </a:p>
          <a:p>
            <a:r>
              <a:rPr lang="en-IN" dirty="0"/>
              <a:t>High GC – low throughput </a:t>
            </a:r>
            <a:endParaRPr lang="en-US" dirty="0"/>
          </a:p>
        </p:txBody>
      </p:sp>
    </p:spTree>
    <p:extLst>
      <p:ext uri="{BB962C8B-B14F-4D97-AF65-F5344CB8AC3E}">
        <p14:creationId xmlns:p14="http://schemas.microsoft.com/office/powerpoint/2010/main" val="13140129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1001FC-25AA-E34B-0C2F-41539EEEFDF0}"/>
              </a:ext>
            </a:extLst>
          </p:cNvPr>
          <p:cNvSpPr>
            <a:spLocks noGrp="1"/>
          </p:cNvSpPr>
          <p:nvPr>
            <p:ph type="title"/>
          </p:nvPr>
        </p:nvSpPr>
        <p:spPr>
          <a:solidFill>
            <a:schemeClr val="bg1"/>
          </a:solidFill>
        </p:spPr>
        <p:txBody>
          <a:bodyPr/>
          <a:lstStyle/>
          <a:p>
            <a:r>
              <a:rPr lang="en-IN" dirty="0"/>
              <a:t>GC Process – Core Concept </a:t>
            </a:r>
            <a:endParaRPr lang="en-US" dirty="0"/>
          </a:p>
        </p:txBody>
      </p:sp>
      <p:graphicFrame>
        <p:nvGraphicFramePr>
          <p:cNvPr id="4" name="Content Placeholder 3">
            <a:extLst>
              <a:ext uri="{FF2B5EF4-FFF2-40B4-BE49-F238E27FC236}">
                <a16:creationId xmlns:a16="http://schemas.microsoft.com/office/drawing/2014/main" id="{0D52DDD0-9591-F196-D618-547593621314}"/>
              </a:ext>
            </a:extLst>
          </p:cNvPr>
          <p:cNvGraphicFramePr>
            <a:graphicFrameLocks noGrp="1"/>
          </p:cNvGraphicFramePr>
          <p:nvPr>
            <p:ph sz="half" idx="1"/>
            <p:extLst>
              <p:ext uri="{D42A27DB-BD31-4B8C-83A1-F6EECF244321}">
                <p14:modId xmlns:p14="http://schemas.microsoft.com/office/powerpoint/2010/main" val="464744548"/>
              </p:ext>
            </p:extLst>
          </p:nvPr>
        </p:nvGraphicFramePr>
        <p:xfrm>
          <a:off x="838200" y="1825625"/>
          <a:ext cx="5181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Content Placeholder 4">
            <a:extLst>
              <a:ext uri="{FF2B5EF4-FFF2-40B4-BE49-F238E27FC236}">
                <a16:creationId xmlns:a16="http://schemas.microsoft.com/office/drawing/2014/main" id="{AF6DCFA9-3D0F-615B-D34D-B46BBA134C37}"/>
              </a:ext>
            </a:extLst>
          </p:cNvPr>
          <p:cNvSpPr>
            <a:spLocks noGrp="1"/>
          </p:cNvSpPr>
          <p:nvPr>
            <p:ph sz="half" idx="2"/>
          </p:nvPr>
        </p:nvSpPr>
        <p:spPr/>
        <p:txBody>
          <a:bodyPr/>
          <a:lstStyle/>
          <a:p>
            <a:r>
              <a:rPr lang="en-IN" dirty="0"/>
              <a:t>Mark Phase</a:t>
            </a:r>
          </a:p>
          <a:p>
            <a:pPr lvl="1"/>
            <a:r>
              <a:rPr lang="en-IN" dirty="0"/>
              <a:t>Find reachable object</a:t>
            </a:r>
          </a:p>
          <a:p>
            <a:r>
              <a:rPr lang="en-IN" dirty="0"/>
              <a:t>Sweep Phase</a:t>
            </a:r>
          </a:p>
          <a:p>
            <a:pPr lvl="1"/>
            <a:r>
              <a:rPr lang="en-IN" dirty="0"/>
              <a:t>Remove unused objects</a:t>
            </a:r>
          </a:p>
          <a:p>
            <a:r>
              <a:rPr lang="en-IN" dirty="0"/>
              <a:t>Compact Phase</a:t>
            </a:r>
          </a:p>
          <a:p>
            <a:pPr lvl="1"/>
            <a:r>
              <a:rPr lang="en-IN" dirty="0"/>
              <a:t>Remove fragmentation</a:t>
            </a:r>
            <a:endParaRPr lang="en-US" dirty="0"/>
          </a:p>
        </p:txBody>
      </p:sp>
    </p:spTree>
    <p:extLst>
      <p:ext uri="{BB962C8B-B14F-4D97-AF65-F5344CB8AC3E}">
        <p14:creationId xmlns:p14="http://schemas.microsoft.com/office/powerpoint/2010/main" val="24923937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P spid="5" grpId="0" build="p"/>
    </p:bldLst>
  </p:timing>
</p:sld>
</file>

<file path=ppt/slides/slide7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0E7F0-640C-D9EB-D4C0-49998D3FF733}"/>
              </a:ext>
            </a:extLst>
          </p:cNvPr>
          <p:cNvSpPr>
            <a:spLocks noGrp="1"/>
          </p:cNvSpPr>
          <p:nvPr>
            <p:ph type="title"/>
          </p:nvPr>
        </p:nvSpPr>
        <p:spPr/>
        <p:txBody>
          <a:bodyPr/>
          <a:lstStyle/>
          <a:p>
            <a:r>
              <a:rPr lang="en-IN" dirty="0"/>
              <a:t>Step 1 : Mark</a:t>
            </a:r>
            <a:endParaRPr lang="en-US" dirty="0"/>
          </a:p>
        </p:txBody>
      </p:sp>
      <p:sp>
        <p:nvSpPr>
          <p:cNvPr id="4" name="Content Placeholder 3">
            <a:extLst>
              <a:ext uri="{FF2B5EF4-FFF2-40B4-BE49-F238E27FC236}">
                <a16:creationId xmlns:a16="http://schemas.microsoft.com/office/drawing/2014/main" id="{6A42C88E-B54C-802A-0858-784DC7ED3134}"/>
              </a:ext>
            </a:extLst>
          </p:cNvPr>
          <p:cNvSpPr>
            <a:spLocks noGrp="1"/>
          </p:cNvSpPr>
          <p:nvPr>
            <p:ph sz="half" idx="1"/>
          </p:nvPr>
        </p:nvSpPr>
        <p:spPr/>
        <p:txBody>
          <a:bodyPr>
            <a:normAutofit/>
          </a:bodyPr>
          <a:lstStyle/>
          <a:p>
            <a:r>
              <a:rPr lang="en-GB" sz="2400" dirty="0"/>
              <a:t>The first step in the process is called marking.</a:t>
            </a:r>
          </a:p>
          <a:p>
            <a:r>
              <a:rPr lang="en-GB" sz="2400" dirty="0"/>
              <a:t>This is where garbage collector identifies which pieces of memory are in use and which are not</a:t>
            </a:r>
          </a:p>
          <a:p>
            <a:r>
              <a:rPr lang="en-GB" sz="2400" dirty="0"/>
              <a:t>All objects are scanned in the marking phase to make this determination.</a:t>
            </a:r>
          </a:p>
          <a:p>
            <a:r>
              <a:rPr lang="en-GB" sz="2400" dirty="0"/>
              <a:t>This can be a very time-consuming process if all objects in a system  must be scanned.</a:t>
            </a:r>
            <a:endParaRPr lang="en-US" sz="2400" dirty="0"/>
          </a:p>
        </p:txBody>
      </p:sp>
      <p:pic>
        <p:nvPicPr>
          <p:cNvPr id="6" name="Picture 2">
            <a:extLst>
              <a:ext uri="{FF2B5EF4-FFF2-40B4-BE49-F238E27FC236}">
                <a16:creationId xmlns:a16="http://schemas.microsoft.com/office/drawing/2014/main" id="{C21E1B63-6576-BFC3-5C11-5296FB4CEB1D}"/>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172200" y="2058194"/>
            <a:ext cx="5181600" cy="3886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679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1C5C49-6A4E-4013-C838-DF6650D8F7BF}"/>
              </a:ext>
            </a:extLst>
          </p:cNvPr>
          <p:cNvSpPr>
            <a:spLocks noGrp="1"/>
          </p:cNvSpPr>
          <p:nvPr>
            <p:ph type="title"/>
          </p:nvPr>
        </p:nvSpPr>
        <p:spPr/>
        <p:txBody>
          <a:bodyPr/>
          <a:lstStyle/>
          <a:p>
            <a:r>
              <a:rPr lang="en-IN" dirty="0"/>
              <a:t>Step 2 : Normal Deletion - Sweeping</a:t>
            </a:r>
            <a:endParaRPr lang="en-US" dirty="0"/>
          </a:p>
        </p:txBody>
      </p:sp>
      <p:sp>
        <p:nvSpPr>
          <p:cNvPr id="4" name="Content Placeholder 3">
            <a:extLst>
              <a:ext uri="{FF2B5EF4-FFF2-40B4-BE49-F238E27FC236}">
                <a16:creationId xmlns:a16="http://schemas.microsoft.com/office/drawing/2014/main" id="{BF50DE1E-C3B1-D215-BC31-BDC154704B3A}"/>
              </a:ext>
            </a:extLst>
          </p:cNvPr>
          <p:cNvSpPr>
            <a:spLocks noGrp="1"/>
          </p:cNvSpPr>
          <p:nvPr>
            <p:ph sz="half" idx="1"/>
          </p:nvPr>
        </p:nvSpPr>
        <p:spPr/>
        <p:txBody>
          <a:bodyPr/>
          <a:lstStyle/>
          <a:p>
            <a:r>
              <a:rPr lang="en-GB" dirty="0"/>
              <a:t>Normal deletion removes unreferenced objects leaving referenced objects and pointers to free space.</a:t>
            </a:r>
          </a:p>
          <a:p>
            <a:r>
              <a:rPr lang="en-GB" dirty="0"/>
              <a:t>The memory allocator holds references to the block of free space where new object can be allocated.</a:t>
            </a:r>
            <a:endParaRPr lang="en-US" dirty="0"/>
          </a:p>
          <a:p>
            <a:endParaRPr lang="en-US" dirty="0"/>
          </a:p>
        </p:txBody>
      </p:sp>
      <p:pic>
        <p:nvPicPr>
          <p:cNvPr id="6" name="Picture 4">
            <a:extLst>
              <a:ext uri="{FF2B5EF4-FFF2-40B4-BE49-F238E27FC236}">
                <a16:creationId xmlns:a16="http://schemas.microsoft.com/office/drawing/2014/main" id="{1362351C-002C-C7B8-6C3A-5C46E6210214}"/>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172200" y="2058194"/>
            <a:ext cx="5181600" cy="3886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5461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686CB-6FF8-7F69-C8B0-C02D5680DB24}"/>
              </a:ext>
            </a:extLst>
          </p:cNvPr>
          <p:cNvSpPr>
            <a:spLocks noGrp="1"/>
          </p:cNvSpPr>
          <p:nvPr>
            <p:ph type="title"/>
          </p:nvPr>
        </p:nvSpPr>
        <p:spPr/>
        <p:txBody>
          <a:bodyPr>
            <a:normAutofit/>
          </a:bodyPr>
          <a:lstStyle/>
          <a:p>
            <a:r>
              <a:rPr lang="en-IN" sz="4000" dirty="0"/>
              <a:t>Step 3 - </a:t>
            </a:r>
            <a:r>
              <a:rPr lang="en-GB" sz="4000" dirty="0"/>
              <a:t>Deletion with Compacting - Compaction</a:t>
            </a:r>
            <a:endParaRPr lang="en-US" sz="4000" dirty="0"/>
          </a:p>
        </p:txBody>
      </p:sp>
      <p:sp>
        <p:nvSpPr>
          <p:cNvPr id="4" name="Content Placeholder 3">
            <a:extLst>
              <a:ext uri="{FF2B5EF4-FFF2-40B4-BE49-F238E27FC236}">
                <a16:creationId xmlns:a16="http://schemas.microsoft.com/office/drawing/2014/main" id="{DBE64B32-B3BA-D068-5212-A44186A409F7}"/>
              </a:ext>
            </a:extLst>
          </p:cNvPr>
          <p:cNvSpPr>
            <a:spLocks noGrp="1"/>
          </p:cNvSpPr>
          <p:nvPr>
            <p:ph sz="half" idx="1"/>
          </p:nvPr>
        </p:nvSpPr>
        <p:spPr/>
        <p:txBody>
          <a:bodyPr/>
          <a:lstStyle/>
          <a:p>
            <a:r>
              <a:rPr lang="en-GB" dirty="0"/>
              <a:t>To further improve performance, in addition deleting unreferenced object, you can also compact the remaining referenced objects.</a:t>
            </a:r>
          </a:p>
          <a:p>
            <a:r>
              <a:rPr lang="en-GB" dirty="0"/>
              <a:t>By moving referenced object together, this makes new memory allocation much easier and faster</a:t>
            </a:r>
            <a:endParaRPr lang="en-US" dirty="0"/>
          </a:p>
          <a:p>
            <a:endParaRPr lang="en-US" dirty="0"/>
          </a:p>
        </p:txBody>
      </p:sp>
      <p:pic>
        <p:nvPicPr>
          <p:cNvPr id="6" name="Content Placeholder 4">
            <a:extLst>
              <a:ext uri="{FF2B5EF4-FFF2-40B4-BE49-F238E27FC236}">
                <a16:creationId xmlns:a16="http://schemas.microsoft.com/office/drawing/2014/main" id="{6F8BB62A-A5D7-DF42-3CA1-1C20C1363333}"/>
              </a:ext>
            </a:extLst>
          </p:cNvPr>
          <p:cNvPicPr>
            <a:picLocks noGrp="1" noChangeAspect="1"/>
          </p:cNvPicPr>
          <p:nvPr>
            <p:ph sz="half" idx="2"/>
          </p:nvPr>
        </p:nvPicPr>
        <p:blipFill>
          <a:blip r:embed="rId2"/>
          <a:stretch>
            <a:fillRect/>
          </a:stretch>
        </p:blipFill>
        <p:spPr>
          <a:xfrm>
            <a:off x="6172200" y="2058194"/>
            <a:ext cx="5181600" cy="3886200"/>
          </a:xfrm>
          <a:prstGeom prst="rect">
            <a:avLst/>
          </a:prstGeom>
        </p:spPr>
      </p:pic>
    </p:spTree>
    <p:extLst>
      <p:ext uri="{BB962C8B-B14F-4D97-AF65-F5344CB8AC3E}">
        <p14:creationId xmlns:p14="http://schemas.microsoft.com/office/powerpoint/2010/main" val="26276639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7A893-8E3D-D00A-0FD9-E31F551E7284}"/>
              </a:ext>
            </a:extLst>
          </p:cNvPr>
          <p:cNvSpPr>
            <a:spLocks noGrp="1"/>
          </p:cNvSpPr>
          <p:nvPr>
            <p:ph type="title"/>
          </p:nvPr>
        </p:nvSpPr>
        <p:spPr/>
        <p:txBody>
          <a:bodyPr/>
          <a:lstStyle/>
          <a:p>
            <a:r>
              <a:rPr lang="en-GB" dirty="0"/>
              <a:t>JVM Generations</a:t>
            </a:r>
            <a:endParaRPr lang="en-US" dirty="0"/>
          </a:p>
        </p:txBody>
      </p:sp>
      <p:sp>
        <p:nvSpPr>
          <p:cNvPr id="3" name="Content Placeholder 2">
            <a:extLst>
              <a:ext uri="{FF2B5EF4-FFF2-40B4-BE49-F238E27FC236}">
                <a16:creationId xmlns:a16="http://schemas.microsoft.com/office/drawing/2014/main" id="{9B41D5C9-DBC1-BFEC-F570-02FAF6226AFE}"/>
              </a:ext>
            </a:extLst>
          </p:cNvPr>
          <p:cNvSpPr>
            <a:spLocks noGrp="1"/>
          </p:cNvSpPr>
          <p:nvPr>
            <p:ph sz="half" idx="1"/>
          </p:nvPr>
        </p:nvSpPr>
        <p:spPr/>
        <p:txBody>
          <a:bodyPr>
            <a:normAutofit/>
          </a:bodyPr>
          <a:lstStyle/>
          <a:p>
            <a:r>
              <a:rPr lang="en-GB" sz="2400" dirty="0"/>
              <a:t>The information learned from the object allocation behaviour can be used to enhance the performance of the JVM.</a:t>
            </a:r>
          </a:p>
          <a:p>
            <a:r>
              <a:rPr lang="en-GB" sz="2400" dirty="0"/>
              <a:t>Therefor, the heap is broken up into smaller parts or generations.</a:t>
            </a:r>
          </a:p>
          <a:p>
            <a:r>
              <a:rPr lang="en-GB" sz="2400" dirty="0"/>
              <a:t>The heap parts are</a:t>
            </a:r>
          </a:p>
          <a:p>
            <a:pPr lvl="1"/>
            <a:r>
              <a:rPr lang="en-GB" sz="2000" dirty="0"/>
              <a:t>Young Generation</a:t>
            </a:r>
          </a:p>
          <a:p>
            <a:pPr lvl="1"/>
            <a:r>
              <a:rPr lang="en-GB" sz="2000" dirty="0"/>
              <a:t>Old or Tenured Generation</a:t>
            </a:r>
          </a:p>
          <a:p>
            <a:pPr lvl="1"/>
            <a:r>
              <a:rPr lang="en-GB" sz="2000" dirty="0"/>
              <a:t>Permanent Generation</a:t>
            </a:r>
          </a:p>
          <a:p>
            <a:pPr marL="914400" lvl="2" indent="0">
              <a:buNone/>
            </a:pPr>
            <a:endParaRPr lang="en-US" sz="1800" dirty="0"/>
          </a:p>
        </p:txBody>
      </p:sp>
      <p:pic>
        <p:nvPicPr>
          <p:cNvPr id="7170" name="Picture 2">
            <a:extLst>
              <a:ext uri="{FF2B5EF4-FFF2-40B4-BE49-F238E27FC236}">
                <a16:creationId xmlns:a16="http://schemas.microsoft.com/office/drawing/2014/main" id="{9ADB69C8-85E6-BEC8-7A4F-93A961F05DDA}"/>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172200" y="2058194"/>
            <a:ext cx="5181600" cy="3886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302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717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00A93E-1FCA-26BD-FB9C-EFB8772A1CE5}"/>
              </a:ext>
            </a:extLst>
          </p:cNvPr>
          <p:cNvSpPr>
            <a:spLocks noGrp="1"/>
          </p:cNvSpPr>
          <p:nvPr>
            <p:ph type="title"/>
          </p:nvPr>
        </p:nvSpPr>
        <p:spPr/>
        <p:txBody>
          <a:bodyPr/>
          <a:lstStyle/>
          <a:p>
            <a:r>
              <a:rPr lang="en-GB" dirty="0"/>
              <a:t>Young  Generation</a:t>
            </a:r>
            <a:endParaRPr lang="en-US" dirty="0"/>
          </a:p>
        </p:txBody>
      </p:sp>
      <p:sp>
        <p:nvSpPr>
          <p:cNvPr id="3" name="Content Placeholder 2">
            <a:extLst>
              <a:ext uri="{FF2B5EF4-FFF2-40B4-BE49-F238E27FC236}">
                <a16:creationId xmlns:a16="http://schemas.microsoft.com/office/drawing/2014/main" id="{5A3F136E-EA4E-B0F3-9C3F-F3A3FDFBBC60}"/>
              </a:ext>
            </a:extLst>
          </p:cNvPr>
          <p:cNvSpPr>
            <a:spLocks noGrp="1"/>
          </p:cNvSpPr>
          <p:nvPr>
            <p:ph idx="1"/>
          </p:nvPr>
        </p:nvSpPr>
        <p:spPr/>
        <p:txBody>
          <a:bodyPr/>
          <a:lstStyle/>
          <a:p>
            <a:r>
              <a:rPr lang="en-GB" dirty="0"/>
              <a:t>The Young Generation is where all new objects are allocated and aged.</a:t>
            </a:r>
          </a:p>
          <a:p>
            <a:r>
              <a:rPr lang="en-GB" dirty="0"/>
              <a:t>When young generation fills up, this causes a minor garbage collection.</a:t>
            </a:r>
          </a:p>
          <a:p>
            <a:r>
              <a:rPr lang="en-GB" dirty="0"/>
              <a:t>Minor collections can be optimized assuming a high object mortality rate.</a:t>
            </a:r>
          </a:p>
          <a:p>
            <a:r>
              <a:rPr lang="en-GB" dirty="0"/>
              <a:t>Some surviving objects are aged and eventually move to the old generation.</a:t>
            </a:r>
            <a:endParaRPr lang="en-US" dirty="0"/>
          </a:p>
        </p:txBody>
      </p:sp>
    </p:spTree>
    <p:extLst>
      <p:ext uri="{BB962C8B-B14F-4D97-AF65-F5344CB8AC3E}">
        <p14:creationId xmlns:p14="http://schemas.microsoft.com/office/powerpoint/2010/main" val="31201180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6F0BA-B3C5-45CD-D36A-37102E1C8F31}"/>
              </a:ext>
            </a:extLst>
          </p:cNvPr>
          <p:cNvSpPr>
            <a:spLocks noGrp="1"/>
          </p:cNvSpPr>
          <p:nvPr>
            <p:ph type="title"/>
          </p:nvPr>
        </p:nvSpPr>
        <p:spPr/>
        <p:txBody>
          <a:bodyPr/>
          <a:lstStyle/>
          <a:p>
            <a:r>
              <a:rPr lang="en-GB" dirty="0"/>
              <a:t>Viewing the generations in </a:t>
            </a:r>
            <a:r>
              <a:rPr lang="en-GB" dirty="0" err="1"/>
              <a:t>VisualVM</a:t>
            </a:r>
            <a:endParaRPr lang="en-US" dirty="0"/>
          </a:p>
        </p:txBody>
      </p:sp>
      <p:pic>
        <p:nvPicPr>
          <p:cNvPr id="5" name="Content Placeholder 4">
            <a:extLst>
              <a:ext uri="{FF2B5EF4-FFF2-40B4-BE49-F238E27FC236}">
                <a16:creationId xmlns:a16="http://schemas.microsoft.com/office/drawing/2014/main" id="{508F5833-4E2D-2727-CEF3-C7FA12311565}"/>
              </a:ext>
            </a:extLst>
          </p:cNvPr>
          <p:cNvPicPr>
            <a:picLocks noGrp="1" noChangeAspect="1"/>
          </p:cNvPicPr>
          <p:nvPr>
            <p:ph idx="1"/>
          </p:nvPr>
        </p:nvPicPr>
        <p:blipFill>
          <a:blip r:embed="rId2"/>
          <a:stretch>
            <a:fillRect/>
          </a:stretch>
        </p:blipFill>
        <p:spPr>
          <a:xfrm>
            <a:off x="3061738" y="1768475"/>
            <a:ext cx="6068524" cy="4510520"/>
          </a:xfrm>
        </p:spPr>
      </p:pic>
    </p:spTree>
    <p:extLst>
      <p:ext uri="{BB962C8B-B14F-4D97-AF65-F5344CB8AC3E}">
        <p14:creationId xmlns:p14="http://schemas.microsoft.com/office/powerpoint/2010/main" val="9379491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794DC-37AD-D619-AB37-958233039B13}"/>
              </a:ext>
            </a:extLst>
          </p:cNvPr>
          <p:cNvSpPr>
            <a:spLocks noGrp="1"/>
          </p:cNvSpPr>
          <p:nvPr>
            <p:ph type="title"/>
          </p:nvPr>
        </p:nvSpPr>
        <p:spPr/>
        <p:txBody>
          <a:bodyPr/>
          <a:lstStyle/>
          <a:p>
            <a:r>
              <a:rPr lang="en-GB" dirty="0"/>
              <a:t>Types of Garbage Collectors in Java</a:t>
            </a:r>
            <a:endParaRPr lang="en-US" dirty="0"/>
          </a:p>
        </p:txBody>
      </p:sp>
      <p:sp>
        <p:nvSpPr>
          <p:cNvPr id="3" name="Content Placeholder 2">
            <a:extLst>
              <a:ext uri="{FF2B5EF4-FFF2-40B4-BE49-F238E27FC236}">
                <a16:creationId xmlns:a16="http://schemas.microsoft.com/office/drawing/2014/main" id="{1D338184-7F0A-CBB4-3F71-8854A1615AE8}"/>
              </a:ext>
            </a:extLst>
          </p:cNvPr>
          <p:cNvSpPr>
            <a:spLocks noGrp="1"/>
          </p:cNvSpPr>
          <p:nvPr>
            <p:ph idx="1"/>
          </p:nvPr>
        </p:nvSpPr>
        <p:spPr/>
        <p:txBody>
          <a:bodyPr>
            <a:normAutofit fontScale="92500" lnSpcReduction="10000"/>
          </a:bodyPr>
          <a:lstStyle/>
          <a:p>
            <a:r>
              <a:rPr lang="en-GB" dirty="0"/>
              <a:t>Serial Garbage Collector</a:t>
            </a:r>
          </a:p>
          <a:p>
            <a:pPr lvl="1"/>
            <a:r>
              <a:rPr lang="en-GB" dirty="0"/>
              <a:t>Single thread</a:t>
            </a:r>
          </a:p>
          <a:p>
            <a:pPr lvl="1"/>
            <a:r>
              <a:rPr lang="en-GB" dirty="0"/>
              <a:t>Simple</a:t>
            </a:r>
          </a:p>
          <a:p>
            <a:pPr lvl="1"/>
            <a:r>
              <a:rPr lang="en-GB" dirty="0"/>
              <a:t>Not for production</a:t>
            </a:r>
          </a:p>
          <a:p>
            <a:r>
              <a:rPr lang="en-GB" dirty="0"/>
              <a:t>Parallel Garbage Collector (Throughput Collector)</a:t>
            </a:r>
          </a:p>
          <a:p>
            <a:pPr lvl="1"/>
            <a:r>
              <a:rPr lang="en-GB" dirty="0"/>
              <a:t>Multi-threaded</a:t>
            </a:r>
          </a:p>
          <a:p>
            <a:pPr lvl="1"/>
            <a:r>
              <a:rPr lang="en-GB" dirty="0"/>
              <a:t>Focus : high throughput</a:t>
            </a:r>
          </a:p>
          <a:p>
            <a:pPr lvl="1"/>
            <a:r>
              <a:rPr lang="en-GB" dirty="0"/>
              <a:t>Higher pause times</a:t>
            </a:r>
          </a:p>
          <a:p>
            <a:r>
              <a:rPr lang="en-GB" dirty="0"/>
              <a:t>CMS (Concurrent Mark-Sweep) Garbage Collector – </a:t>
            </a:r>
            <a:r>
              <a:rPr lang="en-GB" dirty="0" err="1"/>
              <a:t>Depricated</a:t>
            </a:r>
            <a:endParaRPr lang="en-GB" dirty="0"/>
          </a:p>
          <a:p>
            <a:pPr lvl="1"/>
            <a:r>
              <a:rPr lang="en-GB" dirty="0"/>
              <a:t>Runs with application</a:t>
            </a:r>
          </a:p>
          <a:p>
            <a:pPr lvl="1"/>
            <a:r>
              <a:rPr lang="en-GB" dirty="0"/>
              <a:t>Low pause</a:t>
            </a:r>
          </a:p>
          <a:p>
            <a:pPr lvl="1"/>
            <a:r>
              <a:rPr lang="en-GB" dirty="0"/>
              <a:t>Deprecated – replaced by G1</a:t>
            </a:r>
            <a:endParaRPr lang="en-US" dirty="0"/>
          </a:p>
        </p:txBody>
      </p:sp>
    </p:spTree>
    <p:extLst>
      <p:ext uri="{BB962C8B-B14F-4D97-AF65-F5344CB8AC3E}">
        <p14:creationId xmlns:p14="http://schemas.microsoft.com/office/powerpoint/2010/main" val="12396307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58A6E-A1D9-C4BB-BD7E-7BF5FC6D8F17}"/>
              </a:ext>
            </a:extLst>
          </p:cNvPr>
          <p:cNvSpPr>
            <a:spLocks noGrp="1"/>
          </p:cNvSpPr>
          <p:nvPr>
            <p:ph type="title"/>
          </p:nvPr>
        </p:nvSpPr>
        <p:spPr/>
        <p:txBody>
          <a:bodyPr/>
          <a:lstStyle/>
          <a:p>
            <a:r>
              <a:rPr lang="en-GB" dirty="0"/>
              <a:t>Types of Garbage Collectors in Java</a:t>
            </a:r>
            <a:endParaRPr lang="en-US" dirty="0"/>
          </a:p>
        </p:txBody>
      </p:sp>
      <p:sp>
        <p:nvSpPr>
          <p:cNvPr id="3" name="Content Placeholder 2">
            <a:extLst>
              <a:ext uri="{FF2B5EF4-FFF2-40B4-BE49-F238E27FC236}">
                <a16:creationId xmlns:a16="http://schemas.microsoft.com/office/drawing/2014/main" id="{882BE452-5E1D-8A5C-E1BF-9BD810A54956}"/>
              </a:ext>
            </a:extLst>
          </p:cNvPr>
          <p:cNvSpPr>
            <a:spLocks noGrp="1"/>
          </p:cNvSpPr>
          <p:nvPr>
            <p:ph idx="1"/>
          </p:nvPr>
        </p:nvSpPr>
        <p:spPr/>
        <p:txBody>
          <a:bodyPr/>
          <a:lstStyle/>
          <a:p>
            <a:r>
              <a:rPr lang="en-GB" dirty="0"/>
              <a:t>G1 (Garbage First)  Garbage Collector </a:t>
            </a:r>
            <a:r>
              <a:rPr lang="en-IN" dirty="0"/>
              <a:t>– Default</a:t>
            </a:r>
          </a:p>
          <a:p>
            <a:pPr lvl="1"/>
            <a:r>
              <a:rPr lang="en-IN" dirty="0"/>
              <a:t>Region-based heap</a:t>
            </a:r>
          </a:p>
          <a:p>
            <a:pPr lvl="1"/>
            <a:r>
              <a:rPr lang="en-IN" dirty="0"/>
              <a:t>Predictable pause time</a:t>
            </a:r>
          </a:p>
          <a:p>
            <a:pPr lvl="1"/>
            <a:r>
              <a:rPr lang="en-IN" dirty="0"/>
              <a:t>G1 tries to clean only the dirty parts, not the whole heap</a:t>
            </a:r>
            <a:endParaRPr lang="en-GB" dirty="0"/>
          </a:p>
          <a:p>
            <a:r>
              <a:rPr lang="en-GB" dirty="0"/>
              <a:t>Z Garbage Collector (ZGC)</a:t>
            </a:r>
          </a:p>
          <a:p>
            <a:pPr lvl="1"/>
            <a:r>
              <a:rPr lang="en-GB" dirty="0"/>
              <a:t>Ultra low latency </a:t>
            </a:r>
          </a:p>
          <a:p>
            <a:pPr lvl="1"/>
            <a:r>
              <a:rPr lang="en-GB" dirty="0"/>
              <a:t>Scales to huge heaps</a:t>
            </a:r>
          </a:p>
          <a:p>
            <a:r>
              <a:rPr lang="en-GB" dirty="0"/>
              <a:t>Shenandoah Garbage Collection – Linux Only</a:t>
            </a:r>
            <a:endParaRPr lang="en-US" dirty="0"/>
          </a:p>
          <a:p>
            <a:pPr lvl="1"/>
            <a:r>
              <a:rPr lang="en-US" dirty="0"/>
              <a:t>Similar to ZGC</a:t>
            </a:r>
          </a:p>
          <a:p>
            <a:pPr lvl="1"/>
            <a:r>
              <a:rPr lang="en-US" dirty="0"/>
              <a:t>Concurrent compaction</a:t>
            </a:r>
          </a:p>
        </p:txBody>
      </p:sp>
    </p:spTree>
    <p:extLst>
      <p:ext uri="{BB962C8B-B14F-4D97-AF65-F5344CB8AC3E}">
        <p14:creationId xmlns:p14="http://schemas.microsoft.com/office/powerpoint/2010/main" val="16344165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2EAC76-F64C-4161-8B1F-37313E2E2EFD}"/>
              </a:ext>
            </a:extLst>
          </p:cNvPr>
          <p:cNvSpPr>
            <a:spLocks noGrp="1"/>
          </p:cNvSpPr>
          <p:nvPr>
            <p:ph type="title"/>
          </p:nvPr>
        </p:nvSpPr>
        <p:spPr/>
        <p:txBody>
          <a:bodyPr/>
          <a:lstStyle/>
          <a:p>
            <a:r>
              <a:rPr lang="en-US" dirty="0"/>
              <a:t>Quick Comparison Table</a:t>
            </a:r>
          </a:p>
        </p:txBody>
      </p:sp>
      <p:graphicFrame>
        <p:nvGraphicFramePr>
          <p:cNvPr id="4" name="Content Placeholder 3">
            <a:extLst>
              <a:ext uri="{FF2B5EF4-FFF2-40B4-BE49-F238E27FC236}">
                <a16:creationId xmlns:a16="http://schemas.microsoft.com/office/drawing/2014/main" id="{52641CB4-CC5F-ACF1-284D-DCF5750A13DC}"/>
              </a:ext>
            </a:extLst>
          </p:cNvPr>
          <p:cNvGraphicFramePr>
            <a:graphicFrameLocks noGrp="1"/>
          </p:cNvGraphicFramePr>
          <p:nvPr>
            <p:ph idx="1"/>
            <p:extLst>
              <p:ext uri="{D42A27DB-BD31-4B8C-83A1-F6EECF244321}">
                <p14:modId xmlns:p14="http://schemas.microsoft.com/office/powerpoint/2010/main" val="558889451"/>
              </p:ext>
            </p:extLst>
          </p:nvPr>
        </p:nvGraphicFramePr>
        <p:xfrm>
          <a:off x="838200" y="1825625"/>
          <a:ext cx="8412480" cy="222504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4192413565"/>
                    </a:ext>
                  </a:extLst>
                </a:gridCol>
                <a:gridCol w="2103120">
                  <a:extLst>
                    <a:ext uri="{9D8B030D-6E8A-4147-A177-3AD203B41FA5}">
                      <a16:colId xmlns:a16="http://schemas.microsoft.com/office/drawing/2014/main" val="867852083"/>
                    </a:ext>
                  </a:extLst>
                </a:gridCol>
                <a:gridCol w="2103120">
                  <a:extLst>
                    <a:ext uri="{9D8B030D-6E8A-4147-A177-3AD203B41FA5}">
                      <a16:colId xmlns:a16="http://schemas.microsoft.com/office/drawing/2014/main" val="1074819130"/>
                    </a:ext>
                  </a:extLst>
                </a:gridCol>
                <a:gridCol w="2103120">
                  <a:extLst>
                    <a:ext uri="{9D8B030D-6E8A-4147-A177-3AD203B41FA5}">
                      <a16:colId xmlns:a16="http://schemas.microsoft.com/office/drawing/2014/main" val="2211761970"/>
                    </a:ext>
                  </a:extLst>
                </a:gridCol>
              </a:tblGrid>
              <a:tr h="370840">
                <a:tc>
                  <a:txBody>
                    <a:bodyPr/>
                    <a:lstStyle/>
                    <a:p>
                      <a:pPr>
                        <a:buNone/>
                      </a:pPr>
                      <a:r>
                        <a:rPr lang="en-US" dirty="0"/>
                        <a:t>GC</a:t>
                      </a:r>
                    </a:p>
                  </a:txBody>
                  <a:tcPr anchor="ctr"/>
                </a:tc>
                <a:tc>
                  <a:txBody>
                    <a:bodyPr/>
                    <a:lstStyle/>
                    <a:p>
                      <a:pPr>
                        <a:buNone/>
                      </a:pPr>
                      <a:r>
                        <a:rPr lang="en-US"/>
                        <a:t>Goal</a:t>
                      </a:r>
                    </a:p>
                  </a:txBody>
                  <a:tcPr anchor="ctr"/>
                </a:tc>
                <a:tc>
                  <a:txBody>
                    <a:bodyPr/>
                    <a:lstStyle/>
                    <a:p>
                      <a:pPr>
                        <a:buNone/>
                      </a:pPr>
                      <a:r>
                        <a:rPr lang="en-US"/>
                        <a:t>Pause</a:t>
                      </a:r>
                    </a:p>
                  </a:txBody>
                  <a:tcPr anchor="ctr"/>
                </a:tc>
                <a:tc>
                  <a:txBody>
                    <a:bodyPr/>
                    <a:lstStyle/>
                    <a:p>
                      <a:pPr>
                        <a:buNone/>
                      </a:pPr>
                      <a:r>
                        <a:rPr lang="en-US"/>
                        <a:t>Use Case</a:t>
                      </a:r>
                    </a:p>
                  </a:txBody>
                  <a:tcPr anchor="ctr"/>
                </a:tc>
                <a:extLst>
                  <a:ext uri="{0D108BD9-81ED-4DB2-BD59-A6C34878D82A}">
                    <a16:rowId xmlns:a16="http://schemas.microsoft.com/office/drawing/2014/main" val="1333829560"/>
                  </a:ext>
                </a:extLst>
              </a:tr>
              <a:tr h="370840">
                <a:tc>
                  <a:txBody>
                    <a:bodyPr/>
                    <a:lstStyle/>
                    <a:p>
                      <a:pPr>
                        <a:buNone/>
                      </a:pPr>
                      <a:r>
                        <a:rPr lang="en-US"/>
                        <a:t>Serial</a:t>
                      </a:r>
                    </a:p>
                  </a:txBody>
                  <a:tcPr anchor="ctr"/>
                </a:tc>
                <a:tc>
                  <a:txBody>
                    <a:bodyPr/>
                    <a:lstStyle/>
                    <a:p>
                      <a:pPr>
                        <a:buNone/>
                      </a:pPr>
                      <a:r>
                        <a:rPr lang="en-US"/>
                        <a:t>Simplicity</a:t>
                      </a:r>
                    </a:p>
                  </a:txBody>
                  <a:tcPr anchor="ctr"/>
                </a:tc>
                <a:tc>
                  <a:txBody>
                    <a:bodyPr/>
                    <a:lstStyle/>
                    <a:p>
                      <a:pPr>
                        <a:buNone/>
                      </a:pPr>
                      <a:r>
                        <a:rPr lang="en-US"/>
                        <a:t>High</a:t>
                      </a:r>
                    </a:p>
                  </a:txBody>
                  <a:tcPr anchor="ctr"/>
                </a:tc>
                <a:tc>
                  <a:txBody>
                    <a:bodyPr/>
                    <a:lstStyle/>
                    <a:p>
                      <a:pPr>
                        <a:buNone/>
                      </a:pPr>
                      <a:r>
                        <a:rPr lang="en-US"/>
                        <a:t>Small apps</a:t>
                      </a:r>
                    </a:p>
                  </a:txBody>
                  <a:tcPr anchor="ctr"/>
                </a:tc>
                <a:extLst>
                  <a:ext uri="{0D108BD9-81ED-4DB2-BD59-A6C34878D82A}">
                    <a16:rowId xmlns:a16="http://schemas.microsoft.com/office/drawing/2014/main" val="3797557155"/>
                  </a:ext>
                </a:extLst>
              </a:tr>
              <a:tr h="370840">
                <a:tc>
                  <a:txBody>
                    <a:bodyPr/>
                    <a:lstStyle/>
                    <a:p>
                      <a:pPr>
                        <a:buNone/>
                      </a:pPr>
                      <a:r>
                        <a:rPr lang="en-US" dirty="0"/>
                        <a:t>Parallel</a:t>
                      </a:r>
                    </a:p>
                  </a:txBody>
                  <a:tcPr anchor="ctr"/>
                </a:tc>
                <a:tc>
                  <a:txBody>
                    <a:bodyPr/>
                    <a:lstStyle/>
                    <a:p>
                      <a:pPr>
                        <a:buNone/>
                      </a:pPr>
                      <a:r>
                        <a:rPr lang="en-US"/>
                        <a:t>Throughput</a:t>
                      </a:r>
                    </a:p>
                  </a:txBody>
                  <a:tcPr anchor="ctr"/>
                </a:tc>
                <a:tc>
                  <a:txBody>
                    <a:bodyPr/>
                    <a:lstStyle/>
                    <a:p>
                      <a:pPr>
                        <a:buNone/>
                      </a:pPr>
                      <a:r>
                        <a:rPr lang="en-US"/>
                        <a:t>Medium</a:t>
                      </a:r>
                    </a:p>
                  </a:txBody>
                  <a:tcPr anchor="ctr"/>
                </a:tc>
                <a:tc>
                  <a:txBody>
                    <a:bodyPr/>
                    <a:lstStyle/>
                    <a:p>
                      <a:pPr>
                        <a:buNone/>
                      </a:pPr>
                      <a:r>
                        <a:rPr lang="en-US"/>
                        <a:t>Batch</a:t>
                      </a:r>
                    </a:p>
                  </a:txBody>
                  <a:tcPr anchor="ctr"/>
                </a:tc>
                <a:extLst>
                  <a:ext uri="{0D108BD9-81ED-4DB2-BD59-A6C34878D82A}">
                    <a16:rowId xmlns:a16="http://schemas.microsoft.com/office/drawing/2014/main" val="4069432832"/>
                  </a:ext>
                </a:extLst>
              </a:tr>
              <a:tr h="370840">
                <a:tc>
                  <a:txBody>
                    <a:bodyPr/>
                    <a:lstStyle/>
                    <a:p>
                      <a:pPr>
                        <a:buNone/>
                      </a:pPr>
                      <a:r>
                        <a:rPr lang="en-US"/>
                        <a:t>G1</a:t>
                      </a:r>
                    </a:p>
                  </a:txBody>
                  <a:tcPr anchor="ctr"/>
                </a:tc>
                <a:tc>
                  <a:txBody>
                    <a:bodyPr/>
                    <a:lstStyle/>
                    <a:p>
                      <a:pPr>
                        <a:buNone/>
                      </a:pPr>
                      <a:r>
                        <a:rPr lang="en-US"/>
                        <a:t>Balanced</a:t>
                      </a:r>
                    </a:p>
                  </a:txBody>
                  <a:tcPr anchor="ctr"/>
                </a:tc>
                <a:tc>
                  <a:txBody>
                    <a:bodyPr/>
                    <a:lstStyle/>
                    <a:p>
                      <a:pPr>
                        <a:buNone/>
                      </a:pPr>
                      <a:r>
                        <a:rPr lang="en-US"/>
                        <a:t>Low</a:t>
                      </a:r>
                    </a:p>
                  </a:txBody>
                  <a:tcPr anchor="ctr"/>
                </a:tc>
                <a:tc>
                  <a:txBody>
                    <a:bodyPr/>
                    <a:lstStyle/>
                    <a:p>
                      <a:pPr>
                        <a:buNone/>
                      </a:pPr>
                      <a:r>
                        <a:rPr lang="en-US"/>
                        <a:t>Default</a:t>
                      </a:r>
                    </a:p>
                  </a:txBody>
                  <a:tcPr anchor="ctr"/>
                </a:tc>
                <a:extLst>
                  <a:ext uri="{0D108BD9-81ED-4DB2-BD59-A6C34878D82A}">
                    <a16:rowId xmlns:a16="http://schemas.microsoft.com/office/drawing/2014/main" val="2108613508"/>
                  </a:ext>
                </a:extLst>
              </a:tr>
              <a:tr h="370840">
                <a:tc>
                  <a:txBody>
                    <a:bodyPr/>
                    <a:lstStyle/>
                    <a:p>
                      <a:pPr>
                        <a:buNone/>
                      </a:pPr>
                      <a:r>
                        <a:rPr lang="en-US"/>
                        <a:t>ZGC</a:t>
                      </a:r>
                    </a:p>
                  </a:txBody>
                  <a:tcPr anchor="ctr"/>
                </a:tc>
                <a:tc>
                  <a:txBody>
                    <a:bodyPr/>
                    <a:lstStyle/>
                    <a:p>
                      <a:pPr>
                        <a:buNone/>
                      </a:pPr>
                      <a:r>
                        <a:rPr lang="en-US"/>
                        <a:t>Ultra low latency</a:t>
                      </a:r>
                    </a:p>
                  </a:txBody>
                  <a:tcPr anchor="ctr"/>
                </a:tc>
                <a:tc>
                  <a:txBody>
                    <a:bodyPr/>
                    <a:lstStyle/>
                    <a:p>
                      <a:pPr>
                        <a:buNone/>
                      </a:pPr>
                      <a:r>
                        <a:rPr lang="en-US"/>
                        <a:t>Very Low</a:t>
                      </a:r>
                    </a:p>
                  </a:txBody>
                  <a:tcPr anchor="ctr"/>
                </a:tc>
                <a:tc>
                  <a:txBody>
                    <a:bodyPr/>
                    <a:lstStyle/>
                    <a:p>
                      <a:pPr>
                        <a:buNone/>
                      </a:pPr>
                      <a:r>
                        <a:rPr lang="en-US"/>
                        <a:t>Real-time</a:t>
                      </a:r>
                    </a:p>
                  </a:txBody>
                  <a:tcPr anchor="ctr"/>
                </a:tc>
                <a:extLst>
                  <a:ext uri="{0D108BD9-81ED-4DB2-BD59-A6C34878D82A}">
                    <a16:rowId xmlns:a16="http://schemas.microsoft.com/office/drawing/2014/main" val="559567323"/>
                  </a:ext>
                </a:extLst>
              </a:tr>
              <a:tr h="370840">
                <a:tc>
                  <a:txBody>
                    <a:bodyPr/>
                    <a:lstStyle/>
                    <a:p>
                      <a:pPr>
                        <a:buNone/>
                      </a:pPr>
                      <a:r>
                        <a:rPr lang="en-US"/>
                        <a:t>Shenandoah</a:t>
                      </a:r>
                    </a:p>
                  </a:txBody>
                  <a:tcPr anchor="ctr"/>
                </a:tc>
                <a:tc>
                  <a:txBody>
                    <a:bodyPr/>
                    <a:lstStyle/>
                    <a:p>
                      <a:pPr>
                        <a:buNone/>
                      </a:pPr>
                      <a:r>
                        <a:rPr lang="en-US"/>
                        <a:t>Low latency</a:t>
                      </a:r>
                    </a:p>
                  </a:txBody>
                  <a:tcPr anchor="ctr"/>
                </a:tc>
                <a:tc>
                  <a:txBody>
                    <a:bodyPr/>
                    <a:lstStyle/>
                    <a:p>
                      <a:pPr>
                        <a:buNone/>
                      </a:pPr>
                      <a:r>
                        <a:rPr lang="en-US"/>
                        <a:t>Very Low</a:t>
                      </a:r>
                    </a:p>
                  </a:txBody>
                  <a:tcPr anchor="ctr"/>
                </a:tc>
                <a:tc>
                  <a:txBody>
                    <a:bodyPr/>
                    <a:lstStyle/>
                    <a:p>
                      <a:pPr>
                        <a:buNone/>
                      </a:pPr>
                      <a:r>
                        <a:rPr lang="en-US" dirty="0"/>
                        <a:t>Large heaps</a:t>
                      </a:r>
                    </a:p>
                  </a:txBody>
                  <a:tcPr anchor="ctr"/>
                </a:tc>
                <a:extLst>
                  <a:ext uri="{0D108BD9-81ED-4DB2-BD59-A6C34878D82A}">
                    <a16:rowId xmlns:a16="http://schemas.microsoft.com/office/drawing/2014/main" val="15110042"/>
                  </a:ext>
                </a:extLst>
              </a:tr>
            </a:tbl>
          </a:graphicData>
        </a:graphic>
      </p:graphicFrame>
    </p:spTree>
    <p:extLst>
      <p:ext uri="{BB962C8B-B14F-4D97-AF65-F5344CB8AC3E}">
        <p14:creationId xmlns:p14="http://schemas.microsoft.com/office/powerpoint/2010/main" val="1676439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BB79A-D088-E623-C84B-68C18696E305}"/>
              </a:ext>
            </a:extLst>
          </p:cNvPr>
          <p:cNvSpPr>
            <a:spLocks noGrp="1"/>
          </p:cNvSpPr>
          <p:nvPr>
            <p:ph type="title"/>
          </p:nvPr>
        </p:nvSpPr>
        <p:spPr/>
        <p:txBody>
          <a:bodyPr/>
          <a:lstStyle/>
          <a:p>
            <a:r>
              <a:rPr lang="en-GB" dirty="0"/>
              <a:t>Reviewing Generational GC - CMS</a:t>
            </a:r>
            <a:endParaRPr lang="en-US" dirty="0"/>
          </a:p>
        </p:txBody>
      </p:sp>
      <p:sp>
        <p:nvSpPr>
          <p:cNvPr id="4" name="Content Placeholder 3">
            <a:extLst>
              <a:ext uri="{FF2B5EF4-FFF2-40B4-BE49-F238E27FC236}">
                <a16:creationId xmlns:a16="http://schemas.microsoft.com/office/drawing/2014/main" id="{DF56B1A9-04CA-0F01-B2D7-60108986E1D0}"/>
              </a:ext>
            </a:extLst>
          </p:cNvPr>
          <p:cNvSpPr>
            <a:spLocks noGrp="1"/>
          </p:cNvSpPr>
          <p:nvPr>
            <p:ph sz="half" idx="1"/>
          </p:nvPr>
        </p:nvSpPr>
        <p:spPr/>
        <p:txBody>
          <a:bodyPr>
            <a:normAutofit lnSpcReduction="10000"/>
          </a:bodyPr>
          <a:lstStyle/>
          <a:p>
            <a:r>
              <a:rPr lang="en-GB" sz="2400" dirty="0"/>
              <a:t>Heap Structure for CMS Collector</a:t>
            </a:r>
          </a:p>
          <a:p>
            <a:r>
              <a:rPr lang="en-GB" sz="2400" dirty="0"/>
              <a:t>The heap is split into three spaces.</a:t>
            </a:r>
          </a:p>
          <a:p>
            <a:pPr lvl="1"/>
            <a:r>
              <a:rPr lang="en-GB" sz="2000" dirty="0"/>
              <a:t>Eden</a:t>
            </a:r>
          </a:p>
          <a:p>
            <a:pPr lvl="1"/>
            <a:r>
              <a:rPr lang="en-GB" sz="2000" dirty="0"/>
              <a:t>Old Generation</a:t>
            </a:r>
          </a:p>
          <a:p>
            <a:pPr lvl="1"/>
            <a:r>
              <a:rPr lang="en-GB" sz="2000" dirty="0"/>
              <a:t>Survivors</a:t>
            </a:r>
          </a:p>
          <a:p>
            <a:r>
              <a:rPr lang="en-GB" sz="2400" dirty="0"/>
              <a:t>Young generation is split into Eden and two survivor spaces. </a:t>
            </a:r>
          </a:p>
          <a:p>
            <a:r>
              <a:rPr lang="en-GB" sz="2400" dirty="0"/>
              <a:t>Old generation is one contiguous space. Object collection is done in place.</a:t>
            </a:r>
          </a:p>
          <a:p>
            <a:r>
              <a:rPr lang="en-GB" sz="2400" dirty="0"/>
              <a:t>No compaction is done unless there is a full GC – major GC.</a:t>
            </a:r>
            <a:endParaRPr lang="en-US" sz="2400" dirty="0"/>
          </a:p>
        </p:txBody>
      </p:sp>
      <p:pic>
        <p:nvPicPr>
          <p:cNvPr id="7" name="Content Placeholder 6">
            <a:extLst>
              <a:ext uri="{FF2B5EF4-FFF2-40B4-BE49-F238E27FC236}">
                <a16:creationId xmlns:a16="http://schemas.microsoft.com/office/drawing/2014/main" id="{AF0561FC-32E3-5032-712D-BD4806F609CF}"/>
              </a:ext>
            </a:extLst>
          </p:cNvPr>
          <p:cNvPicPr>
            <a:picLocks noGrp="1" noChangeAspect="1"/>
          </p:cNvPicPr>
          <p:nvPr>
            <p:ph sz="half" idx="2"/>
          </p:nvPr>
        </p:nvPicPr>
        <p:blipFill>
          <a:blip r:embed="rId2"/>
          <a:stretch>
            <a:fillRect/>
          </a:stretch>
        </p:blipFill>
        <p:spPr>
          <a:xfrm>
            <a:off x="6172200" y="2058194"/>
            <a:ext cx="5181600" cy="3886200"/>
          </a:xfrm>
          <a:prstGeom prst="rect">
            <a:avLst/>
          </a:prstGeom>
        </p:spPr>
      </p:pic>
    </p:spTree>
    <p:extLst>
      <p:ext uri="{BB962C8B-B14F-4D97-AF65-F5344CB8AC3E}">
        <p14:creationId xmlns:p14="http://schemas.microsoft.com/office/powerpoint/2010/main" val="4195000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97C2B0-66E9-DCF9-E4BA-FB89C52AD1E5}"/>
              </a:ext>
            </a:extLst>
          </p:cNvPr>
          <p:cNvSpPr>
            <a:spLocks noGrp="1"/>
          </p:cNvSpPr>
          <p:nvPr>
            <p:ph type="title"/>
          </p:nvPr>
        </p:nvSpPr>
        <p:spPr/>
        <p:txBody>
          <a:bodyPr/>
          <a:lstStyle/>
          <a:p>
            <a:r>
              <a:rPr lang="en-GB" dirty="0"/>
              <a:t>How Young GC work in CMS</a:t>
            </a:r>
            <a:endParaRPr lang="en-US" dirty="0"/>
          </a:p>
        </p:txBody>
      </p:sp>
      <p:sp>
        <p:nvSpPr>
          <p:cNvPr id="4" name="Content Placeholder 3">
            <a:extLst>
              <a:ext uri="{FF2B5EF4-FFF2-40B4-BE49-F238E27FC236}">
                <a16:creationId xmlns:a16="http://schemas.microsoft.com/office/drawing/2014/main" id="{4BA5D3C9-1D21-0672-D825-C59C297B316C}"/>
              </a:ext>
            </a:extLst>
          </p:cNvPr>
          <p:cNvSpPr>
            <a:spLocks noGrp="1"/>
          </p:cNvSpPr>
          <p:nvPr>
            <p:ph sz="half" idx="1"/>
          </p:nvPr>
        </p:nvSpPr>
        <p:spPr/>
        <p:txBody>
          <a:bodyPr>
            <a:normAutofit/>
          </a:bodyPr>
          <a:lstStyle/>
          <a:p>
            <a:r>
              <a:rPr lang="en-GB" sz="2000" dirty="0"/>
              <a:t>The young generation is coloured light green and the old generation in blue.</a:t>
            </a:r>
          </a:p>
          <a:p>
            <a:r>
              <a:rPr lang="en-GB" sz="2000" dirty="0"/>
              <a:t>This is what the CMS might look like if your application has been running for a while. </a:t>
            </a:r>
          </a:p>
          <a:p>
            <a:r>
              <a:rPr lang="en-GB" sz="2000" dirty="0"/>
              <a:t>Objects are scattered around the old generation area.</a:t>
            </a:r>
          </a:p>
          <a:p>
            <a:r>
              <a:rPr lang="en-GB" sz="2000" dirty="0"/>
              <a:t>With CMS, old generation objects are deallocated in place. </a:t>
            </a:r>
          </a:p>
          <a:p>
            <a:r>
              <a:rPr lang="en-GB" sz="2000" dirty="0"/>
              <a:t>They are not moved around. The space is not compacted unless the is a full GC.</a:t>
            </a:r>
            <a:endParaRPr lang="en-US" sz="2000" dirty="0"/>
          </a:p>
        </p:txBody>
      </p:sp>
      <p:pic>
        <p:nvPicPr>
          <p:cNvPr id="7" name="Content Placeholder 6">
            <a:extLst>
              <a:ext uri="{FF2B5EF4-FFF2-40B4-BE49-F238E27FC236}">
                <a16:creationId xmlns:a16="http://schemas.microsoft.com/office/drawing/2014/main" id="{EE0BBD33-3475-95B4-0FA3-80BAC3B16739}"/>
              </a:ext>
            </a:extLst>
          </p:cNvPr>
          <p:cNvPicPr>
            <a:picLocks noGrp="1" noChangeAspect="1"/>
          </p:cNvPicPr>
          <p:nvPr>
            <p:ph sz="half" idx="2"/>
          </p:nvPr>
        </p:nvPicPr>
        <p:blipFill>
          <a:blip r:embed="rId2"/>
          <a:stretch>
            <a:fillRect/>
          </a:stretch>
        </p:blipFill>
        <p:spPr>
          <a:xfrm>
            <a:off x="6172200" y="2058194"/>
            <a:ext cx="5181600" cy="3886200"/>
          </a:xfrm>
          <a:prstGeom prst="rect">
            <a:avLst/>
          </a:prstGeom>
        </p:spPr>
      </p:pic>
    </p:spTree>
    <p:extLst>
      <p:ext uri="{BB962C8B-B14F-4D97-AF65-F5344CB8AC3E}">
        <p14:creationId xmlns:p14="http://schemas.microsoft.com/office/powerpoint/2010/main" val="701195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21EFC5-3DED-2F05-7D66-BD0697385A39}"/>
              </a:ext>
            </a:extLst>
          </p:cNvPr>
          <p:cNvSpPr>
            <a:spLocks noGrp="1"/>
          </p:cNvSpPr>
          <p:nvPr>
            <p:ph type="title"/>
          </p:nvPr>
        </p:nvSpPr>
        <p:spPr/>
        <p:txBody>
          <a:bodyPr/>
          <a:lstStyle/>
          <a:p>
            <a:r>
              <a:rPr lang="en-GB" dirty="0"/>
              <a:t>Young Generation Collection : CMS</a:t>
            </a:r>
            <a:endParaRPr lang="en-US" dirty="0"/>
          </a:p>
        </p:txBody>
      </p:sp>
      <p:sp>
        <p:nvSpPr>
          <p:cNvPr id="4" name="Content Placeholder 3">
            <a:extLst>
              <a:ext uri="{FF2B5EF4-FFF2-40B4-BE49-F238E27FC236}">
                <a16:creationId xmlns:a16="http://schemas.microsoft.com/office/drawing/2014/main" id="{3F2E4B3A-A06B-7459-85BD-81B74D536824}"/>
              </a:ext>
            </a:extLst>
          </p:cNvPr>
          <p:cNvSpPr>
            <a:spLocks noGrp="1"/>
          </p:cNvSpPr>
          <p:nvPr>
            <p:ph sz="half" idx="1"/>
          </p:nvPr>
        </p:nvSpPr>
        <p:spPr/>
        <p:txBody>
          <a:bodyPr>
            <a:normAutofit/>
          </a:bodyPr>
          <a:lstStyle/>
          <a:p>
            <a:r>
              <a:rPr lang="en-GB" sz="2000" dirty="0"/>
              <a:t>Live objects are copied from the Eden space and Survivor space.</a:t>
            </a:r>
          </a:p>
          <a:p>
            <a:r>
              <a:rPr lang="en-GB" sz="2000" dirty="0"/>
              <a:t>Any older objects that have reached their aging threshold are promoted to old generation. </a:t>
            </a:r>
            <a:endParaRPr lang="en-US" sz="2000" dirty="0"/>
          </a:p>
        </p:txBody>
      </p:sp>
      <p:pic>
        <p:nvPicPr>
          <p:cNvPr id="7" name="Content Placeholder 6">
            <a:extLst>
              <a:ext uri="{FF2B5EF4-FFF2-40B4-BE49-F238E27FC236}">
                <a16:creationId xmlns:a16="http://schemas.microsoft.com/office/drawing/2014/main" id="{AE568956-CBE7-79CE-6E86-09DD85A6BA97}"/>
              </a:ext>
            </a:extLst>
          </p:cNvPr>
          <p:cNvPicPr>
            <a:picLocks noGrp="1" noChangeAspect="1"/>
          </p:cNvPicPr>
          <p:nvPr>
            <p:ph sz="half" idx="2"/>
          </p:nvPr>
        </p:nvPicPr>
        <p:blipFill>
          <a:blip r:embed="rId2"/>
          <a:stretch>
            <a:fillRect/>
          </a:stretch>
        </p:blipFill>
        <p:spPr>
          <a:xfrm>
            <a:off x="6172200" y="2058194"/>
            <a:ext cx="5181600" cy="3886200"/>
          </a:xfrm>
          <a:prstGeom prst="rect">
            <a:avLst/>
          </a:prstGeom>
        </p:spPr>
      </p:pic>
    </p:spTree>
    <p:extLst>
      <p:ext uri="{BB962C8B-B14F-4D97-AF65-F5344CB8AC3E}">
        <p14:creationId xmlns:p14="http://schemas.microsoft.com/office/powerpoint/2010/main" val="37444269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C66171-2E85-8C76-9F9F-6069CD9B5A40}"/>
              </a:ext>
            </a:extLst>
          </p:cNvPr>
          <p:cNvSpPr>
            <a:spLocks noGrp="1"/>
          </p:cNvSpPr>
          <p:nvPr>
            <p:ph type="title"/>
          </p:nvPr>
        </p:nvSpPr>
        <p:spPr/>
        <p:txBody>
          <a:bodyPr/>
          <a:lstStyle/>
          <a:p>
            <a:r>
              <a:rPr lang="en-GB" dirty="0"/>
              <a:t>After Young GC : CMS</a:t>
            </a:r>
            <a:endParaRPr lang="en-US" dirty="0"/>
          </a:p>
        </p:txBody>
      </p:sp>
      <p:sp>
        <p:nvSpPr>
          <p:cNvPr id="3" name="Content Placeholder 2">
            <a:extLst>
              <a:ext uri="{FF2B5EF4-FFF2-40B4-BE49-F238E27FC236}">
                <a16:creationId xmlns:a16="http://schemas.microsoft.com/office/drawing/2014/main" id="{3C3040A3-7A61-30F8-C145-4ADDD1DEDEC4}"/>
              </a:ext>
            </a:extLst>
          </p:cNvPr>
          <p:cNvSpPr>
            <a:spLocks noGrp="1"/>
          </p:cNvSpPr>
          <p:nvPr>
            <p:ph sz="half" idx="1"/>
          </p:nvPr>
        </p:nvSpPr>
        <p:spPr/>
        <p:txBody>
          <a:bodyPr>
            <a:normAutofit/>
          </a:bodyPr>
          <a:lstStyle/>
          <a:p>
            <a:r>
              <a:rPr lang="en-GB" sz="2000" dirty="0"/>
              <a:t>After a young GC, the Eden space is cleared and one of the survivor spaces is cleared.</a:t>
            </a:r>
          </a:p>
          <a:p>
            <a:r>
              <a:rPr lang="en-GB" sz="2000" dirty="0"/>
              <a:t>Newly promoted objects are shown in dark blue on the diagram.</a:t>
            </a:r>
          </a:p>
          <a:p>
            <a:r>
              <a:rPr lang="en-GB" sz="2000" dirty="0"/>
              <a:t>The green object are surviving young generation objects that have not yet been promoted to old generation.</a:t>
            </a:r>
            <a:endParaRPr lang="en-US" sz="2000" dirty="0"/>
          </a:p>
        </p:txBody>
      </p:sp>
      <p:pic>
        <p:nvPicPr>
          <p:cNvPr id="6" name="Content Placeholder 5">
            <a:extLst>
              <a:ext uri="{FF2B5EF4-FFF2-40B4-BE49-F238E27FC236}">
                <a16:creationId xmlns:a16="http://schemas.microsoft.com/office/drawing/2014/main" id="{60AF688C-6A50-4C47-3002-A1E33B95065B}"/>
              </a:ext>
            </a:extLst>
          </p:cNvPr>
          <p:cNvPicPr>
            <a:picLocks noGrp="1" noChangeAspect="1"/>
          </p:cNvPicPr>
          <p:nvPr>
            <p:ph sz="half" idx="2"/>
          </p:nvPr>
        </p:nvPicPr>
        <p:blipFill>
          <a:blip r:embed="rId2"/>
          <a:stretch>
            <a:fillRect/>
          </a:stretch>
        </p:blipFill>
        <p:spPr>
          <a:xfrm>
            <a:off x="6172200" y="2058194"/>
            <a:ext cx="5181600" cy="3886200"/>
          </a:xfrm>
          <a:prstGeom prst="rect">
            <a:avLst/>
          </a:prstGeom>
        </p:spPr>
      </p:pic>
    </p:spTree>
    <p:extLst>
      <p:ext uri="{BB962C8B-B14F-4D97-AF65-F5344CB8AC3E}">
        <p14:creationId xmlns:p14="http://schemas.microsoft.com/office/powerpoint/2010/main" val="2520504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48837E-542B-3D9E-EB92-D48B7CF7F2A7}"/>
              </a:ext>
            </a:extLst>
          </p:cNvPr>
          <p:cNvSpPr>
            <a:spLocks noGrp="1"/>
          </p:cNvSpPr>
          <p:nvPr>
            <p:ph type="title"/>
          </p:nvPr>
        </p:nvSpPr>
        <p:spPr/>
        <p:txBody>
          <a:bodyPr/>
          <a:lstStyle/>
          <a:p>
            <a:r>
              <a:rPr lang="en-GB" dirty="0"/>
              <a:t>Old Generation Collection with CMS</a:t>
            </a:r>
            <a:endParaRPr lang="en-US" dirty="0"/>
          </a:p>
        </p:txBody>
      </p:sp>
      <p:sp>
        <p:nvSpPr>
          <p:cNvPr id="3" name="Content Placeholder 2">
            <a:extLst>
              <a:ext uri="{FF2B5EF4-FFF2-40B4-BE49-F238E27FC236}">
                <a16:creationId xmlns:a16="http://schemas.microsoft.com/office/drawing/2014/main" id="{767108E5-5157-0B46-30A9-9F671E306B95}"/>
              </a:ext>
            </a:extLst>
          </p:cNvPr>
          <p:cNvSpPr>
            <a:spLocks noGrp="1"/>
          </p:cNvSpPr>
          <p:nvPr>
            <p:ph sz="half" idx="1"/>
          </p:nvPr>
        </p:nvSpPr>
        <p:spPr/>
        <p:txBody>
          <a:bodyPr vert="horz" lIns="91440" tIns="45720" rIns="91440" bIns="45720" rtlCol="0">
            <a:normAutofit/>
          </a:bodyPr>
          <a:lstStyle/>
          <a:p>
            <a:r>
              <a:rPr lang="en-GB" sz="2000" dirty="0"/>
              <a:t>Two stop the world events take place</a:t>
            </a:r>
          </a:p>
          <a:p>
            <a:pPr lvl="1"/>
            <a:r>
              <a:rPr lang="en-GB" dirty="0"/>
              <a:t>Initial mark</a:t>
            </a:r>
          </a:p>
          <a:p>
            <a:pPr lvl="1"/>
            <a:r>
              <a:rPr lang="en-GB" dirty="0"/>
              <a:t>Remark</a:t>
            </a:r>
          </a:p>
          <a:p>
            <a:r>
              <a:rPr lang="en-GB" sz="2000" dirty="0"/>
              <a:t>When old generation reaches a certain occupancy rate, the CMS is kicked off.</a:t>
            </a:r>
          </a:p>
          <a:p>
            <a:r>
              <a:rPr lang="en-GB" sz="2000" dirty="0"/>
              <a:t>Initial mark is a short pause phase where live objects are marked.</a:t>
            </a:r>
          </a:p>
          <a:p>
            <a:r>
              <a:rPr lang="en-GB" sz="2000" dirty="0"/>
              <a:t>Concurrent marking finds live objects while the application continue to execute.</a:t>
            </a:r>
          </a:p>
          <a:p>
            <a:r>
              <a:rPr lang="en-GB" sz="2000" dirty="0"/>
              <a:t>In the remark phase objects are found that were missed during concurrent marking in the previous phase.</a:t>
            </a:r>
            <a:endParaRPr lang="en-US" sz="2000" dirty="0"/>
          </a:p>
        </p:txBody>
      </p:sp>
      <p:pic>
        <p:nvPicPr>
          <p:cNvPr id="6" name="Content Placeholder 5">
            <a:extLst>
              <a:ext uri="{FF2B5EF4-FFF2-40B4-BE49-F238E27FC236}">
                <a16:creationId xmlns:a16="http://schemas.microsoft.com/office/drawing/2014/main" id="{EC8FF145-FD41-D2C6-6FD2-0E58161268B4}"/>
              </a:ext>
            </a:extLst>
          </p:cNvPr>
          <p:cNvPicPr>
            <a:picLocks noGrp="1" noChangeAspect="1"/>
          </p:cNvPicPr>
          <p:nvPr>
            <p:ph sz="half" idx="2"/>
          </p:nvPr>
        </p:nvPicPr>
        <p:blipFill>
          <a:blip r:embed="rId2"/>
          <a:stretch>
            <a:fillRect/>
          </a:stretch>
        </p:blipFill>
        <p:spPr>
          <a:xfrm>
            <a:off x="6172200" y="2058194"/>
            <a:ext cx="5181600" cy="3886200"/>
          </a:xfrm>
          <a:prstGeom prst="rect">
            <a:avLst/>
          </a:prstGeom>
        </p:spPr>
      </p:pic>
    </p:spTree>
    <p:extLst>
      <p:ext uri="{BB962C8B-B14F-4D97-AF65-F5344CB8AC3E}">
        <p14:creationId xmlns:p14="http://schemas.microsoft.com/office/powerpoint/2010/main" val="40051166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F71B3-8A1D-BB88-6BBE-B5C878F85FA9}"/>
              </a:ext>
            </a:extLst>
          </p:cNvPr>
          <p:cNvSpPr>
            <a:spLocks noGrp="1"/>
          </p:cNvSpPr>
          <p:nvPr>
            <p:ph type="title"/>
          </p:nvPr>
        </p:nvSpPr>
        <p:spPr/>
        <p:txBody>
          <a:bodyPr>
            <a:normAutofit/>
          </a:bodyPr>
          <a:lstStyle/>
          <a:p>
            <a:r>
              <a:rPr lang="en-GB" sz="3600" dirty="0"/>
              <a:t>Old Generation Collection – Concurrent Sweep</a:t>
            </a:r>
            <a:endParaRPr lang="en-US" sz="3600" dirty="0"/>
          </a:p>
        </p:txBody>
      </p:sp>
      <p:sp>
        <p:nvSpPr>
          <p:cNvPr id="3" name="Content Placeholder 2">
            <a:extLst>
              <a:ext uri="{FF2B5EF4-FFF2-40B4-BE49-F238E27FC236}">
                <a16:creationId xmlns:a16="http://schemas.microsoft.com/office/drawing/2014/main" id="{1CF74783-47FA-A58F-3A0E-C5DCF14B6490}"/>
              </a:ext>
            </a:extLst>
          </p:cNvPr>
          <p:cNvSpPr>
            <a:spLocks noGrp="1"/>
          </p:cNvSpPr>
          <p:nvPr>
            <p:ph sz="half" idx="1"/>
          </p:nvPr>
        </p:nvSpPr>
        <p:spPr/>
        <p:txBody>
          <a:bodyPr/>
          <a:lstStyle/>
          <a:p>
            <a:r>
              <a:rPr lang="en-GB" dirty="0"/>
              <a:t>Objects that were not marked in the previous phase are deallocated in place.</a:t>
            </a:r>
          </a:p>
          <a:p>
            <a:r>
              <a:rPr lang="en-GB" dirty="0"/>
              <a:t>There is no compaction.</a:t>
            </a:r>
          </a:p>
          <a:p>
            <a:r>
              <a:rPr lang="en-GB" dirty="0"/>
              <a:t>Unmarked objects = Dead objects</a:t>
            </a:r>
            <a:endParaRPr lang="en-US" dirty="0"/>
          </a:p>
        </p:txBody>
      </p:sp>
      <p:pic>
        <p:nvPicPr>
          <p:cNvPr id="1026" name="Picture 2">
            <a:extLst>
              <a:ext uri="{FF2B5EF4-FFF2-40B4-BE49-F238E27FC236}">
                <a16:creationId xmlns:a16="http://schemas.microsoft.com/office/drawing/2014/main" id="{00F04D26-58AA-2D3F-4ADA-DCC7A0F663CF}"/>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172200" y="2053860"/>
            <a:ext cx="5181600" cy="3886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2381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FCE3A-8071-6072-7F21-CFFD66E6E6EF}"/>
              </a:ext>
            </a:extLst>
          </p:cNvPr>
          <p:cNvSpPr>
            <a:spLocks noGrp="1"/>
          </p:cNvSpPr>
          <p:nvPr>
            <p:ph type="title"/>
          </p:nvPr>
        </p:nvSpPr>
        <p:spPr/>
        <p:txBody>
          <a:bodyPr/>
          <a:lstStyle/>
          <a:p>
            <a:r>
              <a:rPr lang="en-GB" dirty="0"/>
              <a:t>Old Generation Collection  - After Sweeping</a:t>
            </a:r>
            <a:endParaRPr lang="en-US" dirty="0"/>
          </a:p>
        </p:txBody>
      </p:sp>
      <p:sp>
        <p:nvSpPr>
          <p:cNvPr id="3" name="Content Placeholder 2">
            <a:extLst>
              <a:ext uri="{FF2B5EF4-FFF2-40B4-BE49-F238E27FC236}">
                <a16:creationId xmlns:a16="http://schemas.microsoft.com/office/drawing/2014/main" id="{3B88A165-05F5-3618-867B-BFA7AA5F1FA8}"/>
              </a:ext>
            </a:extLst>
          </p:cNvPr>
          <p:cNvSpPr>
            <a:spLocks noGrp="1"/>
          </p:cNvSpPr>
          <p:nvPr>
            <p:ph sz="half" idx="1"/>
          </p:nvPr>
        </p:nvSpPr>
        <p:spPr/>
        <p:txBody>
          <a:bodyPr>
            <a:normAutofit/>
          </a:bodyPr>
          <a:lstStyle/>
          <a:p>
            <a:r>
              <a:rPr lang="en-GB" sz="2000" dirty="0"/>
              <a:t>After the Sweeping phase, you can see that a lot of memory has been freed up. You will also notice that no compaction has been done.</a:t>
            </a:r>
          </a:p>
          <a:p>
            <a:r>
              <a:rPr lang="en-GB" sz="2000" dirty="0"/>
              <a:t>Finally, the CMS collector will move through the resetting phase and wait for the next time GC threshold is reached. </a:t>
            </a:r>
            <a:endParaRPr lang="en-US" sz="2000" dirty="0"/>
          </a:p>
        </p:txBody>
      </p:sp>
      <p:pic>
        <p:nvPicPr>
          <p:cNvPr id="6" name="Content Placeholder 5">
            <a:extLst>
              <a:ext uri="{FF2B5EF4-FFF2-40B4-BE49-F238E27FC236}">
                <a16:creationId xmlns:a16="http://schemas.microsoft.com/office/drawing/2014/main" id="{65A6F4CC-0FE4-0BD9-F468-1AA5DC1F4BF2}"/>
              </a:ext>
            </a:extLst>
          </p:cNvPr>
          <p:cNvPicPr>
            <a:picLocks noGrp="1" noChangeAspect="1"/>
          </p:cNvPicPr>
          <p:nvPr>
            <p:ph sz="half" idx="2"/>
          </p:nvPr>
        </p:nvPicPr>
        <p:blipFill>
          <a:blip r:embed="rId2"/>
          <a:stretch>
            <a:fillRect/>
          </a:stretch>
        </p:blipFill>
        <p:spPr>
          <a:xfrm>
            <a:off x="6172200" y="2058194"/>
            <a:ext cx="5181600" cy="3886200"/>
          </a:xfrm>
          <a:prstGeom prst="rect">
            <a:avLst/>
          </a:prstGeom>
        </p:spPr>
      </p:pic>
    </p:spTree>
    <p:extLst>
      <p:ext uri="{BB962C8B-B14F-4D97-AF65-F5344CB8AC3E}">
        <p14:creationId xmlns:p14="http://schemas.microsoft.com/office/powerpoint/2010/main" val="3970733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0F5F78-45E1-F264-8714-3C1394A90919}"/>
              </a:ext>
            </a:extLst>
          </p:cNvPr>
          <p:cNvSpPr>
            <a:spLocks noGrp="1"/>
          </p:cNvSpPr>
          <p:nvPr>
            <p:ph type="title"/>
          </p:nvPr>
        </p:nvSpPr>
        <p:spPr/>
        <p:txBody>
          <a:bodyPr/>
          <a:lstStyle/>
          <a:p>
            <a:r>
              <a:rPr lang="en-IN" dirty="0"/>
              <a:t>CMS GC – In </a:t>
            </a:r>
            <a:r>
              <a:rPr lang="en-IN" dirty="0" err="1"/>
              <a:t>VisualVM</a:t>
            </a:r>
            <a:r>
              <a:rPr lang="en-IN" dirty="0"/>
              <a:t> and </a:t>
            </a:r>
            <a:r>
              <a:rPr lang="en-IN" dirty="0" err="1"/>
              <a:t>VisualGC</a:t>
            </a:r>
            <a:endParaRPr lang="en-US" dirty="0"/>
          </a:p>
        </p:txBody>
      </p:sp>
      <p:pic>
        <p:nvPicPr>
          <p:cNvPr id="5" name="Content Placeholder 4">
            <a:extLst>
              <a:ext uri="{FF2B5EF4-FFF2-40B4-BE49-F238E27FC236}">
                <a16:creationId xmlns:a16="http://schemas.microsoft.com/office/drawing/2014/main" id="{506551EF-8537-F91C-2586-DF9F2091E5E4}"/>
              </a:ext>
            </a:extLst>
          </p:cNvPr>
          <p:cNvPicPr>
            <a:picLocks noGrp="1" noChangeAspect="1"/>
          </p:cNvPicPr>
          <p:nvPr>
            <p:ph idx="1"/>
          </p:nvPr>
        </p:nvPicPr>
        <p:blipFill>
          <a:blip r:embed="rId2"/>
          <a:stretch>
            <a:fillRect/>
          </a:stretch>
        </p:blipFill>
        <p:spPr>
          <a:xfrm>
            <a:off x="2205790" y="1825625"/>
            <a:ext cx="7287173" cy="4667250"/>
          </a:xfrm>
          <a:prstGeom prst="rect">
            <a:avLst/>
          </a:prstGeom>
        </p:spPr>
      </p:pic>
    </p:spTree>
    <p:extLst>
      <p:ext uri="{BB962C8B-B14F-4D97-AF65-F5344CB8AC3E}">
        <p14:creationId xmlns:p14="http://schemas.microsoft.com/office/powerpoint/2010/main" val="29784428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936487-04FA-2F76-17FA-BB5A58C8BF2B}"/>
              </a:ext>
            </a:extLst>
          </p:cNvPr>
          <p:cNvSpPr>
            <a:spLocks noGrp="1"/>
          </p:cNvSpPr>
          <p:nvPr>
            <p:ph type="title"/>
          </p:nvPr>
        </p:nvSpPr>
        <p:spPr/>
        <p:txBody>
          <a:bodyPr/>
          <a:lstStyle/>
          <a:p>
            <a:r>
              <a:rPr lang="en-US" dirty="0"/>
              <a:t>G1 Garbage Collector Overview</a:t>
            </a:r>
          </a:p>
        </p:txBody>
      </p:sp>
      <p:sp>
        <p:nvSpPr>
          <p:cNvPr id="3" name="Content Placeholder 2">
            <a:extLst>
              <a:ext uri="{FF2B5EF4-FFF2-40B4-BE49-F238E27FC236}">
                <a16:creationId xmlns:a16="http://schemas.microsoft.com/office/drawing/2014/main" id="{F8A1F5EC-BDE5-E2AF-1E14-0616B8CC787E}"/>
              </a:ext>
            </a:extLst>
          </p:cNvPr>
          <p:cNvSpPr>
            <a:spLocks noGrp="1"/>
          </p:cNvSpPr>
          <p:nvPr>
            <p:ph idx="1"/>
          </p:nvPr>
        </p:nvSpPr>
        <p:spPr/>
        <p:txBody>
          <a:bodyPr/>
          <a:lstStyle/>
          <a:p>
            <a:r>
              <a:rPr lang="en-GB" b="1" dirty="0"/>
              <a:t>What is G1 GC ?</a:t>
            </a:r>
          </a:p>
          <a:p>
            <a:pPr lvl="1"/>
            <a:r>
              <a:rPr lang="en-GB" dirty="0"/>
              <a:t>Server-style garbage collector for </a:t>
            </a:r>
            <a:r>
              <a:rPr lang="en-GB" b="1" dirty="0"/>
              <a:t>large heap, multi-processor systems</a:t>
            </a:r>
          </a:p>
          <a:p>
            <a:pPr lvl="1"/>
            <a:r>
              <a:rPr lang="en-GB" dirty="0"/>
              <a:t>Designed for </a:t>
            </a:r>
            <a:r>
              <a:rPr lang="en-GB" b="1" dirty="0"/>
              <a:t>high throughput + predictable pause times</a:t>
            </a:r>
          </a:p>
          <a:p>
            <a:pPr lvl="1"/>
            <a:r>
              <a:rPr lang="en-GB" dirty="0"/>
              <a:t>Fully supported from JDK 9</a:t>
            </a:r>
            <a:endParaRPr lang="en-US" dirty="0"/>
          </a:p>
        </p:txBody>
      </p:sp>
    </p:spTree>
    <p:extLst>
      <p:ext uri="{BB962C8B-B14F-4D97-AF65-F5344CB8AC3E}">
        <p14:creationId xmlns:p14="http://schemas.microsoft.com/office/powerpoint/2010/main" val="28040076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F584BE-CC08-7947-9EDF-B41C1184510D}"/>
              </a:ext>
            </a:extLst>
          </p:cNvPr>
          <p:cNvSpPr>
            <a:spLocks noGrp="1"/>
          </p:cNvSpPr>
          <p:nvPr>
            <p:ph type="title"/>
          </p:nvPr>
        </p:nvSpPr>
        <p:spPr/>
        <p:txBody>
          <a:bodyPr/>
          <a:lstStyle/>
          <a:p>
            <a:r>
              <a:rPr lang="en-US" dirty="0"/>
              <a:t>G1 Garbage Collector Overview</a:t>
            </a:r>
          </a:p>
        </p:txBody>
      </p:sp>
      <p:sp>
        <p:nvSpPr>
          <p:cNvPr id="3" name="Content Placeholder 2">
            <a:extLst>
              <a:ext uri="{FF2B5EF4-FFF2-40B4-BE49-F238E27FC236}">
                <a16:creationId xmlns:a16="http://schemas.microsoft.com/office/drawing/2014/main" id="{31C12F10-EA6C-2830-FE0B-5031E17816CA}"/>
              </a:ext>
            </a:extLst>
          </p:cNvPr>
          <p:cNvSpPr>
            <a:spLocks noGrp="1"/>
          </p:cNvSpPr>
          <p:nvPr>
            <p:ph idx="1"/>
          </p:nvPr>
        </p:nvSpPr>
        <p:spPr/>
        <p:txBody>
          <a:bodyPr/>
          <a:lstStyle/>
          <a:p>
            <a:r>
              <a:rPr lang="en-GB" b="1" dirty="0"/>
              <a:t>Key Features</a:t>
            </a:r>
          </a:p>
          <a:p>
            <a:pPr lvl="1"/>
            <a:r>
              <a:rPr lang="en-GB" dirty="0"/>
              <a:t>Works concurrently with application threads (like CMS)</a:t>
            </a:r>
          </a:p>
          <a:p>
            <a:pPr lvl="1"/>
            <a:r>
              <a:rPr lang="en-GB" dirty="0"/>
              <a:t>Provides predictable GC pause times</a:t>
            </a:r>
          </a:p>
          <a:p>
            <a:pPr lvl="1"/>
            <a:r>
              <a:rPr lang="en-GB" dirty="0"/>
              <a:t>Performs heap compaction (avoids fragmentation)</a:t>
            </a:r>
          </a:p>
          <a:p>
            <a:pPr lvl="1"/>
            <a:r>
              <a:rPr lang="en-GB" dirty="0"/>
              <a:t>Maintains high performance (throughput)</a:t>
            </a:r>
          </a:p>
        </p:txBody>
      </p:sp>
    </p:spTree>
    <p:extLst>
      <p:ext uri="{BB962C8B-B14F-4D97-AF65-F5344CB8AC3E}">
        <p14:creationId xmlns:p14="http://schemas.microsoft.com/office/powerpoint/2010/main" val="38945662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A6CF74-A794-6248-9AA9-7489EF99E08C}"/>
              </a:ext>
            </a:extLst>
          </p:cNvPr>
          <p:cNvSpPr>
            <a:spLocks noGrp="1"/>
          </p:cNvSpPr>
          <p:nvPr>
            <p:ph type="title"/>
          </p:nvPr>
        </p:nvSpPr>
        <p:spPr/>
        <p:txBody>
          <a:bodyPr/>
          <a:lstStyle/>
          <a:p>
            <a:r>
              <a:rPr lang="en-GB" dirty="0"/>
              <a:t>G1 Operational Overview</a:t>
            </a:r>
            <a:endParaRPr lang="en-US" dirty="0"/>
          </a:p>
        </p:txBody>
      </p:sp>
      <p:sp>
        <p:nvSpPr>
          <p:cNvPr id="3" name="Content Placeholder 2">
            <a:extLst>
              <a:ext uri="{FF2B5EF4-FFF2-40B4-BE49-F238E27FC236}">
                <a16:creationId xmlns:a16="http://schemas.microsoft.com/office/drawing/2014/main" id="{AE9618F2-C4D8-C987-5EA5-D0CA654E5973}"/>
              </a:ext>
            </a:extLst>
          </p:cNvPr>
          <p:cNvSpPr>
            <a:spLocks noGrp="1"/>
          </p:cNvSpPr>
          <p:nvPr>
            <p:ph sz="half" idx="1"/>
          </p:nvPr>
        </p:nvSpPr>
        <p:spPr/>
        <p:txBody>
          <a:bodyPr>
            <a:normAutofit/>
          </a:bodyPr>
          <a:lstStyle/>
          <a:p>
            <a:r>
              <a:rPr lang="en-GB" sz="2400" dirty="0"/>
              <a:t>The older garbage collectors (serial, parallel, CMS) all structure the heap into three sections.</a:t>
            </a:r>
          </a:p>
          <a:p>
            <a:pPr lvl="1"/>
            <a:r>
              <a:rPr lang="en-GB" sz="2000" dirty="0"/>
              <a:t>Young Generation</a:t>
            </a:r>
          </a:p>
          <a:p>
            <a:pPr lvl="1"/>
            <a:r>
              <a:rPr lang="en-GB" sz="2000" dirty="0"/>
              <a:t>Old Generation</a:t>
            </a:r>
          </a:p>
          <a:p>
            <a:pPr lvl="1"/>
            <a:r>
              <a:rPr lang="en-GB" sz="2000" dirty="0"/>
              <a:t>Permanent Generation</a:t>
            </a:r>
          </a:p>
          <a:p>
            <a:r>
              <a:rPr lang="en-GB" sz="2400" dirty="0"/>
              <a:t>All memory objects end up in one of these three sections.</a:t>
            </a:r>
            <a:endParaRPr lang="en-US" sz="2400" dirty="0"/>
          </a:p>
        </p:txBody>
      </p:sp>
      <p:pic>
        <p:nvPicPr>
          <p:cNvPr id="8" name="Content Placeholder 7">
            <a:extLst>
              <a:ext uri="{FF2B5EF4-FFF2-40B4-BE49-F238E27FC236}">
                <a16:creationId xmlns:a16="http://schemas.microsoft.com/office/drawing/2014/main" id="{7A1C0127-679A-5672-9504-B9ABFCE88077}"/>
              </a:ext>
            </a:extLst>
          </p:cNvPr>
          <p:cNvPicPr>
            <a:picLocks noGrp="1" noChangeAspect="1"/>
          </p:cNvPicPr>
          <p:nvPr>
            <p:ph sz="half" idx="2"/>
          </p:nvPr>
        </p:nvPicPr>
        <p:blipFill>
          <a:blip r:embed="rId2"/>
          <a:stretch>
            <a:fillRect/>
          </a:stretch>
        </p:blipFill>
        <p:spPr>
          <a:xfrm>
            <a:off x="6172200" y="2058194"/>
            <a:ext cx="5181600" cy="3886200"/>
          </a:xfrm>
          <a:prstGeom prst="rect">
            <a:avLst/>
          </a:prstGeom>
        </p:spPr>
      </p:pic>
    </p:spTree>
    <p:extLst>
      <p:ext uri="{BB962C8B-B14F-4D97-AF65-F5344CB8AC3E}">
        <p14:creationId xmlns:p14="http://schemas.microsoft.com/office/powerpoint/2010/main" val="10061586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ED6FDF-DFB8-2974-352D-4B0D12FAA64E}"/>
              </a:ext>
            </a:extLst>
          </p:cNvPr>
          <p:cNvSpPr>
            <a:spLocks noGrp="1"/>
          </p:cNvSpPr>
          <p:nvPr>
            <p:ph type="title"/>
          </p:nvPr>
        </p:nvSpPr>
        <p:spPr/>
        <p:txBody>
          <a:bodyPr/>
          <a:lstStyle/>
          <a:p>
            <a:r>
              <a:rPr lang="en-GB" dirty="0"/>
              <a:t>G1 Operational Overview</a:t>
            </a:r>
            <a:endParaRPr lang="en-US" dirty="0"/>
          </a:p>
        </p:txBody>
      </p:sp>
      <p:sp>
        <p:nvSpPr>
          <p:cNvPr id="3" name="Content Placeholder 2">
            <a:extLst>
              <a:ext uri="{FF2B5EF4-FFF2-40B4-BE49-F238E27FC236}">
                <a16:creationId xmlns:a16="http://schemas.microsoft.com/office/drawing/2014/main" id="{E0BDB330-7088-9DD0-E1B7-F5168BD630F2}"/>
              </a:ext>
            </a:extLst>
          </p:cNvPr>
          <p:cNvSpPr>
            <a:spLocks noGrp="1"/>
          </p:cNvSpPr>
          <p:nvPr>
            <p:ph sz="half" idx="1"/>
          </p:nvPr>
        </p:nvSpPr>
        <p:spPr/>
        <p:txBody>
          <a:bodyPr>
            <a:normAutofit/>
          </a:bodyPr>
          <a:lstStyle/>
          <a:p>
            <a:r>
              <a:rPr lang="en-GB" sz="2000" dirty="0"/>
              <a:t>The heap is partitioned into set of equal-size heap regions, each a contiguous range of virtual memory.</a:t>
            </a:r>
          </a:p>
          <a:p>
            <a:r>
              <a:rPr lang="en-GB" sz="2000" dirty="0"/>
              <a:t>Certain region sets are assigned the same roles (</a:t>
            </a:r>
            <a:r>
              <a:rPr lang="en-GB" sz="2000" dirty="0" err="1"/>
              <a:t>eden</a:t>
            </a:r>
            <a:r>
              <a:rPr lang="en-GB" sz="2000" dirty="0"/>
              <a:t>, survivor, old) as in the older collectors, but there is not a fixed size for them.</a:t>
            </a:r>
          </a:p>
          <a:p>
            <a:r>
              <a:rPr lang="en-GB" sz="2000" dirty="0"/>
              <a:t>This provides greater flexibility in memory usage.</a:t>
            </a:r>
          </a:p>
        </p:txBody>
      </p:sp>
      <p:pic>
        <p:nvPicPr>
          <p:cNvPr id="6" name="Content Placeholder 5">
            <a:extLst>
              <a:ext uri="{FF2B5EF4-FFF2-40B4-BE49-F238E27FC236}">
                <a16:creationId xmlns:a16="http://schemas.microsoft.com/office/drawing/2014/main" id="{3DF0A98D-835E-BE7A-29ED-E81CF64EC369}"/>
              </a:ext>
            </a:extLst>
          </p:cNvPr>
          <p:cNvPicPr>
            <a:picLocks noGrp="1" noChangeAspect="1"/>
          </p:cNvPicPr>
          <p:nvPr>
            <p:ph sz="half" idx="2"/>
          </p:nvPr>
        </p:nvPicPr>
        <p:blipFill>
          <a:blip r:embed="rId2"/>
          <a:stretch>
            <a:fillRect/>
          </a:stretch>
        </p:blipFill>
        <p:spPr>
          <a:xfrm>
            <a:off x="6172200" y="2058194"/>
            <a:ext cx="5181600" cy="3886200"/>
          </a:xfrm>
          <a:prstGeom prst="rect">
            <a:avLst/>
          </a:prstGeom>
        </p:spPr>
      </p:pic>
    </p:spTree>
    <p:extLst>
      <p:ext uri="{BB962C8B-B14F-4D97-AF65-F5344CB8AC3E}">
        <p14:creationId xmlns:p14="http://schemas.microsoft.com/office/powerpoint/2010/main" val="1879908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4D78D5-4ED7-BE4E-0DBE-9110268B4498}"/>
              </a:ext>
            </a:extLst>
          </p:cNvPr>
          <p:cNvSpPr>
            <a:spLocks noGrp="1"/>
          </p:cNvSpPr>
          <p:nvPr>
            <p:ph type="title"/>
          </p:nvPr>
        </p:nvSpPr>
        <p:spPr/>
        <p:txBody>
          <a:bodyPr/>
          <a:lstStyle/>
          <a:p>
            <a:r>
              <a:rPr lang="en-GB" dirty="0"/>
              <a:t>The G1 Garbage Collector Step by Step</a:t>
            </a:r>
            <a:endParaRPr lang="en-US" dirty="0"/>
          </a:p>
        </p:txBody>
      </p:sp>
      <p:sp>
        <p:nvSpPr>
          <p:cNvPr id="3" name="Content Placeholder 2">
            <a:extLst>
              <a:ext uri="{FF2B5EF4-FFF2-40B4-BE49-F238E27FC236}">
                <a16:creationId xmlns:a16="http://schemas.microsoft.com/office/drawing/2014/main" id="{AEBD3538-839C-B2E4-23CA-F10940D1DC01}"/>
              </a:ext>
            </a:extLst>
          </p:cNvPr>
          <p:cNvSpPr>
            <a:spLocks noGrp="1"/>
          </p:cNvSpPr>
          <p:nvPr>
            <p:ph sz="half" idx="1"/>
          </p:nvPr>
        </p:nvSpPr>
        <p:spPr/>
        <p:txBody>
          <a:bodyPr>
            <a:normAutofit/>
          </a:bodyPr>
          <a:lstStyle/>
          <a:p>
            <a:r>
              <a:rPr lang="en-GB" sz="2000" dirty="0"/>
              <a:t>The G1 collector takes a different approach to allocating the heap.</a:t>
            </a:r>
          </a:p>
          <a:p>
            <a:r>
              <a:rPr lang="en-GB" sz="2000" dirty="0"/>
              <a:t>The heap is one memory area split into many fixed sized regions.</a:t>
            </a:r>
          </a:p>
          <a:p>
            <a:r>
              <a:rPr lang="en-US" sz="2000" dirty="0"/>
              <a:t>Region size is chosen by the JVM at startup.</a:t>
            </a:r>
          </a:p>
          <a:p>
            <a:r>
              <a:rPr lang="en-US" sz="2000" dirty="0"/>
              <a:t>The JVM generally targets around 2000 regions varying the size from 1 to 32Mb</a:t>
            </a:r>
          </a:p>
        </p:txBody>
      </p:sp>
      <p:pic>
        <p:nvPicPr>
          <p:cNvPr id="2050" name="Picture 2">
            <a:extLst>
              <a:ext uri="{FF2B5EF4-FFF2-40B4-BE49-F238E27FC236}">
                <a16:creationId xmlns:a16="http://schemas.microsoft.com/office/drawing/2014/main" id="{4DC023DA-698E-79A2-20B2-E7F51859478E}"/>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172200" y="2058194"/>
            <a:ext cx="5181600" cy="3886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4546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0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17B9A-1184-E391-C03B-FB68077219E7}"/>
              </a:ext>
            </a:extLst>
          </p:cNvPr>
          <p:cNvSpPr>
            <a:spLocks noGrp="1"/>
          </p:cNvSpPr>
          <p:nvPr>
            <p:ph type="title"/>
          </p:nvPr>
        </p:nvSpPr>
        <p:spPr>
          <a:xfrm>
            <a:off x="838200" y="365125"/>
            <a:ext cx="10515600" cy="1325563"/>
          </a:xfrm>
        </p:spPr>
        <p:txBody>
          <a:bodyPr/>
          <a:lstStyle/>
          <a:p>
            <a:r>
              <a:rPr lang="en-GB" dirty="0"/>
              <a:t>G1 Heap Application </a:t>
            </a:r>
            <a:endParaRPr lang="en-US" dirty="0"/>
          </a:p>
        </p:txBody>
      </p:sp>
      <p:sp>
        <p:nvSpPr>
          <p:cNvPr id="3" name="Content Placeholder 2">
            <a:extLst>
              <a:ext uri="{FF2B5EF4-FFF2-40B4-BE49-F238E27FC236}">
                <a16:creationId xmlns:a16="http://schemas.microsoft.com/office/drawing/2014/main" id="{444B7ED9-064E-E5FD-3EDD-0A8C4E61FB4E}"/>
              </a:ext>
            </a:extLst>
          </p:cNvPr>
          <p:cNvSpPr>
            <a:spLocks noGrp="1"/>
          </p:cNvSpPr>
          <p:nvPr>
            <p:ph sz="half" idx="1"/>
          </p:nvPr>
        </p:nvSpPr>
        <p:spPr>
          <a:xfrm>
            <a:off x="838200" y="1825625"/>
            <a:ext cx="5181600" cy="4351338"/>
          </a:xfrm>
        </p:spPr>
        <p:txBody>
          <a:bodyPr>
            <a:normAutofit/>
          </a:bodyPr>
          <a:lstStyle/>
          <a:p>
            <a:r>
              <a:rPr lang="en-GB" sz="1800" dirty="0"/>
              <a:t>In reality, these regions are mapped into logical representations of Eden, Survivor and old generation spaces.</a:t>
            </a:r>
          </a:p>
          <a:p>
            <a:r>
              <a:rPr lang="en-GB" sz="1800" dirty="0"/>
              <a:t>The colours in the picture shows which region is associated with which role. </a:t>
            </a:r>
          </a:p>
          <a:p>
            <a:r>
              <a:rPr lang="en-GB" sz="1800" dirty="0"/>
              <a:t>Live objects are evacuated (i.e. copied or moved) from one region to another.</a:t>
            </a:r>
          </a:p>
          <a:p>
            <a:r>
              <a:rPr lang="en-GB" sz="1800" dirty="0"/>
              <a:t>Regions are designated to be collected in parallel with or without stopping all other application threads.</a:t>
            </a:r>
            <a:endParaRPr lang="en-US" sz="1800" dirty="0"/>
          </a:p>
        </p:txBody>
      </p:sp>
      <p:pic>
        <p:nvPicPr>
          <p:cNvPr id="6" name="Content Placeholder 5">
            <a:extLst>
              <a:ext uri="{FF2B5EF4-FFF2-40B4-BE49-F238E27FC236}">
                <a16:creationId xmlns:a16="http://schemas.microsoft.com/office/drawing/2014/main" id="{10C5E2A1-A451-9E29-C0AD-FB0897001C17}"/>
              </a:ext>
            </a:extLst>
          </p:cNvPr>
          <p:cNvPicPr>
            <a:picLocks noGrp="1" noChangeAspect="1"/>
          </p:cNvPicPr>
          <p:nvPr>
            <p:ph sz="half" idx="2"/>
          </p:nvPr>
        </p:nvPicPr>
        <p:blipFill>
          <a:blip r:embed="rId2"/>
          <a:stretch>
            <a:fillRect/>
          </a:stretch>
        </p:blipFill>
        <p:spPr>
          <a:xfrm>
            <a:off x="6172200" y="2058194"/>
            <a:ext cx="5181600" cy="3886200"/>
          </a:xfrm>
        </p:spPr>
      </p:pic>
    </p:spTree>
    <p:extLst>
      <p:ext uri="{BB962C8B-B14F-4D97-AF65-F5344CB8AC3E}">
        <p14:creationId xmlns:p14="http://schemas.microsoft.com/office/powerpoint/2010/main" val="2181543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BBC739-08DB-B76D-439B-1DB7E630D557}"/>
              </a:ext>
            </a:extLst>
          </p:cNvPr>
          <p:cNvSpPr>
            <a:spLocks noGrp="1"/>
          </p:cNvSpPr>
          <p:nvPr>
            <p:ph type="title"/>
          </p:nvPr>
        </p:nvSpPr>
        <p:spPr/>
        <p:txBody>
          <a:bodyPr/>
          <a:lstStyle/>
          <a:p>
            <a:r>
              <a:rPr lang="en-GB" dirty="0"/>
              <a:t>G1 Heap Application </a:t>
            </a:r>
            <a:endParaRPr lang="en-US" dirty="0"/>
          </a:p>
        </p:txBody>
      </p:sp>
      <p:sp>
        <p:nvSpPr>
          <p:cNvPr id="3" name="Content Placeholder 2">
            <a:extLst>
              <a:ext uri="{FF2B5EF4-FFF2-40B4-BE49-F238E27FC236}">
                <a16:creationId xmlns:a16="http://schemas.microsoft.com/office/drawing/2014/main" id="{9E6345A9-812A-52A2-4B61-F939F0C9C358}"/>
              </a:ext>
            </a:extLst>
          </p:cNvPr>
          <p:cNvSpPr>
            <a:spLocks noGrp="1"/>
          </p:cNvSpPr>
          <p:nvPr>
            <p:ph sz="half" idx="1"/>
          </p:nvPr>
        </p:nvSpPr>
        <p:spPr/>
        <p:txBody>
          <a:bodyPr>
            <a:normAutofit fontScale="70000" lnSpcReduction="20000"/>
          </a:bodyPr>
          <a:lstStyle/>
          <a:p>
            <a:r>
              <a:rPr lang="en-GB" dirty="0"/>
              <a:t>As shown regions can be allocated into Eden, Survivor and old generation regions.</a:t>
            </a:r>
          </a:p>
          <a:p>
            <a:r>
              <a:rPr lang="en-GB" dirty="0"/>
              <a:t>In addition, there is a fourth type of object known as Humongous regions.</a:t>
            </a:r>
          </a:p>
          <a:p>
            <a:r>
              <a:rPr lang="en-GB" dirty="0"/>
              <a:t>These regions are designed to hold objects that are 50% the size of a standard region or larger.</a:t>
            </a:r>
          </a:p>
          <a:p>
            <a:r>
              <a:rPr lang="en-GB" dirty="0"/>
              <a:t>They are stored as a set of contiguous regions.</a:t>
            </a:r>
          </a:p>
          <a:p>
            <a:r>
              <a:rPr lang="en-GB" dirty="0"/>
              <a:t>Finally, the last type of regions would be the unused areas of the heap.</a:t>
            </a:r>
          </a:p>
          <a:p>
            <a:r>
              <a:rPr lang="en-GB" dirty="0"/>
              <a:t>At the time of this writing, collecting humongous objects has not been optimized. </a:t>
            </a:r>
          </a:p>
          <a:p>
            <a:r>
              <a:rPr lang="en-GB" dirty="0"/>
              <a:t>Therefor, you should avoid creating objects of this size.</a:t>
            </a:r>
            <a:endParaRPr lang="en-US" dirty="0"/>
          </a:p>
        </p:txBody>
      </p:sp>
      <p:pic>
        <p:nvPicPr>
          <p:cNvPr id="8" name="Content Placeholder 7">
            <a:extLst>
              <a:ext uri="{FF2B5EF4-FFF2-40B4-BE49-F238E27FC236}">
                <a16:creationId xmlns:a16="http://schemas.microsoft.com/office/drawing/2014/main" id="{EFFDAEB2-D81F-70C7-1FC9-255613A7FA50}"/>
              </a:ext>
            </a:extLst>
          </p:cNvPr>
          <p:cNvPicPr>
            <a:picLocks noGrp="1" noChangeAspect="1"/>
          </p:cNvPicPr>
          <p:nvPr>
            <p:ph sz="half" idx="2"/>
          </p:nvPr>
        </p:nvPicPr>
        <p:blipFill>
          <a:blip r:embed="rId2"/>
          <a:stretch>
            <a:fillRect/>
          </a:stretch>
        </p:blipFill>
        <p:spPr>
          <a:xfrm>
            <a:off x="6172200" y="2058194"/>
            <a:ext cx="5181600" cy="3886200"/>
          </a:xfrm>
          <a:prstGeom prst="rect">
            <a:avLst/>
          </a:prstGeom>
        </p:spPr>
      </p:pic>
    </p:spTree>
    <p:extLst>
      <p:ext uri="{BB962C8B-B14F-4D97-AF65-F5344CB8AC3E}">
        <p14:creationId xmlns:p14="http://schemas.microsoft.com/office/powerpoint/2010/main" val="754733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13EC1-35AF-E845-ADB5-0B056047483F}"/>
              </a:ext>
            </a:extLst>
          </p:cNvPr>
          <p:cNvSpPr>
            <a:spLocks noGrp="1"/>
          </p:cNvSpPr>
          <p:nvPr>
            <p:ph type="title"/>
          </p:nvPr>
        </p:nvSpPr>
        <p:spPr/>
        <p:txBody>
          <a:bodyPr/>
          <a:lstStyle/>
          <a:p>
            <a:r>
              <a:rPr lang="en-GB" dirty="0"/>
              <a:t>Young Generation in G1</a:t>
            </a:r>
            <a:endParaRPr lang="en-US" dirty="0"/>
          </a:p>
        </p:txBody>
      </p:sp>
      <p:sp>
        <p:nvSpPr>
          <p:cNvPr id="4" name="Content Placeholder 3">
            <a:extLst>
              <a:ext uri="{FF2B5EF4-FFF2-40B4-BE49-F238E27FC236}">
                <a16:creationId xmlns:a16="http://schemas.microsoft.com/office/drawing/2014/main" id="{977C81B2-04D9-1FF6-1F15-80727CF5492D}"/>
              </a:ext>
            </a:extLst>
          </p:cNvPr>
          <p:cNvSpPr>
            <a:spLocks noGrp="1"/>
          </p:cNvSpPr>
          <p:nvPr>
            <p:ph sz="half" idx="1"/>
          </p:nvPr>
        </p:nvSpPr>
        <p:spPr/>
        <p:txBody>
          <a:bodyPr>
            <a:normAutofit/>
          </a:bodyPr>
          <a:lstStyle/>
          <a:p>
            <a:r>
              <a:rPr lang="en-GB" sz="2000" dirty="0"/>
              <a:t>The Heap is split into approximately 2000 regions.</a:t>
            </a:r>
          </a:p>
          <a:p>
            <a:r>
              <a:rPr lang="en-GB" sz="2000" dirty="0"/>
              <a:t>Minimum size is 1 Mb and Maximum is 32 Mb.</a:t>
            </a:r>
          </a:p>
          <a:p>
            <a:r>
              <a:rPr lang="en-GB" sz="2000" dirty="0"/>
              <a:t>Blue regions hold the old generation objects and green regions hold young generation objects.</a:t>
            </a:r>
          </a:p>
          <a:p>
            <a:r>
              <a:rPr lang="en-GB" sz="2000" dirty="0"/>
              <a:t>Note that the regions are not required to be contiguous like older garbage collectors.</a:t>
            </a:r>
            <a:endParaRPr lang="en-US" sz="2000" dirty="0"/>
          </a:p>
        </p:txBody>
      </p:sp>
      <p:pic>
        <p:nvPicPr>
          <p:cNvPr id="3074" name="Picture 2">
            <a:extLst>
              <a:ext uri="{FF2B5EF4-FFF2-40B4-BE49-F238E27FC236}">
                <a16:creationId xmlns:a16="http://schemas.microsoft.com/office/drawing/2014/main" id="{744E103C-5A66-3B84-7E67-7E49E7EADF35}"/>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172200" y="2058194"/>
            <a:ext cx="5181600" cy="3886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7268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07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C54E2-BE3A-B8FF-9623-96EB3C9B97FF}"/>
              </a:ext>
            </a:extLst>
          </p:cNvPr>
          <p:cNvSpPr>
            <a:spLocks noGrp="1"/>
          </p:cNvSpPr>
          <p:nvPr>
            <p:ph type="title"/>
          </p:nvPr>
        </p:nvSpPr>
        <p:spPr/>
        <p:txBody>
          <a:bodyPr/>
          <a:lstStyle/>
          <a:p>
            <a:r>
              <a:rPr lang="en-GB" dirty="0"/>
              <a:t>A Young GC in G1</a:t>
            </a:r>
            <a:endParaRPr lang="en-US" dirty="0"/>
          </a:p>
        </p:txBody>
      </p:sp>
      <p:sp>
        <p:nvSpPr>
          <p:cNvPr id="4" name="Content Placeholder 3">
            <a:extLst>
              <a:ext uri="{FF2B5EF4-FFF2-40B4-BE49-F238E27FC236}">
                <a16:creationId xmlns:a16="http://schemas.microsoft.com/office/drawing/2014/main" id="{3698B86A-DE55-831E-6B5E-6B8CBF6BA01F}"/>
              </a:ext>
            </a:extLst>
          </p:cNvPr>
          <p:cNvSpPr>
            <a:spLocks noGrp="1"/>
          </p:cNvSpPr>
          <p:nvPr>
            <p:ph sz="half" idx="1"/>
          </p:nvPr>
        </p:nvSpPr>
        <p:spPr/>
        <p:txBody>
          <a:bodyPr>
            <a:normAutofit fontScale="70000" lnSpcReduction="20000"/>
          </a:bodyPr>
          <a:lstStyle/>
          <a:p>
            <a:r>
              <a:rPr lang="en-GB" dirty="0"/>
              <a:t>Live objects are evacuated(i.e. copied or moved) to one or more survivor regions.</a:t>
            </a:r>
          </a:p>
          <a:p>
            <a:r>
              <a:rPr lang="en-GB" dirty="0"/>
              <a:t>If the aging threshold is met some of the objects are promoted to old generation regions.</a:t>
            </a:r>
          </a:p>
          <a:p>
            <a:r>
              <a:rPr lang="en-GB" dirty="0"/>
              <a:t>This is a stop the world pause.</a:t>
            </a:r>
          </a:p>
          <a:p>
            <a:r>
              <a:rPr lang="en-GB" dirty="0"/>
              <a:t>Eden size and survivor size is calculated for next young GC.</a:t>
            </a:r>
          </a:p>
          <a:p>
            <a:r>
              <a:rPr lang="en-GB" dirty="0"/>
              <a:t>Accounting information is kept to help calculate the size .</a:t>
            </a:r>
          </a:p>
          <a:p>
            <a:r>
              <a:rPr lang="en-GB" dirty="0"/>
              <a:t>Things like pause time goal are taken into consideration.</a:t>
            </a:r>
          </a:p>
          <a:p>
            <a:r>
              <a:rPr lang="en-GB" dirty="0"/>
              <a:t>This approach makes it vary easy to resize region, making them bigger or smaller as needed. </a:t>
            </a:r>
            <a:endParaRPr lang="en-US" dirty="0"/>
          </a:p>
        </p:txBody>
      </p:sp>
      <p:pic>
        <p:nvPicPr>
          <p:cNvPr id="7" name="Content Placeholder 6">
            <a:extLst>
              <a:ext uri="{FF2B5EF4-FFF2-40B4-BE49-F238E27FC236}">
                <a16:creationId xmlns:a16="http://schemas.microsoft.com/office/drawing/2014/main" id="{86E9BFCD-BB78-E52E-E550-4B69ABD233D0}"/>
              </a:ext>
            </a:extLst>
          </p:cNvPr>
          <p:cNvPicPr>
            <a:picLocks noGrp="1" noChangeAspect="1"/>
          </p:cNvPicPr>
          <p:nvPr>
            <p:ph sz="half" idx="2"/>
          </p:nvPr>
        </p:nvPicPr>
        <p:blipFill>
          <a:blip r:embed="rId2"/>
          <a:stretch>
            <a:fillRect/>
          </a:stretch>
        </p:blipFill>
        <p:spPr>
          <a:xfrm>
            <a:off x="6172200" y="2058194"/>
            <a:ext cx="5181600" cy="3886200"/>
          </a:xfrm>
          <a:prstGeom prst="rect">
            <a:avLst/>
          </a:prstGeom>
        </p:spPr>
      </p:pic>
    </p:spTree>
    <p:extLst>
      <p:ext uri="{BB962C8B-B14F-4D97-AF65-F5344CB8AC3E}">
        <p14:creationId xmlns:p14="http://schemas.microsoft.com/office/powerpoint/2010/main" val="3386003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22315-3E94-F7FD-8B6F-4B12EC0476D2}"/>
              </a:ext>
            </a:extLst>
          </p:cNvPr>
          <p:cNvSpPr>
            <a:spLocks noGrp="1"/>
          </p:cNvSpPr>
          <p:nvPr>
            <p:ph type="title"/>
          </p:nvPr>
        </p:nvSpPr>
        <p:spPr/>
        <p:txBody>
          <a:bodyPr/>
          <a:lstStyle/>
          <a:p>
            <a:r>
              <a:rPr lang="en-GB" dirty="0"/>
              <a:t>End of a Young GC with G1</a:t>
            </a:r>
            <a:endParaRPr lang="en-US" dirty="0"/>
          </a:p>
        </p:txBody>
      </p:sp>
      <p:sp>
        <p:nvSpPr>
          <p:cNvPr id="3" name="Content Placeholder 2">
            <a:extLst>
              <a:ext uri="{FF2B5EF4-FFF2-40B4-BE49-F238E27FC236}">
                <a16:creationId xmlns:a16="http://schemas.microsoft.com/office/drawing/2014/main" id="{FFEB01FE-813F-3F00-9C5E-C7CB29C5BE13}"/>
              </a:ext>
            </a:extLst>
          </p:cNvPr>
          <p:cNvSpPr>
            <a:spLocks noGrp="1"/>
          </p:cNvSpPr>
          <p:nvPr>
            <p:ph sz="half" idx="1"/>
          </p:nvPr>
        </p:nvSpPr>
        <p:spPr/>
        <p:txBody>
          <a:bodyPr/>
          <a:lstStyle/>
          <a:p>
            <a:r>
              <a:rPr lang="en-GB" dirty="0"/>
              <a:t>Live objects have been evacuated to survivor regions or to old generation regions.</a:t>
            </a:r>
          </a:p>
        </p:txBody>
      </p:sp>
      <p:pic>
        <p:nvPicPr>
          <p:cNvPr id="6" name="Content Placeholder 5">
            <a:extLst>
              <a:ext uri="{FF2B5EF4-FFF2-40B4-BE49-F238E27FC236}">
                <a16:creationId xmlns:a16="http://schemas.microsoft.com/office/drawing/2014/main" id="{BE51D16D-6118-903E-E97D-47B206719850}"/>
              </a:ext>
            </a:extLst>
          </p:cNvPr>
          <p:cNvPicPr>
            <a:picLocks noGrp="1" noChangeAspect="1"/>
          </p:cNvPicPr>
          <p:nvPr>
            <p:ph sz="half" idx="2"/>
          </p:nvPr>
        </p:nvPicPr>
        <p:blipFill>
          <a:blip r:embed="rId2"/>
          <a:stretch>
            <a:fillRect/>
          </a:stretch>
        </p:blipFill>
        <p:spPr>
          <a:xfrm>
            <a:off x="6172200" y="2058194"/>
            <a:ext cx="5181600" cy="3886200"/>
          </a:xfrm>
          <a:prstGeom prst="rect">
            <a:avLst/>
          </a:prstGeom>
        </p:spPr>
      </p:pic>
    </p:spTree>
    <p:extLst>
      <p:ext uri="{BB962C8B-B14F-4D97-AF65-F5344CB8AC3E}">
        <p14:creationId xmlns:p14="http://schemas.microsoft.com/office/powerpoint/2010/main" val="928232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358723-2ECB-8F27-DA09-A09C2D04F129}"/>
              </a:ext>
            </a:extLst>
          </p:cNvPr>
          <p:cNvSpPr>
            <a:spLocks noGrp="1"/>
          </p:cNvSpPr>
          <p:nvPr>
            <p:ph type="title"/>
          </p:nvPr>
        </p:nvSpPr>
        <p:spPr/>
        <p:txBody>
          <a:bodyPr/>
          <a:lstStyle/>
          <a:p>
            <a:r>
              <a:rPr lang="en-GB" dirty="0"/>
              <a:t>End of a Young GC with G1</a:t>
            </a:r>
            <a:endParaRPr lang="en-US" dirty="0"/>
          </a:p>
        </p:txBody>
      </p:sp>
      <p:sp>
        <p:nvSpPr>
          <p:cNvPr id="3" name="Content Placeholder 2">
            <a:extLst>
              <a:ext uri="{FF2B5EF4-FFF2-40B4-BE49-F238E27FC236}">
                <a16:creationId xmlns:a16="http://schemas.microsoft.com/office/drawing/2014/main" id="{9077C2EF-DE75-A45C-7BDE-8E997DED45F6}"/>
              </a:ext>
            </a:extLst>
          </p:cNvPr>
          <p:cNvSpPr>
            <a:spLocks noGrp="1"/>
          </p:cNvSpPr>
          <p:nvPr>
            <p:ph sz="half" idx="1"/>
          </p:nvPr>
        </p:nvSpPr>
        <p:spPr/>
        <p:txBody>
          <a:bodyPr>
            <a:normAutofit/>
          </a:bodyPr>
          <a:lstStyle/>
          <a:p>
            <a:r>
              <a:rPr lang="en-GB" sz="2000" dirty="0"/>
              <a:t>The heap is a single memory space split into regions.</a:t>
            </a:r>
          </a:p>
          <a:p>
            <a:r>
              <a:rPr lang="en-GB" sz="2000" dirty="0"/>
              <a:t>Young generation memory is composed of a set of non-contiguous regions.</a:t>
            </a:r>
          </a:p>
          <a:p>
            <a:r>
              <a:rPr lang="en-GB" sz="2000" dirty="0"/>
              <a:t>This makes it </a:t>
            </a:r>
            <a:r>
              <a:rPr lang="en-GB" sz="2000" dirty="0" err="1"/>
              <a:t>eazy</a:t>
            </a:r>
            <a:r>
              <a:rPr lang="en-GB" sz="2000" dirty="0"/>
              <a:t> to resize when needed.</a:t>
            </a:r>
          </a:p>
          <a:p>
            <a:r>
              <a:rPr lang="en-GB" sz="2000" dirty="0"/>
              <a:t>Young generation garbage collections or young GC are the stop the world events. All application threads are stopped for the operation.</a:t>
            </a:r>
          </a:p>
          <a:p>
            <a:r>
              <a:rPr lang="en-GB" sz="2000" dirty="0"/>
              <a:t>The young GC is done in parallel using multiple threads.</a:t>
            </a:r>
          </a:p>
          <a:p>
            <a:r>
              <a:rPr lang="en-GB" sz="2000" dirty="0"/>
              <a:t>Live objects are copied to new survivor or old generation regions.</a:t>
            </a:r>
            <a:endParaRPr lang="en-US" sz="2000" dirty="0"/>
          </a:p>
        </p:txBody>
      </p:sp>
      <p:pic>
        <p:nvPicPr>
          <p:cNvPr id="6" name="Content Placeholder 5">
            <a:extLst>
              <a:ext uri="{FF2B5EF4-FFF2-40B4-BE49-F238E27FC236}">
                <a16:creationId xmlns:a16="http://schemas.microsoft.com/office/drawing/2014/main" id="{2B795739-EF62-F258-ED5E-0E7BFE5B4B1E}"/>
              </a:ext>
            </a:extLst>
          </p:cNvPr>
          <p:cNvPicPr>
            <a:picLocks noGrp="1" noChangeAspect="1"/>
          </p:cNvPicPr>
          <p:nvPr>
            <p:ph sz="half" idx="2"/>
          </p:nvPr>
        </p:nvPicPr>
        <p:blipFill>
          <a:blip r:embed="rId2"/>
          <a:stretch>
            <a:fillRect/>
          </a:stretch>
        </p:blipFill>
        <p:spPr>
          <a:xfrm>
            <a:off x="6172200" y="2058194"/>
            <a:ext cx="5181600" cy="3886200"/>
          </a:xfrm>
          <a:prstGeom prst="rect">
            <a:avLst/>
          </a:prstGeom>
        </p:spPr>
      </p:pic>
    </p:spTree>
    <p:extLst>
      <p:ext uri="{BB962C8B-B14F-4D97-AF65-F5344CB8AC3E}">
        <p14:creationId xmlns:p14="http://schemas.microsoft.com/office/powerpoint/2010/main" val="2382961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DCFDF9-FB58-7182-FEE2-3CE38A63C67C}"/>
              </a:ext>
            </a:extLst>
          </p:cNvPr>
          <p:cNvSpPr>
            <a:spLocks noGrp="1"/>
          </p:cNvSpPr>
          <p:nvPr>
            <p:ph type="title"/>
          </p:nvPr>
        </p:nvSpPr>
        <p:spPr/>
        <p:txBody>
          <a:bodyPr/>
          <a:lstStyle/>
          <a:p>
            <a:r>
              <a:rPr lang="en-IN" dirty="0"/>
              <a:t>Summary</a:t>
            </a:r>
            <a:endParaRPr lang="en-US" dirty="0"/>
          </a:p>
        </p:txBody>
      </p:sp>
      <p:sp>
        <p:nvSpPr>
          <p:cNvPr id="3" name="Content Placeholder 2">
            <a:extLst>
              <a:ext uri="{FF2B5EF4-FFF2-40B4-BE49-F238E27FC236}">
                <a16:creationId xmlns:a16="http://schemas.microsoft.com/office/drawing/2014/main" id="{7B1D20B5-2001-6203-A2C5-3526D95D248D}"/>
              </a:ext>
            </a:extLst>
          </p:cNvPr>
          <p:cNvSpPr>
            <a:spLocks noGrp="1"/>
          </p:cNvSpPr>
          <p:nvPr>
            <p:ph idx="1"/>
          </p:nvPr>
        </p:nvSpPr>
        <p:spPr/>
        <p:txBody>
          <a:bodyPr/>
          <a:lstStyle/>
          <a:p>
            <a:r>
              <a:rPr lang="en-GB" dirty="0"/>
              <a:t>The following can be said about the young generation in G1</a:t>
            </a:r>
          </a:p>
          <a:p>
            <a:pPr lvl="1"/>
            <a:r>
              <a:rPr lang="en-GB" dirty="0"/>
              <a:t>The heap is a single memory space split into regions.</a:t>
            </a:r>
          </a:p>
          <a:p>
            <a:pPr lvl="1"/>
            <a:r>
              <a:rPr lang="en-GB" dirty="0"/>
              <a:t>Young generation memory is composed of a set of non-contiguous regions.</a:t>
            </a:r>
          </a:p>
          <a:p>
            <a:pPr lvl="1"/>
            <a:r>
              <a:rPr lang="en-GB" dirty="0"/>
              <a:t>This makes it easy to resize when needed.</a:t>
            </a:r>
          </a:p>
          <a:p>
            <a:pPr lvl="1"/>
            <a:r>
              <a:rPr lang="en-GB" dirty="0"/>
              <a:t>Young generation garbage collections, or young GCs are stop the world events.</a:t>
            </a:r>
          </a:p>
          <a:p>
            <a:pPr lvl="1"/>
            <a:r>
              <a:rPr lang="en-GB" dirty="0"/>
              <a:t>All application threads are stopped for the operation</a:t>
            </a:r>
          </a:p>
          <a:p>
            <a:pPr lvl="1"/>
            <a:r>
              <a:rPr lang="en-GB" dirty="0"/>
              <a:t>The young GC is done in parallel using multiple threads</a:t>
            </a:r>
            <a:r>
              <a:rPr lang="en-US" dirty="0"/>
              <a:t>.</a:t>
            </a:r>
          </a:p>
          <a:p>
            <a:pPr lvl="1"/>
            <a:r>
              <a:rPr lang="en-US" dirty="0"/>
              <a:t>Live objects are copied to new survivor or old generation regions</a:t>
            </a:r>
            <a:endParaRPr lang="en-GB" dirty="0"/>
          </a:p>
        </p:txBody>
      </p:sp>
    </p:spTree>
    <p:extLst>
      <p:ext uri="{BB962C8B-B14F-4D97-AF65-F5344CB8AC3E}">
        <p14:creationId xmlns:p14="http://schemas.microsoft.com/office/powerpoint/2010/main" val="16603690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BC1C9F-6E01-E279-C815-77836BBFFBAB}"/>
              </a:ext>
            </a:extLst>
          </p:cNvPr>
          <p:cNvSpPr>
            <a:spLocks noGrp="1"/>
          </p:cNvSpPr>
          <p:nvPr>
            <p:ph type="title"/>
          </p:nvPr>
        </p:nvSpPr>
        <p:spPr/>
        <p:txBody>
          <a:bodyPr/>
          <a:lstStyle/>
          <a:p>
            <a:r>
              <a:rPr lang="en-GB" dirty="0"/>
              <a:t>Initial Marking Phase – Stop The World</a:t>
            </a:r>
            <a:endParaRPr lang="en-US" dirty="0"/>
          </a:p>
        </p:txBody>
      </p:sp>
      <p:sp>
        <p:nvSpPr>
          <p:cNvPr id="3" name="Content Placeholder 2">
            <a:extLst>
              <a:ext uri="{FF2B5EF4-FFF2-40B4-BE49-F238E27FC236}">
                <a16:creationId xmlns:a16="http://schemas.microsoft.com/office/drawing/2014/main" id="{241263CF-D680-CA6E-E2DB-C611E173309F}"/>
              </a:ext>
            </a:extLst>
          </p:cNvPr>
          <p:cNvSpPr>
            <a:spLocks noGrp="1"/>
          </p:cNvSpPr>
          <p:nvPr>
            <p:ph sz="half" idx="1"/>
          </p:nvPr>
        </p:nvSpPr>
        <p:spPr/>
        <p:txBody>
          <a:bodyPr/>
          <a:lstStyle/>
          <a:p>
            <a:r>
              <a:rPr lang="en-GB" dirty="0"/>
              <a:t>Marks objects directly reachable from </a:t>
            </a:r>
            <a:r>
              <a:rPr lang="en-GB" b="1" dirty="0"/>
              <a:t>GC Roots(Object Reachability)</a:t>
            </a:r>
          </a:p>
          <a:p>
            <a:r>
              <a:rPr lang="en-US" dirty="0"/>
              <a:t>Very short pause</a:t>
            </a:r>
          </a:p>
        </p:txBody>
      </p:sp>
      <p:pic>
        <p:nvPicPr>
          <p:cNvPr id="6" name="Content Placeholder 5">
            <a:extLst>
              <a:ext uri="{FF2B5EF4-FFF2-40B4-BE49-F238E27FC236}">
                <a16:creationId xmlns:a16="http://schemas.microsoft.com/office/drawing/2014/main" id="{2BD784E2-615E-8D0F-6CF6-5FAD865FC0A3}"/>
              </a:ext>
            </a:extLst>
          </p:cNvPr>
          <p:cNvPicPr>
            <a:picLocks noGrp="1" noChangeAspect="1"/>
          </p:cNvPicPr>
          <p:nvPr>
            <p:ph sz="half" idx="2"/>
          </p:nvPr>
        </p:nvPicPr>
        <p:blipFill>
          <a:blip r:embed="rId2"/>
          <a:stretch>
            <a:fillRect/>
          </a:stretch>
        </p:blipFill>
        <p:spPr>
          <a:xfrm>
            <a:off x="6172200" y="2058194"/>
            <a:ext cx="5181600" cy="3886200"/>
          </a:xfrm>
          <a:prstGeom prst="rect">
            <a:avLst/>
          </a:prstGeom>
        </p:spPr>
      </p:pic>
    </p:spTree>
    <p:extLst>
      <p:ext uri="{BB962C8B-B14F-4D97-AF65-F5344CB8AC3E}">
        <p14:creationId xmlns:p14="http://schemas.microsoft.com/office/powerpoint/2010/main" val="2379337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F089F3-C556-8012-2E62-7721352432FA}"/>
              </a:ext>
            </a:extLst>
          </p:cNvPr>
          <p:cNvSpPr>
            <a:spLocks noGrp="1"/>
          </p:cNvSpPr>
          <p:nvPr>
            <p:ph type="title"/>
          </p:nvPr>
        </p:nvSpPr>
        <p:spPr/>
        <p:txBody>
          <a:bodyPr/>
          <a:lstStyle/>
          <a:p>
            <a:r>
              <a:rPr lang="en-IN" dirty="0"/>
              <a:t>Concurrent Marking Phase</a:t>
            </a:r>
            <a:endParaRPr lang="en-US" dirty="0"/>
          </a:p>
        </p:txBody>
      </p:sp>
      <p:sp>
        <p:nvSpPr>
          <p:cNvPr id="4" name="Content Placeholder 3">
            <a:extLst>
              <a:ext uri="{FF2B5EF4-FFF2-40B4-BE49-F238E27FC236}">
                <a16:creationId xmlns:a16="http://schemas.microsoft.com/office/drawing/2014/main" id="{C932C08F-5A54-D54B-0E5A-3786F7789133}"/>
              </a:ext>
            </a:extLst>
          </p:cNvPr>
          <p:cNvSpPr>
            <a:spLocks noGrp="1"/>
          </p:cNvSpPr>
          <p:nvPr>
            <p:ph sz="half" idx="1"/>
          </p:nvPr>
        </p:nvSpPr>
        <p:spPr/>
        <p:txBody>
          <a:bodyPr/>
          <a:lstStyle/>
          <a:p>
            <a:r>
              <a:rPr lang="en-GB" dirty="0"/>
              <a:t>Runs in parallel with application threads</a:t>
            </a:r>
          </a:p>
          <a:p>
            <a:r>
              <a:rPr lang="en-GB" dirty="0"/>
              <a:t>If empty regions are found (as denoted by the "X"), </a:t>
            </a:r>
          </a:p>
          <a:p>
            <a:r>
              <a:rPr lang="en-GB" dirty="0"/>
              <a:t>They are removed immediately in the Remark phase. </a:t>
            </a:r>
            <a:endParaRPr lang="en-US" dirty="0"/>
          </a:p>
        </p:txBody>
      </p:sp>
      <p:pic>
        <p:nvPicPr>
          <p:cNvPr id="1026" name="Picture 2">
            <a:extLst>
              <a:ext uri="{FF2B5EF4-FFF2-40B4-BE49-F238E27FC236}">
                <a16:creationId xmlns:a16="http://schemas.microsoft.com/office/drawing/2014/main" id="{9C05E015-0332-6B33-80E0-9580A8488BDE}"/>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172200" y="2058194"/>
            <a:ext cx="5181600" cy="3886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1137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FD25096-7D5E-0AA6-9A76-055EF88440C1}"/>
              </a:ext>
            </a:extLst>
          </p:cNvPr>
          <p:cNvSpPr>
            <a:spLocks noGrp="1"/>
          </p:cNvSpPr>
          <p:nvPr>
            <p:ph type="title"/>
          </p:nvPr>
        </p:nvSpPr>
        <p:spPr/>
        <p:txBody>
          <a:bodyPr/>
          <a:lstStyle/>
          <a:p>
            <a:r>
              <a:rPr lang="en-IN" dirty="0"/>
              <a:t>Remark Phase – Stop The World</a:t>
            </a:r>
            <a:endParaRPr lang="en-US" dirty="0"/>
          </a:p>
        </p:txBody>
      </p:sp>
      <p:sp>
        <p:nvSpPr>
          <p:cNvPr id="5" name="Content Placeholder 4">
            <a:extLst>
              <a:ext uri="{FF2B5EF4-FFF2-40B4-BE49-F238E27FC236}">
                <a16:creationId xmlns:a16="http://schemas.microsoft.com/office/drawing/2014/main" id="{876EBA50-E171-ACAE-B658-133801FE04B8}"/>
              </a:ext>
            </a:extLst>
          </p:cNvPr>
          <p:cNvSpPr>
            <a:spLocks noGrp="1"/>
          </p:cNvSpPr>
          <p:nvPr>
            <p:ph sz="half" idx="1"/>
          </p:nvPr>
        </p:nvSpPr>
        <p:spPr/>
        <p:txBody>
          <a:bodyPr/>
          <a:lstStyle/>
          <a:p>
            <a:r>
              <a:rPr lang="en-IN" dirty="0"/>
              <a:t>Empty regions are removed and reclaimed. </a:t>
            </a:r>
          </a:p>
          <a:p>
            <a:r>
              <a:rPr lang="en-IN" dirty="0"/>
              <a:t>Regions liveness is now calculated for all regions.</a:t>
            </a:r>
          </a:p>
          <a:p>
            <a:r>
              <a:rPr lang="en-GB" dirty="0"/>
              <a:t>Final cleanup of missed objects (due to concurrent changes)</a:t>
            </a:r>
            <a:endParaRPr lang="en-US" dirty="0"/>
          </a:p>
        </p:txBody>
      </p:sp>
      <p:pic>
        <p:nvPicPr>
          <p:cNvPr id="2050" name="Picture 2">
            <a:extLst>
              <a:ext uri="{FF2B5EF4-FFF2-40B4-BE49-F238E27FC236}">
                <a16:creationId xmlns:a16="http://schemas.microsoft.com/office/drawing/2014/main" id="{686E6888-D8C5-7877-F5AD-1DD7237319EF}"/>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172200" y="2058194"/>
            <a:ext cx="5181600" cy="3886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8917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0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7EA93-4585-D500-8678-B85558273296}"/>
              </a:ext>
            </a:extLst>
          </p:cNvPr>
          <p:cNvSpPr>
            <a:spLocks noGrp="1"/>
          </p:cNvSpPr>
          <p:nvPr>
            <p:ph type="title"/>
          </p:nvPr>
        </p:nvSpPr>
        <p:spPr/>
        <p:txBody>
          <a:bodyPr/>
          <a:lstStyle/>
          <a:p>
            <a:r>
              <a:rPr lang="en-IN" dirty="0"/>
              <a:t>Copying/Cleanup Phase</a:t>
            </a:r>
            <a:endParaRPr lang="en-US" dirty="0"/>
          </a:p>
        </p:txBody>
      </p:sp>
      <p:sp>
        <p:nvSpPr>
          <p:cNvPr id="3" name="Content Placeholder 2">
            <a:extLst>
              <a:ext uri="{FF2B5EF4-FFF2-40B4-BE49-F238E27FC236}">
                <a16:creationId xmlns:a16="http://schemas.microsoft.com/office/drawing/2014/main" id="{1D39F1CE-F275-A772-803B-9DCE0F29E6FA}"/>
              </a:ext>
            </a:extLst>
          </p:cNvPr>
          <p:cNvSpPr>
            <a:spLocks noGrp="1"/>
          </p:cNvSpPr>
          <p:nvPr>
            <p:ph sz="half" idx="1"/>
          </p:nvPr>
        </p:nvSpPr>
        <p:spPr/>
        <p:txBody>
          <a:bodyPr>
            <a:normAutofit fontScale="92500" lnSpcReduction="10000"/>
          </a:bodyPr>
          <a:lstStyle/>
          <a:p>
            <a:r>
              <a:rPr lang="en-IN" dirty="0"/>
              <a:t>Identify empty regions and prepare for evacuation.</a:t>
            </a:r>
          </a:p>
          <a:p>
            <a:r>
              <a:rPr lang="en-IN" dirty="0"/>
              <a:t>G1 selects the regions with the lowest “liveness”, those regions which can be collected the fastest.</a:t>
            </a:r>
          </a:p>
          <a:p>
            <a:r>
              <a:rPr lang="en-IN" dirty="0"/>
              <a:t>Then those regions are collected at the same time as young GC.</a:t>
            </a:r>
          </a:p>
          <a:p>
            <a:r>
              <a:rPr lang="en-IN" dirty="0"/>
              <a:t>This denoted in logs as [GC pause (mixed)]</a:t>
            </a:r>
          </a:p>
          <a:p>
            <a:r>
              <a:rPr lang="en-IN" dirty="0"/>
              <a:t>So both young and old generations are collected at same time.</a:t>
            </a:r>
            <a:endParaRPr lang="en-US" dirty="0"/>
          </a:p>
        </p:txBody>
      </p:sp>
      <p:pic>
        <p:nvPicPr>
          <p:cNvPr id="6" name="Content Placeholder 5">
            <a:extLst>
              <a:ext uri="{FF2B5EF4-FFF2-40B4-BE49-F238E27FC236}">
                <a16:creationId xmlns:a16="http://schemas.microsoft.com/office/drawing/2014/main" id="{7B94E509-B53E-CA35-519B-B841DE6D7B0A}"/>
              </a:ext>
            </a:extLst>
          </p:cNvPr>
          <p:cNvPicPr>
            <a:picLocks noGrp="1" noChangeAspect="1"/>
          </p:cNvPicPr>
          <p:nvPr>
            <p:ph sz="half" idx="2"/>
          </p:nvPr>
        </p:nvPicPr>
        <p:blipFill>
          <a:blip r:embed="rId2"/>
          <a:stretch>
            <a:fillRect/>
          </a:stretch>
        </p:blipFill>
        <p:spPr>
          <a:xfrm>
            <a:off x="6172200" y="2058194"/>
            <a:ext cx="5181600" cy="3886200"/>
          </a:xfrm>
          <a:prstGeom prst="rect">
            <a:avLst/>
          </a:prstGeom>
        </p:spPr>
      </p:pic>
    </p:spTree>
    <p:extLst>
      <p:ext uri="{BB962C8B-B14F-4D97-AF65-F5344CB8AC3E}">
        <p14:creationId xmlns:p14="http://schemas.microsoft.com/office/powerpoint/2010/main" val="568083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022D3C-1002-0F4A-8ED2-96464843B90C}"/>
              </a:ext>
            </a:extLst>
          </p:cNvPr>
          <p:cNvSpPr>
            <a:spLocks noGrp="1"/>
          </p:cNvSpPr>
          <p:nvPr>
            <p:ph type="title"/>
          </p:nvPr>
        </p:nvSpPr>
        <p:spPr/>
        <p:txBody>
          <a:bodyPr/>
          <a:lstStyle/>
          <a:p>
            <a:r>
              <a:rPr lang="en-IN" dirty="0"/>
              <a:t>After Copying/Cleanup Phase</a:t>
            </a:r>
            <a:endParaRPr lang="en-US" dirty="0"/>
          </a:p>
        </p:txBody>
      </p:sp>
      <p:sp>
        <p:nvSpPr>
          <p:cNvPr id="3" name="Content Placeholder 2">
            <a:extLst>
              <a:ext uri="{FF2B5EF4-FFF2-40B4-BE49-F238E27FC236}">
                <a16:creationId xmlns:a16="http://schemas.microsoft.com/office/drawing/2014/main" id="{C2279435-3213-8114-2062-8F4ABA4145B8}"/>
              </a:ext>
            </a:extLst>
          </p:cNvPr>
          <p:cNvSpPr>
            <a:spLocks noGrp="1"/>
          </p:cNvSpPr>
          <p:nvPr>
            <p:ph sz="half" idx="1"/>
          </p:nvPr>
        </p:nvSpPr>
        <p:spPr/>
        <p:txBody>
          <a:bodyPr/>
          <a:lstStyle/>
          <a:p>
            <a:r>
              <a:rPr lang="en-IN" dirty="0"/>
              <a:t>This regions selected have been collected and compacted into dark blue region and dark green region shown in diagram</a:t>
            </a:r>
            <a:endParaRPr lang="en-US" dirty="0"/>
          </a:p>
        </p:txBody>
      </p:sp>
      <p:pic>
        <p:nvPicPr>
          <p:cNvPr id="6" name="Content Placeholder 5">
            <a:extLst>
              <a:ext uri="{FF2B5EF4-FFF2-40B4-BE49-F238E27FC236}">
                <a16:creationId xmlns:a16="http://schemas.microsoft.com/office/drawing/2014/main" id="{32D52EB6-0583-33CE-F260-0A84B2C6C682}"/>
              </a:ext>
            </a:extLst>
          </p:cNvPr>
          <p:cNvPicPr>
            <a:picLocks noGrp="1" noChangeAspect="1"/>
          </p:cNvPicPr>
          <p:nvPr>
            <p:ph sz="half" idx="2"/>
          </p:nvPr>
        </p:nvPicPr>
        <p:blipFill>
          <a:blip r:embed="rId2"/>
          <a:stretch>
            <a:fillRect/>
          </a:stretch>
        </p:blipFill>
        <p:spPr>
          <a:xfrm>
            <a:off x="6172200" y="2058194"/>
            <a:ext cx="5181600" cy="3886200"/>
          </a:xfrm>
          <a:prstGeom prst="rect">
            <a:avLst/>
          </a:prstGeom>
        </p:spPr>
      </p:pic>
    </p:spTree>
    <p:extLst>
      <p:ext uri="{BB962C8B-B14F-4D97-AF65-F5344CB8AC3E}">
        <p14:creationId xmlns:p14="http://schemas.microsoft.com/office/powerpoint/2010/main" val="19598733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DF6F46-F74F-4B22-41AB-5E7412954A5F}"/>
              </a:ext>
            </a:extLst>
          </p:cNvPr>
          <p:cNvSpPr>
            <a:spLocks noGrp="1"/>
          </p:cNvSpPr>
          <p:nvPr>
            <p:ph type="title"/>
          </p:nvPr>
        </p:nvSpPr>
        <p:spPr/>
        <p:txBody>
          <a:bodyPr/>
          <a:lstStyle/>
          <a:p>
            <a:r>
              <a:rPr lang="en-IN" dirty="0"/>
              <a:t>Summary</a:t>
            </a:r>
            <a:endParaRPr lang="en-US" dirty="0"/>
          </a:p>
        </p:txBody>
      </p:sp>
      <p:sp>
        <p:nvSpPr>
          <p:cNvPr id="3" name="Content Placeholder 2">
            <a:extLst>
              <a:ext uri="{FF2B5EF4-FFF2-40B4-BE49-F238E27FC236}">
                <a16:creationId xmlns:a16="http://schemas.microsoft.com/office/drawing/2014/main" id="{9CA4E143-6C85-707A-C625-5DB1D99E580B}"/>
              </a:ext>
            </a:extLst>
          </p:cNvPr>
          <p:cNvSpPr>
            <a:spLocks noGrp="1"/>
          </p:cNvSpPr>
          <p:nvPr>
            <p:ph idx="1"/>
          </p:nvPr>
        </p:nvSpPr>
        <p:spPr/>
        <p:txBody>
          <a:bodyPr>
            <a:normAutofit fontScale="92500" lnSpcReduction="10000"/>
          </a:bodyPr>
          <a:lstStyle/>
          <a:p>
            <a:r>
              <a:rPr lang="en-GB" dirty="0"/>
              <a:t>Following are a few key points we can make about the G1 garbage collection on the old generation</a:t>
            </a:r>
          </a:p>
          <a:p>
            <a:pPr lvl="1"/>
            <a:r>
              <a:rPr lang="en-GB" dirty="0"/>
              <a:t>Concurrent Marking Phase</a:t>
            </a:r>
          </a:p>
          <a:p>
            <a:pPr lvl="2"/>
            <a:r>
              <a:rPr lang="en-GB" dirty="0"/>
              <a:t>Liveness information is calculated concurrently while application is running</a:t>
            </a:r>
          </a:p>
          <a:p>
            <a:pPr lvl="2"/>
            <a:r>
              <a:rPr lang="en-GB" dirty="0"/>
              <a:t>This liveness information identifies which regions will be best to reclaim during an evacuation pause.</a:t>
            </a:r>
          </a:p>
          <a:p>
            <a:pPr lvl="2"/>
            <a:r>
              <a:rPr lang="en-GB" dirty="0"/>
              <a:t>There is no sweeping phase like in CMS</a:t>
            </a:r>
          </a:p>
          <a:p>
            <a:pPr lvl="1"/>
            <a:r>
              <a:rPr lang="en-GB" dirty="0"/>
              <a:t>Remark Phase</a:t>
            </a:r>
          </a:p>
          <a:p>
            <a:pPr lvl="2"/>
            <a:r>
              <a:rPr lang="en-GB" dirty="0"/>
              <a:t>Uses the Snapshot-at-the-Beginning algorithm which is much faster than what was used with CMS.</a:t>
            </a:r>
          </a:p>
          <a:p>
            <a:pPr lvl="2"/>
            <a:r>
              <a:rPr lang="en-GB" dirty="0"/>
              <a:t>Completely empty regions are reclaimed.</a:t>
            </a:r>
          </a:p>
          <a:p>
            <a:pPr lvl="1"/>
            <a:r>
              <a:rPr lang="en-GB" dirty="0"/>
              <a:t>Copying/Cleanup Phase</a:t>
            </a:r>
          </a:p>
          <a:p>
            <a:pPr lvl="2"/>
            <a:r>
              <a:rPr lang="en-GB" dirty="0"/>
              <a:t>Young generation and old generation are reclaimed at the same time</a:t>
            </a:r>
          </a:p>
          <a:p>
            <a:pPr lvl="2"/>
            <a:r>
              <a:rPr lang="en-GB" dirty="0"/>
              <a:t>Old generation regions are selected based on their liveness</a:t>
            </a:r>
            <a:endParaRPr lang="en-US" dirty="0"/>
          </a:p>
        </p:txBody>
      </p:sp>
    </p:spTree>
    <p:extLst>
      <p:ext uri="{BB962C8B-B14F-4D97-AF65-F5344CB8AC3E}">
        <p14:creationId xmlns:p14="http://schemas.microsoft.com/office/powerpoint/2010/main" val="4015704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284E9-36F8-485A-CD05-D5CC25789EB4}"/>
              </a:ext>
            </a:extLst>
          </p:cNvPr>
          <p:cNvSpPr>
            <a:spLocks noGrp="1"/>
          </p:cNvSpPr>
          <p:nvPr>
            <p:ph type="title"/>
          </p:nvPr>
        </p:nvSpPr>
        <p:spPr/>
        <p:txBody>
          <a:bodyPr/>
          <a:lstStyle/>
          <a:p>
            <a:r>
              <a:rPr lang="en-US" dirty="0"/>
              <a:t>G1 Garbage Collector Overview</a:t>
            </a:r>
          </a:p>
        </p:txBody>
      </p:sp>
      <p:sp>
        <p:nvSpPr>
          <p:cNvPr id="3" name="Content Placeholder 2">
            <a:extLst>
              <a:ext uri="{FF2B5EF4-FFF2-40B4-BE49-F238E27FC236}">
                <a16:creationId xmlns:a16="http://schemas.microsoft.com/office/drawing/2014/main" id="{931BC306-0087-61AF-11B8-6B997F3F6CB7}"/>
              </a:ext>
            </a:extLst>
          </p:cNvPr>
          <p:cNvSpPr>
            <a:spLocks noGrp="1"/>
          </p:cNvSpPr>
          <p:nvPr>
            <p:ph idx="1"/>
          </p:nvPr>
        </p:nvSpPr>
        <p:spPr/>
        <p:txBody>
          <a:bodyPr/>
          <a:lstStyle/>
          <a:p>
            <a:r>
              <a:rPr lang="en-GB" b="1" dirty="0"/>
              <a:t>Why G1 is better than CMS ?</a:t>
            </a:r>
          </a:p>
          <a:p>
            <a:pPr lvl="1"/>
            <a:r>
              <a:rPr lang="en-GB" dirty="0"/>
              <a:t>Compacting collector – eliminates fragmentation</a:t>
            </a:r>
          </a:p>
          <a:p>
            <a:pPr lvl="1"/>
            <a:r>
              <a:rPr lang="en-GB" dirty="0"/>
              <a:t>Uses regions instead of free lists – simpler memory management</a:t>
            </a:r>
          </a:p>
          <a:p>
            <a:pPr lvl="1"/>
            <a:r>
              <a:rPr lang="en-GB" dirty="0"/>
              <a:t>Offers predictable pause time goals</a:t>
            </a:r>
          </a:p>
          <a:p>
            <a:pPr lvl="1"/>
            <a:r>
              <a:rPr lang="en-GB" dirty="0"/>
              <a:t>Reduce long GC pauses</a:t>
            </a:r>
            <a:endParaRPr lang="en-US" dirty="0"/>
          </a:p>
        </p:txBody>
      </p:sp>
    </p:spTree>
    <p:extLst>
      <p:ext uri="{BB962C8B-B14F-4D97-AF65-F5344CB8AC3E}">
        <p14:creationId xmlns:p14="http://schemas.microsoft.com/office/powerpoint/2010/main" val="6518077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1A3C0-A1F1-F239-4C18-99FAD342CB31}"/>
              </a:ext>
            </a:extLst>
          </p:cNvPr>
          <p:cNvSpPr>
            <a:spLocks noGrp="1"/>
          </p:cNvSpPr>
          <p:nvPr>
            <p:ph type="title"/>
          </p:nvPr>
        </p:nvSpPr>
        <p:spPr/>
        <p:txBody>
          <a:bodyPr/>
          <a:lstStyle/>
          <a:p>
            <a:r>
              <a:rPr lang="en-IN" dirty="0"/>
              <a:t>Code Example</a:t>
            </a:r>
            <a:endParaRPr lang="en-US" dirty="0"/>
          </a:p>
        </p:txBody>
      </p:sp>
      <p:sp>
        <p:nvSpPr>
          <p:cNvPr id="5" name="TextBox 4">
            <a:extLst>
              <a:ext uri="{FF2B5EF4-FFF2-40B4-BE49-F238E27FC236}">
                <a16:creationId xmlns:a16="http://schemas.microsoft.com/office/drawing/2014/main" id="{268EAF22-C793-1AC1-5DBF-23F0F747D6F0}"/>
              </a:ext>
            </a:extLst>
          </p:cNvPr>
          <p:cNvSpPr txBox="1"/>
          <p:nvPr/>
        </p:nvSpPr>
        <p:spPr>
          <a:xfrm>
            <a:off x="838200" y="1690688"/>
            <a:ext cx="10286278" cy="3108543"/>
          </a:xfrm>
          <a:prstGeom prst="rect">
            <a:avLst/>
          </a:prstGeom>
          <a:ln/>
        </p:spPr>
        <p:style>
          <a:lnRef idx="2">
            <a:schemeClr val="accent1"/>
          </a:lnRef>
          <a:fillRef idx="1">
            <a:schemeClr val="lt1"/>
          </a:fillRef>
          <a:effectRef idx="0">
            <a:schemeClr val="accent1"/>
          </a:effectRef>
          <a:fontRef idx="minor">
            <a:schemeClr val="dk1"/>
          </a:fontRef>
        </p:style>
        <p:txBody>
          <a:bodyPr wrap="square">
            <a:spAutoFit/>
          </a:bodyPr>
          <a:lstStyle/>
          <a:p>
            <a:r>
              <a:rPr lang="en-US" sz="1400" dirty="0">
                <a:latin typeface="Consolas" panose="020B0609020204030204" pitchFamily="49" charset="0"/>
              </a:rPr>
              <a:t>public static void main(String[] </a:t>
            </a:r>
            <a:r>
              <a:rPr lang="en-US" sz="1400" dirty="0" err="1">
                <a:latin typeface="Consolas" panose="020B0609020204030204" pitchFamily="49" charset="0"/>
              </a:rPr>
              <a:t>args</a:t>
            </a:r>
            <a:r>
              <a:rPr lang="en-US" sz="1400" dirty="0">
                <a:latin typeface="Consolas" panose="020B0609020204030204" pitchFamily="49" charset="0"/>
              </a:rPr>
              <a:t>) throws </a:t>
            </a:r>
            <a:r>
              <a:rPr lang="en-US" sz="1400" dirty="0" err="1">
                <a:latin typeface="Consolas" panose="020B0609020204030204" pitchFamily="49" charset="0"/>
              </a:rPr>
              <a:t>InterruptedException</a:t>
            </a:r>
            <a:r>
              <a:rPr lang="en-US" sz="1400" dirty="0">
                <a:latin typeface="Consolas" panose="020B0609020204030204" pitchFamily="49" charset="0"/>
              </a:rPr>
              <a:t> {</a:t>
            </a:r>
          </a:p>
          <a:p>
            <a:r>
              <a:rPr lang="en-US" sz="1400" dirty="0">
                <a:latin typeface="Consolas" panose="020B0609020204030204" pitchFamily="49" charset="0"/>
              </a:rPr>
              <a:t>		List&lt;byte[]&gt; </a:t>
            </a:r>
            <a:r>
              <a:rPr lang="en-US" sz="1400" dirty="0" err="1">
                <a:latin typeface="Consolas" panose="020B0609020204030204" pitchFamily="49" charset="0"/>
              </a:rPr>
              <a:t>memoryConsumer</a:t>
            </a:r>
            <a:r>
              <a:rPr lang="en-US" sz="1400" dirty="0">
                <a:latin typeface="Consolas" panose="020B0609020204030204" pitchFamily="49" charset="0"/>
              </a:rPr>
              <a:t> = new </a:t>
            </a:r>
            <a:r>
              <a:rPr lang="en-US" sz="1400" dirty="0" err="1">
                <a:latin typeface="Consolas" panose="020B0609020204030204" pitchFamily="49" charset="0"/>
              </a:rPr>
              <a:t>ArrayList</a:t>
            </a:r>
            <a:r>
              <a:rPr lang="en-US" sz="1400" dirty="0">
                <a:latin typeface="Consolas" panose="020B0609020204030204" pitchFamily="49" charset="0"/>
              </a:rPr>
              <a:t>&lt;&gt;();</a:t>
            </a:r>
          </a:p>
          <a:p>
            <a:r>
              <a:rPr lang="en-US" sz="1400" dirty="0">
                <a:latin typeface="Consolas" panose="020B0609020204030204" pitchFamily="49" charset="0"/>
              </a:rPr>
              <a:t>		for (int </a:t>
            </a:r>
            <a:r>
              <a:rPr lang="en-US" sz="1400" dirty="0" err="1">
                <a:latin typeface="Consolas" panose="020B0609020204030204" pitchFamily="49" charset="0"/>
              </a:rPr>
              <a:t>i</a:t>
            </a:r>
            <a:r>
              <a:rPr lang="en-US" sz="1400" dirty="0">
                <a:latin typeface="Consolas" panose="020B0609020204030204" pitchFamily="49" charset="0"/>
              </a:rPr>
              <a:t> = 0; </a:t>
            </a:r>
            <a:r>
              <a:rPr lang="en-US" sz="1400" dirty="0" err="1">
                <a:latin typeface="Consolas" panose="020B0609020204030204" pitchFamily="49" charset="0"/>
              </a:rPr>
              <a:t>i</a:t>
            </a:r>
            <a:r>
              <a:rPr lang="en-US" sz="1400" dirty="0">
                <a:latin typeface="Consolas" panose="020B0609020204030204" pitchFamily="49" charset="0"/>
              </a:rPr>
              <a:t> &lt; 1000; </a:t>
            </a:r>
            <a:r>
              <a:rPr lang="en-US" sz="1400" dirty="0" err="1">
                <a:latin typeface="Consolas" panose="020B0609020204030204" pitchFamily="49" charset="0"/>
              </a:rPr>
              <a:t>i</a:t>
            </a:r>
            <a:r>
              <a:rPr lang="en-US" sz="1400" dirty="0">
                <a:latin typeface="Consolas" panose="020B0609020204030204" pitchFamily="49" charset="0"/>
              </a:rPr>
              <a:t>++) {</a:t>
            </a:r>
          </a:p>
          <a:p>
            <a:r>
              <a:rPr lang="en-US" sz="1400" dirty="0">
                <a:latin typeface="Consolas" panose="020B0609020204030204" pitchFamily="49" charset="0"/>
              </a:rPr>
              <a:t>			// Allocate 1MB objects</a:t>
            </a:r>
          </a:p>
          <a:p>
            <a:r>
              <a:rPr lang="en-US" sz="1400" dirty="0">
                <a:latin typeface="Consolas" panose="020B0609020204030204" pitchFamily="49" charset="0"/>
              </a:rPr>
              <a:t>			byte[] block = new byte[256 * 1024];</a:t>
            </a:r>
          </a:p>
          <a:p>
            <a:r>
              <a:rPr lang="en-US" sz="1400" dirty="0">
                <a:latin typeface="Consolas" panose="020B0609020204030204" pitchFamily="49" charset="0"/>
              </a:rPr>
              <a:t>			</a:t>
            </a:r>
            <a:r>
              <a:rPr lang="en-US" sz="1400" dirty="0" err="1">
                <a:latin typeface="Consolas" panose="020B0609020204030204" pitchFamily="49" charset="0"/>
              </a:rPr>
              <a:t>memoryConsumer.add</a:t>
            </a:r>
            <a:r>
              <a:rPr lang="en-US" sz="1400" dirty="0">
                <a:latin typeface="Consolas" panose="020B0609020204030204" pitchFamily="49" charset="0"/>
              </a:rPr>
              <a:t>(block);</a:t>
            </a:r>
          </a:p>
          <a:p>
            <a:endParaRPr lang="en-US" sz="1400" dirty="0">
              <a:latin typeface="Consolas" panose="020B0609020204030204" pitchFamily="49" charset="0"/>
            </a:endParaRPr>
          </a:p>
          <a:p>
            <a:r>
              <a:rPr lang="en-US" sz="1400" dirty="0">
                <a:latin typeface="Consolas" panose="020B0609020204030204" pitchFamily="49" charset="0"/>
              </a:rPr>
              <a:t>			if (</a:t>
            </a:r>
            <a:r>
              <a:rPr lang="en-US" sz="1400" dirty="0" err="1">
                <a:latin typeface="Consolas" panose="020B0609020204030204" pitchFamily="49" charset="0"/>
              </a:rPr>
              <a:t>i</a:t>
            </a:r>
            <a:r>
              <a:rPr lang="en-US" sz="1400" dirty="0">
                <a:latin typeface="Consolas" panose="020B0609020204030204" pitchFamily="49" charset="0"/>
              </a:rPr>
              <a:t> % 10 == 0) {</a:t>
            </a:r>
          </a:p>
          <a:p>
            <a:r>
              <a:rPr lang="en-US" sz="1400" dirty="0">
                <a:latin typeface="Consolas" panose="020B0609020204030204" pitchFamily="49" charset="0"/>
              </a:rPr>
              <a:t>				</a:t>
            </a:r>
            <a:r>
              <a:rPr lang="en-US" sz="1400" dirty="0" err="1">
                <a:latin typeface="Consolas" panose="020B0609020204030204" pitchFamily="49" charset="0"/>
              </a:rPr>
              <a:t>System.out.println</a:t>
            </a:r>
            <a:r>
              <a:rPr lang="en-US" sz="1400" dirty="0">
                <a:latin typeface="Consolas" panose="020B0609020204030204" pitchFamily="49" charset="0"/>
              </a:rPr>
              <a:t>("Allocated " + (</a:t>
            </a:r>
            <a:r>
              <a:rPr lang="en-US" sz="1400" dirty="0" err="1">
                <a:latin typeface="Consolas" panose="020B0609020204030204" pitchFamily="49" charset="0"/>
              </a:rPr>
              <a:t>i</a:t>
            </a:r>
            <a:r>
              <a:rPr lang="en-US" sz="1400" dirty="0">
                <a:latin typeface="Consolas" panose="020B0609020204030204" pitchFamily="49" charset="0"/>
              </a:rPr>
              <a:t> + 1) + " MB");</a:t>
            </a:r>
          </a:p>
          <a:p>
            <a:r>
              <a:rPr lang="en-US" sz="1400" dirty="0">
                <a:latin typeface="Consolas" panose="020B0609020204030204" pitchFamily="49" charset="0"/>
              </a:rPr>
              <a:t>				</a:t>
            </a:r>
            <a:r>
              <a:rPr lang="en-US" sz="1400" dirty="0" err="1">
                <a:latin typeface="Consolas" panose="020B0609020204030204" pitchFamily="49" charset="0"/>
              </a:rPr>
              <a:t>Thread.sleep</a:t>
            </a:r>
            <a:r>
              <a:rPr lang="en-US" sz="1400" dirty="0">
                <a:latin typeface="Consolas" panose="020B0609020204030204" pitchFamily="49" charset="0"/>
              </a:rPr>
              <a:t>(100);</a:t>
            </a:r>
          </a:p>
          <a:p>
            <a:r>
              <a:rPr lang="en-US" sz="1400" dirty="0">
                <a:latin typeface="Consolas" panose="020B0609020204030204" pitchFamily="49" charset="0"/>
              </a:rPr>
              <a:t>			}</a:t>
            </a:r>
          </a:p>
          <a:p>
            <a:r>
              <a:rPr lang="en-US" sz="1400" dirty="0">
                <a:latin typeface="Consolas" panose="020B0609020204030204" pitchFamily="49" charset="0"/>
              </a:rPr>
              <a:t>		}</a:t>
            </a:r>
          </a:p>
          <a:p>
            <a:r>
              <a:rPr lang="en-US" sz="1400" dirty="0">
                <a:latin typeface="Consolas" panose="020B0609020204030204" pitchFamily="49" charset="0"/>
              </a:rPr>
              <a:t>		</a:t>
            </a:r>
            <a:r>
              <a:rPr lang="en-US" sz="1400" dirty="0" err="1">
                <a:latin typeface="Consolas" panose="020B0609020204030204" pitchFamily="49" charset="0"/>
              </a:rPr>
              <a:t>System.out.println</a:t>
            </a:r>
            <a:r>
              <a:rPr lang="en-US" sz="1400" dirty="0">
                <a:latin typeface="Consolas" panose="020B0609020204030204" pitchFamily="49" charset="0"/>
              </a:rPr>
              <a:t>("Finished allocation");</a:t>
            </a:r>
          </a:p>
          <a:p>
            <a:r>
              <a:rPr lang="en-US" sz="1400" dirty="0">
                <a:latin typeface="Consolas" panose="020B0609020204030204" pitchFamily="49" charset="0"/>
              </a:rPr>
              <a:t>	}</a:t>
            </a:r>
          </a:p>
        </p:txBody>
      </p:sp>
    </p:spTree>
    <p:extLst>
      <p:ext uri="{BB962C8B-B14F-4D97-AF65-F5344CB8AC3E}">
        <p14:creationId xmlns:p14="http://schemas.microsoft.com/office/powerpoint/2010/main" val="3562734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FE37F5A-5681-80E4-D2F8-9FF56B346839}"/>
              </a:ext>
            </a:extLst>
          </p:cNvPr>
          <p:cNvSpPr>
            <a:spLocks noGrp="1"/>
          </p:cNvSpPr>
          <p:nvPr>
            <p:ph type="title"/>
          </p:nvPr>
        </p:nvSpPr>
        <p:spPr/>
        <p:txBody>
          <a:bodyPr/>
          <a:lstStyle/>
          <a:p>
            <a:r>
              <a:rPr lang="en-IN" dirty="0"/>
              <a:t>GC Logs</a:t>
            </a:r>
            <a:endParaRPr lang="en-US" dirty="0"/>
          </a:p>
        </p:txBody>
      </p:sp>
      <p:pic>
        <p:nvPicPr>
          <p:cNvPr id="6" name="Content Placeholder 5">
            <a:extLst>
              <a:ext uri="{FF2B5EF4-FFF2-40B4-BE49-F238E27FC236}">
                <a16:creationId xmlns:a16="http://schemas.microsoft.com/office/drawing/2014/main" id="{6C1EECB7-8A12-00A1-56DA-8E1881EB68CE}"/>
              </a:ext>
            </a:extLst>
          </p:cNvPr>
          <p:cNvPicPr>
            <a:picLocks noGrp="1" noChangeAspect="1"/>
          </p:cNvPicPr>
          <p:nvPr>
            <p:ph idx="1"/>
          </p:nvPr>
        </p:nvPicPr>
        <p:blipFill>
          <a:blip r:embed="rId2"/>
          <a:stretch>
            <a:fillRect/>
          </a:stretch>
        </p:blipFill>
        <p:spPr>
          <a:xfrm>
            <a:off x="838200" y="1880755"/>
            <a:ext cx="10515600" cy="4241078"/>
          </a:xfrm>
          <a:prstGeom prst="rect">
            <a:avLst/>
          </a:prstGeom>
        </p:spPr>
      </p:pic>
    </p:spTree>
    <p:extLst>
      <p:ext uri="{BB962C8B-B14F-4D97-AF65-F5344CB8AC3E}">
        <p14:creationId xmlns:p14="http://schemas.microsoft.com/office/powerpoint/2010/main" val="3592291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02B7F6-CC55-54D2-30BD-F62E59148365}"/>
              </a:ext>
            </a:extLst>
          </p:cNvPr>
          <p:cNvSpPr>
            <a:spLocks noGrp="1"/>
          </p:cNvSpPr>
          <p:nvPr>
            <p:ph type="title"/>
          </p:nvPr>
        </p:nvSpPr>
        <p:spPr/>
        <p:txBody>
          <a:bodyPr/>
          <a:lstStyle/>
          <a:p>
            <a:r>
              <a:rPr lang="en-IN" dirty="0"/>
              <a:t>1. JVM Startup – System is Ready</a:t>
            </a:r>
            <a:endParaRPr lang="en-US" dirty="0"/>
          </a:p>
        </p:txBody>
      </p:sp>
      <p:sp>
        <p:nvSpPr>
          <p:cNvPr id="4" name="Content Placeholder 3">
            <a:extLst>
              <a:ext uri="{FF2B5EF4-FFF2-40B4-BE49-F238E27FC236}">
                <a16:creationId xmlns:a16="http://schemas.microsoft.com/office/drawing/2014/main" id="{0811D0BA-9EBF-03D4-A4B4-8CBFCBA6E158}"/>
              </a:ext>
            </a:extLst>
          </p:cNvPr>
          <p:cNvSpPr>
            <a:spLocks noGrp="1"/>
          </p:cNvSpPr>
          <p:nvPr>
            <p:ph sz="half" idx="1"/>
          </p:nvPr>
        </p:nvSpPr>
        <p:spPr/>
        <p:txBody>
          <a:bodyPr/>
          <a:lstStyle/>
          <a:p>
            <a:r>
              <a:rPr lang="en-IN" dirty="0"/>
              <a:t>JVM is using G1 Garbage Collector</a:t>
            </a:r>
          </a:p>
          <a:p>
            <a:r>
              <a:rPr lang="en-IN" dirty="0"/>
              <a:t>Heap is divided into 1MB regions</a:t>
            </a:r>
          </a:p>
          <a:p>
            <a:r>
              <a:rPr lang="en-IN" dirty="0"/>
              <a:t>Total heap = 512MB = 512 regions</a:t>
            </a:r>
            <a:endParaRPr lang="en-US" dirty="0"/>
          </a:p>
        </p:txBody>
      </p:sp>
      <p:pic>
        <p:nvPicPr>
          <p:cNvPr id="7" name="Content Placeholder 6">
            <a:extLst>
              <a:ext uri="{FF2B5EF4-FFF2-40B4-BE49-F238E27FC236}">
                <a16:creationId xmlns:a16="http://schemas.microsoft.com/office/drawing/2014/main" id="{D1F98B79-C3C3-0056-D71E-968F94F2F0DA}"/>
              </a:ext>
            </a:extLst>
          </p:cNvPr>
          <p:cNvPicPr>
            <a:picLocks noGrp="1" noChangeAspect="1"/>
          </p:cNvPicPr>
          <p:nvPr>
            <p:ph sz="half" idx="2"/>
          </p:nvPr>
        </p:nvPicPr>
        <p:blipFill>
          <a:blip r:embed="rId2"/>
          <a:stretch>
            <a:fillRect/>
          </a:stretch>
        </p:blipFill>
        <p:spPr>
          <a:xfrm>
            <a:off x="6172200" y="2680494"/>
            <a:ext cx="5181600" cy="2641600"/>
          </a:xfrm>
          <a:prstGeom prst="rect">
            <a:avLst/>
          </a:prstGeom>
        </p:spPr>
      </p:pic>
      <p:sp>
        <p:nvSpPr>
          <p:cNvPr id="8" name="Rectangle 7">
            <a:extLst>
              <a:ext uri="{FF2B5EF4-FFF2-40B4-BE49-F238E27FC236}">
                <a16:creationId xmlns:a16="http://schemas.microsoft.com/office/drawing/2014/main" id="{8941ABAF-8FEF-DF74-A3FD-AEF5B06A9890}"/>
              </a:ext>
            </a:extLst>
          </p:cNvPr>
          <p:cNvSpPr/>
          <p:nvPr/>
        </p:nvSpPr>
        <p:spPr>
          <a:xfrm>
            <a:off x="8129926" y="3813611"/>
            <a:ext cx="2561187" cy="693384"/>
          </a:xfrm>
          <a:prstGeom prst="rect">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87823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8" grpId="0" animBg="1"/>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4F9471-2431-8FE3-14BE-DE9B22FFB188}"/>
              </a:ext>
            </a:extLst>
          </p:cNvPr>
          <p:cNvSpPr>
            <a:spLocks noGrp="1"/>
          </p:cNvSpPr>
          <p:nvPr>
            <p:ph type="title"/>
          </p:nvPr>
        </p:nvSpPr>
        <p:spPr/>
        <p:txBody>
          <a:bodyPr/>
          <a:lstStyle/>
          <a:p>
            <a:r>
              <a:rPr lang="en-IN" dirty="0"/>
              <a:t>Your Program Starts Allocating Memory</a:t>
            </a:r>
            <a:endParaRPr lang="en-US" dirty="0"/>
          </a:p>
        </p:txBody>
      </p:sp>
      <p:sp>
        <p:nvSpPr>
          <p:cNvPr id="3" name="Content Placeholder 2">
            <a:extLst>
              <a:ext uri="{FF2B5EF4-FFF2-40B4-BE49-F238E27FC236}">
                <a16:creationId xmlns:a16="http://schemas.microsoft.com/office/drawing/2014/main" id="{687B9CD8-9D66-6AEC-F40F-A32460CB5460}"/>
              </a:ext>
            </a:extLst>
          </p:cNvPr>
          <p:cNvSpPr>
            <a:spLocks noGrp="1"/>
          </p:cNvSpPr>
          <p:nvPr>
            <p:ph sz="half" idx="1"/>
          </p:nvPr>
        </p:nvSpPr>
        <p:spPr/>
        <p:txBody>
          <a:bodyPr/>
          <a:lstStyle/>
          <a:p>
            <a:r>
              <a:rPr lang="en-IN" dirty="0"/>
              <a:t>Creating objects</a:t>
            </a:r>
          </a:p>
          <a:p>
            <a:r>
              <a:rPr lang="en-IN" dirty="0"/>
              <a:t>Storing in list(*)</a:t>
            </a:r>
          </a:p>
          <a:p>
            <a:r>
              <a:rPr lang="en-IN" dirty="0"/>
              <a:t>Memory keeps increasing</a:t>
            </a:r>
          </a:p>
          <a:p>
            <a:r>
              <a:rPr lang="en-IN" dirty="0"/>
              <a:t>* = These objects are not garbage because you are storing them.</a:t>
            </a:r>
          </a:p>
          <a:p>
            <a:endParaRPr lang="en-US" dirty="0"/>
          </a:p>
        </p:txBody>
      </p:sp>
      <p:pic>
        <p:nvPicPr>
          <p:cNvPr id="6" name="Content Placeholder 5">
            <a:extLst>
              <a:ext uri="{FF2B5EF4-FFF2-40B4-BE49-F238E27FC236}">
                <a16:creationId xmlns:a16="http://schemas.microsoft.com/office/drawing/2014/main" id="{93719FA7-CA44-E975-6AB1-D8D368C1A541}"/>
              </a:ext>
            </a:extLst>
          </p:cNvPr>
          <p:cNvPicPr>
            <a:picLocks noGrp="1" noChangeAspect="1"/>
          </p:cNvPicPr>
          <p:nvPr>
            <p:ph sz="half" idx="2"/>
          </p:nvPr>
        </p:nvPicPr>
        <p:blipFill>
          <a:blip r:embed="rId2"/>
          <a:stretch>
            <a:fillRect/>
          </a:stretch>
        </p:blipFill>
        <p:spPr>
          <a:xfrm>
            <a:off x="7440596" y="1825625"/>
            <a:ext cx="2705478" cy="1943371"/>
          </a:xfrm>
          <a:prstGeom prst="rect">
            <a:avLst/>
          </a:prstGeom>
        </p:spPr>
      </p:pic>
      <p:sp>
        <p:nvSpPr>
          <p:cNvPr id="8" name="TextBox 7">
            <a:extLst>
              <a:ext uri="{FF2B5EF4-FFF2-40B4-BE49-F238E27FC236}">
                <a16:creationId xmlns:a16="http://schemas.microsoft.com/office/drawing/2014/main" id="{EF7C7224-EBE0-A2B6-9B02-8FA01C8DED4B}"/>
              </a:ext>
            </a:extLst>
          </p:cNvPr>
          <p:cNvSpPr txBox="1"/>
          <p:nvPr/>
        </p:nvSpPr>
        <p:spPr>
          <a:xfrm>
            <a:off x="6816830" y="4398522"/>
            <a:ext cx="4995335" cy="923330"/>
          </a:xfrm>
          <a:prstGeom prst="rect">
            <a:avLst/>
          </a:prstGeom>
          <a:noFill/>
          <a:ln>
            <a:solidFill>
              <a:srgbClr val="FFFF00"/>
            </a:solidFill>
          </a:ln>
        </p:spPr>
        <p:txBody>
          <a:bodyPr wrap="square">
            <a:spAutoFit/>
          </a:bodyPr>
          <a:lstStyle/>
          <a:p>
            <a:r>
              <a:rPr lang="en-US" dirty="0">
                <a:latin typeface="Consolas" panose="020B0609020204030204" pitchFamily="49" charset="0"/>
              </a:rPr>
              <a:t>// Allocate memory</a:t>
            </a:r>
          </a:p>
          <a:p>
            <a:r>
              <a:rPr lang="en-US" dirty="0">
                <a:latin typeface="Consolas" panose="020B0609020204030204" pitchFamily="49" charset="0"/>
              </a:rPr>
              <a:t>byte[] block = new byte[256 * 1024];</a:t>
            </a:r>
          </a:p>
          <a:p>
            <a:r>
              <a:rPr lang="en-US" dirty="0" err="1">
                <a:latin typeface="Consolas" panose="020B0609020204030204" pitchFamily="49" charset="0"/>
              </a:rPr>
              <a:t>memoryConsumer.add</a:t>
            </a:r>
            <a:r>
              <a:rPr lang="en-US" dirty="0">
                <a:latin typeface="Consolas" panose="020B0609020204030204" pitchFamily="49" charset="0"/>
              </a:rPr>
              <a:t>(block);</a:t>
            </a:r>
          </a:p>
        </p:txBody>
      </p:sp>
    </p:spTree>
    <p:extLst>
      <p:ext uri="{BB962C8B-B14F-4D97-AF65-F5344CB8AC3E}">
        <p14:creationId xmlns:p14="http://schemas.microsoft.com/office/powerpoint/2010/main" val="3063848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8" grpId="0" animBg="1"/>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F07F78-359A-77F1-B95E-3B211324A5AD}"/>
              </a:ext>
            </a:extLst>
          </p:cNvPr>
          <p:cNvSpPr>
            <a:spLocks noGrp="1"/>
          </p:cNvSpPr>
          <p:nvPr>
            <p:ph type="title"/>
          </p:nvPr>
        </p:nvSpPr>
        <p:spPr/>
        <p:txBody>
          <a:bodyPr/>
          <a:lstStyle/>
          <a:p>
            <a:r>
              <a:rPr lang="en-IN" dirty="0"/>
              <a:t>First GC Happens – GC(0)</a:t>
            </a:r>
            <a:endParaRPr lang="en-US" dirty="0"/>
          </a:p>
        </p:txBody>
      </p:sp>
      <p:sp>
        <p:nvSpPr>
          <p:cNvPr id="3" name="Content Placeholder 2">
            <a:extLst>
              <a:ext uri="{FF2B5EF4-FFF2-40B4-BE49-F238E27FC236}">
                <a16:creationId xmlns:a16="http://schemas.microsoft.com/office/drawing/2014/main" id="{12102226-537C-FF1B-BD45-605B1A08C4EC}"/>
              </a:ext>
            </a:extLst>
          </p:cNvPr>
          <p:cNvSpPr>
            <a:spLocks noGrp="1"/>
          </p:cNvSpPr>
          <p:nvPr>
            <p:ph sz="half" idx="1"/>
          </p:nvPr>
        </p:nvSpPr>
        <p:spPr/>
        <p:txBody>
          <a:bodyPr>
            <a:normAutofit fontScale="85000" lnSpcReduction="20000"/>
          </a:bodyPr>
          <a:lstStyle/>
          <a:p>
            <a:r>
              <a:rPr lang="en-IN" dirty="0"/>
              <a:t>Young GC triggered</a:t>
            </a:r>
          </a:p>
          <a:p>
            <a:r>
              <a:rPr lang="en-IN" dirty="0"/>
              <a:t>JVM pauses briefly – few </a:t>
            </a:r>
            <a:r>
              <a:rPr lang="en-IN" dirty="0" err="1"/>
              <a:t>ms</a:t>
            </a:r>
            <a:endParaRPr lang="en-IN" dirty="0"/>
          </a:p>
          <a:p>
            <a:r>
              <a:rPr lang="en-IN" dirty="0"/>
              <a:t>What happens inside GC(0)</a:t>
            </a:r>
          </a:p>
          <a:p>
            <a:pPr lvl="1"/>
            <a:r>
              <a:rPr lang="en-IN" dirty="0"/>
              <a:t>Eden Full</a:t>
            </a:r>
          </a:p>
          <a:p>
            <a:pPr lvl="2"/>
            <a:r>
              <a:rPr lang="en-IN" dirty="0"/>
              <a:t>25 regions were full</a:t>
            </a:r>
          </a:p>
          <a:p>
            <a:pPr lvl="2"/>
            <a:r>
              <a:rPr lang="en-IN" dirty="0"/>
              <a:t>New objects were sitting here</a:t>
            </a:r>
          </a:p>
          <a:p>
            <a:pPr lvl="1"/>
            <a:r>
              <a:rPr lang="en-IN" dirty="0"/>
              <a:t>GC Cleans Eden</a:t>
            </a:r>
          </a:p>
          <a:p>
            <a:pPr lvl="2"/>
            <a:r>
              <a:rPr lang="en-IN" dirty="0"/>
              <a:t>Eden cleared completely</a:t>
            </a:r>
          </a:p>
          <a:p>
            <a:pPr lvl="1"/>
            <a:r>
              <a:rPr lang="en-IN" dirty="0"/>
              <a:t>Live Objects Moved</a:t>
            </a:r>
          </a:p>
          <a:p>
            <a:pPr lvl="2"/>
            <a:r>
              <a:rPr lang="en-IN" dirty="0"/>
              <a:t>Some objects to Survivor</a:t>
            </a:r>
          </a:p>
          <a:p>
            <a:pPr lvl="2"/>
            <a:r>
              <a:rPr lang="en-IN" dirty="0"/>
              <a:t>Some object to Old</a:t>
            </a:r>
          </a:p>
          <a:p>
            <a:pPr lvl="1"/>
            <a:r>
              <a:rPr lang="en-IN" dirty="0"/>
              <a:t>GC Pause Time</a:t>
            </a:r>
          </a:p>
          <a:p>
            <a:pPr lvl="2"/>
            <a:r>
              <a:rPr lang="en-IN" dirty="0"/>
              <a:t>Application paused only 4 </a:t>
            </a:r>
            <a:r>
              <a:rPr lang="en-IN" dirty="0" err="1"/>
              <a:t>ms</a:t>
            </a:r>
            <a:endParaRPr lang="en-IN" dirty="0"/>
          </a:p>
          <a:p>
            <a:pPr lvl="1"/>
            <a:r>
              <a:rPr lang="en-IN" dirty="0"/>
              <a:t>Low pause time</a:t>
            </a:r>
            <a:br>
              <a:rPr lang="en-IN" dirty="0"/>
            </a:br>
            <a:r>
              <a:rPr lang="en-IN" dirty="0"/>
              <a:t>	</a:t>
            </a:r>
            <a:endParaRPr lang="en-US" dirty="0"/>
          </a:p>
        </p:txBody>
      </p:sp>
      <p:pic>
        <p:nvPicPr>
          <p:cNvPr id="10" name="Content Placeholder 9">
            <a:extLst>
              <a:ext uri="{FF2B5EF4-FFF2-40B4-BE49-F238E27FC236}">
                <a16:creationId xmlns:a16="http://schemas.microsoft.com/office/drawing/2014/main" id="{D0E01860-A54C-5AB2-9299-9B3CF0EBE2B4}"/>
              </a:ext>
            </a:extLst>
          </p:cNvPr>
          <p:cNvPicPr>
            <a:picLocks noGrp="1" noChangeAspect="1"/>
          </p:cNvPicPr>
          <p:nvPr>
            <p:ph sz="half" idx="2"/>
          </p:nvPr>
        </p:nvPicPr>
        <p:blipFill>
          <a:blip r:embed="rId2"/>
          <a:stretch>
            <a:fillRect/>
          </a:stretch>
        </p:blipFill>
        <p:spPr>
          <a:xfrm>
            <a:off x="5058615" y="3133270"/>
            <a:ext cx="7019628" cy="2055880"/>
          </a:xfrm>
          <a:prstGeom prst="rect">
            <a:avLst/>
          </a:prstGeom>
        </p:spPr>
      </p:pic>
      <p:sp>
        <p:nvSpPr>
          <p:cNvPr id="11" name="Rectangle 10">
            <a:extLst>
              <a:ext uri="{FF2B5EF4-FFF2-40B4-BE49-F238E27FC236}">
                <a16:creationId xmlns:a16="http://schemas.microsoft.com/office/drawing/2014/main" id="{4C199CE7-A61B-F9DE-703F-1E9DD6EFAC38}"/>
              </a:ext>
            </a:extLst>
          </p:cNvPr>
          <p:cNvSpPr/>
          <p:nvPr/>
        </p:nvSpPr>
        <p:spPr>
          <a:xfrm>
            <a:off x="7471211" y="4073630"/>
            <a:ext cx="1807132" cy="671716"/>
          </a:xfrm>
          <a:prstGeom prst="rect">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F3FE3E6-47CA-7C42-5211-7B299E8677B1}"/>
              </a:ext>
            </a:extLst>
          </p:cNvPr>
          <p:cNvSpPr/>
          <p:nvPr/>
        </p:nvSpPr>
        <p:spPr>
          <a:xfrm>
            <a:off x="11484171" y="4888356"/>
            <a:ext cx="546039" cy="169013"/>
          </a:xfrm>
          <a:prstGeom prst="rect">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25568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
                                            <p:txEl>
                                              <p:pRg st="12" end="12"/>
                                            </p:txEl>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1" grpId="0" animBg="1"/>
      <p:bldP spid="13" grpId="0" animBg="1"/>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35814-8F4F-374D-4E21-A98370226484}"/>
              </a:ext>
            </a:extLst>
          </p:cNvPr>
          <p:cNvSpPr>
            <a:spLocks noGrp="1"/>
          </p:cNvSpPr>
          <p:nvPr>
            <p:ph type="title"/>
          </p:nvPr>
        </p:nvSpPr>
        <p:spPr/>
        <p:txBody>
          <a:bodyPr/>
          <a:lstStyle/>
          <a:p>
            <a:r>
              <a:rPr lang="en-IN" dirty="0"/>
              <a:t>Second GC GC(1)</a:t>
            </a:r>
            <a:endParaRPr lang="en-US" dirty="0"/>
          </a:p>
        </p:txBody>
      </p:sp>
      <p:sp>
        <p:nvSpPr>
          <p:cNvPr id="3" name="Content Placeholder 2">
            <a:extLst>
              <a:ext uri="{FF2B5EF4-FFF2-40B4-BE49-F238E27FC236}">
                <a16:creationId xmlns:a16="http://schemas.microsoft.com/office/drawing/2014/main" id="{05AF1E4D-9080-4328-8B01-49D61ADCEB5D}"/>
              </a:ext>
            </a:extLst>
          </p:cNvPr>
          <p:cNvSpPr>
            <a:spLocks noGrp="1"/>
          </p:cNvSpPr>
          <p:nvPr>
            <p:ph sz="half" idx="1"/>
          </p:nvPr>
        </p:nvSpPr>
        <p:spPr/>
        <p:txBody>
          <a:bodyPr/>
          <a:lstStyle/>
          <a:p>
            <a:r>
              <a:rPr lang="en-IN" dirty="0"/>
              <a:t>What changed </a:t>
            </a:r>
          </a:p>
          <a:p>
            <a:pPr lvl="1"/>
            <a:r>
              <a:rPr lang="en-IN" dirty="0"/>
              <a:t>Eden cleaned again</a:t>
            </a:r>
          </a:p>
          <a:p>
            <a:pPr lvl="1"/>
            <a:r>
              <a:rPr lang="en-IN" dirty="0"/>
              <a:t>Survivor stayed same</a:t>
            </a:r>
          </a:p>
          <a:p>
            <a:pPr lvl="2"/>
            <a:r>
              <a:rPr lang="en-IN" dirty="0"/>
              <a:t>Objects still alive</a:t>
            </a:r>
          </a:p>
          <a:p>
            <a:pPr lvl="1"/>
            <a:r>
              <a:rPr lang="en-IN" dirty="0"/>
              <a:t>Old increased</a:t>
            </a:r>
          </a:p>
          <a:p>
            <a:pPr lvl="2"/>
            <a:r>
              <a:rPr lang="en-IN" dirty="0"/>
              <a:t>More objects promoted</a:t>
            </a:r>
            <a:endParaRPr lang="en-US" dirty="0"/>
          </a:p>
        </p:txBody>
      </p:sp>
      <p:pic>
        <p:nvPicPr>
          <p:cNvPr id="6" name="Content Placeholder 5">
            <a:extLst>
              <a:ext uri="{FF2B5EF4-FFF2-40B4-BE49-F238E27FC236}">
                <a16:creationId xmlns:a16="http://schemas.microsoft.com/office/drawing/2014/main" id="{49E326D5-DD2A-511D-AC38-9D86EA944DAC}"/>
              </a:ext>
            </a:extLst>
          </p:cNvPr>
          <p:cNvPicPr>
            <a:picLocks noGrp="1" noChangeAspect="1"/>
          </p:cNvPicPr>
          <p:nvPr>
            <p:ph sz="half" idx="2"/>
          </p:nvPr>
        </p:nvPicPr>
        <p:blipFill>
          <a:blip r:embed="rId2"/>
          <a:stretch>
            <a:fillRect/>
          </a:stretch>
        </p:blipFill>
        <p:spPr>
          <a:xfrm>
            <a:off x="4658673" y="2391907"/>
            <a:ext cx="7466517" cy="2159288"/>
          </a:xfrm>
          <a:prstGeom prst="rect">
            <a:avLst/>
          </a:prstGeom>
        </p:spPr>
      </p:pic>
      <p:sp>
        <p:nvSpPr>
          <p:cNvPr id="7" name="Rectangle 6">
            <a:extLst>
              <a:ext uri="{FF2B5EF4-FFF2-40B4-BE49-F238E27FC236}">
                <a16:creationId xmlns:a16="http://schemas.microsoft.com/office/drawing/2014/main" id="{F1527C51-BD50-B3A8-E568-E9DC63109F92}"/>
              </a:ext>
            </a:extLst>
          </p:cNvPr>
          <p:cNvSpPr/>
          <p:nvPr/>
        </p:nvSpPr>
        <p:spPr>
          <a:xfrm>
            <a:off x="7211192" y="3407329"/>
            <a:ext cx="1963144" cy="709635"/>
          </a:xfrm>
          <a:prstGeom prst="rect">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42449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3CEC1B-0A66-0A41-E0D2-7C1E14638103}"/>
              </a:ext>
            </a:extLst>
          </p:cNvPr>
          <p:cNvSpPr>
            <a:spLocks noGrp="1"/>
          </p:cNvSpPr>
          <p:nvPr>
            <p:ph type="title"/>
          </p:nvPr>
        </p:nvSpPr>
        <p:spPr/>
        <p:txBody>
          <a:bodyPr/>
          <a:lstStyle/>
          <a:p>
            <a:r>
              <a:rPr lang="en-IN" dirty="0"/>
              <a:t>Pattern you should notice</a:t>
            </a:r>
            <a:endParaRPr lang="en-US" dirty="0"/>
          </a:p>
        </p:txBody>
      </p:sp>
      <p:sp>
        <p:nvSpPr>
          <p:cNvPr id="3" name="Content Placeholder 2">
            <a:extLst>
              <a:ext uri="{FF2B5EF4-FFF2-40B4-BE49-F238E27FC236}">
                <a16:creationId xmlns:a16="http://schemas.microsoft.com/office/drawing/2014/main" id="{5723B2F6-FC14-1DB8-422F-4E3BBFE74E18}"/>
              </a:ext>
            </a:extLst>
          </p:cNvPr>
          <p:cNvSpPr>
            <a:spLocks noGrp="1"/>
          </p:cNvSpPr>
          <p:nvPr>
            <p:ph idx="1"/>
          </p:nvPr>
        </p:nvSpPr>
        <p:spPr/>
        <p:txBody>
          <a:bodyPr>
            <a:normAutofit lnSpcReduction="10000"/>
          </a:bodyPr>
          <a:lstStyle/>
          <a:p>
            <a:r>
              <a:rPr lang="en-IN" dirty="0"/>
              <a:t>Across GCs</a:t>
            </a:r>
          </a:p>
          <a:p>
            <a:pPr lvl="1"/>
            <a:r>
              <a:rPr lang="en-IN" dirty="0"/>
              <a:t>Objects are not dying </a:t>
            </a:r>
          </a:p>
          <a:p>
            <a:pPr lvl="1"/>
            <a:r>
              <a:rPr lang="en-IN" dirty="0"/>
              <a:t>They survive multiple GCs</a:t>
            </a:r>
          </a:p>
          <a:p>
            <a:pPr lvl="1"/>
            <a:r>
              <a:rPr lang="en-IN" dirty="0"/>
              <a:t>Eventually move to Old generation</a:t>
            </a:r>
          </a:p>
          <a:p>
            <a:pPr lvl="1"/>
            <a:r>
              <a:rPr lang="en-IN" dirty="0"/>
              <a:t>Evacuation Pause</a:t>
            </a:r>
          </a:p>
          <a:p>
            <a:pPr lvl="2"/>
            <a:r>
              <a:rPr lang="en-IN" dirty="0"/>
              <a:t>JVM copies live objects</a:t>
            </a:r>
          </a:p>
          <a:p>
            <a:pPr lvl="2"/>
            <a:r>
              <a:rPr lang="en-IN" dirty="0"/>
              <a:t>From</a:t>
            </a:r>
          </a:p>
          <a:p>
            <a:pPr lvl="3"/>
            <a:r>
              <a:rPr lang="en-IN" dirty="0"/>
              <a:t>Eden to Survivor</a:t>
            </a:r>
          </a:p>
          <a:p>
            <a:pPr lvl="3"/>
            <a:r>
              <a:rPr lang="en-IN" dirty="0"/>
              <a:t>Survivor to Old</a:t>
            </a:r>
          </a:p>
          <a:p>
            <a:pPr lvl="1"/>
            <a:r>
              <a:rPr lang="en-IN" dirty="0"/>
              <a:t>GC Workers</a:t>
            </a:r>
          </a:p>
          <a:p>
            <a:pPr lvl="2"/>
            <a:r>
              <a:rPr lang="en-IN" dirty="0"/>
              <a:t>GC is parallel</a:t>
            </a:r>
          </a:p>
          <a:p>
            <a:pPr lvl="2"/>
            <a:r>
              <a:rPr lang="en-IN" dirty="0"/>
              <a:t>Multiple threads cleaning memory</a:t>
            </a:r>
            <a:endParaRPr lang="en-US" dirty="0"/>
          </a:p>
        </p:txBody>
      </p:sp>
    </p:spTree>
    <p:extLst>
      <p:ext uri="{BB962C8B-B14F-4D97-AF65-F5344CB8AC3E}">
        <p14:creationId xmlns:p14="http://schemas.microsoft.com/office/powerpoint/2010/main" val="5243440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A4CFF5-0C7F-AF48-5D43-0FAAD0317936}"/>
              </a:ext>
            </a:extLst>
          </p:cNvPr>
          <p:cNvSpPr>
            <a:spLocks noGrp="1"/>
          </p:cNvSpPr>
          <p:nvPr>
            <p:ph type="title"/>
          </p:nvPr>
        </p:nvSpPr>
        <p:spPr/>
        <p:txBody>
          <a:bodyPr/>
          <a:lstStyle/>
          <a:p>
            <a:r>
              <a:rPr lang="en-IN" dirty="0"/>
              <a:t>Concurrent Mark Cycle</a:t>
            </a:r>
            <a:endParaRPr lang="en-US" dirty="0"/>
          </a:p>
        </p:txBody>
      </p:sp>
      <p:sp>
        <p:nvSpPr>
          <p:cNvPr id="3" name="Content Placeholder 2">
            <a:extLst>
              <a:ext uri="{FF2B5EF4-FFF2-40B4-BE49-F238E27FC236}">
                <a16:creationId xmlns:a16="http://schemas.microsoft.com/office/drawing/2014/main" id="{8D225F0B-CC46-2654-BC55-4E4056149FD9}"/>
              </a:ext>
            </a:extLst>
          </p:cNvPr>
          <p:cNvSpPr>
            <a:spLocks noGrp="1"/>
          </p:cNvSpPr>
          <p:nvPr>
            <p:ph sz="half" idx="1"/>
          </p:nvPr>
        </p:nvSpPr>
        <p:spPr/>
        <p:txBody>
          <a:bodyPr>
            <a:normAutofit fontScale="85000" lnSpcReduction="20000"/>
          </a:bodyPr>
          <a:lstStyle/>
          <a:p>
            <a:pPr marL="514350" indent="-514350">
              <a:buFont typeface="+mj-lt"/>
              <a:buAutoNum type="arabicPeriod"/>
            </a:pPr>
            <a:r>
              <a:rPr lang="en-IN" dirty="0"/>
              <a:t>Cycle Starts</a:t>
            </a:r>
          </a:p>
          <a:p>
            <a:pPr lvl="1"/>
            <a:r>
              <a:rPr lang="en-IN" dirty="0"/>
              <a:t>G1 has started analysing Old generation</a:t>
            </a:r>
          </a:p>
          <a:p>
            <a:pPr lvl="1"/>
            <a:r>
              <a:rPr lang="en-IN" dirty="0"/>
              <a:t>Goal : find live vs garbage objects</a:t>
            </a:r>
          </a:p>
          <a:p>
            <a:pPr marL="514350" indent="-514350">
              <a:buFont typeface="+mj-lt"/>
              <a:buAutoNum type="arabicPeriod"/>
            </a:pPr>
            <a:r>
              <a:rPr lang="en-IN" dirty="0"/>
              <a:t>Clear Previous Marks</a:t>
            </a:r>
          </a:p>
          <a:p>
            <a:pPr lvl="1"/>
            <a:r>
              <a:rPr lang="en-IN" dirty="0"/>
              <a:t>Resetting old marking data</a:t>
            </a:r>
          </a:p>
          <a:p>
            <a:pPr lvl="1"/>
            <a:r>
              <a:rPr lang="en-IN" dirty="0"/>
              <a:t>Preparing for fresh analysis</a:t>
            </a:r>
          </a:p>
          <a:p>
            <a:pPr marL="514350" indent="-514350">
              <a:buFont typeface="+mj-lt"/>
              <a:buAutoNum type="arabicPeriod"/>
            </a:pPr>
            <a:r>
              <a:rPr lang="en-IN" dirty="0"/>
              <a:t>Scan Root Regions</a:t>
            </a:r>
          </a:p>
          <a:p>
            <a:pPr lvl="1"/>
            <a:r>
              <a:rPr lang="en-IN" dirty="0"/>
              <a:t>Root references stack, static vars</a:t>
            </a:r>
          </a:p>
          <a:p>
            <a:pPr marL="514350" indent="-514350">
              <a:buFont typeface="+mj-lt"/>
              <a:buAutoNum type="arabicPeriod"/>
            </a:pPr>
            <a:r>
              <a:rPr lang="en-IN" dirty="0"/>
              <a:t>Main Phase – Concurrent Mark</a:t>
            </a:r>
          </a:p>
          <a:p>
            <a:pPr lvl="1"/>
            <a:r>
              <a:rPr lang="en-IN" dirty="0"/>
              <a:t>Runs in background</a:t>
            </a:r>
          </a:p>
          <a:p>
            <a:pPr lvl="1"/>
            <a:r>
              <a:rPr lang="en-IN" dirty="0"/>
              <a:t>Uses multiple threads (6 workers)</a:t>
            </a:r>
          </a:p>
          <a:p>
            <a:pPr lvl="1"/>
            <a:r>
              <a:rPr lang="en-IN" dirty="0"/>
              <a:t>Traverses object graph</a:t>
            </a:r>
          </a:p>
          <a:p>
            <a:pPr lvl="1"/>
            <a:r>
              <a:rPr lang="en-IN" dirty="0"/>
              <a:t>All reachable – live objects </a:t>
            </a:r>
          </a:p>
        </p:txBody>
      </p:sp>
      <p:pic>
        <p:nvPicPr>
          <p:cNvPr id="6" name="Content Placeholder 5">
            <a:extLst>
              <a:ext uri="{FF2B5EF4-FFF2-40B4-BE49-F238E27FC236}">
                <a16:creationId xmlns:a16="http://schemas.microsoft.com/office/drawing/2014/main" id="{4514FEC0-0B27-0410-9E76-BF6D9782CBC7}"/>
              </a:ext>
            </a:extLst>
          </p:cNvPr>
          <p:cNvPicPr>
            <a:picLocks noGrp="1" noChangeAspect="1"/>
          </p:cNvPicPr>
          <p:nvPr>
            <p:ph sz="half" idx="2"/>
          </p:nvPr>
        </p:nvPicPr>
        <p:blipFill>
          <a:blip r:embed="rId2"/>
          <a:stretch>
            <a:fillRect/>
          </a:stretch>
        </p:blipFill>
        <p:spPr>
          <a:xfrm>
            <a:off x="6172200" y="2010813"/>
            <a:ext cx="5850948" cy="3572291"/>
          </a:xfrm>
          <a:prstGeom prst="rect">
            <a:avLst/>
          </a:prstGeom>
        </p:spPr>
      </p:pic>
    </p:spTree>
    <p:extLst>
      <p:ext uri="{BB962C8B-B14F-4D97-AF65-F5344CB8AC3E}">
        <p14:creationId xmlns:p14="http://schemas.microsoft.com/office/powerpoint/2010/main" val="31565857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
                                            <p:txEl>
                                              <p:pRg st="10" end="10"/>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
                                            <p:txEl>
                                              <p:pRg st="11" end="11"/>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1C5F3-7A68-202B-8ED2-B50098799CF7}"/>
              </a:ext>
            </a:extLst>
          </p:cNvPr>
          <p:cNvSpPr>
            <a:spLocks noGrp="1"/>
          </p:cNvSpPr>
          <p:nvPr>
            <p:ph type="title"/>
          </p:nvPr>
        </p:nvSpPr>
        <p:spPr/>
        <p:txBody>
          <a:bodyPr/>
          <a:lstStyle/>
          <a:p>
            <a:r>
              <a:rPr lang="en-IN" dirty="0"/>
              <a:t>Concurrent Mark Cycle</a:t>
            </a:r>
            <a:endParaRPr lang="en-US" dirty="0"/>
          </a:p>
        </p:txBody>
      </p:sp>
      <p:sp>
        <p:nvSpPr>
          <p:cNvPr id="3" name="Content Placeholder 2">
            <a:extLst>
              <a:ext uri="{FF2B5EF4-FFF2-40B4-BE49-F238E27FC236}">
                <a16:creationId xmlns:a16="http://schemas.microsoft.com/office/drawing/2014/main" id="{324291EC-8C72-A03B-2F69-6F9C6AF495A9}"/>
              </a:ext>
            </a:extLst>
          </p:cNvPr>
          <p:cNvSpPr>
            <a:spLocks noGrp="1"/>
          </p:cNvSpPr>
          <p:nvPr>
            <p:ph sz="half" idx="1"/>
          </p:nvPr>
        </p:nvSpPr>
        <p:spPr/>
        <p:txBody>
          <a:bodyPr>
            <a:normAutofit fontScale="92500" lnSpcReduction="10000"/>
          </a:bodyPr>
          <a:lstStyle/>
          <a:p>
            <a:pPr marL="514350" indent="-514350">
              <a:buFont typeface="+mj-lt"/>
              <a:buAutoNum type="arabicPeriod" startAt="5"/>
            </a:pPr>
            <a:r>
              <a:rPr lang="en-IN" sz="2400" dirty="0"/>
              <a:t>Preclean Phase</a:t>
            </a:r>
            <a:endParaRPr lang="en-US" sz="2400" dirty="0"/>
          </a:p>
          <a:p>
            <a:pPr lvl="1"/>
            <a:r>
              <a:rPr lang="en-IN" sz="1800" dirty="0"/>
              <a:t>Clean small changes</a:t>
            </a:r>
            <a:endParaRPr lang="en-US" sz="1800" dirty="0"/>
          </a:p>
          <a:p>
            <a:pPr lvl="1"/>
            <a:r>
              <a:rPr lang="en-IN" sz="1800" dirty="0"/>
              <a:t>Reduce work for next pause</a:t>
            </a:r>
          </a:p>
          <a:p>
            <a:pPr marL="514350" indent="-514350">
              <a:buFont typeface="+mj-lt"/>
              <a:buAutoNum type="arabicPeriod" startAt="6"/>
            </a:pPr>
            <a:r>
              <a:rPr lang="en-IN" sz="2400" dirty="0"/>
              <a:t>Remark Phase – Stop The World</a:t>
            </a:r>
          </a:p>
          <a:p>
            <a:pPr lvl="1"/>
            <a:r>
              <a:rPr lang="en-IN" sz="1800" dirty="0"/>
              <a:t>JVM pauses application briefly</a:t>
            </a:r>
          </a:p>
          <a:p>
            <a:pPr lvl="1"/>
            <a:r>
              <a:rPr lang="en-IN" sz="1800" dirty="0"/>
              <a:t>Fixes changes that happened during marking</a:t>
            </a:r>
          </a:p>
          <a:p>
            <a:pPr lvl="1"/>
            <a:r>
              <a:rPr lang="en-IN" sz="1800" dirty="0"/>
              <a:t>As app was running during marking</a:t>
            </a:r>
          </a:p>
          <a:p>
            <a:pPr lvl="1"/>
            <a:r>
              <a:rPr lang="en-IN" sz="1800" dirty="0"/>
              <a:t>Object references may have changed </a:t>
            </a:r>
          </a:p>
          <a:p>
            <a:pPr lvl="1"/>
            <a:r>
              <a:rPr lang="en-IN" sz="1800" dirty="0"/>
              <a:t>It’s a final correction before finishing marking</a:t>
            </a:r>
          </a:p>
          <a:p>
            <a:pPr marL="514350" indent="-514350">
              <a:buFont typeface="+mj-lt"/>
              <a:buAutoNum type="arabicPeriod" startAt="7"/>
            </a:pPr>
            <a:r>
              <a:rPr lang="en-IN" sz="2400" dirty="0"/>
              <a:t>Concurrent Mark Ends</a:t>
            </a:r>
          </a:p>
          <a:p>
            <a:pPr lvl="1"/>
            <a:r>
              <a:rPr lang="en-IN" sz="1800" dirty="0"/>
              <a:t>Total marking work completed</a:t>
            </a:r>
          </a:p>
          <a:p>
            <a:pPr marL="514350" indent="-514350">
              <a:buFont typeface="+mj-lt"/>
              <a:buAutoNum type="arabicPeriod" startAt="8"/>
            </a:pPr>
            <a:r>
              <a:rPr lang="en-IN" sz="2400" dirty="0"/>
              <a:t>Rebuild Remembered Sets</a:t>
            </a:r>
          </a:p>
          <a:p>
            <a:pPr lvl="1"/>
            <a:r>
              <a:rPr lang="en-IN" sz="1800" dirty="0"/>
              <a:t>JVM updates Cross Region references </a:t>
            </a:r>
          </a:p>
          <a:p>
            <a:pPr lvl="1"/>
            <a:r>
              <a:rPr lang="en-IN" sz="1800" dirty="0"/>
              <a:t>Needed for Efficient future GC</a:t>
            </a:r>
          </a:p>
        </p:txBody>
      </p:sp>
      <p:pic>
        <p:nvPicPr>
          <p:cNvPr id="5" name="Content Placeholder 5">
            <a:extLst>
              <a:ext uri="{FF2B5EF4-FFF2-40B4-BE49-F238E27FC236}">
                <a16:creationId xmlns:a16="http://schemas.microsoft.com/office/drawing/2014/main" id="{AB332C6D-88E3-3E63-B76F-99FD6816489E}"/>
              </a:ext>
            </a:extLst>
          </p:cNvPr>
          <p:cNvPicPr>
            <a:picLocks noGrp="1" noChangeAspect="1"/>
          </p:cNvPicPr>
          <p:nvPr>
            <p:ph sz="half" idx="2"/>
          </p:nvPr>
        </p:nvPicPr>
        <p:blipFill>
          <a:blip r:embed="rId2"/>
          <a:stretch>
            <a:fillRect/>
          </a:stretch>
        </p:blipFill>
        <p:spPr>
          <a:xfrm>
            <a:off x="5977466" y="1985214"/>
            <a:ext cx="5865144" cy="3580958"/>
          </a:xfrm>
          <a:prstGeom prst="rect">
            <a:avLst/>
          </a:prstGeom>
        </p:spPr>
      </p:pic>
    </p:spTree>
    <p:extLst>
      <p:ext uri="{BB962C8B-B14F-4D97-AF65-F5344CB8AC3E}">
        <p14:creationId xmlns:p14="http://schemas.microsoft.com/office/powerpoint/2010/main" val="2342868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11" end="11"/>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
                                            <p:txEl>
                                              <p:pRg st="12" end="12"/>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997D23-E96C-2E35-43A1-641F81340F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93D605-DD92-4B4F-608C-35F4846F76C2}"/>
              </a:ext>
            </a:extLst>
          </p:cNvPr>
          <p:cNvSpPr>
            <a:spLocks noGrp="1"/>
          </p:cNvSpPr>
          <p:nvPr>
            <p:ph type="title"/>
          </p:nvPr>
        </p:nvSpPr>
        <p:spPr/>
        <p:txBody>
          <a:bodyPr/>
          <a:lstStyle/>
          <a:p>
            <a:r>
              <a:rPr lang="en-IN" dirty="0"/>
              <a:t>Concurrent Mark Cycle</a:t>
            </a:r>
            <a:endParaRPr lang="en-US" dirty="0"/>
          </a:p>
        </p:txBody>
      </p:sp>
      <p:sp>
        <p:nvSpPr>
          <p:cNvPr id="3" name="Content Placeholder 2">
            <a:extLst>
              <a:ext uri="{FF2B5EF4-FFF2-40B4-BE49-F238E27FC236}">
                <a16:creationId xmlns:a16="http://schemas.microsoft.com/office/drawing/2014/main" id="{0B68F3C7-6322-7AD9-8170-209810F0ED91}"/>
              </a:ext>
            </a:extLst>
          </p:cNvPr>
          <p:cNvSpPr>
            <a:spLocks noGrp="1"/>
          </p:cNvSpPr>
          <p:nvPr>
            <p:ph sz="half" idx="1"/>
          </p:nvPr>
        </p:nvSpPr>
        <p:spPr/>
        <p:txBody>
          <a:bodyPr>
            <a:normAutofit/>
          </a:bodyPr>
          <a:lstStyle/>
          <a:p>
            <a:pPr marL="514350" indent="-514350">
              <a:buFont typeface="+mj-lt"/>
              <a:buAutoNum type="arabicPeriod" startAt="9"/>
            </a:pPr>
            <a:r>
              <a:rPr lang="en-IN" sz="2400" dirty="0"/>
              <a:t>Cleanup Phase ( Short Pause)</a:t>
            </a:r>
            <a:endParaRPr lang="en-US" sz="2400" dirty="0"/>
          </a:p>
          <a:p>
            <a:pPr lvl="1"/>
            <a:r>
              <a:rPr lang="en-IN" sz="1800" dirty="0"/>
              <a:t>Identifies regions with garbage</a:t>
            </a:r>
            <a:endParaRPr lang="en-US" sz="1800" dirty="0"/>
          </a:p>
          <a:p>
            <a:pPr lvl="1"/>
            <a:r>
              <a:rPr lang="en-IN" sz="1800" dirty="0"/>
              <a:t>Decides which regions to clean later</a:t>
            </a:r>
          </a:p>
          <a:p>
            <a:pPr marL="514350" indent="-514350">
              <a:buFont typeface="+mj-lt"/>
              <a:buAutoNum type="arabicPeriod" startAt="10"/>
            </a:pPr>
            <a:r>
              <a:rPr lang="en-IN" sz="2400" dirty="0"/>
              <a:t>Concurrent Cleanup</a:t>
            </a:r>
          </a:p>
          <a:p>
            <a:pPr lvl="1"/>
            <a:r>
              <a:rPr lang="en-IN" sz="1800" dirty="0"/>
              <a:t>Background Cleanup for GC cycle</a:t>
            </a:r>
          </a:p>
          <a:p>
            <a:pPr marL="514350" indent="-514350">
              <a:buFont typeface="+mj-lt"/>
              <a:buAutoNum type="arabicPeriod" startAt="7"/>
            </a:pPr>
            <a:r>
              <a:rPr lang="en-IN" sz="2400" dirty="0"/>
              <a:t>Cycle Ends</a:t>
            </a:r>
          </a:p>
          <a:p>
            <a:pPr lvl="1"/>
            <a:r>
              <a:rPr lang="en-IN" sz="2000" dirty="0"/>
              <a:t>4.5 </a:t>
            </a:r>
            <a:r>
              <a:rPr lang="en-IN" sz="2000" dirty="0" err="1"/>
              <a:t>ms</a:t>
            </a:r>
            <a:r>
              <a:rPr lang="en-IN" sz="2000" dirty="0"/>
              <a:t> – Very fast</a:t>
            </a:r>
          </a:p>
          <a:p>
            <a:pPr marL="514350" indent="-514350">
              <a:buFont typeface="+mj-lt"/>
              <a:buAutoNum type="arabicPeriod" startAt="8"/>
            </a:pPr>
            <a:r>
              <a:rPr lang="en-IN" sz="2400" dirty="0"/>
              <a:t>Final Heap Status</a:t>
            </a:r>
          </a:p>
          <a:p>
            <a:pPr lvl="1"/>
            <a:r>
              <a:rPr lang="en-IN" sz="1800" dirty="0"/>
              <a:t>Heap = 512 MB</a:t>
            </a:r>
          </a:p>
          <a:p>
            <a:pPr lvl="1"/>
            <a:r>
              <a:rPr lang="en-IN" sz="1800" dirty="0"/>
              <a:t>341MB used</a:t>
            </a:r>
          </a:p>
          <a:p>
            <a:pPr lvl="1"/>
            <a:r>
              <a:rPr lang="en-IN" sz="1800" dirty="0"/>
              <a:t>No memory reclaimed</a:t>
            </a:r>
          </a:p>
        </p:txBody>
      </p:sp>
      <p:pic>
        <p:nvPicPr>
          <p:cNvPr id="5" name="Content Placeholder 5">
            <a:extLst>
              <a:ext uri="{FF2B5EF4-FFF2-40B4-BE49-F238E27FC236}">
                <a16:creationId xmlns:a16="http://schemas.microsoft.com/office/drawing/2014/main" id="{11C731B3-487C-8DED-7C17-339B8D33CF5C}"/>
              </a:ext>
            </a:extLst>
          </p:cNvPr>
          <p:cNvPicPr>
            <a:picLocks noGrp="1" noChangeAspect="1"/>
          </p:cNvPicPr>
          <p:nvPr>
            <p:ph sz="half" idx="2"/>
          </p:nvPr>
        </p:nvPicPr>
        <p:blipFill>
          <a:blip r:embed="rId2"/>
          <a:stretch>
            <a:fillRect/>
          </a:stretch>
        </p:blipFill>
        <p:spPr>
          <a:xfrm>
            <a:off x="6172200" y="2002147"/>
            <a:ext cx="5865144" cy="3580958"/>
          </a:xfrm>
          <a:prstGeom prst="rect">
            <a:avLst/>
          </a:prstGeom>
        </p:spPr>
      </p:pic>
    </p:spTree>
    <p:extLst>
      <p:ext uri="{BB962C8B-B14F-4D97-AF65-F5344CB8AC3E}">
        <p14:creationId xmlns:p14="http://schemas.microsoft.com/office/powerpoint/2010/main" val="1920321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4855E2-A0A9-6C38-C010-E239A3947A50}"/>
              </a:ext>
            </a:extLst>
          </p:cNvPr>
          <p:cNvSpPr>
            <a:spLocks noGrp="1"/>
          </p:cNvSpPr>
          <p:nvPr>
            <p:ph type="title"/>
          </p:nvPr>
        </p:nvSpPr>
        <p:spPr/>
        <p:txBody>
          <a:bodyPr/>
          <a:lstStyle/>
          <a:p>
            <a:r>
              <a:rPr lang="en-IN" dirty="0"/>
              <a:t>Observations</a:t>
            </a:r>
            <a:endParaRPr lang="en-US" dirty="0"/>
          </a:p>
        </p:txBody>
      </p:sp>
      <p:sp>
        <p:nvSpPr>
          <p:cNvPr id="3" name="Content Placeholder 2">
            <a:extLst>
              <a:ext uri="{FF2B5EF4-FFF2-40B4-BE49-F238E27FC236}">
                <a16:creationId xmlns:a16="http://schemas.microsoft.com/office/drawing/2014/main" id="{F3FD9C1B-375F-958F-65DD-1A85BF6D5EB7}"/>
              </a:ext>
            </a:extLst>
          </p:cNvPr>
          <p:cNvSpPr>
            <a:spLocks noGrp="1"/>
          </p:cNvSpPr>
          <p:nvPr>
            <p:ph idx="1"/>
          </p:nvPr>
        </p:nvSpPr>
        <p:spPr/>
        <p:txBody>
          <a:bodyPr/>
          <a:lstStyle/>
          <a:p>
            <a:r>
              <a:rPr lang="en-IN" dirty="0"/>
              <a:t>Memory did not reduce</a:t>
            </a:r>
          </a:p>
          <a:p>
            <a:r>
              <a:rPr lang="en-IN" dirty="0"/>
              <a:t>Objects are still referenced</a:t>
            </a:r>
          </a:p>
          <a:p>
            <a:r>
              <a:rPr lang="en-IN" dirty="0"/>
              <a:t>All objects are live NOT garbage</a:t>
            </a:r>
          </a:p>
          <a:p>
            <a:r>
              <a:rPr lang="en-IN" dirty="0"/>
              <a:t>So</a:t>
            </a:r>
          </a:p>
          <a:p>
            <a:pPr lvl="1"/>
            <a:r>
              <a:rPr lang="en-IN" dirty="0"/>
              <a:t>Marking works</a:t>
            </a:r>
          </a:p>
          <a:p>
            <a:pPr lvl="1"/>
            <a:r>
              <a:rPr lang="en-IN" dirty="0"/>
              <a:t>Cleanup possible</a:t>
            </a:r>
          </a:p>
          <a:p>
            <a:pPr lvl="1"/>
            <a:r>
              <a:rPr lang="en-IN" dirty="0"/>
              <a:t>But nothing to delete</a:t>
            </a:r>
            <a:endParaRPr lang="en-US" dirty="0"/>
          </a:p>
        </p:txBody>
      </p:sp>
    </p:spTree>
    <p:extLst>
      <p:ext uri="{BB962C8B-B14F-4D97-AF65-F5344CB8AC3E}">
        <p14:creationId xmlns:p14="http://schemas.microsoft.com/office/powerpoint/2010/main" val="6808812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476360-B47D-C256-E299-3597F0DE7426}"/>
              </a:ext>
            </a:extLst>
          </p:cNvPr>
          <p:cNvSpPr>
            <a:spLocks noGrp="1"/>
          </p:cNvSpPr>
          <p:nvPr>
            <p:ph type="title"/>
          </p:nvPr>
        </p:nvSpPr>
        <p:spPr/>
        <p:txBody>
          <a:bodyPr/>
          <a:lstStyle/>
          <a:p>
            <a:r>
              <a:rPr lang="en-IN" dirty="0"/>
              <a:t>Updated Code with GC </a:t>
            </a:r>
            <a:endParaRPr lang="en-US" dirty="0"/>
          </a:p>
        </p:txBody>
      </p:sp>
      <p:sp>
        <p:nvSpPr>
          <p:cNvPr id="5" name="TextBox 4">
            <a:extLst>
              <a:ext uri="{FF2B5EF4-FFF2-40B4-BE49-F238E27FC236}">
                <a16:creationId xmlns:a16="http://schemas.microsoft.com/office/drawing/2014/main" id="{56045B57-10D0-F253-EF08-A7CDCDC9C0B7}"/>
              </a:ext>
            </a:extLst>
          </p:cNvPr>
          <p:cNvSpPr txBox="1"/>
          <p:nvPr/>
        </p:nvSpPr>
        <p:spPr>
          <a:xfrm>
            <a:off x="838200" y="1884929"/>
            <a:ext cx="6936368" cy="3970318"/>
          </a:xfrm>
          <a:prstGeom prst="rect">
            <a:avLst/>
          </a:prstGeom>
          <a:ln/>
        </p:spPr>
        <p:style>
          <a:lnRef idx="2">
            <a:schemeClr val="accent1"/>
          </a:lnRef>
          <a:fillRef idx="1">
            <a:schemeClr val="lt1"/>
          </a:fillRef>
          <a:effectRef idx="0">
            <a:schemeClr val="accent1"/>
          </a:effectRef>
          <a:fontRef idx="minor">
            <a:schemeClr val="dk1"/>
          </a:fontRef>
        </p:style>
        <p:txBody>
          <a:bodyPr wrap="square">
            <a:spAutoFit/>
          </a:bodyPr>
          <a:lstStyle/>
          <a:p>
            <a:r>
              <a:rPr lang="en-US" sz="1400" dirty="0">
                <a:latin typeface="Consolas" panose="020B0609020204030204" pitchFamily="49" charset="0"/>
              </a:rPr>
              <a:t>public static void main(String[] </a:t>
            </a:r>
            <a:r>
              <a:rPr lang="en-US" sz="1400" dirty="0" err="1">
                <a:latin typeface="Consolas" panose="020B0609020204030204" pitchFamily="49" charset="0"/>
              </a:rPr>
              <a:t>args</a:t>
            </a:r>
            <a:r>
              <a:rPr lang="en-US" sz="1400" dirty="0">
                <a:latin typeface="Consolas" panose="020B0609020204030204" pitchFamily="49" charset="0"/>
              </a:rPr>
              <a:t>) throws </a:t>
            </a:r>
            <a:r>
              <a:rPr lang="en-US" sz="1400" dirty="0" err="1">
                <a:latin typeface="Consolas" panose="020B0609020204030204" pitchFamily="49" charset="0"/>
              </a:rPr>
              <a:t>InterruptedException</a:t>
            </a:r>
            <a:r>
              <a:rPr lang="en-US" sz="1400" dirty="0">
                <a:latin typeface="Consolas" panose="020B0609020204030204" pitchFamily="49" charset="0"/>
              </a:rPr>
              <a:t> {</a:t>
            </a:r>
          </a:p>
          <a:p>
            <a:r>
              <a:rPr lang="en-US" sz="1400" dirty="0">
                <a:latin typeface="Consolas" panose="020B0609020204030204" pitchFamily="49" charset="0"/>
              </a:rPr>
              <a:t>	List&lt;byte[]&gt; </a:t>
            </a:r>
            <a:r>
              <a:rPr lang="en-US" sz="1400" dirty="0" err="1">
                <a:latin typeface="Consolas" panose="020B0609020204030204" pitchFamily="49" charset="0"/>
              </a:rPr>
              <a:t>longLived</a:t>
            </a:r>
            <a:r>
              <a:rPr lang="en-US" sz="1400" dirty="0">
                <a:latin typeface="Consolas" panose="020B0609020204030204" pitchFamily="49" charset="0"/>
              </a:rPr>
              <a:t> = new </a:t>
            </a:r>
            <a:r>
              <a:rPr lang="en-US" sz="1400" dirty="0" err="1">
                <a:latin typeface="Consolas" panose="020B0609020204030204" pitchFamily="49" charset="0"/>
              </a:rPr>
              <a:t>ArrayList</a:t>
            </a:r>
            <a:r>
              <a:rPr lang="en-US" sz="1400" dirty="0">
                <a:latin typeface="Consolas" panose="020B0609020204030204" pitchFamily="49" charset="0"/>
              </a:rPr>
              <a:t>&lt;&gt;();</a:t>
            </a:r>
          </a:p>
          <a:p>
            <a:endParaRPr lang="en-US" sz="1400" dirty="0">
              <a:latin typeface="Consolas" panose="020B0609020204030204" pitchFamily="49" charset="0"/>
            </a:endParaRPr>
          </a:p>
          <a:p>
            <a:r>
              <a:rPr lang="en-US" sz="1400" dirty="0">
                <a:latin typeface="Consolas" panose="020B0609020204030204" pitchFamily="49" charset="0"/>
              </a:rPr>
              <a:t>	for (int </a:t>
            </a:r>
            <a:r>
              <a:rPr lang="en-US" sz="1400" dirty="0" err="1">
                <a:latin typeface="Consolas" panose="020B0609020204030204" pitchFamily="49" charset="0"/>
              </a:rPr>
              <a:t>i</a:t>
            </a:r>
            <a:r>
              <a:rPr lang="en-US" sz="1400" dirty="0">
                <a:latin typeface="Consolas" panose="020B0609020204030204" pitchFamily="49" charset="0"/>
              </a:rPr>
              <a:t> = 0; </a:t>
            </a:r>
            <a:r>
              <a:rPr lang="en-US" sz="1400" dirty="0" err="1">
                <a:latin typeface="Consolas" panose="020B0609020204030204" pitchFamily="49" charset="0"/>
              </a:rPr>
              <a:t>i</a:t>
            </a:r>
            <a:r>
              <a:rPr lang="en-US" sz="1400" dirty="0">
                <a:latin typeface="Consolas" panose="020B0609020204030204" pitchFamily="49" charset="0"/>
              </a:rPr>
              <a:t> &lt; 1000; </a:t>
            </a:r>
            <a:r>
              <a:rPr lang="en-US" sz="1400" dirty="0" err="1">
                <a:latin typeface="Consolas" panose="020B0609020204030204" pitchFamily="49" charset="0"/>
              </a:rPr>
              <a:t>i</a:t>
            </a:r>
            <a:r>
              <a:rPr lang="en-US" sz="1400" dirty="0">
                <a:latin typeface="Consolas" panose="020B0609020204030204" pitchFamily="49" charset="0"/>
              </a:rPr>
              <a:t>++) {</a:t>
            </a:r>
          </a:p>
          <a:p>
            <a:r>
              <a:rPr lang="en-US" sz="1400" dirty="0">
                <a:latin typeface="Consolas" panose="020B0609020204030204" pitchFamily="49" charset="0"/>
              </a:rPr>
              <a:t>    		List&lt;byte[]&gt; temp = new </a:t>
            </a:r>
            <a:r>
              <a:rPr lang="en-US" sz="1400" dirty="0" err="1">
                <a:latin typeface="Consolas" panose="020B0609020204030204" pitchFamily="49" charset="0"/>
              </a:rPr>
              <a:t>ArrayList</a:t>
            </a:r>
            <a:r>
              <a:rPr lang="en-US" sz="1400" dirty="0">
                <a:latin typeface="Consolas" panose="020B0609020204030204" pitchFamily="49" charset="0"/>
              </a:rPr>
              <a:t>&lt;&gt;();</a:t>
            </a:r>
          </a:p>
          <a:p>
            <a:endParaRPr lang="en-US" sz="1400" dirty="0">
              <a:latin typeface="Consolas" panose="020B0609020204030204" pitchFamily="49" charset="0"/>
            </a:endParaRPr>
          </a:p>
          <a:p>
            <a:r>
              <a:rPr lang="en-US" sz="1400" dirty="0">
                <a:latin typeface="Consolas" panose="020B0609020204030204" pitchFamily="49" charset="0"/>
              </a:rPr>
              <a:t>    		for (int j = 0; j &lt; 50; </a:t>
            </a:r>
            <a:r>
              <a:rPr lang="en-US" sz="1400" dirty="0" err="1">
                <a:latin typeface="Consolas" panose="020B0609020204030204" pitchFamily="49" charset="0"/>
              </a:rPr>
              <a:t>j++</a:t>
            </a:r>
            <a:r>
              <a:rPr lang="en-US" sz="1400" dirty="0">
                <a:latin typeface="Consolas" panose="020B0609020204030204" pitchFamily="49" charset="0"/>
              </a:rPr>
              <a:t>) {</a:t>
            </a:r>
          </a:p>
          <a:p>
            <a:r>
              <a:rPr lang="en-US" sz="1400" dirty="0">
                <a:latin typeface="Consolas" panose="020B0609020204030204" pitchFamily="49" charset="0"/>
              </a:rPr>
              <a:t>        		</a:t>
            </a:r>
            <a:r>
              <a:rPr lang="en-US" sz="1400" dirty="0" err="1">
                <a:latin typeface="Consolas" panose="020B0609020204030204" pitchFamily="49" charset="0"/>
              </a:rPr>
              <a:t>temp.add</a:t>
            </a:r>
            <a:r>
              <a:rPr lang="en-US" sz="1400" dirty="0">
                <a:latin typeface="Consolas" panose="020B0609020204030204" pitchFamily="49" charset="0"/>
              </a:rPr>
              <a:t>(new byte[256 * 1024]); // short-lived</a:t>
            </a:r>
          </a:p>
          <a:p>
            <a:r>
              <a:rPr lang="en-US" sz="1400" dirty="0">
                <a:latin typeface="Consolas" panose="020B0609020204030204" pitchFamily="49" charset="0"/>
              </a:rPr>
              <a:t>    	} 	</a:t>
            </a:r>
          </a:p>
          <a:p>
            <a:r>
              <a:rPr lang="en-US" sz="1400" dirty="0">
                <a:latin typeface="Consolas" panose="020B0609020204030204" pitchFamily="49" charset="0"/>
              </a:rPr>
              <a:t>	// Some objects live longer</a:t>
            </a:r>
          </a:p>
          <a:p>
            <a:r>
              <a:rPr lang="en-US" sz="1400" dirty="0">
                <a:latin typeface="Consolas" panose="020B0609020204030204" pitchFamily="49" charset="0"/>
              </a:rPr>
              <a:t>	if (</a:t>
            </a:r>
            <a:r>
              <a:rPr lang="en-US" sz="1400" dirty="0" err="1">
                <a:latin typeface="Consolas" panose="020B0609020204030204" pitchFamily="49" charset="0"/>
              </a:rPr>
              <a:t>i</a:t>
            </a:r>
            <a:r>
              <a:rPr lang="en-US" sz="1400" dirty="0">
                <a:latin typeface="Consolas" panose="020B0609020204030204" pitchFamily="49" charset="0"/>
              </a:rPr>
              <a:t> % 5 == 0) {</a:t>
            </a:r>
          </a:p>
          <a:p>
            <a:r>
              <a:rPr lang="en-US" sz="1400" dirty="0">
                <a:latin typeface="Consolas" panose="020B0609020204030204" pitchFamily="49" charset="0"/>
              </a:rPr>
              <a:t>        		</a:t>
            </a:r>
            <a:r>
              <a:rPr lang="en-US" sz="1400" dirty="0" err="1">
                <a:latin typeface="Consolas" panose="020B0609020204030204" pitchFamily="49" charset="0"/>
              </a:rPr>
              <a:t>longLived.add</a:t>
            </a:r>
            <a:r>
              <a:rPr lang="en-US" sz="1400" dirty="0">
                <a:latin typeface="Consolas" panose="020B0609020204030204" pitchFamily="49" charset="0"/>
              </a:rPr>
              <a:t>(new byte[256 * 1024]);</a:t>
            </a:r>
          </a:p>
          <a:p>
            <a:r>
              <a:rPr lang="en-US" sz="1400" dirty="0">
                <a:latin typeface="Consolas" panose="020B0609020204030204" pitchFamily="49" charset="0"/>
              </a:rPr>
              <a:t>    	}</a:t>
            </a:r>
          </a:p>
          <a:p>
            <a:r>
              <a:rPr lang="en-US" sz="1400" dirty="0">
                <a:latin typeface="Consolas" panose="020B0609020204030204" pitchFamily="49" charset="0"/>
              </a:rPr>
              <a:t>    	temp = null;</a:t>
            </a:r>
          </a:p>
          <a:p>
            <a:r>
              <a:rPr lang="en-US" sz="1400" dirty="0">
                <a:latin typeface="Consolas" panose="020B0609020204030204" pitchFamily="49" charset="0"/>
              </a:rPr>
              <a:t>    	</a:t>
            </a:r>
            <a:r>
              <a:rPr lang="en-US" sz="1400" dirty="0" err="1">
                <a:latin typeface="Consolas" panose="020B0609020204030204" pitchFamily="49" charset="0"/>
              </a:rPr>
              <a:t>System.out.println</a:t>
            </a:r>
            <a:r>
              <a:rPr lang="en-US" sz="1400" dirty="0">
                <a:latin typeface="Consolas" panose="020B0609020204030204" pitchFamily="49" charset="0"/>
              </a:rPr>
              <a:t>("Cycle " + </a:t>
            </a:r>
            <a:r>
              <a:rPr lang="en-US" sz="1400" dirty="0" err="1">
                <a:latin typeface="Consolas" panose="020B0609020204030204" pitchFamily="49" charset="0"/>
              </a:rPr>
              <a:t>i</a:t>
            </a:r>
            <a:r>
              <a:rPr lang="en-US" sz="1400" dirty="0">
                <a:latin typeface="Consolas" panose="020B0609020204030204" pitchFamily="49" charset="0"/>
              </a:rPr>
              <a:t>);</a:t>
            </a:r>
          </a:p>
          <a:p>
            <a:r>
              <a:rPr lang="en-US" sz="1400" dirty="0">
                <a:latin typeface="Consolas" panose="020B0609020204030204" pitchFamily="49" charset="0"/>
              </a:rPr>
              <a:t>    	</a:t>
            </a:r>
            <a:r>
              <a:rPr lang="en-US" sz="1400" dirty="0" err="1">
                <a:latin typeface="Consolas" panose="020B0609020204030204" pitchFamily="49" charset="0"/>
              </a:rPr>
              <a:t>Thread.sleep</a:t>
            </a:r>
            <a:r>
              <a:rPr lang="en-US" sz="1400" dirty="0">
                <a:latin typeface="Consolas" panose="020B0609020204030204" pitchFamily="49" charset="0"/>
              </a:rPr>
              <a:t>(100);</a:t>
            </a:r>
          </a:p>
          <a:p>
            <a:r>
              <a:rPr lang="en-US" sz="1400" dirty="0">
                <a:latin typeface="Consolas" panose="020B0609020204030204" pitchFamily="49" charset="0"/>
              </a:rPr>
              <a:t>	}</a:t>
            </a:r>
          </a:p>
          <a:p>
            <a:r>
              <a:rPr lang="en-US" sz="1400" dirty="0">
                <a:latin typeface="Consolas" panose="020B0609020204030204" pitchFamily="49" charset="0"/>
              </a:rPr>
              <a:t>}</a:t>
            </a:r>
          </a:p>
        </p:txBody>
      </p:sp>
    </p:spTree>
    <p:extLst>
      <p:ext uri="{BB962C8B-B14F-4D97-AF65-F5344CB8AC3E}">
        <p14:creationId xmlns:p14="http://schemas.microsoft.com/office/powerpoint/2010/main" val="4290468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146E2E-CE1D-FFFC-B5A8-CE5ACDC6432E}"/>
              </a:ext>
            </a:extLst>
          </p:cNvPr>
          <p:cNvSpPr>
            <a:spLocks noGrp="1"/>
          </p:cNvSpPr>
          <p:nvPr>
            <p:ph type="title"/>
          </p:nvPr>
        </p:nvSpPr>
        <p:spPr/>
        <p:txBody>
          <a:bodyPr/>
          <a:lstStyle/>
          <a:p>
            <a:r>
              <a:rPr lang="en-IN" dirty="0"/>
              <a:t>Observation 1. GC is actually working </a:t>
            </a:r>
            <a:endParaRPr lang="en-US" dirty="0"/>
          </a:p>
        </p:txBody>
      </p:sp>
      <p:sp>
        <p:nvSpPr>
          <p:cNvPr id="3" name="Content Placeholder 2">
            <a:extLst>
              <a:ext uri="{FF2B5EF4-FFF2-40B4-BE49-F238E27FC236}">
                <a16:creationId xmlns:a16="http://schemas.microsoft.com/office/drawing/2014/main" id="{E0BCD632-FF9A-823B-B78F-7428ED811D12}"/>
              </a:ext>
            </a:extLst>
          </p:cNvPr>
          <p:cNvSpPr>
            <a:spLocks noGrp="1"/>
          </p:cNvSpPr>
          <p:nvPr>
            <p:ph idx="1"/>
          </p:nvPr>
        </p:nvSpPr>
        <p:spPr/>
        <p:txBody>
          <a:bodyPr/>
          <a:lstStyle/>
          <a:p>
            <a:r>
              <a:rPr lang="en-IN" dirty="0"/>
              <a:t>Before GC – heap full</a:t>
            </a:r>
          </a:p>
          <a:p>
            <a:endParaRPr lang="en-IN" dirty="0"/>
          </a:p>
          <a:p>
            <a:endParaRPr lang="en-IN" dirty="0"/>
          </a:p>
          <a:p>
            <a:r>
              <a:rPr lang="en-IN" dirty="0"/>
              <a:t>After GC – heap drops drastically, objects became unreachable – GC  reclaimed memory</a:t>
            </a:r>
          </a:p>
          <a:p>
            <a:endParaRPr lang="en-IN" dirty="0"/>
          </a:p>
          <a:p>
            <a:endParaRPr lang="en-IN" dirty="0"/>
          </a:p>
          <a:p>
            <a:endParaRPr lang="en-IN" dirty="0"/>
          </a:p>
          <a:p>
            <a:endParaRPr lang="en-IN" dirty="0"/>
          </a:p>
          <a:p>
            <a:endParaRPr lang="en-IN" dirty="0"/>
          </a:p>
          <a:p>
            <a:endParaRPr lang="en-US" dirty="0"/>
          </a:p>
        </p:txBody>
      </p:sp>
      <p:pic>
        <p:nvPicPr>
          <p:cNvPr id="7" name="Picture 6">
            <a:extLst>
              <a:ext uri="{FF2B5EF4-FFF2-40B4-BE49-F238E27FC236}">
                <a16:creationId xmlns:a16="http://schemas.microsoft.com/office/drawing/2014/main" id="{1CE3037E-A7AA-4A0E-65C8-788104CADB3C}"/>
              </a:ext>
            </a:extLst>
          </p:cNvPr>
          <p:cNvPicPr>
            <a:picLocks noChangeAspect="1"/>
          </p:cNvPicPr>
          <p:nvPr/>
        </p:nvPicPr>
        <p:blipFill>
          <a:blip r:embed="rId2"/>
          <a:stretch>
            <a:fillRect/>
          </a:stretch>
        </p:blipFill>
        <p:spPr>
          <a:xfrm>
            <a:off x="838200" y="2342729"/>
            <a:ext cx="6506709" cy="834464"/>
          </a:xfrm>
          <a:prstGeom prst="rect">
            <a:avLst/>
          </a:prstGeom>
        </p:spPr>
      </p:pic>
    </p:spTree>
    <p:extLst>
      <p:ext uri="{BB962C8B-B14F-4D97-AF65-F5344CB8AC3E}">
        <p14:creationId xmlns:p14="http://schemas.microsoft.com/office/powerpoint/2010/main" val="36119327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childTnLst>
                                </p:cTn>
                              </p:par>
                              <p:par>
                                <p:cTn id="12" presetID="10" presetClass="entr" presetSubtype="0" fill="hold" grpId="0" nodeType="withEffect">
                                  <p:stCondLst>
                                    <p:cond delay="0"/>
                                  </p:stCondLst>
                                  <p:childTnLst>
                                    <p:set>
                                      <p:cBhvr>
                                        <p:cTn id="13" dur="1" fill="hold">
                                          <p:stCondLst>
                                            <p:cond delay="0"/>
                                          </p:stCondLst>
                                        </p:cTn>
                                        <p:tgtEl>
                                          <p:spTgt spid="3">
                                            <p:txEl>
                                              <p:pRg st="3" end="3"/>
                                            </p:txEl>
                                          </p:spTgt>
                                        </p:tgtEl>
                                        <p:attrNameLst>
                                          <p:attrName>style.visibility</p:attrName>
                                        </p:attrNameLst>
                                      </p:cBhvr>
                                      <p:to>
                                        <p:strVal val="visible"/>
                                      </p:to>
                                    </p:set>
                                    <p:animEffect transition="in" filter="fade">
                                      <p:cBhvr>
                                        <p:cTn id="14"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8852A-97B1-A17B-BAF8-FC5D7D98477B}"/>
              </a:ext>
            </a:extLst>
          </p:cNvPr>
          <p:cNvSpPr>
            <a:spLocks noGrp="1"/>
          </p:cNvSpPr>
          <p:nvPr>
            <p:ph type="title"/>
          </p:nvPr>
        </p:nvSpPr>
        <p:spPr/>
        <p:txBody>
          <a:bodyPr>
            <a:normAutofit/>
          </a:bodyPr>
          <a:lstStyle/>
          <a:p>
            <a:r>
              <a:rPr lang="en-IN" sz="4000" dirty="0"/>
              <a:t>2. What Your Program is Doing (Correct Behaviour)</a:t>
            </a:r>
            <a:endParaRPr lang="en-US" sz="4000" dirty="0"/>
          </a:p>
        </p:txBody>
      </p:sp>
      <p:sp>
        <p:nvSpPr>
          <p:cNvPr id="3" name="Content Placeholder 2">
            <a:extLst>
              <a:ext uri="{FF2B5EF4-FFF2-40B4-BE49-F238E27FC236}">
                <a16:creationId xmlns:a16="http://schemas.microsoft.com/office/drawing/2014/main" id="{77327047-5DE7-9915-E265-62511F59EDF1}"/>
              </a:ext>
            </a:extLst>
          </p:cNvPr>
          <p:cNvSpPr>
            <a:spLocks noGrp="1"/>
          </p:cNvSpPr>
          <p:nvPr>
            <p:ph idx="1"/>
          </p:nvPr>
        </p:nvSpPr>
        <p:spPr/>
        <p:txBody>
          <a:bodyPr/>
          <a:lstStyle/>
          <a:p>
            <a:r>
              <a:rPr lang="en-IN" dirty="0"/>
              <a:t>Each Cycle</a:t>
            </a:r>
          </a:p>
          <a:p>
            <a:pPr lvl="1"/>
            <a:r>
              <a:rPr lang="en-IN" dirty="0"/>
              <a:t>Create objects approx. 300 MB</a:t>
            </a:r>
          </a:p>
          <a:p>
            <a:pPr lvl="1"/>
            <a:r>
              <a:rPr lang="en-IN" dirty="0"/>
              <a:t>Remove references ( temp = null)</a:t>
            </a:r>
          </a:p>
          <a:p>
            <a:pPr lvl="1"/>
            <a:r>
              <a:rPr lang="en-IN" dirty="0"/>
              <a:t>GC runs</a:t>
            </a:r>
          </a:p>
          <a:p>
            <a:pPr lvl="1"/>
            <a:r>
              <a:rPr lang="en-IN" dirty="0"/>
              <a:t>Memory cleaned</a:t>
            </a:r>
          </a:p>
          <a:p>
            <a:pPr lvl="1"/>
            <a:r>
              <a:rPr lang="en-IN" dirty="0"/>
              <a:t>That’s why we see </a:t>
            </a:r>
            <a:endParaRPr lang="en-US" dirty="0"/>
          </a:p>
        </p:txBody>
      </p:sp>
      <p:pic>
        <p:nvPicPr>
          <p:cNvPr id="5" name="Picture 4">
            <a:extLst>
              <a:ext uri="{FF2B5EF4-FFF2-40B4-BE49-F238E27FC236}">
                <a16:creationId xmlns:a16="http://schemas.microsoft.com/office/drawing/2014/main" id="{7D9D455C-CF62-1E82-3C84-B77837CF715C}"/>
              </a:ext>
            </a:extLst>
          </p:cNvPr>
          <p:cNvPicPr>
            <a:picLocks noChangeAspect="1"/>
          </p:cNvPicPr>
          <p:nvPr/>
        </p:nvPicPr>
        <p:blipFill>
          <a:blip r:embed="rId2"/>
          <a:stretch>
            <a:fillRect/>
          </a:stretch>
        </p:blipFill>
        <p:spPr>
          <a:xfrm>
            <a:off x="838200" y="4349252"/>
            <a:ext cx="6373864" cy="300754"/>
          </a:xfrm>
          <a:prstGeom prst="rect">
            <a:avLst/>
          </a:prstGeom>
        </p:spPr>
      </p:pic>
    </p:spTree>
    <p:extLst>
      <p:ext uri="{BB962C8B-B14F-4D97-AF65-F5344CB8AC3E}">
        <p14:creationId xmlns:p14="http://schemas.microsoft.com/office/powerpoint/2010/main" val="3557686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F78CAD-BD27-2067-88C4-B9977E6A1657}"/>
              </a:ext>
            </a:extLst>
          </p:cNvPr>
          <p:cNvSpPr>
            <a:spLocks noGrp="1"/>
          </p:cNvSpPr>
          <p:nvPr>
            <p:ph type="title"/>
          </p:nvPr>
        </p:nvSpPr>
        <p:spPr/>
        <p:txBody>
          <a:bodyPr/>
          <a:lstStyle/>
          <a:p>
            <a:r>
              <a:rPr lang="en-IN" dirty="0"/>
              <a:t>3. Young GC Pattern – Perfect Example</a:t>
            </a:r>
            <a:endParaRPr lang="en-US" dirty="0"/>
          </a:p>
        </p:txBody>
      </p:sp>
      <p:sp>
        <p:nvSpPr>
          <p:cNvPr id="3" name="Content Placeholder 2">
            <a:extLst>
              <a:ext uri="{FF2B5EF4-FFF2-40B4-BE49-F238E27FC236}">
                <a16:creationId xmlns:a16="http://schemas.microsoft.com/office/drawing/2014/main" id="{E907E62B-1B1A-5C6A-2CB0-E7FB45F32D49}"/>
              </a:ext>
            </a:extLst>
          </p:cNvPr>
          <p:cNvSpPr>
            <a:spLocks noGrp="1"/>
          </p:cNvSpPr>
          <p:nvPr>
            <p:ph idx="1"/>
          </p:nvPr>
        </p:nvSpPr>
        <p:spPr/>
        <p:txBody>
          <a:bodyPr/>
          <a:lstStyle/>
          <a:p>
            <a:r>
              <a:rPr lang="en-IN" dirty="0"/>
              <a:t>Eden fills up</a:t>
            </a:r>
          </a:p>
          <a:p>
            <a:r>
              <a:rPr lang="en-IN" dirty="0"/>
              <a:t>GC runs</a:t>
            </a:r>
          </a:p>
          <a:p>
            <a:r>
              <a:rPr lang="en-IN" dirty="0"/>
              <a:t>Eden cleared completely</a:t>
            </a:r>
          </a:p>
          <a:p>
            <a:endParaRPr lang="en-US" dirty="0"/>
          </a:p>
        </p:txBody>
      </p:sp>
      <p:pic>
        <p:nvPicPr>
          <p:cNvPr id="5" name="Picture 4">
            <a:extLst>
              <a:ext uri="{FF2B5EF4-FFF2-40B4-BE49-F238E27FC236}">
                <a16:creationId xmlns:a16="http://schemas.microsoft.com/office/drawing/2014/main" id="{A9E81A27-79BC-D735-7CA8-FE08DAAC75D7}"/>
              </a:ext>
            </a:extLst>
          </p:cNvPr>
          <p:cNvPicPr>
            <a:picLocks noChangeAspect="1"/>
          </p:cNvPicPr>
          <p:nvPr/>
        </p:nvPicPr>
        <p:blipFill>
          <a:blip r:embed="rId2"/>
          <a:stretch>
            <a:fillRect/>
          </a:stretch>
        </p:blipFill>
        <p:spPr>
          <a:xfrm>
            <a:off x="838200" y="3425671"/>
            <a:ext cx="7790095" cy="575623"/>
          </a:xfrm>
          <a:prstGeom prst="rect">
            <a:avLst/>
          </a:prstGeom>
        </p:spPr>
      </p:pic>
    </p:spTree>
    <p:extLst>
      <p:ext uri="{BB962C8B-B14F-4D97-AF65-F5344CB8AC3E}">
        <p14:creationId xmlns:p14="http://schemas.microsoft.com/office/powerpoint/2010/main" val="3641692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7EBD8-6DA4-0DAF-C740-F951A21A9803}"/>
              </a:ext>
            </a:extLst>
          </p:cNvPr>
          <p:cNvSpPr>
            <a:spLocks noGrp="1"/>
          </p:cNvSpPr>
          <p:nvPr>
            <p:ph type="title"/>
          </p:nvPr>
        </p:nvSpPr>
        <p:spPr/>
        <p:txBody>
          <a:bodyPr/>
          <a:lstStyle/>
          <a:p>
            <a:r>
              <a:rPr lang="en-IN" dirty="0"/>
              <a:t>4. Memory Reclamation</a:t>
            </a:r>
            <a:endParaRPr lang="en-US" dirty="0"/>
          </a:p>
        </p:txBody>
      </p:sp>
      <p:sp>
        <p:nvSpPr>
          <p:cNvPr id="3" name="Content Placeholder 2">
            <a:extLst>
              <a:ext uri="{FF2B5EF4-FFF2-40B4-BE49-F238E27FC236}">
                <a16:creationId xmlns:a16="http://schemas.microsoft.com/office/drawing/2014/main" id="{6073A77A-3274-D0CC-1F62-1CC98F562888}"/>
              </a:ext>
            </a:extLst>
          </p:cNvPr>
          <p:cNvSpPr>
            <a:spLocks noGrp="1"/>
          </p:cNvSpPr>
          <p:nvPr>
            <p:ph idx="1"/>
          </p:nvPr>
        </p:nvSpPr>
        <p:spPr/>
        <p:txBody>
          <a:bodyPr/>
          <a:lstStyle/>
          <a:p>
            <a:r>
              <a:rPr lang="en-IN" dirty="0"/>
              <a:t>Garbage is being created</a:t>
            </a:r>
          </a:p>
          <a:p>
            <a:r>
              <a:rPr lang="en-IN" dirty="0"/>
              <a:t>GC is reclaiming it</a:t>
            </a:r>
          </a:p>
          <a:p>
            <a:r>
              <a:rPr lang="en-IN" dirty="0"/>
              <a:t>Heap is not leaking</a:t>
            </a:r>
            <a:endParaRPr lang="en-US" dirty="0"/>
          </a:p>
        </p:txBody>
      </p:sp>
      <p:pic>
        <p:nvPicPr>
          <p:cNvPr id="5" name="Picture 4">
            <a:extLst>
              <a:ext uri="{FF2B5EF4-FFF2-40B4-BE49-F238E27FC236}">
                <a16:creationId xmlns:a16="http://schemas.microsoft.com/office/drawing/2014/main" id="{EABF7BCE-2A98-191F-F091-1820B7EC212A}"/>
              </a:ext>
            </a:extLst>
          </p:cNvPr>
          <p:cNvPicPr>
            <a:picLocks noChangeAspect="1"/>
          </p:cNvPicPr>
          <p:nvPr/>
        </p:nvPicPr>
        <p:blipFill>
          <a:blip r:embed="rId2"/>
          <a:stretch>
            <a:fillRect/>
          </a:stretch>
        </p:blipFill>
        <p:spPr>
          <a:xfrm>
            <a:off x="838200" y="3429000"/>
            <a:ext cx="6842832" cy="660688"/>
          </a:xfrm>
          <a:prstGeom prst="rect">
            <a:avLst/>
          </a:prstGeom>
        </p:spPr>
      </p:pic>
    </p:spTree>
    <p:extLst>
      <p:ext uri="{BB962C8B-B14F-4D97-AF65-F5344CB8AC3E}">
        <p14:creationId xmlns:p14="http://schemas.microsoft.com/office/powerpoint/2010/main" val="2353549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3492C4-9C6B-2D29-2276-4BB8D2D01E2A}"/>
              </a:ext>
            </a:extLst>
          </p:cNvPr>
          <p:cNvSpPr>
            <a:spLocks noGrp="1"/>
          </p:cNvSpPr>
          <p:nvPr>
            <p:ph type="title"/>
          </p:nvPr>
        </p:nvSpPr>
        <p:spPr/>
        <p:txBody>
          <a:bodyPr/>
          <a:lstStyle/>
          <a:p>
            <a:r>
              <a:rPr lang="en-IN" dirty="0"/>
              <a:t>5. Why Memory Drops So Much ?</a:t>
            </a:r>
            <a:endParaRPr lang="en-US" dirty="0"/>
          </a:p>
        </p:txBody>
      </p:sp>
      <p:sp>
        <p:nvSpPr>
          <p:cNvPr id="3" name="Content Placeholder 2">
            <a:extLst>
              <a:ext uri="{FF2B5EF4-FFF2-40B4-BE49-F238E27FC236}">
                <a16:creationId xmlns:a16="http://schemas.microsoft.com/office/drawing/2014/main" id="{DA26DC6F-F1FF-936B-E603-16A08BC9FA6E}"/>
              </a:ext>
            </a:extLst>
          </p:cNvPr>
          <p:cNvSpPr>
            <a:spLocks noGrp="1"/>
          </p:cNvSpPr>
          <p:nvPr>
            <p:ph idx="1"/>
          </p:nvPr>
        </p:nvSpPr>
        <p:spPr/>
        <p:txBody>
          <a:bodyPr/>
          <a:lstStyle/>
          <a:p>
            <a:r>
              <a:rPr lang="en-IN" dirty="0"/>
              <a:t>Objects become reachable (temp = null)</a:t>
            </a:r>
          </a:p>
          <a:p>
            <a:r>
              <a:rPr lang="en-IN" dirty="0"/>
              <a:t>Objects become eligible for GC (GC only removes unreachable objects)</a:t>
            </a:r>
            <a:endParaRPr lang="en-US" dirty="0"/>
          </a:p>
        </p:txBody>
      </p:sp>
    </p:spTree>
    <p:extLst>
      <p:ext uri="{BB962C8B-B14F-4D97-AF65-F5344CB8AC3E}">
        <p14:creationId xmlns:p14="http://schemas.microsoft.com/office/powerpoint/2010/main" val="3230750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CF5FC-CB36-FADA-D550-CDFB55425C8B}"/>
              </a:ext>
            </a:extLst>
          </p:cNvPr>
          <p:cNvSpPr>
            <a:spLocks noGrp="1"/>
          </p:cNvSpPr>
          <p:nvPr>
            <p:ph type="title"/>
          </p:nvPr>
        </p:nvSpPr>
        <p:spPr/>
        <p:txBody>
          <a:bodyPr/>
          <a:lstStyle/>
          <a:p>
            <a:r>
              <a:rPr lang="en-IN" dirty="0"/>
              <a:t>6. Survivor Space </a:t>
            </a:r>
            <a:r>
              <a:rPr lang="en-IN" dirty="0" err="1"/>
              <a:t>Behavior</a:t>
            </a:r>
            <a:endParaRPr lang="en-US" dirty="0"/>
          </a:p>
        </p:txBody>
      </p:sp>
      <p:sp>
        <p:nvSpPr>
          <p:cNvPr id="3" name="Content Placeholder 2">
            <a:extLst>
              <a:ext uri="{FF2B5EF4-FFF2-40B4-BE49-F238E27FC236}">
                <a16:creationId xmlns:a16="http://schemas.microsoft.com/office/drawing/2014/main" id="{F7A33631-532C-3E7C-9C74-05AC2A3C4B55}"/>
              </a:ext>
            </a:extLst>
          </p:cNvPr>
          <p:cNvSpPr>
            <a:spLocks noGrp="1"/>
          </p:cNvSpPr>
          <p:nvPr>
            <p:ph idx="1"/>
          </p:nvPr>
        </p:nvSpPr>
        <p:spPr/>
        <p:txBody>
          <a:bodyPr/>
          <a:lstStyle/>
          <a:p>
            <a:r>
              <a:rPr lang="en-IN" dirty="0"/>
              <a:t>Some objects survive briefly</a:t>
            </a:r>
          </a:p>
          <a:p>
            <a:r>
              <a:rPr lang="en-IN" dirty="0"/>
              <a:t>Move to survivor</a:t>
            </a:r>
          </a:p>
          <a:p>
            <a:r>
              <a:rPr lang="en-IN" dirty="0"/>
              <a:t>Then either Dir or get promoted</a:t>
            </a:r>
          </a:p>
          <a:p>
            <a:endParaRPr lang="en-US" dirty="0"/>
          </a:p>
        </p:txBody>
      </p:sp>
      <p:pic>
        <p:nvPicPr>
          <p:cNvPr id="7" name="Picture 6">
            <a:extLst>
              <a:ext uri="{FF2B5EF4-FFF2-40B4-BE49-F238E27FC236}">
                <a16:creationId xmlns:a16="http://schemas.microsoft.com/office/drawing/2014/main" id="{22B3FBB4-75C6-F8C5-C32A-9B1512C7A060}"/>
              </a:ext>
            </a:extLst>
          </p:cNvPr>
          <p:cNvPicPr>
            <a:picLocks noChangeAspect="1"/>
          </p:cNvPicPr>
          <p:nvPr/>
        </p:nvPicPr>
        <p:blipFill>
          <a:blip r:embed="rId2"/>
          <a:stretch>
            <a:fillRect/>
          </a:stretch>
        </p:blipFill>
        <p:spPr>
          <a:xfrm>
            <a:off x="838200" y="3429000"/>
            <a:ext cx="8279015" cy="757305"/>
          </a:xfrm>
          <a:prstGeom prst="rect">
            <a:avLst/>
          </a:prstGeom>
        </p:spPr>
      </p:pic>
    </p:spTree>
    <p:extLst>
      <p:ext uri="{BB962C8B-B14F-4D97-AF65-F5344CB8AC3E}">
        <p14:creationId xmlns:p14="http://schemas.microsoft.com/office/powerpoint/2010/main" val="3516421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BA67B2-A75E-CF46-606B-47C1032E53EC}"/>
              </a:ext>
            </a:extLst>
          </p:cNvPr>
          <p:cNvSpPr>
            <a:spLocks noGrp="1"/>
          </p:cNvSpPr>
          <p:nvPr>
            <p:ph type="title"/>
          </p:nvPr>
        </p:nvSpPr>
        <p:spPr/>
        <p:txBody>
          <a:bodyPr/>
          <a:lstStyle/>
          <a:p>
            <a:r>
              <a:rPr lang="en-IN" dirty="0"/>
              <a:t>7. Old Generation Growth (Slow &amp; Healthy)</a:t>
            </a:r>
            <a:endParaRPr lang="en-US" dirty="0"/>
          </a:p>
        </p:txBody>
      </p:sp>
      <p:sp>
        <p:nvSpPr>
          <p:cNvPr id="3" name="Content Placeholder 2">
            <a:extLst>
              <a:ext uri="{FF2B5EF4-FFF2-40B4-BE49-F238E27FC236}">
                <a16:creationId xmlns:a16="http://schemas.microsoft.com/office/drawing/2014/main" id="{40850E71-7385-0AAF-2414-64C9A3F47010}"/>
              </a:ext>
            </a:extLst>
          </p:cNvPr>
          <p:cNvSpPr>
            <a:spLocks noGrp="1"/>
          </p:cNvSpPr>
          <p:nvPr>
            <p:ph idx="1"/>
          </p:nvPr>
        </p:nvSpPr>
        <p:spPr/>
        <p:txBody>
          <a:bodyPr/>
          <a:lstStyle/>
          <a:p>
            <a:r>
              <a:rPr lang="en-IN" dirty="0"/>
              <a:t>Important Observation:</a:t>
            </a:r>
          </a:p>
          <a:p>
            <a:pPr lvl="1"/>
            <a:r>
              <a:rPr lang="en-IN" dirty="0"/>
              <a:t>Growth is slow</a:t>
            </a:r>
          </a:p>
          <a:p>
            <a:pPr lvl="1"/>
            <a:r>
              <a:rPr lang="en-IN" dirty="0"/>
              <a:t>Not exploding like previous example</a:t>
            </a:r>
          </a:p>
          <a:p>
            <a:r>
              <a:rPr lang="en-IN" dirty="0"/>
              <a:t>Why</a:t>
            </a:r>
          </a:p>
          <a:p>
            <a:pPr lvl="1"/>
            <a:r>
              <a:rPr lang="en-IN" dirty="0"/>
              <a:t>Because most objects die young</a:t>
            </a:r>
          </a:p>
          <a:p>
            <a:pPr lvl="1"/>
            <a:r>
              <a:rPr lang="en-IN" dirty="0"/>
              <a:t>Only few survive long enough</a:t>
            </a:r>
          </a:p>
          <a:p>
            <a:pPr lvl="1"/>
            <a:r>
              <a:rPr lang="en-IN" dirty="0"/>
              <a:t>This is called Generation Hypothesis</a:t>
            </a:r>
            <a:endParaRPr lang="en-US" dirty="0"/>
          </a:p>
        </p:txBody>
      </p:sp>
      <p:pic>
        <p:nvPicPr>
          <p:cNvPr id="5" name="Picture 4">
            <a:extLst>
              <a:ext uri="{FF2B5EF4-FFF2-40B4-BE49-F238E27FC236}">
                <a16:creationId xmlns:a16="http://schemas.microsoft.com/office/drawing/2014/main" id="{ED4D8BC0-DD6E-0005-6A96-60EB5D1B35C5}"/>
              </a:ext>
            </a:extLst>
          </p:cNvPr>
          <p:cNvPicPr>
            <a:picLocks noChangeAspect="1"/>
          </p:cNvPicPr>
          <p:nvPr/>
        </p:nvPicPr>
        <p:blipFill>
          <a:blip r:embed="rId2"/>
          <a:stretch>
            <a:fillRect/>
          </a:stretch>
        </p:blipFill>
        <p:spPr>
          <a:xfrm>
            <a:off x="838200" y="4828062"/>
            <a:ext cx="7965247" cy="353873"/>
          </a:xfrm>
          <a:prstGeom prst="rect">
            <a:avLst/>
          </a:prstGeom>
        </p:spPr>
      </p:pic>
    </p:spTree>
    <p:extLst>
      <p:ext uri="{BB962C8B-B14F-4D97-AF65-F5344CB8AC3E}">
        <p14:creationId xmlns:p14="http://schemas.microsoft.com/office/powerpoint/2010/main" val="3559782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83AF91-8248-A379-3351-3426DC7084E9}"/>
              </a:ext>
            </a:extLst>
          </p:cNvPr>
          <p:cNvSpPr>
            <a:spLocks noGrp="1"/>
          </p:cNvSpPr>
          <p:nvPr>
            <p:ph type="title"/>
          </p:nvPr>
        </p:nvSpPr>
        <p:spPr/>
        <p:txBody>
          <a:bodyPr/>
          <a:lstStyle/>
          <a:p>
            <a:r>
              <a:rPr lang="en-IN" dirty="0"/>
              <a:t>8. GC Efficiency </a:t>
            </a:r>
            <a:endParaRPr lang="en-US" dirty="0"/>
          </a:p>
        </p:txBody>
      </p:sp>
      <p:sp>
        <p:nvSpPr>
          <p:cNvPr id="3" name="Content Placeholder 2">
            <a:extLst>
              <a:ext uri="{FF2B5EF4-FFF2-40B4-BE49-F238E27FC236}">
                <a16:creationId xmlns:a16="http://schemas.microsoft.com/office/drawing/2014/main" id="{DAEE6DB2-713E-6088-F02E-683A99418198}"/>
              </a:ext>
            </a:extLst>
          </p:cNvPr>
          <p:cNvSpPr>
            <a:spLocks noGrp="1"/>
          </p:cNvSpPr>
          <p:nvPr>
            <p:ph idx="1"/>
          </p:nvPr>
        </p:nvSpPr>
        <p:spPr/>
        <p:txBody>
          <a:bodyPr/>
          <a:lstStyle/>
          <a:p>
            <a:r>
              <a:rPr lang="en-IN" dirty="0"/>
              <a:t>Look at pause times</a:t>
            </a:r>
          </a:p>
          <a:p>
            <a:pPr lvl="1"/>
            <a:r>
              <a:rPr lang="en-IN" dirty="0"/>
              <a:t>Low latency</a:t>
            </a:r>
          </a:p>
          <a:p>
            <a:pPr lvl="1"/>
            <a:r>
              <a:rPr lang="en-IN" dirty="0"/>
              <a:t>Consistent performance</a:t>
            </a:r>
          </a:p>
          <a:p>
            <a:pPr lvl="1"/>
            <a:r>
              <a:rPr lang="en-IN" dirty="0"/>
              <a:t>G1 working as designed</a:t>
            </a:r>
          </a:p>
        </p:txBody>
      </p:sp>
      <p:pic>
        <p:nvPicPr>
          <p:cNvPr id="5" name="Picture 4">
            <a:extLst>
              <a:ext uri="{FF2B5EF4-FFF2-40B4-BE49-F238E27FC236}">
                <a16:creationId xmlns:a16="http://schemas.microsoft.com/office/drawing/2014/main" id="{CE68CC36-F982-F1BC-4DE2-6261E1583D50}"/>
              </a:ext>
            </a:extLst>
          </p:cNvPr>
          <p:cNvPicPr>
            <a:picLocks noChangeAspect="1"/>
          </p:cNvPicPr>
          <p:nvPr/>
        </p:nvPicPr>
        <p:blipFill>
          <a:blip r:embed="rId2"/>
          <a:stretch>
            <a:fillRect/>
          </a:stretch>
        </p:blipFill>
        <p:spPr>
          <a:xfrm>
            <a:off x="838200" y="3560649"/>
            <a:ext cx="7947913" cy="346340"/>
          </a:xfrm>
          <a:prstGeom prst="rect">
            <a:avLst/>
          </a:prstGeom>
        </p:spPr>
      </p:pic>
    </p:spTree>
    <p:extLst>
      <p:ext uri="{BB962C8B-B14F-4D97-AF65-F5344CB8AC3E}">
        <p14:creationId xmlns:p14="http://schemas.microsoft.com/office/powerpoint/2010/main" val="2691480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B65DF-64A8-A0B7-7AF3-74522616E2BE}"/>
              </a:ext>
            </a:extLst>
          </p:cNvPr>
          <p:cNvSpPr>
            <a:spLocks noGrp="1"/>
          </p:cNvSpPr>
          <p:nvPr>
            <p:ph type="title"/>
          </p:nvPr>
        </p:nvSpPr>
        <p:spPr/>
        <p:txBody>
          <a:bodyPr/>
          <a:lstStyle/>
          <a:p>
            <a:r>
              <a:rPr lang="en-IN" dirty="0"/>
              <a:t>9. No Humongous Objects</a:t>
            </a:r>
            <a:endParaRPr lang="en-US" dirty="0"/>
          </a:p>
        </p:txBody>
      </p:sp>
      <p:sp>
        <p:nvSpPr>
          <p:cNvPr id="3" name="Content Placeholder 2">
            <a:extLst>
              <a:ext uri="{FF2B5EF4-FFF2-40B4-BE49-F238E27FC236}">
                <a16:creationId xmlns:a16="http://schemas.microsoft.com/office/drawing/2014/main" id="{747BB4CA-730E-0748-E68C-7E25C042F5ED}"/>
              </a:ext>
            </a:extLst>
          </p:cNvPr>
          <p:cNvSpPr>
            <a:spLocks noGrp="1"/>
          </p:cNvSpPr>
          <p:nvPr>
            <p:ph idx="1"/>
          </p:nvPr>
        </p:nvSpPr>
        <p:spPr/>
        <p:txBody>
          <a:bodyPr/>
          <a:lstStyle/>
          <a:p>
            <a:r>
              <a:rPr lang="en-IN" dirty="0"/>
              <a:t>No special case allocation</a:t>
            </a:r>
          </a:p>
          <a:p>
            <a:r>
              <a:rPr lang="en-IN" dirty="0"/>
              <a:t>Clean G1 flow</a:t>
            </a:r>
            <a:endParaRPr lang="en-US" dirty="0"/>
          </a:p>
        </p:txBody>
      </p:sp>
      <p:pic>
        <p:nvPicPr>
          <p:cNvPr id="5" name="Picture 4">
            <a:extLst>
              <a:ext uri="{FF2B5EF4-FFF2-40B4-BE49-F238E27FC236}">
                <a16:creationId xmlns:a16="http://schemas.microsoft.com/office/drawing/2014/main" id="{A6B3AEB7-158D-C89E-3C4B-3BF78C77C42C}"/>
              </a:ext>
            </a:extLst>
          </p:cNvPr>
          <p:cNvPicPr>
            <a:picLocks noChangeAspect="1"/>
          </p:cNvPicPr>
          <p:nvPr/>
        </p:nvPicPr>
        <p:blipFill>
          <a:blip r:embed="rId2"/>
          <a:stretch>
            <a:fillRect/>
          </a:stretch>
        </p:blipFill>
        <p:spPr>
          <a:xfrm>
            <a:off x="838200" y="2883596"/>
            <a:ext cx="7215526" cy="337795"/>
          </a:xfrm>
          <a:prstGeom prst="rect">
            <a:avLst/>
          </a:prstGeom>
        </p:spPr>
      </p:pic>
    </p:spTree>
    <p:extLst>
      <p:ext uri="{BB962C8B-B14F-4D97-AF65-F5344CB8AC3E}">
        <p14:creationId xmlns:p14="http://schemas.microsoft.com/office/powerpoint/2010/main" val="2637164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E5D15-C085-5FE7-1A05-B81D8E100D02}"/>
              </a:ext>
            </a:extLst>
          </p:cNvPr>
          <p:cNvSpPr>
            <a:spLocks noGrp="1"/>
          </p:cNvSpPr>
          <p:nvPr>
            <p:ph type="title"/>
          </p:nvPr>
        </p:nvSpPr>
        <p:spPr/>
        <p:txBody>
          <a:bodyPr/>
          <a:lstStyle/>
          <a:p>
            <a:r>
              <a:rPr lang="en-IN" dirty="0"/>
              <a:t>11. Final Heap State</a:t>
            </a:r>
            <a:endParaRPr lang="en-US" dirty="0"/>
          </a:p>
        </p:txBody>
      </p:sp>
      <p:sp>
        <p:nvSpPr>
          <p:cNvPr id="3" name="Content Placeholder 2">
            <a:extLst>
              <a:ext uri="{FF2B5EF4-FFF2-40B4-BE49-F238E27FC236}">
                <a16:creationId xmlns:a16="http://schemas.microsoft.com/office/drawing/2014/main" id="{EFB5F24B-DAC9-ADC9-1735-3596DA298B3A}"/>
              </a:ext>
            </a:extLst>
          </p:cNvPr>
          <p:cNvSpPr>
            <a:spLocks noGrp="1"/>
          </p:cNvSpPr>
          <p:nvPr>
            <p:ph idx="1"/>
          </p:nvPr>
        </p:nvSpPr>
        <p:spPr/>
        <p:txBody>
          <a:bodyPr/>
          <a:lstStyle/>
          <a:p>
            <a:r>
              <a:rPr lang="en-IN" dirty="0"/>
              <a:t>Some objects still alive</a:t>
            </a:r>
          </a:p>
          <a:p>
            <a:r>
              <a:rPr lang="en-IN" dirty="0"/>
              <a:t>JVM stable</a:t>
            </a:r>
          </a:p>
          <a:p>
            <a:r>
              <a:rPr lang="en-IN" dirty="0"/>
              <a:t>No memory pressure</a:t>
            </a:r>
            <a:endParaRPr lang="en-US" dirty="0"/>
          </a:p>
        </p:txBody>
      </p:sp>
      <p:pic>
        <p:nvPicPr>
          <p:cNvPr id="5" name="Picture 4">
            <a:extLst>
              <a:ext uri="{FF2B5EF4-FFF2-40B4-BE49-F238E27FC236}">
                <a16:creationId xmlns:a16="http://schemas.microsoft.com/office/drawing/2014/main" id="{E6CBFFB3-E8A7-0C3D-C702-0AD86408DA6A}"/>
              </a:ext>
            </a:extLst>
          </p:cNvPr>
          <p:cNvPicPr>
            <a:picLocks noChangeAspect="1"/>
          </p:cNvPicPr>
          <p:nvPr/>
        </p:nvPicPr>
        <p:blipFill>
          <a:blip r:embed="rId2"/>
          <a:stretch>
            <a:fillRect/>
          </a:stretch>
        </p:blipFill>
        <p:spPr>
          <a:xfrm>
            <a:off x="838200" y="3429000"/>
            <a:ext cx="7063848" cy="647475"/>
          </a:xfrm>
          <a:prstGeom prst="rect">
            <a:avLst/>
          </a:prstGeom>
        </p:spPr>
      </p:pic>
    </p:spTree>
    <p:extLst>
      <p:ext uri="{BB962C8B-B14F-4D97-AF65-F5344CB8AC3E}">
        <p14:creationId xmlns:p14="http://schemas.microsoft.com/office/powerpoint/2010/main" val="34376672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BD21FF-2A44-9A4A-C5A1-51A6AEB325E0}"/>
              </a:ext>
            </a:extLst>
          </p:cNvPr>
          <p:cNvSpPr>
            <a:spLocks noGrp="1"/>
          </p:cNvSpPr>
          <p:nvPr>
            <p:ph type="title"/>
          </p:nvPr>
        </p:nvSpPr>
        <p:spPr/>
        <p:txBody>
          <a:bodyPr>
            <a:normAutofit/>
          </a:bodyPr>
          <a:lstStyle/>
          <a:p>
            <a:r>
              <a:rPr lang="en-IN" sz="4000" dirty="0"/>
              <a:t>G1 provides predictable pause time</a:t>
            </a:r>
            <a:endParaRPr lang="en-US" sz="4000" dirty="0"/>
          </a:p>
        </p:txBody>
      </p:sp>
      <p:sp>
        <p:nvSpPr>
          <p:cNvPr id="3" name="Content Placeholder 2">
            <a:extLst>
              <a:ext uri="{FF2B5EF4-FFF2-40B4-BE49-F238E27FC236}">
                <a16:creationId xmlns:a16="http://schemas.microsoft.com/office/drawing/2014/main" id="{E868CC4C-8603-0B39-5308-F1BF5B745054}"/>
              </a:ext>
            </a:extLst>
          </p:cNvPr>
          <p:cNvSpPr>
            <a:spLocks noGrp="1"/>
          </p:cNvSpPr>
          <p:nvPr>
            <p:ph idx="1"/>
          </p:nvPr>
        </p:nvSpPr>
        <p:spPr/>
        <p:txBody>
          <a:bodyPr/>
          <a:lstStyle/>
          <a:p>
            <a:r>
              <a:rPr lang="en-GB" dirty="0"/>
              <a:t>We say </a:t>
            </a:r>
            <a:r>
              <a:rPr lang="en-GB" b="1" dirty="0"/>
              <a:t>G1 provides predictable pause times</a:t>
            </a:r>
            <a:r>
              <a:rPr lang="en-GB" dirty="0"/>
              <a:t> because it is </a:t>
            </a:r>
            <a:r>
              <a:rPr lang="en-GB" i="1" dirty="0"/>
              <a:t>designed around a pause-time goal</a:t>
            </a:r>
            <a:r>
              <a:rPr lang="en-GB" dirty="0"/>
              <a:t> and uses smart heuristics to </a:t>
            </a:r>
            <a:r>
              <a:rPr lang="en-GB" b="1" dirty="0"/>
              <a:t>control how much work it does in each pause</a:t>
            </a:r>
            <a:r>
              <a:rPr lang="en-GB" dirty="0"/>
              <a:t>.</a:t>
            </a:r>
            <a:endParaRPr lang="en-US" dirty="0"/>
          </a:p>
        </p:txBody>
      </p:sp>
    </p:spTree>
    <p:extLst>
      <p:ext uri="{BB962C8B-B14F-4D97-AF65-F5344CB8AC3E}">
        <p14:creationId xmlns:p14="http://schemas.microsoft.com/office/powerpoint/2010/main" val="962648874"/>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588EB-AC40-3627-89D7-7D733D84D48A}"/>
              </a:ext>
            </a:extLst>
          </p:cNvPr>
          <p:cNvSpPr>
            <a:spLocks noGrp="1"/>
          </p:cNvSpPr>
          <p:nvPr>
            <p:ph type="title"/>
          </p:nvPr>
        </p:nvSpPr>
        <p:spPr/>
        <p:txBody>
          <a:bodyPr/>
          <a:lstStyle/>
          <a:p>
            <a:r>
              <a:rPr lang="en-IN" dirty="0"/>
              <a:t>G1 provides predictable pause time</a:t>
            </a:r>
            <a:endParaRPr lang="en-US" dirty="0"/>
          </a:p>
        </p:txBody>
      </p:sp>
      <p:sp>
        <p:nvSpPr>
          <p:cNvPr id="3" name="Content Placeholder 2">
            <a:extLst>
              <a:ext uri="{FF2B5EF4-FFF2-40B4-BE49-F238E27FC236}">
                <a16:creationId xmlns:a16="http://schemas.microsoft.com/office/drawing/2014/main" id="{C4E0C808-3B7C-54BA-AB55-B2623D1B2640}"/>
              </a:ext>
            </a:extLst>
          </p:cNvPr>
          <p:cNvSpPr>
            <a:spLocks noGrp="1"/>
          </p:cNvSpPr>
          <p:nvPr>
            <p:ph idx="1"/>
          </p:nvPr>
        </p:nvSpPr>
        <p:spPr/>
        <p:txBody>
          <a:bodyPr>
            <a:normAutofit fontScale="92500" lnSpcReduction="20000"/>
          </a:bodyPr>
          <a:lstStyle/>
          <a:p>
            <a:pPr marL="514350" indent="-514350">
              <a:buFont typeface="+mj-lt"/>
              <a:buAutoNum type="arabicPeriod"/>
            </a:pPr>
            <a:r>
              <a:rPr lang="en-IN" b="1" dirty="0"/>
              <a:t>Pause time goal – User Controlled</a:t>
            </a:r>
          </a:p>
          <a:p>
            <a:pPr lvl="1"/>
            <a:r>
              <a:rPr lang="en-IN" dirty="0"/>
              <a:t>You can define a target -</a:t>
            </a:r>
            <a:r>
              <a:rPr lang="en-IN" dirty="0" err="1"/>
              <a:t>XX:MaxGCPauseMillis</a:t>
            </a:r>
            <a:r>
              <a:rPr lang="en-IN" dirty="0"/>
              <a:t>=200</a:t>
            </a:r>
          </a:p>
          <a:p>
            <a:pPr lvl="1"/>
            <a:r>
              <a:rPr lang="en-GB" dirty="0"/>
              <a:t>This does </a:t>
            </a:r>
            <a:r>
              <a:rPr lang="en-GB" b="1" dirty="0"/>
              <a:t>NOT guarantee</a:t>
            </a:r>
            <a:r>
              <a:rPr lang="en-GB" dirty="0"/>
              <a:t>, but G1 </a:t>
            </a:r>
            <a:r>
              <a:rPr lang="en-GB" b="1" dirty="0"/>
              <a:t>tries to meet it consistently</a:t>
            </a:r>
          </a:p>
          <a:p>
            <a:pPr lvl="1"/>
            <a:r>
              <a:rPr lang="en-GB" dirty="0"/>
              <a:t>G1 plans GC work based on this goal</a:t>
            </a:r>
          </a:p>
          <a:p>
            <a:pPr marL="514350" indent="-514350">
              <a:buFont typeface="+mj-lt"/>
              <a:buAutoNum type="arabicPeriod"/>
            </a:pPr>
            <a:r>
              <a:rPr lang="en-US" b="1" dirty="0"/>
              <a:t>Region-Based Collection (Key Reason)</a:t>
            </a:r>
          </a:p>
          <a:p>
            <a:pPr lvl="1"/>
            <a:r>
              <a:rPr lang="en-GB" dirty="0"/>
              <a:t>Heap is split into </a:t>
            </a:r>
            <a:r>
              <a:rPr lang="en-GB" b="1" dirty="0"/>
              <a:t>small regions (1–32 MB)</a:t>
            </a:r>
            <a:r>
              <a:rPr lang="en-GB" dirty="0"/>
              <a:t> </a:t>
            </a:r>
          </a:p>
          <a:p>
            <a:pPr lvl="1"/>
            <a:r>
              <a:rPr lang="en-GB" dirty="0"/>
              <a:t>Instead of collecting entire generations: </a:t>
            </a:r>
          </a:p>
          <a:p>
            <a:pPr lvl="1"/>
            <a:r>
              <a:rPr lang="en-GB" dirty="0"/>
              <a:t>G1 collects </a:t>
            </a:r>
            <a:r>
              <a:rPr lang="en-GB" b="1" dirty="0"/>
              <a:t>only selected regions</a:t>
            </a:r>
            <a:r>
              <a:rPr lang="en-GB" dirty="0"/>
              <a:t> </a:t>
            </a:r>
          </a:p>
          <a:p>
            <a:pPr lvl="1"/>
            <a:r>
              <a:rPr lang="en-GB" dirty="0"/>
              <a:t>Smaller work = more controllable pause time</a:t>
            </a:r>
          </a:p>
          <a:p>
            <a:pPr marL="514350" indent="-514350">
              <a:buFont typeface="+mj-lt"/>
              <a:buAutoNum type="arabicPeriod"/>
            </a:pPr>
            <a:r>
              <a:rPr lang="en-US" b="1" dirty="0"/>
              <a:t>Garbage-First Selection (Priority-Based)</a:t>
            </a:r>
          </a:p>
          <a:p>
            <a:pPr lvl="1"/>
            <a:r>
              <a:rPr lang="en-US" dirty="0"/>
              <a:t>G1 tracks live data and Garbage % in each region</a:t>
            </a:r>
          </a:p>
          <a:p>
            <a:pPr lvl="1"/>
            <a:r>
              <a:rPr lang="en-US" dirty="0"/>
              <a:t>It selects regions with Maximum garbage and Minimum live data</a:t>
            </a:r>
          </a:p>
          <a:p>
            <a:pPr lvl="1"/>
            <a:r>
              <a:rPr lang="en-US" dirty="0"/>
              <a:t>More memory reclaimed with less task – shorter pauses </a:t>
            </a:r>
            <a:endParaRPr lang="en-GB" dirty="0"/>
          </a:p>
          <a:p>
            <a:pPr lvl="1"/>
            <a:endParaRPr lang="en-US" dirty="0"/>
          </a:p>
        </p:txBody>
      </p:sp>
    </p:spTree>
    <p:extLst>
      <p:ext uri="{BB962C8B-B14F-4D97-AF65-F5344CB8AC3E}">
        <p14:creationId xmlns:p14="http://schemas.microsoft.com/office/powerpoint/2010/main" val="16599401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1" end="11"/>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DF42F0-5F9A-30EF-6A30-2AA541877D29}"/>
              </a:ext>
            </a:extLst>
          </p:cNvPr>
          <p:cNvSpPr>
            <a:spLocks noGrp="1"/>
          </p:cNvSpPr>
          <p:nvPr>
            <p:ph type="title"/>
          </p:nvPr>
        </p:nvSpPr>
        <p:spPr/>
        <p:txBody>
          <a:bodyPr/>
          <a:lstStyle/>
          <a:p>
            <a:r>
              <a:rPr lang="en-IN" dirty="0"/>
              <a:t>G1 provides predictable pause time</a:t>
            </a:r>
            <a:endParaRPr lang="en-US" dirty="0"/>
          </a:p>
        </p:txBody>
      </p:sp>
      <p:sp>
        <p:nvSpPr>
          <p:cNvPr id="3" name="Content Placeholder 2">
            <a:extLst>
              <a:ext uri="{FF2B5EF4-FFF2-40B4-BE49-F238E27FC236}">
                <a16:creationId xmlns:a16="http://schemas.microsoft.com/office/drawing/2014/main" id="{D22B52CF-621A-55A7-E1AD-5CF6A39F293F}"/>
              </a:ext>
            </a:extLst>
          </p:cNvPr>
          <p:cNvSpPr>
            <a:spLocks noGrp="1"/>
          </p:cNvSpPr>
          <p:nvPr>
            <p:ph idx="1"/>
          </p:nvPr>
        </p:nvSpPr>
        <p:spPr/>
        <p:txBody>
          <a:bodyPr/>
          <a:lstStyle/>
          <a:p>
            <a:pPr marL="514350" indent="-514350">
              <a:buFont typeface="+mj-lt"/>
              <a:buAutoNum type="arabicPeriod" startAt="4"/>
            </a:pPr>
            <a:r>
              <a:rPr lang="en-GB" b="1" dirty="0"/>
              <a:t>Predictive Cost Model (Core Magic)</a:t>
            </a:r>
          </a:p>
          <a:p>
            <a:pPr lvl="1"/>
            <a:r>
              <a:rPr lang="en-GB" dirty="0"/>
              <a:t>G1 maintains historical data like:</a:t>
            </a:r>
          </a:p>
          <a:p>
            <a:pPr lvl="2"/>
            <a:r>
              <a:rPr lang="en-GB" dirty="0"/>
              <a:t>Time to scan a region </a:t>
            </a:r>
          </a:p>
          <a:p>
            <a:pPr lvl="2"/>
            <a:r>
              <a:rPr lang="en-GB" dirty="0"/>
              <a:t>Time to copy objects </a:t>
            </a:r>
          </a:p>
          <a:p>
            <a:pPr lvl="2"/>
            <a:r>
              <a:rPr lang="en-GB" dirty="0"/>
              <a:t>Object survival rates</a:t>
            </a:r>
          </a:p>
          <a:p>
            <a:pPr marL="514350" indent="-514350">
              <a:buFont typeface="+mj-lt"/>
              <a:buAutoNum type="arabicPeriod" startAt="5"/>
            </a:pPr>
            <a:r>
              <a:rPr lang="en-GB" b="1" dirty="0"/>
              <a:t>Incremental Work (Not all at once)</a:t>
            </a:r>
          </a:p>
          <a:p>
            <a:pPr lvl="1"/>
            <a:r>
              <a:rPr lang="en-GB" dirty="0"/>
              <a:t>Old generation is NOT collected fully in one go</a:t>
            </a:r>
          </a:p>
          <a:p>
            <a:pPr lvl="1"/>
            <a:r>
              <a:rPr lang="en-GB" dirty="0"/>
              <a:t>Done via Mixed GCs</a:t>
            </a:r>
          </a:p>
          <a:p>
            <a:pPr lvl="1"/>
            <a:r>
              <a:rPr lang="en-GB" dirty="0"/>
              <a:t>Avoid full GC pauses</a:t>
            </a:r>
          </a:p>
        </p:txBody>
      </p:sp>
    </p:spTree>
    <p:extLst>
      <p:ext uri="{BB962C8B-B14F-4D97-AF65-F5344CB8AC3E}">
        <p14:creationId xmlns:p14="http://schemas.microsoft.com/office/powerpoint/2010/main" val="1168834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350FF2-0F3A-ABCF-BA7D-A204C84807E6}"/>
              </a:ext>
            </a:extLst>
          </p:cNvPr>
          <p:cNvSpPr>
            <a:spLocks noGrp="1"/>
          </p:cNvSpPr>
          <p:nvPr>
            <p:ph type="title"/>
          </p:nvPr>
        </p:nvSpPr>
        <p:spPr/>
        <p:txBody>
          <a:bodyPr/>
          <a:lstStyle/>
          <a:p>
            <a:r>
              <a:rPr lang="en-IN" dirty="0"/>
              <a:t>G1 provides predictable pause time</a:t>
            </a:r>
            <a:endParaRPr lang="en-US" dirty="0"/>
          </a:p>
        </p:txBody>
      </p:sp>
      <p:sp>
        <p:nvSpPr>
          <p:cNvPr id="3" name="Content Placeholder 2">
            <a:extLst>
              <a:ext uri="{FF2B5EF4-FFF2-40B4-BE49-F238E27FC236}">
                <a16:creationId xmlns:a16="http://schemas.microsoft.com/office/drawing/2014/main" id="{10D9AEF2-525D-2E13-1241-100FE61A15DC}"/>
              </a:ext>
            </a:extLst>
          </p:cNvPr>
          <p:cNvSpPr>
            <a:spLocks noGrp="1"/>
          </p:cNvSpPr>
          <p:nvPr>
            <p:ph idx="1"/>
          </p:nvPr>
        </p:nvSpPr>
        <p:spPr/>
        <p:txBody>
          <a:bodyPr/>
          <a:lstStyle/>
          <a:p>
            <a:pPr marL="514350" indent="-514350">
              <a:buFont typeface="+mj-lt"/>
              <a:buAutoNum type="arabicPeriod" startAt="6"/>
            </a:pPr>
            <a:r>
              <a:rPr lang="en-IN" b="1" dirty="0"/>
              <a:t>Concurrent Work Reduces STW</a:t>
            </a:r>
          </a:p>
          <a:p>
            <a:pPr lvl="1"/>
            <a:r>
              <a:rPr lang="en-US" dirty="0"/>
              <a:t>Most heavy work like marking live objects and region analysis runs in background</a:t>
            </a:r>
          </a:p>
          <a:p>
            <a:pPr lvl="1"/>
            <a:r>
              <a:rPr lang="en-US" dirty="0"/>
              <a:t>Stop the world phases are short and controlled</a:t>
            </a:r>
          </a:p>
          <a:p>
            <a:r>
              <a:rPr lang="en-US" dirty="0"/>
              <a:t>Note : G1 gives predictability, not guarantee </a:t>
            </a:r>
          </a:p>
          <a:p>
            <a:pPr lvl="1"/>
            <a:r>
              <a:rPr lang="fr-FR" dirty="0"/>
              <a:t>Consistent pauses (e.g., 100–250 ms range)</a:t>
            </a:r>
          </a:p>
          <a:p>
            <a:pPr lvl="1"/>
            <a:r>
              <a:rPr lang="en-GB" dirty="0"/>
              <a:t>Not strict real-time (can exceed target sometimes)</a:t>
            </a:r>
            <a:endParaRPr lang="en-US" dirty="0"/>
          </a:p>
        </p:txBody>
      </p:sp>
    </p:spTree>
    <p:extLst>
      <p:ext uri="{BB962C8B-B14F-4D97-AF65-F5344CB8AC3E}">
        <p14:creationId xmlns:p14="http://schemas.microsoft.com/office/powerpoint/2010/main" val="2604294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9368C2-11C8-1498-8B0F-DDF2BB2C0904}"/>
              </a:ext>
            </a:extLst>
          </p:cNvPr>
          <p:cNvSpPr>
            <a:spLocks noGrp="1"/>
          </p:cNvSpPr>
          <p:nvPr>
            <p:ph type="title"/>
          </p:nvPr>
        </p:nvSpPr>
        <p:spPr/>
        <p:txBody>
          <a:bodyPr/>
          <a:lstStyle/>
          <a:p>
            <a:r>
              <a:rPr lang="en-IN" dirty="0"/>
              <a:t>G1 Garbage Collector </a:t>
            </a:r>
            <a:r>
              <a:rPr lang="en-IN"/>
              <a:t>Tuning Parameters</a:t>
            </a:r>
            <a:endParaRPr lang="en-US" dirty="0"/>
          </a:p>
        </p:txBody>
      </p:sp>
      <p:graphicFrame>
        <p:nvGraphicFramePr>
          <p:cNvPr id="4" name="Content Placeholder 3">
            <a:extLst>
              <a:ext uri="{FF2B5EF4-FFF2-40B4-BE49-F238E27FC236}">
                <a16:creationId xmlns:a16="http://schemas.microsoft.com/office/drawing/2014/main" id="{B626EA65-785D-5309-D3EB-D1D5A6DEE0BA}"/>
              </a:ext>
            </a:extLst>
          </p:cNvPr>
          <p:cNvGraphicFramePr>
            <a:graphicFrameLocks noGrp="1"/>
          </p:cNvGraphicFramePr>
          <p:nvPr>
            <p:ph idx="1"/>
            <p:extLst>
              <p:ext uri="{D42A27DB-BD31-4B8C-83A1-F6EECF244321}">
                <p14:modId xmlns:p14="http://schemas.microsoft.com/office/powerpoint/2010/main" val="2656068519"/>
              </p:ext>
            </p:extLst>
          </p:nvPr>
        </p:nvGraphicFramePr>
        <p:xfrm>
          <a:off x="838200" y="1825625"/>
          <a:ext cx="10728310" cy="4450080"/>
        </p:xfrm>
        <a:graphic>
          <a:graphicData uri="http://schemas.openxmlformats.org/drawingml/2006/table">
            <a:tbl>
              <a:tblPr firstRow="1" bandRow="1">
                <a:tableStyleId>{5C22544A-7EE6-4342-B048-85BDC9FD1C3A}</a:tableStyleId>
              </a:tblPr>
              <a:tblGrid>
                <a:gridCol w="5364155">
                  <a:extLst>
                    <a:ext uri="{9D8B030D-6E8A-4147-A177-3AD203B41FA5}">
                      <a16:colId xmlns:a16="http://schemas.microsoft.com/office/drawing/2014/main" val="505299410"/>
                    </a:ext>
                  </a:extLst>
                </a:gridCol>
                <a:gridCol w="5364155">
                  <a:extLst>
                    <a:ext uri="{9D8B030D-6E8A-4147-A177-3AD203B41FA5}">
                      <a16:colId xmlns:a16="http://schemas.microsoft.com/office/drawing/2014/main" val="1803186498"/>
                    </a:ext>
                  </a:extLst>
                </a:gridCol>
              </a:tblGrid>
              <a:tr h="370840">
                <a:tc>
                  <a:txBody>
                    <a:bodyPr/>
                    <a:lstStyle/>
                    <a:p>
                      <a:pPr>
                        <a:buNone/>
                      </a:pPr>
                      <a:r>
                        <a:rPr lang="en-US" dirty="0"/>
                        <a:t>Flag</a:t>
                      </a:r>
                    </a:p>
                  </a:txBody>
                  <a:tcPr anchor="ctr"/>
                </a:tc>
                <a:tc>
                  <a:txBody>
                    <a:bodyPr/>
                    <a:lstStyle/>
                    <a:p>
                      <a:pPr>
                        <a:buNone/>
                      </a:pPr>
                      <a:r>
                        <a:rPr lang="en-US" dirty="0"/>
                        <a:t>Purpose</a:t>
                      </a:r>
                    </a:p>
                  </a:txBody>
                  <a:tcPr anchor="ctr"/>
                </a:tc>
                <a:extLst>
                  <a:ext uri="{0D108BD9-81ED-4DB2-BD59-A6C34878D82A}">
                    <a16:rowId xmlns:a16="http://schemas.microsoft.com/office/drawing/2014/main" val="3364835042"/>
                  </a:ext>
                </a:extLst>
              </a:tr>
              <a:tr h="370840">
                <a:tc>
                  <a:txBody>
                    <a:bodyPr/>
                    <a:lstStyle/>
                    <a:p>
                      <a:pPr marL="0" algn="l" defTabSz="914400" rtl="0" eaLnBrk="1" latinLnBrk="0" hangingPunct="1">
                        <a:buNone/>
                      </a:pPr>
                      <a:r>
                        <a:rPr lang="en-US" sz="1800" kern="1200" dirty="0">
                          <a:solidFill>
                            <a:schemeClr val="dk1"/>
                          </a:solidFill>
                          <a:latin typeface="Courier New" panose="02070309020205020404" pitchFamily="49" charset="0"/>
                          <a:ea typeface="+mn-ea"/>
                          <a:cs typeface="+mn-cs"/>
                        </a:rPr>
                        <a:t>-Xms512m</a:t>
                      </a:r>
                    </a:p>
                  </a:txBody>
                  <a:tcPr anchor="ctr"/>
                </a:tc>
                <a:tc>
                  <a:txBody>
                    <a:bodyPr/>
                    <a:lstStyle/>
                    <a:p>
                      <a:pPr>
                        <a:buNone/>
                      </a:pPr>
                      <a:r>
                        <a:rPr lang="en-US" dirty="0"/>
                        <a:t>Initial heap</a:t>
                      </a:r>
                    </a:p>
                  </a:txBody>
                  <a:tcPr anchor="ctr"/>
                </a:tc>
                <a:extLst>
                  <a:ext uri="{0D108BD9-81ED-4DB2-BD59-A6C34878D82A}">
                    <a16:rowId xmlns:a16="http://schemas.microsoft.com/office/drawing/2014/main" val="657050565"/>
                  </a:ext>
                </a:extLst>
              </a:tr>
              <a:tr h="370840">
                <a:tc>
                  <a:txBody>
                    <a:bodyPr/>
                    <a:lstStyle/>
                    <a:p>
                      <a:pPr marL="0" algn="l" defTabSz="914400" rtl="0" eaLnBrk="1" latinLnBrk="0" hangingPunct="1">
                        <a:buNone/>
                      </a:pPr>
                      <a:r>
                        <a:rPr lang="en-US" sz="1800" kern="1200" dirty="0">
                          <a:solidFill>
                            <a:schemeClr val="dk1"/>
                          </a:solidFill>
                          <a:latin typeface="Courier New" panose="02070309020205020404" pitchFamily="49" charset="0"/>
                          <a:ea typeface="+mn-ea"/>
                          <a:cs typeface="+mn-cs"/>
                        </a:rPr>
                        <a:t>-Xmx512m</a:t>
                      </a:r>
                    </a:p>
                  </a:txBody>
                  <a:tcPr anchor="ctr"/>
                </a:tc>
                <a:tc>
                  <a:txBody>
                    <a:bodyPr/>
                    <a:lstStyle/>
                    <a:p>
                      <a:pPr>
                        <a:buNone/>
                      </a:pPr>
                      <a:r>
                        <a:rPr lang="en-US"/>
                        <a:t>Max heap</a:t>
                      </a:r>
                    </a:p>
                  </a:txBody>
                  <a:tcPr anchor="ctr"/>
                </a:tc>
                <a:extLst>
                  <a:ext uri="{0D108BD9-81ED-4DB2-BD59-A6C34878D82A}">
                    <a16:rowId xmlns:a16="http://schemas.microsoft.com/office/drawing/2014/main" val="857248063"/>
                  </a:ext>
                </a:extLst>
              </a:tr>
              <a:tr h="370840">
                <a:tc>
                  <a:txBody>
                    <a:bodyPr/>
                    <a:lstStyle/>
                    <a:p>
                      <a:pPr marL="0" algn="l" defTabSz="914400" rtl="0" eaLnBrk="1" latinLnBrk="0" hangingPunct="1">
                        <a:buNone/>
                      </a:pPr>
                      <a:r>
                        <a:rPr lang="en-US" sz="1800" kern="1200" dirty="0">
                          <a:solidFill>
                            <a:schemeClr val="dk1"/>
                          </a:solidFill>
                          <a:latin typeface="Courier New" panose="02070309020205020404" pitchFamily="49" charset="0"/>
                          <a:ea typeface="+mn-ea"/>
                          <a:cs typeface="+mn-cs"/>
                        </a:rPr>
                        <a:t>-XX:+UseG1GC</a:t>
                      </a:r>
                    </a:p>
                  </a:txBody>
                  <a:tcPr anchor="ctr"/>
                </a:tc>
                <a:tc>
                  <a:txBody>
                    <a:bodyPr/>
                    <a:lstStyle/>
                    <a:p>
                      <a:pPr>
                        <a:buNone/>
                      </a:pPr>
                      <a:r>
                        <a:rPr lang="en-US"/>
                        <a:t>Use G1 collector</a:t>
                      </a:r>
                    </a:p>
                  </a:txBody>
                  <a:tcPr anchor="ctr"/>
                </a:tc>
                <a:extLst>
                  <a:ext uri="{0D108BD9-81ED-4DB2-BD59-A6C34878D82A}">
                    <a16:rowId xmlns:a16="http://schemas.microsoft.com/office/drawing/2014/main" val="1360822880"/>
                  </a:ext>
                </a:extLst>
              </a:tr>
              <a:tr h="370840">
                <a:tc>
                  <a:txBody>
                    <a:bodyPr/>
                    <a:lstStyle/>
                    <a:p>
                      <a:pPr marL="0" algn="l" defTabSz="914400" rtl="0" eaLnBrk="1" latinLnBrk="0" hangingPunct="1">
                        <a:buNone/>
                      </a:pPr>
                      <a:r>
                        <a:rPr lang="en-US" sz="1800" kern="1200" dirty="0">
                          <a:solidFill>
                            <a:schemeClr val="dk1"/>
                          </a:solidFill>
                          <a:latin typeface="Courier New" panose="02070309020205020404" pitchFamily="49" charset="0"/>
                          <a:ea typeface="+mn-ea"/>
                          <a:cs typeface="+mn-cs"/>
                        </a:rPr>
                        <a:t>-</a:t>
                      </a:r>
                      <a:r>
                        <a:rPr lang="en-US" sz="1800" kern="1200" dirty="0" err="1">
                          <a:solidFill>
                            <a:schemeClr val="dk1"/>
                          </a:solidFill>
                          <a:latin typeface="Courier New" panose="02070309020205020404" pitchFamily="49" charset="0"/>
                          <a:ea typeface="+mn-ea"/>
                          <a:cs typeface="+mn-cs"/>
                        </a:rPr>
                        <a:t>Xlog:gc</a:t>
                      </a:r>
                      <a:r>
                        <a:rPr lang="en-US" sz="1800" kern="1200" dirty="0">
                          <a:solidFill>
                            <a:schemeClr val="dk1"/>
                          </a:solidFill>
                          <a:latin typeface="Courier New" panose="02070309020205020404" pitchFamily="49" charset="0"/>
                          <a:ea typeface="+mn-ea"/>
                          <a:cs typeface="+mn-cs"/>
                        </a:rPr>
                        <a:t>*</a:t>
                      </a:r>
                    </a:p>
                  </a:txBody>
                  <a:tcPr anchor="ctr"/>
                </a:tc>
                <a:tc>
                  <a:txBody>
                    <a:bodyPr/>
                    <a:lstStyle/>
                    <a:p>
                      <a:pPr>
                        <a:buNone/>
                      </a:pPr>
                      <a:r>
                        <a:rPr lang="en-US" dirty="0"/>
                        <a:t>Enable GC logs</a:t>
                      </a:r>
                    </a:p>
                  </a:txBody>
                  <a:tcPr anchor="ctr"/>
                </a:tc>
                <a:extLst>
                  <a:ext uri="{0D108BD9-81ED-4DB2-BD59-A6C34878D82A}">
                    <a16:rowId xmlns:a16="http://schemas.microsoft.com/office/drawing/2014/main" val="460225198"/>
                  </a:ext>
                </a:extLst>
              </a:tr>
              <a:tr h="370840">
                <a:tc>
                  <a:txBody>
                    <a:bodyPr/>
                    <a:lstStyle/>
                    <a:p>
                      <a:pPr marL="0" algn="l" defTabSz="914400" rtl="0" eaLnBrk="1" latinLnBrk="0" hangingPunct="1">
                        <a:buNone/>
                      </a:pPr>
                      <a:r>
                        <a:rPr lang="en-IN" sz="1800" kern="1200" dirty="0">
                          <a:solidFill>
                            <a:schemeClr val="dk1"/>
                          </a:solidFill>
                          <a:latin typeface="Courier New" panose="02070309020205020404" pitchFamily="49" charset="0"/>
                          <a:ea typeface="+mn-ea"/>
                          <a:cs typeface="+mn-cs"/>
                        </a:rPr>
                        <a:t>-</a:t>
                      </a:r>
                      <a:r>
                        <a:rPr lang="en-IN" sz="1800" kern="1200" dirty="0" err="1">
                          <a:solidFill>
                            <a:schemeClr val="dk1"/>
                          </a:solidFill>
                          <a:latin typeface="Courier New" panose="02070309020205020404" pitchFamily="49" charset="0"/>
                          <a:ea typeface="+mn-ea"/>
                          <a:cs typeface="+mn-cs"/>
                        </a:rPr>
                        <a:t>XX:MaxGCPauseMillis</a:t>
                      </a:r>
                      <a:r>
                        <a:rPr lang="en-IN" sz="1800" kern="1200" dirty="0">
                          <a:solidFill>
                            <a:schemeClr val="dk1"/>
                          </a:solidFill>
                          <a:latin typeface="Courier New" panose="02070309020205020404" pitchFamily="49" charset="0"/>
                          <a:ea typeface="+mn-ea"/>
                          <a:cs typeface="+mn-cs"/>
                        </a:rPr>
                        <a:t>=50</a:t>
                      </a:r>
                      <a:endParaRPr lang="en-US" sz="1800" kern="1200" dirty="0">
                        <a:solidFill>
                          <a:schemeClr val="dk1"/>
                        </a:solidFill>
                        <a:latin typeface="Courier New" panose="02070309020205020404" pitchFamily="49" charset="0"/>
                        <a:ea typeface="+mn-ea"/>
                        <a:cs typeface="+mn-cs"/>
                      </a:endParaRPr>
                    </a:p>
                  </a:txBody>
                  <a:tcPr anchor="ctr"/>
                </a:tc>
                <a:tc>
                  <a:txBody>
                    <a:bodyPr/>
                    <a:lstStyle/>
                    <a:p>
                      <a:pPr>
                        <a:buNone/>
                      </a:pPr>
                      <a:r>
                        <a:rPr lang="en-IN" dirty="0"/>
                        <a:t>Target Pause Time</a:t>
                      </a:r>
                      <a:endParaRPr lang="en-US" dirty="0"/>
                    </a:p>
                  </a:txBody>
                  <a:tcPr anchor="ctr"/>
                </a:tc>
                <a:extLst>
                  <a:ext uri="{0D108BD9-81ED-4DB2-BD59-A6C34878D82A}">
                    <a16:rowId xmlns:a16="http://schemas.microsoft.com/office/drawing/2014/main" val="3646416737"/>
                  </a:ext>
                </a:extLst>
              </a:tr>
              <a:tr h="370840">
                <a:tc>
                  <a:txBody>
                    <a:bodyPr/>
                    <a:lstStyle/>
                    <a:p>
                      <a:pPr marL="0" algn="l" defTabSz="914400" rtl="0" eaLnBrk="1" latinLnBrk="0" hangingPunct="1">
                        <a:buNone/>
                      </a:pPr>
                      <a:r>
                        <a:rPr lang="en-US" sz="1800" kern="1200" dirty="0">
                          <a:solidFill>
                            <a:schemeClr val="dk1"/>
                          </a:solidFill>
                          <a:latin typeface="Courier New" panose="02070309020205020404" pitchFamily="49" charset="0"/>
                          <a:ea typeface="+mn-ea"/>
                          <a:cs typeface="+mn-cs"/>
                        </a:rPr>
                        <a:t>-XX:G1HeapRegionSize=2m</a:t>
                      </a:r>
                    </a:p>
                  </a:txBody>
                  <a:tcPr anchor="ctr"/>
                </a:tc>
                <a:tc>
                  <a:txBody>
                    <a:bodyPr/>
                    <a:lstStyle/>
                    <a:p>
                      <a:pPr>
                        <a:buNone/>
                      </a:pPr>
                      <a:r>
                        <a:rPr lang="en-IN" dirty="0"/>
                        <a:t>Region Size</a:t>
                      </a:r>
                      <a:endParaRPr lang="en-US" dirty="0"/>
                    </a:p>
                  </a:txBody>
                  <a:tcPr anchor="ctr"/>
                </a:tc>
                <a:extLst>
                  <a:ext uri="{0D108BD9-81ED-4DB2-BD59-A6C34878D82A}">
                    <a16:rowId xmlns:a16="http://schemas.microsoft.com/office/drawing/2014/main" val="54053781"/>
                  </a:ext>
                </a:extLst>
              </a:tr>
              <a:tr h="370840">
                <a:tc>
                  <a:txBody>
                    <a:bodyPr/>
                    <a:lstStyle/>
                    <a:p>
                      <a:pPr marL="0" algn="l" defTabSz="914400" rtl="0" eaLnBrk="1" latinLnBrk="0" hangingPunct="1">
                        <a:buNone/>
                      </a:pPr>
                      <a:r>
                        <a:rPr lang="en-US" sz="1800" kern="1200" dirty="0">
                          <a:solidFill>
                            <a:schemeClr val="dk1"/>
                          </a:solidFill>
                          <a:latin typeface="Courier New" panose="02070309020205020404" pitchFamily="49" charset="0"/>
                          <a:ea typeface="+mn-ea"/>
                          <a:cs typeface="+mn-cs"/>
                        </a:rPr>
                        <a:t>-</a:t>
                      </a:r>
                      <a:r>
                        <a:rPr lang="en-US" sz="1800" kern="1200" dirty="0" err="1">
                          <a:solidFill>
                            <a:schemeClr val="dk1"/>
                          </a:solidFill>
                          <a:latin typeface="Courier New" panose="02070309020205020404" pitchFamily="49" charset="0"/>
                          <a:ea typeface="+mn-ea"/>
                          <a:cs typeface="+mn-cs"/>
                        </a:rPr>
                        <a:t>XX:InitiatingHeapOccupancyPercent</a:t>
                      </a:r>
                      <a:r>
                        <a:rPr lang="en-US" sz="1800" kern="1200" dirty="0">
                          <a:solidFill>
                            <a:schemeClr val="dk1"/>
                          </a:solidFill>
                          <a:latin typeface="Courier New" panose="02070309020205020404" pitchFamily="49" charset="0"/>
                          <a:ea typeface="+mn-ea"/>
                          <a:cs typeface="+mn-cs"/>
                        </a:rPr>
                        <a:t>=45</a:t>
                      </a:r>
                    </a:p>
                  </a:txBody>
                  <a:tcPr anchor="ctr"/>
                </a:tc>
                <a:tc>
                  <a:txBody>
                    <a:bodyPr/>
                    <a:lstStyle/>
                    <a:p>
                      <a:pPr>
                        <a:buNone/>
                      </a:pPr>
                      <a:r>
                        <a:rPr lang="en-US" dirty="0"/>
                        <a:t>Concurrent Mark Cycle</a:t>
                      </a:r>
                    </a:p>
                  </a:txBody>
                  <a:tcPr anchor="ctr"/>
                </a:tc>
                <a:extLst>
                  <a:ext uri="{0D108BD9-81ED-4DB2-BD59-A6C34878D82A}">
                    <a16:rowId xmlns:a16="http://schemas.microsoft.com/office/drawing/2014/main" val="689562662"/>
                  </a:ext>
                </a:extLst>
              </a:tr>
              <a:tr h="370840">
                <a:tc>
                  <a:txBody>
                    <a:bodyPr/>
                    <a:lstStyle/>
                    <a:p>
                      <a:pPr marL="0" algn="l" defTabSz="914400" rtl="0" eaLnBrk="1" latinLnBrk="0" hangingPunct="1">
                        <a:buNone/>
                      </a:pPr>
                      <a:r>
                        <a:rPr lang="en-US" sz="1800" kern="1200" dirty="0">
                          <a:solidFill>
                            <a:schemeClr val="dk1"/>
                          </a:solidFill>
                          <a:latin typeface="Courier New" panose="02070309020205020404" pitchFamily="49" charset="0"/>
                          <a:ea typeface="+mn-ea"/>
                          <a:cs typeface="+mn-cs"/>
                        </a:rPr>
                        <a:t>-XX:+</a:t>
                      </a:r>
                      <a:r>
                        <a:rPr lang="en-US" sz="1800" kern="1200" dirty="0" err="1">
                          <a:solidFill>
                            <a:schemeClr val="dk1"/>
                          </a:solidFill>
                          <a:latin typeface="Courier New" panose="02070309020205020404" pitchFamily="49" charset="0"/>
                          <a:ea typeface="+mn-ea"/>
                          <a:cs typeface="+mn-cs"/>
                        </a:rPr>
                        <a:t>ParallelRefProcEnabled</a:t>
                      </a:r>
                      <a:endParaRPr lang="en-US" sz="1800" kern="1200" dirty="0">
                        <a:solidFill>
                          <a:schemeClr val="dk1"/>
                        </a:solidFill>
                        <a:latin typeface="Courier New" panose="02070309020205020404" pitchFamily="49" charset="0"/>
                        <a:ea typeface="+mn-ea"/>
                        <a:cs typeface="+mn-cs"/>
                      </a:endParaRPr>
                    </a:p>
                  </a:txBody>
                  <a:tcPr anchor="ctr"/>
                </a:tc>
                <a:tc>
                  <a:txBody>
                    <a:bodyPr/>
                    <a:lstStyle/>
                    <a:p>
                      <a:pPr>
                        <a:buNone/>
                      </a:pPr>
                      <a:r>
                        <a:rPr lang="en-IN" dirty="0"/>
                        <a:t>Processes Parallel</a:t>
                      </a:r>
                      <a:endParaRPr lang="en-US" dirty="0"/>
                    </a:p>
                  </a:txBody>
                  <a:tcPr anchor="ctr"/>
                </a:tc>
                <a:extLst>
                  <a:ext uri="{0D108BD9-81ED-4DB2-BD59-A6C34878D82A}">
                    <a16:rowId xmlns:a16="http://schemas.microsoft.com/office/drawing/2014/main" val="2785347095"/>
                  </a:ext>
                </a:extLst>
              </a:tr>
              <a:tr h="370840">
                <a:tc>
                  <a:txBody>
                    <a:bodyPr/>
                    <a:lstStyle/>
                    <a:p>
                      <a:pPr marL="0" algn="l" defTabSz="914400" rtl="0" eaLnBrk="1" latinLnBrk="0" hangingPunct="1">
                        <a:buNone/>
                      </a:pPr>
                      <a:r>
                        <a:rPr lang="en-US" sz="1800" kern="1200" dirty="0">
                          <a:solidFill>
                            <a:schemeClr val="dk1"/>
                          </a:solidFill>
                          <a:latin typeface="Courier New" panose="02070309020205020404" pitchFamily="49" charset="0"/>
                          <a:ea typeface="+mn-ea"/>
                          <a:cs typeface="+mn-cs"/>
                        </a:rPr>
                        <a:t>-</a:t>
                      </a:r>
                      <a:r>
                        <a:rPr lang="en-US" sz="1800" kern="1200" dirty="0" err="1">
                          <a:solidFill>
                            <a:schemeClr val="dk1"/>
                          </a:solidFill>
                          <a:latin typeface="Courier New" panose="02070309020205020404" pitchFamily="49" charset="0"/>
                          <a:ea typeface="+mn-ea"/>
                          <a:cs typeface="+mn-cs"/>
                        </a:rPr>
                        <a:t>XX:ConcGCThreads</a:t>
                      </a:r>
                      <a:r>
                        <a:rPr lang="en-US" sz="1800" kern="1200" dirty="0">
                          <a:solidFill>
                            <a:schemeClr val="dk1"/>
                          </a:solidFill>
                          <a:latin typeface="Courier New" panose="02070309020205020404" pitchFamily="49" charset="0"/>
                          <a:ea typeface="+mn-ea"/>
                          <a:cs typeface="+mn-cs"/>
                        </a:rPr>
                        <a:t>=4</a:t>
                      </a:r>
                    </a:p>
                  </a:txBody>
                  <a:tcPr anchor="ctr"/>
                </a:tc>
                <a:tc>
                  <a:txBody>
                    <a:bodyPr/>
                    <a:lstStyle/>
                    <a:p>
                      <a:pPr>
                        <a:buNone/>
                      </a:pPr>
                      <a:r>
                        <a:rPr lang="en-IN" dirty="0"/>
                        <a:t>Threads used for concurrent marking – CPU Based</a:t>
                      </a:r>
                      <a:endParaRPr lang="en-US" dirty="0"/>
                    </a:p>
                  </a:txBody>
                  <a:tcPr anchor="ctr"/>
                </a:tc>
                <a:extLst>
                  <a:ext uri="{0D108BD9-81ED-4DB2-BD59-A6C34878D82A}">
                    <a16:rowId xmlns:a16="http://schemas.microsoft.com/office/drawing/2014/main" val="1728056925"/>
                  </a:ext>
                </a:extLst>
              </a:tr>
              <a:tr h="370840">
                <a:tc>
                  <a:txBody>
                    <a:bodyPr/>
                    <a:lstStyle/>
                    <a:p>
                      <a:pPr marL="0" algn="l" defTabSz="914400" rtl="0" eaLnBrk="1" latinLnBrk="0" hangingPunct="1">
                        <a:buNone/>
                      </a:pPr>
                      <a:r>
                        <a:rPr lang="en-US" sz="1800" kern="1200" dirty="0">
                          <a:solidFill>
                            <a:schemeClr val="dk1"/>
                          </a:solidFill>
                          <a:latin typeface="Courier New" panose="02070309020205020404" pitchFamily="49" charset="0"/>
                          <a:ea typeface="+mn-ea"/>
                          <a:cs typeface="+mn-cs"/>
                        </a:rPr>
                        <a:t>-</a:t>
                      </a:r>
                      <a:r>
                        <a:rPr lang="en-US" sz="1800" kern="1200" dirty="0" err="1">
                          <a:solidFill>
                            <a:schemeClr val="dk1"/>
                          </a:solidFill>
                          <a:latin typeface="Courier New" panose="02070309020205020404" pitchFamily="49" charset="0"/>
                          <a:ea typeface="+mn-ea"/>
                          <a:cs typeface="+mn-cs"/>
                        </a:rPr>
                        <a:t>XX:ParallelGCThreads</a:t>
                      </a:r>
                      <a:r>
                        <a:rPr lang="en-US" sz="1800" kern="1200" dirty="0">
                          <a:solidFill>
                            <a:schemeClr val="dk1"/>
                          </a:solidFill>
                          <a:latin typeface="Courier New" panose="02070309020205020404" pitchFamily="49" charset="0"/>
                          <a:ea typeface="+mn-ea"/>
                          <a:cs typeface="+mn-cs"/>
                        </a:rPr>
                        <a:t>=8</a:t>
                      </a:r>
                    </a:p>
                  </a:txBody>
                  <a:tcPr anchor="ctr"/>
                </a:tc>
                <a:tc>
                  <a:txBody>
                    <a:bodyPr/>
                    <a:lstStyle/>
                    <a:p>
                      <a:pPr>
                        <a:buNone/>
                      </a:pPr>
                      <a:r>
                        <a:rPr lang="en-IN" dirty="0"/>
                        <a:t>Threads used for Stop the world phases – CPU Based</a:t>
                      </a:r>
                      <a:endParaRPr lang="en-US" dirty="0"/>
                    </a:p>
                  </a:txBody>
                  <a:tcPr anchor="ctr"/>
                </a:tc>
                <a:extLst>
                  <a:ext uri="{0D108BD9-81ED-4DB2-BD59-A6C34878D82A}">
                    <a16:rowId xmlns:a16="http://schemas.microsoft.com/office/drawing/2014/main" val="1396635261"/>
                  </a:ext>
                </a:extLst>
              </a:tr>
              <a:tr h="370840">
                <a:tc>
                  <a:txBody>
                    <a:bodyPr/>
                    <a:lstStyle/>
                    <a:p>
                      <a:pPr marL="0" algn="l" defTabSz="914400" rtl="0" eaLnBrk="1" latinLnBrk="0" hangingPunct="1">
                        <a:buNone/>
                      </a:pPr>
                      <a:r>
                        <a:rPr lang="en-US" sz="1800" kern="1200" dirty="0">
                          <a:solidFill>
                            <a:schemeClr val="dk1"/>
                          </a:solidFill>
                          <a:latin typeface="Courier New" panose="02070309020205020404" pitchFamily="49" charset="0"/>
                          <a:ea typeface="+mn-ea"/>
                          <a:cs typeface="+mn-cs"/>
                        </a:rPr>
                        <a:t>-XX:+</a:t>
                      </a:r>
                      <a:r>
                        <a:rPr lang="en-US" sz="1800" kern="1200" dirty="0" err="1">
                          <a:solidFill>
                            <a:schemeClr val="dk1"/>
                          </a:solidFill>
                          <a:latin typeface="Courier New" panose="02070309020205020404" pitchFamily="49" charset="0"/>
                          <a:ea typeface="+mn-ea"/>
                          <a:cs typeface="+mn-cs"/>
                        </a:rPr>
                        <a:t>HeapDumpOnOutOfMemoryError</a:t>
                      </a:r>
                      <a:endParaRPr lang="en-US" sz="1800" kern="1200" dirty="0">
                        <a:solidFill>
                          <a:schemeClr val="dk1"/>
                        </a:solidFill>
                        <a:latin typeface="Courier New" panose="02070309020205020404" pitchFamily="49" charset="0"/>
                        <a:ea typeface="+mn-ea"/>
                        <a:cs typeface="+mn-cs"/>
                      </a:endParaRPr>
                    </a:p>
                  </a:txBody>
                  <a:tcPr anchor="ctr"/>
                </a:tc>
                <a:tc>
                  <a:txBody>
                    <a:bodyPr/>
                    <a:lstStyle/>
                    <a:p>
                      <a:pPr>
                        <a:buNone/>
                      </a:pPr>
                      <a:r>
                        <a:rPr lang="en-IN" dirty="0"/>
                        <a:t>Dumps heap to file</a:t>
                      </a:r>
                      <a:endParaRPr lang="en-US" dirty="0"/>
                    </a:p>
                  </a:txBody>
                  <a:tcPr anchor="ctr"/>
                </a:tc>
                <a:extLst>
                  <a:ext uri="{0D108BD9-81ED-4DB2-BD59-A6C34878D82A}">
                    <a16:rowId xmlns:a16="http://schemas.microsoft.com/office/drawing/2014/main" val="1665733022"/>
                  </a:ext>
                </a:extLst>
              </a:tr>
            </a:tbl>
          </a:graphicData>
        </a:graphic>
      </p:graphicFrame>
    </p:spTree>
    <p:extLst>
      <p:ext uri="{BB962C8B-B14F-4D97-AF65-F5344CB8AC3E}">
        <p14:creationId xmlns:p14="http://schemas.microsoft.com/office/powerpoint/2010/main" val="3163675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7AB376-A521-3962-9776-0983091B11ED}"/>
              </a:ext>
            </a:extLst>
          </p:cNvPr>
          <p:cNvSpPr>
            <a:spLocks noGrp="1"/>
          </p:cNvSpPr>
          <p:nvPr>
            <p:ph type="title"/>
          </p:nvPr>
        </p:nvSpPr>
        <p:spPr/>
        <p:txBody>
          <a:bodyPr/>
          <a:lstStyle/>
          <a:p>
            <a:r>
              <a:rPr lang="en-IN" dirty="0"/>
              <a:t>MCQ</a:t>
            </a:r>
            <a:endParaRPr lang="en-US" dirty="0"/>
          </a:p>
        </p:txBody>
      </p:sp>
      <p:sp>
        <p:nvSpPr>
          <p:cNvPr id="3" name="Content Placeholder 2">
            <a:extLst>
              <a:ext uri="{FF2B5EF4-FFF2-40B4-BE49-F238E27FC236}">
                <a16:creationId xmlns:a16="http://schemas.microsoft.com/office/drawing/2014/main" id="{72E98DF6-BFF1-FAFB-227E-33ED5285D951}"/>
              </a:ext>
            </a:extLst>
          </p:cNvPr>
          <p:cNvSpPr>
            <a:spLocks noGrp="1"/>
          </p:cNvSpPr>
          <p:nvPr>
            <p:ph idx="1"/>
          </p:nvPr>
        </p:nvSpPr>
        <p:spPr/>
        <p:txBody>
          <a:bodyPr>
            <a:normAutofit fontScale="77500" lnSpcReduction="20000"/>
          </a:bodyPr>
          <a:lstStyle/>
          <a:p>
            <a:r>
              <a:rPr lang="en-US" b="1" dirty="0"/>
              <a:t>1. Which is the correct sequence of major G1 GC phases?</a:t>
            </a:r>
          </a:p>
          <a:p>
            <a:pPr marL="914400" lvl="1" indent="-457200">
              <a:buFont typeface="+mj-lt"/>
              <a:buAutoNum type="alphaUcPeriod"/>
            </a:pPr>
            <a:r>
              <a:rPr lang="en-US" dirty="0"/>
              <a:t>Young GC → Full GC → Mixed GC</a:t>
            </a:r>
          </a:p>
          <a:p>
            <a:pPr marL="914400" lvl="1" indent="-457200">
              <a:buFont typeface="+mj-lt"/>
              <a:buAutoNum type="alphaUcPeriod"/>
            </a:pPr>
            <a:r>
              <a:rPr lang="en-US" dirty="0"/>
              <a:t>Initial Mark → Concurrent Mark → Remark → Cleanup</a:t>
            </a:r>
          </a:p>
          <a:p>
            <a:pPr marL="914400" lvl="1" indent="-457200">
              <a:buFont typeface="+mj-lt"/>
              <a:buAutoNum type="alphaUcPeriod"/>
            </a:pPr>
            <a:r>
              <a:rPr lang="en-US" dirty="0"/>
              <a:t>Mark → Sweep → Compact</a:t>
            </a:r>
          </a:p>
          <a:p>
            <a:pPr marL="914400" lvl="1" indent="-457200">
              <a:buFont typeface="+mj-lt"/>
              <a:buAutoNum type="alphaUcPeriod"/>
            </a:pPr>
            <a:r>
              <a:rPr lang="en-US" dirty="0"/>
              <a:t>Eden → Survivor → Old</a:t>
            </a:r>
          </a:p>
          <a:p>
            <a:pPr lvl="1"/>
            <a:r>
              <a:rPr lang="en-US" b="1" dirty="0"/>
              <a:t>Correct Answer:</a:t>
            </a:r>
            <a:r>
              <a:rPr lang="en-US" dirty="0"/>
              <a:t> B</a:t>
            </a:r>
            <a:br>
              <a:rPr lang="en-US" dirty="0"/>
            </a:br>
            <a:r>
              <a:rPr lang="en-US" b="1" dirty="0"/>
              <a:t>Explanation:</a:t>
            </a:r>
            <a:r>
              <a:rPr lang="en-US" dirty="0"/>
              <a:t> G1 follows a marking cycle: Initial Mark → Concurrent Mark → Remark → Cleanup.</a:t>
            </a:r>
          </a:p>
          <a:p>
            <a:r>
              <a:rPr lang="en-GB" b="1" dirty="0"/>
              <a:t>2. What happens during the “Initial Mark” phase in G1 GC?</a:t>
            </a:r>
          </a:p>
          <a:p>
            <a:pPr marL="914400" lvl="1" indent="-457200">
              <a:buFont typeface="+mj-lt"/>
              <a:buAutoNum type="alphaUcPeriod"/>
            </a:pPr>
            <a:r>
              <a:rPr lang="en-GB" sz="2500" dirty="0"/>
              <a:t>Entire heap is scanned</a:t>
            </a:r>
          </a:p>
          <a:p>
            <a:pPr marL="914400" lvl="1" indent="-457200">
              <a:buFont typeface="+mj-lt"/>
              <a:buAutoNum type="alphaUcPeriod"/>
            </a:pPr>
            <a:r>
              <a:rPr lang="en-GB" sz="2500" dirty="0"/>
              <a:t>Only survivor regions are cleaned</a:t>
            </a:r>
          </a:p>
          <a:p>
            <a:pPr marL="914400" lvl="1" indent="-457200">
              <a:buFont typeface="+mj-lt"/>
              <a:buAutoNum type="alphaUcPeriod"/>
            </a:pPr>
            <a:r>
              <a:rPr lang="en-GB" sz="2500" dirty="0"/>
              <a:t>Objects directly reachable from GC roots are marked</a:t>
            </a:r>
          </a:p>
          <a:p>
            <a:pPr marL="914400" lvl="1" indent="-457200">
              <a:buFont typeface="+mj-lt"/>
              <a:buAutoNum type="alphaUcPeriod"/>
            </a:pPr>
            <a:r>
              <a:rPr lang="en-GB" sz="2500" dirty="0"/>
              <a:t>Heap is compacted</a:t>
            </a:r>
          </a:p>
          <a:p>
            <a:pPr lvl="1"/>
            <a:r>
              <a:rPr lang="en-GB" b="1" dirty="0"/>
              <a:t>Correct Answer:</a:t>
            </a:r>
            <a:r>
              <a:rPr lang="en-GB" dirty="0"/>
              <a:t> C</a:t>
            </a:r>
            <a:br>
              <a:rPr lang="en-GB" dirty="0"/>
            </a:br>
            <a:r>
              <a:rPr lang="en-GB" b="1" dirty="0"/>
              <a:t>Explanation:</a:t>
            </a:r>
            <a:r>
              <a:rPr lang="en-GB" dirty="0"/>
              <a:t> Initial Mark identifies objects directly reachable from GC roots (usually STW but short).</a:t>
            </a:r>
          </a:p>
          <a:p>
            <a:endParaRPr lang="en-US" dirty="0"/>
          </a:p>
        </p:txBody>
      </p:sp>
    </p:spTree>
    <p:extLst>
      <p:ext uri="{BB962C8B-B14F-4D97-AF65-F5344CB8AC3E}">
        <p14:creationId xmlns:p14="http://schemas.microsoft.com/office/powerpoint/2010/main" val="533521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EAA59-30D6-5D5B-EF20-253A4B288D86}"/>
              </a:ext>
            </a:extLst>
          </p:cNvPr>
          <p:cNvSpPr>
            <a:spLocks noGrp="1"/>
          </p:cNvSpPr>
          <p:nvPr>
            <p:ph type="title"/>
          </p:nvPr>
        </p:nvSpPr>
        <p:spPr/>
        <p:txBody>
          <a:bodyPr/>
          <a:lstStyle/>
          <a:p>
            <a:r>
              <a:rPr lang="en-IN" dirty="0"/>
              <a:t>MCQ</a:t>
            </a:r>
            <a:endParaRPr lang="en-US" dirty="0"/>
          </a:p>
        </p:txBody>
      </p:sp>
      <p:sp>
        <p:nvSpPr>
          <p:cNvPr id="3" name="Content Placeholder 2">
            <a:extLst>
              <a:ext uri="{FF2B5EF4-FFF2-40B4-BE49-F238E27FC236}">
                <a16:creationId xmlns:a16="http://schemas.microsoft.com/office/drawing/2014/main" id="{BA9E2474-1F32-6253-ED61-D29E1C9F96AA}"/>
              </a:ext>
            </a:extLst>
          </p:cNvPr>
          <p:cNvSpPr>
            <a:spLocks noGrp="1"/>
          </p:cNvSpPr>
          <p:nvPr>
            <p:ph idx="1"/>
          </p:nvPr>
        </p:nvSpPr>
        <p:spPr/>
        <p:txBody>
          <a:bodyPr>
            <a:normAutofit fontScale="85000" lnSpcReduction="20000"/>
          </a:bodyPr>
          <a:lstStyle/>
          <a:p>
            <a:pPr marL="0" indent="0">
              <a:buNone/>
            </a:pPr>
            <a:r>
              <a:rPr lang="en-GB" b="1" dirty="0"/>
              <a:t>3. What is special about the “Concurrent Mark” phase?</a:t>
            </a:r>
          </a:p>
          <a:p>
            <a:pPr marL="914400" lvl="1" indent="-457200">
              <a:buFont typeface="+mj-lt"/>
              <a:buAutoNum type="alphaUcPeriod"/>
            </a:pPr>
            <a:r>
              <a:rPr lang="en-GB" dirty="0"/>
              <a:t>Runs only during Full GC</a:t>
            </a:r>
          </a:p>
          <a:p>
            <a:pPr marL="914400" lvl="1" indent="-457200">
              <a:buFont typeface="+mj-lt"/>
              <a:buAutoNum type="alphaUcPeriod"/>
            </a:pPr>
            <a:r>
              <a:rPr lang="en-GB" dirty="0"/>
              <a:t>Runs in parallel with application threads</a:t>
            </a:r>
          </a:p>
          <a:p>
            <a:pPr marL="914400" lvl="1" indent="-457200">
              <a:buFont typeface="+mj-lt"/>
              <a:buAutoNum type="alphaUcPeriod"/>
            </a:pPr>
            <a:r>
              <a:rPr lang="en-GB" dirty="0"/>
              <a:t>Stops all application threads</a:t>
            </a:r>
          </a:p>
          <a:p>
            <a:pPr marL="914400" lvl="1" indent="-457200">
              <a:buFont typeface="+mj-lt"/>
              <a:buAutoNum type="alphaUcPeriod"/>
            </a:pPr>
            <a:r>
              <a:rPr lang="en-GB" dirty="0"/>
              <a:t>Cleans only young generation</a:t>
            </a:r>
          </a:p>
          <a:p>
            <a:pPr lvl="1"/>
            <a:r>
              <a:rPr lang="en-GB" b="1" dirty="0"/>
              <a:t>Correct Answer:</a:t>
            </a:r>
            <a:r>
              <a:rPr lang="en-GB" dirty="0"/>
              <a:t> B</a:t>
            </a:r>
            <a:br>
              <a:rPr lang="en-GB" dirty="0"/>
            </a:br>
            <a:r>
              <a:rPr lang="en-GB" b="1" dirty="0"/>
              <a:t>Explanation:</a:t>
            </a:r>
            <a:r>
              <a:rPr lang="en-GB" dirty="0"/>
              <a:t> This phase runs concurrently with the application to reduce pause times.</a:t>
            </a:r>
          </a:p>
          <a:p>
            <a:r>
              <a:rPr lang="en-GB" b="1" dirty="0"/>
              <a:t>4. Why is the “Remark” phase required in G1 GC?</a:t>
            </a:r>
          </a:p>
          <a:p>
            <a:pPr marL="914400" lvl="1" indent="-457200">
              <a:buFont typeface="+mj-lt"/>
              <a:buAutoNum type="alphaUcPeriod"/>
            </a:pPr>
            <a:r>
              <a:rPr lang="en-GB" dirty="0"/>
              <a:t>To allocate new objects</a:t>
            </a:r>
          </a:p>
          <a:p>
            <a:pPr marL="914400" lvl="1" indent="-457200">
              <a:buFont typeface="+mj-lt"/>
              <a:buAutoNum type="alphaUcPeriod"/>
            </a:pPr>
            <a:r>
              <a:rPr lang="en-GB" dirty="0"/>
              <a:t>To finalize marking and catch changes during concurrent phase</a:t>
            </a:r>
          </a:p>
          <a:p>
            <a:pPr marL="914400" lvl="1" indent="-457200">
              <a:buFont typeface="+mj-lt"/>
              <a:buAutoNum type="alphaUcPeriod"/>
            </a:pPr>
            <a:r>
              <a:rPr lang="en-GB" dirty="0"/>
              <a:t>To compact entire heap</a:t>
            </a:r>
          </a:p>
          <a:p>
            <a:pPr marL="914400" lvl="1" indent="-457200">
              <a:buFont typeface="+mj-lt"/>
              <a:buAutoNum type="alphaUcPeriod"/>
            </a:pPr>
            <a:r>
              <a:rPr lang="en-GB" dirty="0"/>
              <a:t>To clean only Eden space</a:t>
            </a:r>
          </a:p>
          <a:p>
            <a:pPr lvl="1"/>
            <a:r>
              <a:rPr lang="en-GB" b="1" dirty="0"/>
              <a:t>Correct Answer:</a:t>
            </a:r>
            <a:r>
              <a:rPr lang="en-GB" dirty="0"/>
              <a:t> B</a:t>
            </a:r>
            <a:br>
              <a:rPr lang="en-GB" dirty="0"/>
            </a:br>
            <a:r>
              <a:rPr lang="en-GB" b="1" dirty="0"/>
              <a:t>Explanation:</a:t>
            </a:r>
            <a:r>
              <a:rPr lang="en-GB" dirty="0"/>
              <a:t> It corrects any changes made by application threads during concurrent marking.</a:t>
            </a:r>
          </a:p>
        </p:txBody>
      </p:sp>
    </p:spTree>
    <p:extLst>
      <p:ext uri="{BB962C8B-B14F-4D97-AF65-F5344CB8AC3E}">
        <p14:creationId xmlns:p14="http://schemas.microsoft.com/office/powerpoint/2010/main" val="35112420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7DD5B5-8112-E025-C560-4C5D4C8554EA}"/>
              </a:ext>
            </a:extLst>
          </p:cNvPr>
          <p:cNvSpPr>
            <a:spLocks noGrp="1"/>
          </p:cNvSpPr>
          <p:nvPr>
            <p:ph type="title"/>
          </p:nvPr>
        </p:nvSpPr>
        <p:spPr/>
        <p:txBody>
          <a:bodyPr/>
          <a:lstStyle/>
          <a:p>
            <a:r>
              <a:rPr lang="en-IN" dirty="0"/>
              <a:t>MCQ</a:t>
            </a:r>
            <a:endParaRPr lang="en-US" dirty="0"/>
          </a:p>
        </p:txBody>
      </p:sp>
      <p:sp>
        <p:nvSpPr>
          <p:cNvPr id="3" name="Content Placeholder 2">
            <a:extLst>
              <a:ext uri="{FF2B5EF4-FFF2-40B4-BE49-F238E27FC236}">
                <a16:creationId xmlns:a16="http://schemas.microsoft.com/office/drawing/2014/main" id="{71BC2739-718F-6284-50F1-319BB0CE4260}"/>
              </a:ext>
            </a:extLst>
          </p:cNvPr>
          <p:cNvSpPr>
            <a:spLocks noGrp="1"/>
          </p:cNvSpPr>
          <p:nvPr>
            <p:ph idx="1"/>
          </p:nvPr>
        </p:nvSpPr>
        <p:spPr/>
        <p:txBody>
          <a:bodyPr/>
          <a:lstStyle/>
          <a:p>
            <a:r>
              <a:rPr lang="en-GB" b="1" dirty="0"/>
              <a:t>5. What is the purpose of the “Cleanup” phase?</a:t>
            </a:r>
          </a:p>
          <a:p>
            <a:pPr lvl="1"/>
            <a:r>
              <a:rPr lang="en-GB" dirty="0"/>
              <a:t>Move objects between threads</a:t>
            </a:r>
          </a:p>
          <a:p>
            <a:pPr lvl="1"/>
            <a:r>
              <a:rPr lang="en-GB" dirty="0"/>
              <a:t>Identify empty regions and prepare for evacuation</a:t>
            </a:r>
          </a:p>
          <a:p>
            <a:pPr lvl="1"/>
            <a:r>
              <a:rPr lang="en-GB" dirty="0"/>
              <a:t>Stop application completely</a:t>
            </a:r>
          </a:p>
          <a:p>
            <a:pPr lvl="1"/>
            <a:r>
              <a:rPr lang="en-GB" dirty="0"/>
              <a:t>Allocate new heap</a:t>
            </a:r>
          </a:p>
          <a:p>
            <a:pPr lvl="1"/>
            <a:r>
              <a:rPr lang="en-GB" b="1" dirty="0"/>
              <a:t>Correct Answer:</a:t>
            </a:r>
            <a:r>
              <a:rPr lang="en-GB" dirty="0"/>
              <a:t> B</a:t>
            </a:r>
            <a:br>
              <a:rPr lang="en-GB" dirty="0"/>
            </a:br>
            <a:r>
              <a:rPr lang="en-GB" b="1" dirty="0"/>
              <a:t>Explanation:</a:t>
            </a:r>
            <a:r>
              <a:rPr lang="en-GB" dirty="0"/>
              <a:t> Cleanup identifies unused regions and helps plan future collections.</a:t>
            </a:r>
          </a:p>
          <a:p>
            <a:endParaRPr lang="en-US" dirty="0"/>
          </a:p>
        </p:txBody>
      </p:sp>
    </p:spTree>
    <p:extLst>
      <p:ext uri="{BB962C8B-B14F-4D97-AF65-F5344CB8AC3E}">
        <p14:creationId xmlns:p14="http://schemas.microsoft.com/office/powerpoint/2010/main" val="3398372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37.xml><?xml version="1.0" encoding="utf-8"?>
<p:sld xmlns:a="http://schemas.openxmlformats.org/drawingml/2006/main" xmlns:r="http://schemas.openxmlformats.org/officeDocument/2006/relationships" xmlns:p="http://schemas.openxmlformats.org/presentationml/2006/main">
  <p:cSld>
    <p:bg>
      <p:bgPr>
        <a:solidFill>
          <a:schemeClr val="accent5">
            <a:lumMod val="60000"/>
            <a:lumOff val="4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1E5248-E2F8-5E84-049B-36DA99ECC92C}"/>
              </a:ext>
            </a:extLst>
          </p:cNvPr>
          <p:cNvSpPr>
            <a:spLocks noGrp="1"/>
          </p:cNvSpPr>
          <p:nvPr>
            <p:ph type="title"/>
          </p:nvPr>
        </p:nvSpPr>
        <p:spPr/>
        <p:txBody>
          <a:bodyPr/>
          <a:lstStyle/>
          <a:p>
            <a:r>
              <a:rPr lang="en-GB" dirty="0"/>
              <a:t>Session 5 : Profiling &amp; Application Diagnostics</a:t>
            </a:r>
            <a:endParaRPr lang="en-US" dirty="0"/>
          </a:p>
        </p:txBody>
      </p:sp>
      <p:sp>
        <p:nvSpPr>
          <p:cNvPr id="3" name="Content Placeholder 2">
            <a:extLst>
              <a:ext uri="{FF2B5EF4-FFF2-40B4-BE49-F238E27FC236}">
                <a16:creationId xmlns:a16="http://schemas.microsoft.com/office/drawing/2014/main" id="{A2EDB197-C1F5-1C78-63CC-5A7DD2E2C71B}"/>
              </a:ext>
            </a:extLst>
          </p:cNvPr>
          <p:cNvSpPr>
            <a:spLocks noGrp="1"/>
          </p:cNvSpPr>
          <p:nvPr>
            <p:ph idx="1"/>
          </p:nvPr>
        </p:nvSpPr>
        <p:spPr/>
        <p:txBody>
          <a:bodyPr/>
          <a:lstStyle/>
          <a:p>
            <a:r>
              <a:rPr lang="en-GB" dirty="0"/>
              <a:t>Session Objective</a:t>
            </a:r>
          </a:p>
          <a:p>
            <a:pPr lvl="1"/>
            <a:r>
              <a:rPr lang="en-GB" dirty="0"/>
              <a:t>Understand how to </a:t>
            </a:r>
            <a:r>
              <a:rPr lang="en-GB" b="1" dirty="0"/>
              <a:t>analyse performance issue using profiles</a:t>
            </a:r>
          </a:p>
          <a:p>
            <a:pPr lvl="1"/>
            <a:r>
              <a:rPr lang="en-GB" dirty="0"/>
              <a:t>Identify </a:t>
            </a:r>
            <a:r>
              <a:rPr lang="en-GB" b="1" dirty="0"/>
              <a:t>CPU hotspots and bottlenecks</a:t>
            </a:r>
          </a:p>
          <a:p>
            <a:pPr lvl="1"/>
            <a:r>
              <a:rPr lang="en-GB" dirty="0"/>
              <a:t>Detect </a:t>
            </a:r>
            <a:r>
              <a:rPr lang="en-GB" b="1" dirty="0"/>
              <a:t>memory leaks using heap analysis</a:t>
            </a:r>
          </a:p>
          <a:p>
            <a:pPr lvl="1"/>
            <a:r>
              <a:rPr lang="en-GB" dirty="0"/>
              <a:t>Analyse </a:t>
            </a:r>
            <a:r>
              <a:rPr lang="en-GB" b="1" dirty="0"/>
              <a:t>threads states, deadlocks and contention</a:t>
            </a:r>
          </a:p>
          <a:p>
            <a:pPr lvl="1"/>
            <a:r>
              <a:rPr lang="en-GB" dirty="0"/>
              <a:t>Diagnose </a:t>
            </a:r>
            <a:r>
              <a:rPr lang="en-GB" b="1" dirty="0"/>
              <a:t>I/O and latency issues</a:t>
            </a:r>
          </a:p>
          <a:p>
            <a:pPr lvl="1"/>
            <a:r>
              <a:rPr lang="en-GB" dirty="0"/>
              <a:t>Use tools like </a:t>
            </a:r>
            <a:r>
              <a:rPr lang="en-GB" b="1" dirty="0"/>
              <a:t>JFR, JMC, </a:t>
            </a:r>
            <a:r>
              <a:rPr lang="en-GB" b="1" dirty="0" err="1"/>
              <a:t>VisualVM</a:t>
            </a:r>
            <a:r>
              <a:rPr lang="en-GB" b="1" dirty="0"/>
              <a:t>, </a:t>
            </a:r>
            <a:r>
              <a:rPr lang="en-GB" b="1" dirty="0" err="1"/>
              <a:t>jstack</a:t>
            </a:r>
            <a:endParaRPr lang="en-US" b="1" dirty="0"/>
          </a:p>
        </p:txBody>
      </p:sp>
    </p:spTree>
    <p:extLst>
      <p:ext uri="{BB962C8B-B14F-4D97-AF65-F5344CB8AC3E}">
        <p14:creationId xmlns:p14="http://schemas.microsoft.com/office/powerpoint/2010/main" val="141330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8.xml><?xml version="1.0" encoding="utf-8"?>
<p:sld xmlns:a="http://schemas.openxmlformats.org/drawingml/2006/main" xmlns:r="http://schemas.openxmlformats.org/officeDocument/2006/relationships" xmlns:p="http://schemas.openxmlformats.org/presentationml/2006/main">
  <p:cSld>
    <p:bg>
      <p:bgPr>
        <a:solidFill>
          <a:schemeClr val="accent5">
            <a:lumMod val="60000"/>
            <a:lumOff val="4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D5197-FAF8-A3E9-7CE3-6A083A8E9BC0}"/>
              </a:ext>
            </a:extLst>
          </p:cNvPr>
          <p:cNvSpPr>
            <a:spLocks noGrp="1"/>
          </p:cNvSpPr>
          <p:nvPr>
            <p:ph type="title"/>
          </p:nvPr>
        </p:nvSpPr>
        <p:spPr/>
        <p:txBody>
          <a:bodyPr/>
          <a:lstStyle/>
          <a:p>
            <a:r>
              <a:rPr lang="en-GB" dirty="0"/>
              <a:t>What is Profiling ?</a:t>
            </a:r>
            <a:endParaRPr lang="en-US" dirty="0"/>
          </a:p>
        </p:txBody>
      </p:sp>
      <p:sp>
        <p:nvSpPr>
          <p:cNvPr id="3" name="Content Placeholder 2">
            <a:extLst>
              <a:ext uri="{FF2B5EF4-FFF2-40B4-BE49-F238E27FC236}">
                <a16:creationId xmlns:a16="http://schemas.microsoft.com/office/drawing/2014/main" id="{DEC1CDF6-E897-F716-414D-097905AEB5F1}"/>
              </a:ext>
            </a:extLst>
          </p:cNvPr>
          <p:cNvSpPr>
            <a:spLocks noGrp="1"/>
          </p:cNvSpPr>
          <p:nvPr>
            <p:ph idx="1"/>
          </p:nvPr>
        </p:nvSpPr>
        <p:spPr/>
        <p:txBody>
          <a:bodyPr/>
          <a:lstStyle/>
          <a:p>
            <a:r>
              <a:rPr lang="en-GB" dirty="0"/>
              <a:t>Application is slow… Where is the problem ?</a:t>
            </a:r>
          </a:p>
          <a:p>
            <a:pPr lvl="1"/>
            <a:r>
              <a:rPr lang="en-GB" dirty="0"/>
              <a:t>Code ?</a:t>
            </a:r>
          </a:p>
          <a:p>
            <a:pPr lvl="1"/>
            <a:r>
              <a:rPr lang="en-GB" dirty="0"/>
              <a:t>GC ?</a:t>
            </a:r>
          </a:p>
          <a:p>
            <a:pPr lvl="1"/>
            <a:r>
              <a:rPr lang="en-GB" dirty="0"/>
              <a:t>Threads ?</a:t>
            </a:r>
          </a:p>
          <a:p>
            <a:pPr lvl="1"/>
            <a:r>
              <a:rPr lang="en-GB" dirty="0"/>
              <a:t>Database ?</a:t>
            </a:r>
          </a:p>
          <a:p>
            <a:r>
              <a:rPr lang="en-GB" dirty="0"/>
              <a:t>Profiling = Finding truth using data</a:t>
            </a:r>
          </a:p>
          <a:p>
            <a:r>
              <a:rPr lang="en-GB" dirty="0"/>
              <a:t>Profiling = Measuring runtime behaviour</a:t>
            </a:r>
          </a:p>
          <a:p>
            <a:r>
              <a:rPr lang="en-GB" dirty="0"/>
              <a:t>Removes guesswork</a:t>
            </a:r>
          </a:p>
          <a:p>
            <a:r>
              <a:rPr lang="en-GB" dirty="0"/>
              <a:t>Without profiling, performance tuning is just guessing</a:t>
            </a:r>
            <a:endParaRPr lang="en-US" dirty="0"/>
          </a:p>
        </p:txBody>
      </p:sp>
    </p:spTree>
    <p:extLst>
      <p:ext uri="{BB962C8B-B14F-4D97-AF65-F5344CB8AC3E}">
        <p14:creationId xmlns:p14="http://schemas.microsoft.com/office/powerpoint/2010/main" val="2960429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39.xml><?xml version="1.0" encoding="utf-8"?>
<p:sld xmlns:a="http://schemas.openxmlformats.org/drawingml/2006/main" xmlns:r="http://schemas.openxmlformats.org/officeDocument/2006/relationships" xmlns:p="http://schemas.openxmlformats.org/presentationml/2006/main">
  <p:cSld>
    <p:bg>
      <p:bgPr>
        <a:solidFill>
          <a:schemeClr val="accent5">
            <a:lumMod val="60000"/>
            <a:lumOff val="4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4ECE73-A431-1D82-7C3E-745763D4B598}"/>
              </a:ext>
            </a:extLst>
          </p:cNvPr>
          <p:cNvSpPr>
            <a:spLocks noGrp="1"/>
          </p:cNvSpPr>
          <p:nvPr>
            <p:ph type="title"/>
          </p:nvPr>
        </p:nvSpPr>
        <p:spPr/>
        <p:txBody>
          <a:bodyPr/>
          <a:lstStyle/>
          <a:p>
            <a:r>
              <a:rPr lang="en-GB" dirty="0"/>
              <a:t>Types of Profiling</a:t>
            </a:r>
            <a:endParaRPr lang="en-US" dirty="0"/>
          </a:p>
        </p:txBody>
      </p:sp>
      <p:sp>
        <p:nvSpPr>
          <p:cNvPr id="3" name="Content Placeholder 2">
            <a:extLst>
              <a:ext uri="{FF2B5EF4-FFF2-40B4-BE49-F238E27FC236}">
                <a16:creationId xmlns:a16="http://schemas.microsoft.com/office/drawing/2014/main" id="{6EE7F97A-E949-1845-4CD8-EB607D1847C9}"/>
              </a:ext>
            </a:extLst>
          </p:cNvPr>
          <p:cNvSpPr>
            <a:spLocks noGrp="1"/>
          </p:cNvSpPr>
          <p:nvPr>
            <p:ph idx="1"/>
          </p:nvPr>
        </p:nvSpPr>
        <p:spPr/>
        <p:txBody>
          <a:bodyPr>
            <a:normAutofit fontScale="92500" lnSpcReduction="20000"/>
          </a:bodyPr>
          <a:lstStyle/>
          <a:p>
            <a:r>
              <a:rPr lang="en-GB" dirty="0"/>
              <a:t>CPU Profiling</a:t>
            </a:r>
          </a:p>
          <a:p>
            <a:pPr lvl="1"/>
            <a:r>
              <a:rPr lang="en-GB" dirty="0"/>
              <a:t>Finds hot methods</a:t>
            </a:r>
          </a:p>
          <a:p>
            <a:pPr lvl="1"/>
            <a:r>
              <a:rPr lang="en-GB" dirty="0"/>
              <a:t>Answers : which method is consuming time</a:t>
            </a:r>
          </a:p>
          <a:p>
            <a:r>
              <a:rPr lang="en-GB" dirty="0"/>
              <a:t>Memory Profiling</a:t>
            </a:r>
          </a:p>
          <a:p>
            <a:pPr lvl="1"/>
            <a:r>
              <a:rPr lang="en-GB" dirty="0"/>
              <a:t>Detects memory leaks and large objects </a:t>
            </a:r>
          </a:p>
          <a:p>
            <a:pPr lvl="1"/>
            <a:r>
              <a:rPr lang="en-GB" dirty="0"/>
              <a:t>Why memory is not getting freed ?</a:t>
            </a:r>
          </a:p>
          <a:p>
            <a:r>
              <a:rPr lang="en-GB" dirty="0"/>
              <a:t>Thread Profiling</a:t>
            </a:r>
          </a:p>
          <a:p>
            <a:pPr lvl="1"/>
            <a:r>
              <a:rPr lang="en-GB" dirty="0"/>
              <a:t>Detects Deadlocks, Blocking, Contention</a:t>
            </a:r>
          </a:p>
          <a:p>
            <a:r>
              <a:rPr lang="en-GB" dirty="0"/>
              <a:t>I/O Profiling</a:t>
            </a:r>
          </a:p>
          <a:p>
            <a:pPr lvl="1"/>
            <a:r>
              <a:rPr lang="en-GB" dirty="0"/>
              <a:t>Detects DB latency</a:t>
            </a:r>
          </a:p>
          <a:p>
            <a:pPr lvl="1"/>
            <a:r>
              <a:rPr lang="en-GB" dirty="0"/>
              <a:t>API delays</a:t>
            </a:r>
          </a:p>
          <a:p>
            <a:pPr lvl="1"/>
            <a:r>
              <a:rPr lang="en-US" dirty="0"/>
              <a:t>Answers : Why app is slow but CPU is low ?</a:t>
            </a:r>
          </a:p>
        </p:txBody>
      </p:sp>
    </p:spTree>
    <p:extLst>
      <p:ext uri="{BB962C8B-B14F-4D97-AF65-F5344CB8AC3E}">
        <p14:creationId xmlns:p14="http://schemas.microsoft.com/office/powerpoint/2010/main" val="2701827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40.xml><?xml version="1.0" encoding="utf-8"?>
<p:sld xmlns:a="http://schemas.openxmlformats.org/drawingml/2006/main" xmlns:r="http://schemas.openxmlformats.org/officeDocument/2006/relationships" xmlns:p="http://schemas.openxmlformats.org/presentationml/2006/main">
  <p:cSld>
    <p:bg>
      <p:bgPr>
        <a:solidFill>
          <a:schemeClr val="accent5">
            <a:lumMod val="60000"/>
            <a:lumOff val="4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52DFE4-AC00-7643-1EF6-FD5052E4725A}"/>
              </a:ext>
            </a:extLst>
          </p:cNvPr>
          <p:cNvSpPr>
            <a:spLocks noGrp="1"/>
          </p:cNvSpPr>
          <p:nvPr>
            <p:ph type="title"/>
          </p:nvPr>
        </p:nvSpPr>
        <p:spPr/>
        <p:txBody>
          <a:bodyPr/>
          <a:lstStyle/>
          <a:p>
            <a:r>
              <a:rPr lang="en-GB" dirty="0"/>
              <a:t>Observations in JMC</a:t>
            </a:r>
            <a:endParaRPr lang="en-US" dirty="0"/>
          </a:p>
        </p:txBody>
      </p:sp>
      <p:pic>
        <p:nvPicPr>
          <p:cNvPr id="9" name="Content Placeholder 8">
            <a:extLst>
              <a:ext uri="{FF2B5EF4-FFF2-40B4-BE49-F238E27FC236}">
                <a16:creationId xmlns:a16="http://schemas.microsoft.com/office/drawing/2014/main" id="{A0F0FABF-404D-0E93-32C4-E2A55BC585FF}"/>
              </a:ext>
            </a:extLst>
          </p:cNvPr>
          <p:cNvPicPr>
            <a:picLocks noGrp="1" noChangeAspect="1"/>
          </p:cNvPicPr>
          <p:nvPr>
            <p:ph idx="1"/>
          </p:nvPr>
        </p:nvPicPr>
        <p:blipFill>
          <a:blip r:embed="rId2"/>
          <a:stretch>
            <a:fillRect/>
          </a:stretch>
        </p:blipFill>
        <p:spPr>
          <a:xfrm>
            <a:off x="226817" y="1562770"/>
            <a:ext cx="11659640" cy="2046062"/>
          </a:xfrm>
          <a:prstGeom prst="rect">
            <a:avLst/>
          </a:prstGeom>
        </p:spPr>
      </p:pic>
      <p:sp>
        <p:nvSpPr>
          <p:cNvPr id="10" name="TextBox 9">
            <a:extLst>
              <a:ext uri="{FF2B5EF4-FFF2-40B4-BE49-F238E27FC236}">
                <a16:creationId xmlns:a16="http://schemas.microsoft.com/office/drawing/2014/main" id="{A4B92FAB-73F9-C8B6-F09D-59778B6994FC}"/>
              </a:ext>
            </a:extLst>
          </p:cNvPr>
          <p:cNvSpPr txBox="1"/>
          <p:nvPr/>
        </p:nvSpPr>
        <p:spPr>
          <a:xfrm>
            <a:off x="838200" y="3724025"/>
            <a:ext cx="7183761" cy="2862322"/>
          </a:xfrm>
          <a:prstGeom prst="rect">
            <a:avLst/>
          </a:prstGeom>
          <a:noFill/>
        </p:spPr>
        <p:txBody>
          <a:bodyPr wrap="none" rtlCol="0">
            <a:spAutoFit/>
          </a:bodyPr>
          <a:lstStyle/>
          <a:p>
            <a:pPr marL="285750" indent="-285750">
              <a:buFont typeface="Arial" panose="020B0604020202020204" pitchFamily="34" charset="0"/>
              <a:buChar char="•"/>
            </a:pPr>
            <a:r>
              <a:rPr lang="en-US" dirty="0"/>
              <a:t>Memory: Allocated Classes</a:t>
            </a:r>
          </a:p>
          <a:p>
            <a:pPr marL="742950" lvl="1" indent="-285750">
              <a:buFont typeface="Arial" panose="020B0604020202020204" pitchFamily="34" charset="0"/>
              <a:buChar char="•"/>
            </a:pPr>
            <a:r>
              <a:rPr lang="en-US" dirty="0"/>
              <a:t>Most allocated type : byte []</a:t>
            </a:r>
          </a:p>
          <a:p>
            <a:pPr marL="742950" lvl="1" indent="-285750">
              <a:buFont typeface="Arial" panose="020B0604020202020204" pitchFamily="34" charset="0"/>
              <a:buChar char="•"/>
            </a:pPr>
            <a:r>
              <a:rPr lang="en-US" dirty="0"/>
              <a:t>Coming from </a:t>
            </a:r>
            <a:r>
              <a:rPr lang="en-US" dirty="0" err="1"/>
              <a:t>AccountService.createGarbage</a:t>
            </a:r>
            <a:r>
              <a:rPr lang="en-US" dirty="0"/>
              <a:t>() and </a:t>
            </a:r>
            <a:r>
              <a:rPr lang="en-US" dirty="0" err="1"/>
              <a:t>createAccount</a:t>
            </a:r>
            <a:r>
              <a:rPr lang="en-US" dirty="0"/>
              <a:t>()</a:t>
            </a:r>
          </a:p>
          <a:p>
            <a:pPr marL="285750" indent="-285750">
              <a:buFont typeface="Arial" panose="020B0604020202020204" pitchFamily="34" charset="0"/>
              <a:buChar char="•"/>
            </a:pPr>
            <a:r>
              <a:rPr lang="en-US" dirty="0"/>
              <a:t>What it means</a:t>
            </a:r>
          </a:p>
          <a:p>
            <a:pPr marL="742950" lvl="1" indent="-285750">
              <a:buFont typeface="Arial" panose="020B0604020202020204" pitchFamily="34" charset="0"/>
              <a:buChar char="•"/>
            </a:pPr>
            <a:r>
              <a:rPr lang="en-US" dirty="0"/>
              <a:t>Your application is creating too many objects </a:t>
            </a:r>
          </a:p>
          <a:p>
            <a:pPr marL="742950" lvl="1" indent="-285750">
              <a:buFont typeface="Arial" panose="020B0604020202020204" pitchFamily="34" charset="0"/>
              <a:buChar char="•"/>
            </a:pPr>
            <a:r>
              <a:rPr lang="en-US" dirty="0"/>
              <a:t>High allocation rate which leads to GC pressure</a:t>
            </a:r>
          </a:p>
          <a:p>
            <a:pPr marL="285750" indent="-285750">
              <a:buFont typeface="Arial" panose="020B0604020202020204" pitchFamily="34" charset="0"/>
              <a:buChar char="•"/>
            </a:pPr>
            <a:r>
              <a:rPr lang="en-US" dirty="0"/>
              <a:t>Problem</a:t>
            </a:r>
          </a:p>
          <a:p>
            <a:pPr marL="742950" lvl="1" indent="-285750">
              <a:buFont typeface="Arial" panose="020B0604020202020204" pitchFamily="34" charset="0"/>
              <a:buChar char="•"/>
            </a:pPr>
            <a:r>
              <a:rPr lang="en-US" dirty="0"/>
              <a:t>Excessive memory churn</a:t>
            </a:r>
          </a:p>
          <a:p>
            <a:pPr marL="742950" lvl="1" indent="-285750">
              <a:buFont typeface="Arial" panose="020B0604020202020204" pitchFamily="34" charset="0"/>
              <a:buChar char="•"/>
            </a:pPr>
            <a:r>
              <a:rPr lang="en-US" dirty="0"/>
              <a:t>Increased GC frequency</a:t>
            </a:r>
          </a:p>
          <a:p>
            <a:pPr marL="742950" lvl="1" indent="-285750">
              <a:buFont typeface="Arial" panose="020B0604020202020204" pitchFamily="34" charset="0"/>
              <a:buChar char="•"/>
            </a:pPr>
            <a:r>
              <a:rPr lang="en-US" dirty="0"/>
              <a:t>Performance degradation</a:t>
            </a:r>
          </a:p>
        </p:txBody>
      </p:sp>
      <p:sp>
        <p:nvSpPr>
          <p:cNvPr id="12" name="TextBox 11">
            <a:extLst>
              <a:ext uri="{FF2B5EF4-FFF2-40B4-BE49-F238E27FC236}">
                <a16:creationId xmlns:a16="http://schemas.microsoft.com/office/drawing/2014/main" id="{1D68158D-E3CA-1D32-1E93-0B5A94F1006F}"/>
              </a:ext>
            </a:extLst>
          </p:cNvPr>
          <p:cNvSpPr txBox="1"/>
          <p:nvPr/>
        </p:nvSpPr>
        <p:spPr>
          <a:xfrm>
            <a:off x="5413248" y="5846544"/>
            <a:ext cx="6096000" cy="646331"/>
          </a:xfrm>
          <a:prstGeom prst="rect">
            <a:avLst/>
          </a:prstGeom>
          <a:noFill/>
        </p:spPr>
        <p:txBody>
          <a:bodyPr wrap="square">
            <a:spAutoFit/>
          </a:bodyPr>
          <a:lstStyle/>
          <a:p>
            <a:r>
              <a:rPr lang="en-GB" dirty="0"/>
              <a:t>This tells us the application is allocating too many objects, especially byte arrays — a classic cause of GC overhead</a:t>
            </a:r>
            <a:endParaRPr lang="en-US" dirty="0"/>
          </a:p>
        </p:txBody>
      </p:sp>
    </p:spTree>
    <p:extLst>
      <p:ext uri="{BB962C8B-B14F-4D97-AF65-F5344CB8AC3E}">
        <p14:creationId xmlns:p14="http://schemas.microsoft.com/office/powerpoint/2010/main" val="25479378"/>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bg>
      <p:bgPr>
        <a:solidFill>
          <a:schemeClr val="accent5">
            <a:lumMod val="60000"/>
            <a:lumOff val="40000"/>
          </a:schemeClr>
        </a:solidFill>
        <a:effectLst/>
      </p:bgPr>
    </p:bg>
    <p:spTree>
      <p:nvGrpSpPr>
        <p:cNvPr id="1" name="">
          <a:extLst>
            <a:ext uri="{FF2B5EF4-FFF2-40B4-BE49-F238E27FC236}">
              <a16:creationId xmlns:a16="http://schemas.microsoft.com/office/drawing/2014/main" id="{A6533772-D903-2831-DC25-D9AE285453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6D04F6-18A2-029E-1FAD-6710E500F033}"/>
              </a:ext>
            </a:extLst>
          </p:cNvPr>
          <p:cNvSpPr>
            <a:spLocks noGrp="1"/>
          </p:cNvSpPr>
          <p:nvPr>
            <p:ph type="title"/>
          </p:nvPr>
        </p:nvSpPr>
        <p:spPr/>
        <p:txBody>
          <a:bodyPr/>
          <a:lstStyle/>
          <a:p>
            <a:r>
              <a:rPr lang="en-GB" dirty="0"/>
              <a:t>Observations in JMC</a:t>
            </a:r>
            <a:endParaRPr lang="en-US" dirty="0"/>
          </a:p>
        </p:txBody>
      </p:sp>
      <p:pic>
        <p:nvPicPr>
          <p:cNvPr id="9" name="Content Placeholder 8">
            <a:extLst>
              <a:ext uri="{FF2B5EF4-FFF2-40B4-BE49-F238E27FC236}">
                <a16:creationId xmlns:a16="http://schemas.microsoft.com/office/drawing/2014/main" id="{91D3B959-706B-22F0-2CF9-B348D0865E70}"/>
              </a:ext>
            </a:extLst>
          </p:cNvPr>
          <p:cNvPicPr>
            <a:picLocks noGrp="1" noChangeAspect="1"/>
          </p:cNvPicPr>
          <p:nvPr>
            <p:ph idx="1"/>
          </p:nvPr>
        </p:nvPicPr>
        <p:blipFill>
          <a:blip r:embed="rId2"/>
          <a:stretch>
            <a:fillRect/>
          </a:stretch>
        </p:blipFill>
        <p:spPr>
          <a:xfrm>
            <a:off x="226817" y="1562770"/>
            <a:ext cx="11659640" cy="2046062"/>
          </a:xfrm>
          <a:prstGeom prst="rect">
            <a:avLst/>
          </a:prstGeom>
        </p:spPr>
      </p:pic>
      <p:sp>
        <p:nvSpPr>
          <p:cNvPr id="10" name="TextBox 9">
            <a:extLst>
              <a:ext uri="{FF2B5EF4-FFF2-40B4-BE49-F238E27FC236}">
                <a16:creationId xmlns:a16="http://schemas.microsoft.com/office/drawing/2014/main" id="{17188FAA-AADA-31F0-5A59-D20592BBAC06}"/>
              </a:ext>
            </a:extLst>
          </p:cNvPr>
          <p:cNvSpPr txBox="1"/>
          <p:nvPr/>
        </p:nvSpPr>
        <p:spPr>
          <a:xfrm>
            <a:off x="838200" y="3724025"/>
            <a:ext cx="6368988" cy="2862322"/>
          </a:xfrm>
          <a:prstGeom prst="rect">
            <a:avLst/>
          </a:prstGeom>
          <a:noFill/>
        </p:spPr>
        <p:txBody>
          <a:bodyPr wrap="none" rtlCol="0">
            <a:spAutoFit/>
          </a:bodyPr>
          <a:lstStyle/>
          <a:p>
            <a:pPr marL="285750" indent="-285750">
              <a:buFont typeface="Arial" panose="020B0604020202020204" pitchFamily="34" charset="0"/>
              <a:buChar char="•"/>
            </a:pPr>
            <a:r>
              <a:rPr lang="en-US" dirty="0"/>
              <a:t>Lock Instances : Context Switches</a:t>
            </a:r>
          </a:p>
          <a:p>
            <a:pPr marL="742950" lvl="1" indent="-285750">
              <a:buFont typeface="Arial" panose="020B0604020202020204" pitchFamily="34" charset="0"/>
              <a:buChar char="•"/>
            </a:pPr>
            <a:r>
              <a:rPr lang="en-US" dirty="0"/>
              <a:t>Score: 100 (Critical)</a:t>
            </a:r>
          </a:p>
          <a:p>
            <a:pPr marL="742950" lvl="1" indent="-285750">
              <a:buFont typeface="Arial" panose="020B0604020202020204" pitchFamily="34" charset="0"/>
              <a:buChar char="•"/>
            </a:pPr>
            <a:r>
              <a:rPr lang="en-US" dirty="0"/>
              <a:t>Many context switches</a:t>
            </a:r>
          </a:p>
          <a:p>
            <a:pPr marL="285750" indent="-285750">
              <a:buFont typeface="Arial" panose="020B0604020202020204" pitchFamily="34" charset="0"/>
              <a:buChar char="•"/>
            </a:pPr>
            <a:r>
              <a:rPr lang="en-US" dirty="0"/>
              <a:t>What it means</a:t>
            </a:r>
          </a:p>
          <a:p>
            <a:pPr marL="742950" lvl="1" indent="-285750">
              <a:buFont typeface="Arial" panose="020B0604020202020204" pitchFamily="34" charset="0"/>
              <a:buChar char="•"/>
            </a:pPr>
            <a:r>
              <a:rPr lang="en-US" dirty="0"/>
              <a:t>Threads frequently switching CPU</a:t>
            </a:r>
          </a:p>
          <a:p>
            <a:pPr marL="742950" lvl="1" indent="-285750">
              <a:buFont typeface="Arial" panose="020B0604020202020204" pitchFamily="34" charset="0"/>
              <a:buChar char="•"/>
            </a:pPr>
            <a:r>
              <a:rPr lang="en-US" dirty="0"/>
              <a:t>Caused by</a:t>
            </a:r>
          </a:p>
          <a:p>
            <a:pPr marL="1200150" lvl="2" indent="-285750">
              <a:buFont typeface="Arial" panose="020B0604020202020204" pitchFamily="34" charset="0"/>
              <a:buChar char="•"/>
            </a:pPr>
            <a:r>
              <a:rPr lang="en-US" dirty="0"/>
              <a:t>Lock contention</a:t>
            </a:r>
          </a:p>
          <a:p>
            <a:pPr marL="1200150" lvl="2" indent="-285750">
              <a:buFont typeface="Arial" panose="020B0604020202020204" pitchFamily="34" charset="0"/>
              <a:buChar char="•"/>
            </a:pPr>
            <a:r>
              <a:rPr lang="en-US" dirty="0"/>
              <a:t>Too many threads</a:t>
            </a:r>
          </a:p>
          <a:p>
            <a:pPr marL="285750" indent="-285750">
              <a:buFont typeface="Arial" panose="020B0604020202020204" pitchFamily="34" charset="0"/>
              <a:buChar char="•"/>
            </a:pPr>
            <a:r>
              <a:rPr lang="en-US" dirty="0"/>
              <a:t>Problem</a:t>
            </a:r>
          </a:p>
          <a:p>
            <a:pPr marL="742950" lvl="1" indent="-285750">
              <a:buFont typeface="Arial" panose="020B0604020202020204" pitchFamily="34" charset="0"/>
              <a:buChar char="•"/>
            </a:pPr>
            <a:r>
              <a:rPr lang="en-GB" dirty="0"/>
              <a:t>CPU wasting time switching threads instead of doing work</a:t>
            </a:r>
            <a:endParaRPr lang="en-US" dirty="0"/>
          </a:p>
        </p:txBody>
      </p:sp>
      <p:sp>
        <p:nvSpPr>
          <p:cNvPr id="4" name="TextBox 3">
            <a:extLst>
              <a:ext uri="{FF2B5EF4-FFF2-40B4-BE49-F238E27FC236}">
                <a16:creationId xmlns:a16="http://schemas.microsoft.com/office/drawing/2014/main" id="{3DECBE34-11C5-8C3D-D67C-0C4E66E4B7AF}"/>
              </a:ext>
            </a:extLst>
          </p:cNvPr>
          <p:cNvSpPr txBox="1"/>
          <p:nvPr/>
        </p:nvSpPr>
        <p:spPr>
          <a:xfrm>
            <a:off x="5490464" y="4483311"/>
            <a:ext cx="6096000" cy="646331"/>
          </a:xfrm>
          <a:prstGeom prst="rect">
            <a:avLst/>
          </a:prstGeom>
          <a:noFill/>
        </p:spPr>
        <p:txBody>
          <a:bodyPr wrap="square">
            <a:spAutoFit/>
          </a:bodyPr>
          <a:lstStyle/>
          <a:p>
            <a:r>
              <a:rPr lang="en-GB" dirty="0"/>
              <a:t>High context switching means threads are fighting for CPU — this is inefficiency, not productivity.</a:t>
            </a:r>
            <a:endParaRPr lang="en-US" dirty="0"/>
          </a:p>
        </p:txBody>
      </p:sp>
    </p:spTree>
    <p:extLst>
      <p:ext uri="{BB962C8B-B14F-4D97-AF65-F5344CB8AC3E}">
        <p14:creationId xmlns:p14="http://schemas.microsoft.com/office/powerpoint/2010/main" val="1815696723"/>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bg>
      <p:bgPr>
        <a:solidFill>
          <a:schemeClr val="accent5">
            <a:lumMod val="60000"/>
            <a:lumOff val="40000"/>
          </a:schemeClr>
        </a:solidFill>
        <a:effectLst/>
      </p:bgPr>
    </p:bg>
    <p:spTree>
      <p:nvGrpSpPr>
        <p:cNvPr id="1" name="">
          <a:extLst>
            <a:ext uri="{FF2B5EF4-FFF2-40B4-BE49-F238E27FC236}">
              <a16:creationId xmlns:a16="http://schemas.microsoft.com/office/drawing/2014/main" id="{81272B92-4512-F234-426A-E765E1FE8C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0F60A6-FBDB-1E93-F681-50C18ECE05C9}"/>
              </a:ext>
            </a:extLst>
          </p:cNvPr>
          <p:cNvSpPr>
            <a:spLocks noGrp="1"/>
          </p:cNvSpPr>
          <p:nvPr>
            <p:ph type="title"/>
          </p:nvPr>
        </p:nvSpPr>
        <p:spPr/>
        <p:txBody>
          <a:bodyPr/>
          <a:lstStyle/>
          <a:p>
            <a:r>
              <a:rPr lang="en-GB" dirty="0"/>
              <a:t>Observations in JMC</a:t>
            </a:r>
            <a:endParaRPr lang="en-US" dirty="0"/>
          </a:p>
        </p:txBody>
      </p:sp>
      <p:pic>
        <p:nvPicPr>
          <p:cNvPr id="9" name="Content Placeholder 8">
            <a:extLst>
              <a:ext uri="{FF2B5EF4-FFF2-40B4-BE49-F238E27FC236}">
                <a16:creationId xmlns:a16="http://schemas.microsoft.com/office/drawing/2014/main" id="{BB12BEF7-8BDA-D723-B231-44EE283424C7}"/>
              </a:ext>
            </a:extLst>
          </p:cNvPr>
          <p:cNvPicPr>
            <a:picLocks noGrp="1" noChangeAspect="1"/>
          </p:cNvPicPr>
          <p:nvPr>
            <p:ph idx="1"/>
          </p:nvPr>
        </p:nvPicPr>
        <p:blipFill>
          <a:blip r:embed="rId2"/>
          <a:stretch>
            <a:fillRect/>
          </a:stretch>
        </p:blipFill>
        <p:spPr>
          <a:xfrm>
            <a:off x="226817" y="1562770"/>
            <a:ext cx="11659640" cy="2046062"/>
          </a:xfrm>
          <a:prstGeom prst="rect">
            <a:avLst/>
          </a:prstGeom>
        </p:spPr>
      </p:pic>
      <p:sp>
        <p:nvSpPr>
          <p:cNvPr id="10" name="TextBox 9">
            <a:extLst>
              <a:ext uri="{FF2B5EF4-FFF2-40B4-BE49-F238E27FC236}">
                <a16:creationId xmlns:a16="http://schemas.microsoft.com/office/drawing/2014/main" id="{CD840E4B-F47B-64A3-4A8E-4ED24F12BFC9}"/>
              </a:ext>
            </a:extLst>
          </p:cNvPr>
          <p:cNvSpPr txBox="1"/>
          <p:nvPr/>
        </p:nvSpPr>
        <p:spPr>
          <a:xfrm>
            <a:off x="838200" y="3724025"/>
            <a:ext cx="5854360" cy="2031325"/>
          </a:xfrm>
          <a:prstGeom prst="rect">
            <a:avLst/>
          </a:prstGeom>
          <a:noFill/>
        </p:spPr>
        <p:txBody>
          <a:bodyPr wrap="none" rtlCol="0">
            <a:spAutoFit/>
          </a:bodyPr>
          <a:lstStyle/>
          <a:p>
            <a:pPr marL="285750" indent="-285750">
              <a:buFont typeface="Arial" panose="020B0604020202020204" pitchFamily="34" charset="0"/>
              <a:buChar char="•"/>
            </a:pPr>
            <a:r>
              <a:rPr lang="en-US" dirty="0"/>
              <a:t>Lock Instances : Java Blocking</a:t>
            </a:r>
          </a:p>
          <a:p>
            <a:pPr marL="742950" lvl="1" indent="-285750">
              <a:buFont typeface="Arial" panose="020B0604020202020204" pitchFamily="34" charset="0"/>
              <a:buChar char="•"/>
            </a:pPr>
            <a:r>
              <a:rPr lang="en-US" dirty="0"/>
              <a:t>Threads blocked</a:t>
            </a:r>
          </a:p>
          <a:p>
            <a:pPr marL="285750" indent="-285750">
              <a:buFont typeface="Arial" panose="020B0604020202020204" pitchFamily="34" charset="0"/>
              <a:buChar char="•"/>
            </a:pPr>
            <a:r>
              <a:rPr lang="en-US" dirty="0"/>
              <a:t>What it means</a:t>
            </a:r>
          </a:p>
          <a:p>
            <a:pPr marL="742950" lvl="1" indent="-285750">
              <a:buFont typeface="Arial" panose="020B0604020202020204" pitchFamily="34" charset="0"/>
              <a:buChar char="•"/>
            </a:pPr>
            <a:r>
              <a:rPr lang="en-US" dirty="0"/>
              <a:t>Threads are waiting on locks - synchronized</a:t>
            </a:r>
          </a:p>
          <a:p>
            <a:pPr marL="285750" indent="-285750">
              <a:buFont typeface="Arial" panose="020B0604020202020204" pitchFamily="34" charset="0"/>
              <a:buChar char="•"/>
            </a:pPr>
            <a:r>
              <a:rPr lang="en-US" dirty="0"/>
              <a:t>Problem</a:t>
            </a:r>
          </a:p>
          <a:p>
            <a:pPr marL="742950" lvl="1" indent="-285750">
              <a:buFont typeface="Arial" panose="020B0604020202020204" pitchFamily="34" charset="0"/>
              <a:buChar char="•"/>
            </a:pPr>
            <a:r>
              <a:rPr lang="en-GB" dirty="0"/>
              <a:t>Severe scalability issue</a:t>
            </a:r>
          </a:p>
          <a:p>
            <a:pPr marL="742950" lvl="1" indent="-285750">
              <a:buFont typeface="Arial" panose="020B0604020202020204" pitchFamily="34" charset="0"/>
              <a:buChar char="•"/>
            </a:pPr>
            <a:r>
              <a:rPr lang="en-US" dirty="0"/>
              <a:t>System behaves like single-</a:t>
            </a:r>
            <a:r>
              <a:rPr lang="en-US" dirty="0" err="1"/>
              <a:t>threadedThreads</a:t>
            </a:r>
            <a:r>
              <a:rPr lang="en-US" dirty="0"/>
              <a:t> blocked</a:t>
            </a:r>
          </a:p>
        </p:txBody>
      </p:sp>
      <p:sp>
        <p:nvSpPr>
          <p:cNvPr id="4" name="TextBox 3">
            <a:extLst>
              <a:ext uri="{FF2B5EF4-FFF2-40B4-BE49-F238E27FC236}">
                <a16:creationId xmlns:a16="http://schemas.microsoft.com/office/drawing/2014/main" id="{9679C601-E2E8-9CEE-7F4D-6561BE978B20}"/>
              </a:ext>
            </a:extLst>
          </p:cNvPr>
          <p:cNvSpPr txBox="1"/>
          <p:nvPr/>
        </p:nvSpPr>
        <p:spPr>
          <a:xfrm>
            <a:off x="838200" y="5870543"/>
            <a:ext cx="6096000" cy="646331"/>
          </a:xfrm>
          <a:prstGeom prst="rect">
            <a:avLst/>
          </a:prstGeom>
          <a:noFill/>
        </p:spPr>
        <p:txBody>
          <a:bodyPr wrap="square">
            <a:spAutoFit/>
          </a:bodyPr>
          <a:lstStyle/>
          <a:p>
            <a:r>
              <a:rPr lang="en-GB" dirty="0"/>
              <a:t>Even though we created multiple threads, synchronization forced them to wait — killing parallelism.</a:t>
            </a:r>
            <a:endParaRPr lang="en-US" dirty="0"/>
          </a:p>
        </p:txBody>
      </p:sp>
    </p:spTree>
    <p:extLst>
      <p:ext uri="{BB962C8B-B14F-4D97-AF65-F5344CB8AC3E}">
        <p14:creationId xmlns:p14="http://schemas.microsoft.com/office/powerpoint/2010/main" val="696830130"/>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bg>
      <p:bgPr>
        <a:solidFill>
          <a:schemeClr val="accent5">
            <a:lumMod val="60000"/>
            <a:lumOff val="40000"/>
          </a:schemeClr>
        </a:solidFill>
        <a:effectLst/>
      </p:bgPr>
    </p:bg>
    <p:spTree>
      <p:nvGrpSpPr>
        <p:cNvPr id="1" name="">
          <a:extLst>
            <a:ext uri="{FF2B5EF4-FFF2-40B4-BE49-F238E27FC236}">
              <a16:creationId xmlns:a16="http://schemas.microsoft.com/office/drawing/2014/main" id="{0C9635CB-1B6A-329E-0FC7-8C80DB9225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D39FBD-7C18-613E-2402-4607189B7F32}"/>
              </a:ext>
            </a:extLst>
          </p:cNvPr>
          <p:cNvSpPr>
            <a:spLocks noGrp="1"/>
          </p:cNvSpPr>
          <p:nvPr>
            <p:ph type="title"/>
          </p:nvPr>
        </p:nvSpPr>
        <p:spPr/>
        <p:txBody>
          <a:bodyPr/>
          <a:lstStyle/>
          <a:p>
            <a:r>
              <a:rPr lang="en-GB" dirty="0"/>
              <a:t>Observations in JMC</a:t>
            </a:r>
            <a:endParaRPr lang="en-US" dirty="0"/>
          </a:p>
        </p:txBody>
      </p:sp>
      <p:pic>
        <p:nvPicPr>
          <p:cNvPr id="9" name="Content Placeholder 8">
            <a:extLst>
              <a:ext uri="{FF2B5EF4-FFF2-40B4-BE49-F238E27FC236}">
                <a16:creationId xmlns:a16="http://schemas.microsoft.com/office/drawing/2014/main" id="{CC313C41-7E71-C011-CCBA-ED9A0878ABAC}"/>
              </a:ext>
            </a:extLst>
          </p:cNvPr>
          <p:cNvPicPr>
            <a:picLocks noGrp="1" noChangeAspect="1"/>
          </p:cNvPicPr>
          <p:nvPr>
            <p:ph idx="1"/>
          </p:nvPr>
        </p:nvPicPr>
        <p:blipFill>
          <a:blip r:embed="rId2"/>
          <a:stretch>
            <a:fillRect/>
          </a:stretch>
        </p:blipFill>
        <p:spPr>
          <a:xfrm>
            <a:off x="226817" y="1562770"/>
            <a:ext cx="11659640" cy="2046062"/>
          </a:xfrm>
          <a:prstGeom prst="rect">
            <a:avLst/>
          </a:prstGeom>
        </p:spPr>
      </p:pic>
      <p:sp>
        <p:nvSpPr>
          <p:cNvPr id="10" name="TextBox 9">
            <a:extLst>
              <a:ext uri="{FF2B5EF4-FFF2-40B4-BE49-F238E27FC236}">
                <a16:creationId xmlns:a16="http://schemas.microsoft.com/office/drawing/2014/main" id="{40857DED-1861-1AC2-D7D3-7B1C6BC1CEB3}"/>
              </a:ext>
            </a:extLst>
          </p:cNvPr>
          <p:cNvSpPr txBox="1"/>
          <p:nvPr/>
        </p:nvSpPr>
        <p:spPr>
          <a:xfrm>
            <a:off x="838200" y="3724025"/>
            <a:ext cx="4559518" cy="2585323"/>
          </a:xfrm>
          <a:prstGeom prst="rect">
            <a:avLst/>
          </a:prstGeom>
          <a:noFill/>
        </p:spPr>
        <p:txBody>
          <a:bodyPr wrap="none" rtlCol="0">
            <a:spAutoFit/>
          </a:bodyPr>
          <a:lstStyle/>
          <a:p>
            <a:pPr marL="285750" indent="-285750">
              <a:buFont typeface="Arial" panose="020B0604020202020204" pitchFamily="34" charset="0"/>
              <a:buChar char="•"/>
            </a:pPr>
            <a:r>
              <a:rPr lang="en-US" dirty="0"/>
              <a:t>JVM Internals: GC (Inverted Parallelism)</a:t>
            </a:r>
          </a:p>
          <a:p>
            <a:pPr marL="742950" lvl="1" indent="-285750">
              <a:buFont typeface="Arial" panose="020B0604020202020204" pitchFamily="34" charset="0"/>
              <a:buChar char="•"/>
            </a:pPr>
            <a:r>
              <a:rPr lang="en-US" dirty="0"/>
              <a:t>Inverted Parallelism</a:t>
            </a:r>
          </a:p>
          <a:p>
            <a:pPr marL="742950" lvl="1" indent="-285750">
              <a:buFont typeface="Arial" panose="020B0604020202020204" pitchFamily="34" charset="0"/>
              <a:buChar char="•"/>
            </a:pPr>
            <a:r>
              <a:rPr lang="en-US" dirty="0"/>
              <a:t>Score : 75</a:t>
            </a:r>
          </a:p>
          <a:p>
            <a:pPr marL="285750" indent="-285750">
              <a:buFont typeface="Arial" panose="020B0604020202020204" pitchFamily="34" charset="0"/>
              <a:buChar char="•"/>
            </a:pPr>
            <a:r>
              <a:rPr lang="en-US" dirty="0"/>
              <a:t>What it means</a:t>
            </a:r>
          </a:p>
          <a:p>
            <a:pPr marL="742950" lvl="1" indent="-285750">
              <a:buFont typeface="Arial" panose="020B0604020202020204" pitchFamily="34" charset="0"/>
              <a:buChar char="•"/>
            </a:pPr>
            <a:r>
              <a:rPr lang="en-US" dirty="0"/>
              <a:t>GC threads competing with each other</a:t>
            </a:r>
          </a:p>
          <a:p>
            <a:pPr marL="742950" lvl="1" indent="-285750">
              <a:buFont typeface="Arial" panose="020B0604020202020204" pitchFamily="34" charset="0"/>
              <a:buChar char="•"/>
            </a:pPr>
            <a:r>
              <a:rPr lang="en-US" dirty="0"/>
              <a:t>Not enough CPU available</a:t>
            </a:r>
          </a:p>
          <a:p>
            <a:pPr marL="285750" indent="-285750">
              <a:buFont typeface="Arial" panose="020B0604020202020204" pitchFamily="34" charset="0"/>
              <a:buChar char="•"/>
            </a:pPr>
            <a:r>
              <a:rPr lang="en-US" dirty="0"/>
              <a:t>Problem</a:t>
            </a:r>
          </a:p>
          <a:p>
            <a:pPr marL="742950" lvl="1" indent="-285750">
              <a:buFont typeface="Arial" panose="020B0604020202020204" pitchFamily="34" charset="0"/>
              <a:buChar char="•"/>
            </a:pPr>
            <a:r>
              <a:rPr lang="en-GB" dirty="0"/>
              <a:t>GC is inefficient</a:t>
            </a:r>
          </a:p>
          <a:p>
            <a:pPr marL="742950" lvl="1" indent="-285750">
              <a:buFont typeface="Arial" panose="020B0604020202020204" pitchFamily="34" charset="0"/>
              <a:buChar char="•"/>
            </a:pPr>
            <a:r>
              <a:rPr lang="en-GB" dirty="0"/>
              <a:t>Application _ GC both fighting for CPU</a:t>
            </a:r>
          </a:p>
        </p:txBody>
      </p:sp>
      <p:sp>
        <p:nvSpPr>
          <p:cNvPr id="4" name="TextBox 3">
            <a:extLst>
              <a:ext uri="{FF2B5EF4-FFF2-40B4-BE49-F238E27FC236}">
                <a16:creationId xmlns:a16="http://schemas.microsoft.com/office/drawing/2014/main" id="{18B319AD-CC32-1B3A-9EE4-16397253094A}"/>
              </a:ext>
            </a:extLst>
          </p:cNvPr>
          <p:cNvSpPr txBox="1"/>
          <p:nvPr/>
        </p:nvSpPr>
        <p:spPr>
          <a:xfrm>
            <a:off x="5978144" y="5663017"/>
            <a:ext cx="6096000" cy="646331"/>
          </a:xfrm>
          <a:prstGeom prst="rect">
            <a:avLst/>
          </a:prstGeom>
          <a:noFill/>
        </p:spPr>
        <p:txBody>
          <a:bodyPr wrap="square">
            <a:spAutoFit/>
          </a:bodyPr>
          <a:lstStyle/>
          <a:p>
            <a:r>
              <a:rPr lang="en-GB" dirty="0"/>
              <a:t>Instead of speeding up GC, multiple GC threads are slowing each other down — a sign of CPU contention.</a:t>
            </a:r>
            <a:endParaRPr lang="en-US" dirty="0"/>
          </a:p>
        </p:txBody>
      </p:sp>
    </p:spTree>
    <p:extLst>
      <p:ext uri="{BB962C8B-B14F-4D97-AF65-F5344CB8AC3E}">
        <p14:creationId xmlns:p14="http://schemas.microsoft.com/office/powerpoint/2010/main" val="484394410"/>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bg>
      <p:bgPr>
        <a:solidFill>
          <a:schemeClr val="accent5">
            <a:lumMod val="60000"/>
            <a:lumOff val="4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200873-E8C6-5DBE-23C9-8CC9B446838F}"/>
              </a:ext>
            </a:extLst>
          </p:cNvPr>
          <p:cNvSpPr>
            <a:spLocks noGrp="1"/>
          </p:cNvSpPr>
          <p:nvPr>
            <p:ph type="title"/>
          </p:nvPr>
        </p:nvSpPr>
        <p:spPr/>
        <p:txBody>
          <a:bodyPr/>
          <a:lstStyle/>
          <a:p>
            <a:r>
              <a:rPr lang="en-GB" dirty="0"/>
              <a:t>Profiling Key Takeaways</a:t>
            </a:r>
            <a:endParaRPr lang="en-US" dirty="0"/>
          </a:p>
        </p:txBody>
      </p:sp>
      <p:sp>
        <p:nvSpPr>
          <p:cNvPr id="3" name="Content Placeholder 2">
            <a:extLst>
              <a:ext uri="{FF2B5EF4-FFF2-40B4-BE49-F238E27FC236}">
                <a16:creationId xmlns:a16="http://schemas.microsoft.com/office/drawing/2014/main" id="{4F3B45B5-6758-C621-7DA3-F9191BDBED66}"/>
              </a:ext>
            </a:extLst>
          </p:cNvPr>
          <p:cNvSpPr>
            <a:spLocks noGrp="1"/>
          </p:cNvSpPr>
          <p:nvPr>
            <p:ph idx="1"/>
          </p:nvPr>
        </p:nvSpPr>
        <p:spPr/>
        <p:txBody>
          <a:bodyPr/>
          <a:lstStyle/>
          <a:p>
            <a:r>
              <a:rPr lang="en-US" dirty="0"/>
              <a:t>Avoid unnecessary object creation</a:t>
            </a:r>
          </a:p>
          <a:p>
            <a:r>
              <a:rPr lang="en-US" dirty="0"/>
              <a:t>Minimize synchronization</a:t>
            </a:r>
          </a:p>
          <a:p>
            <a:r>
              <a:rPr lang="en-US" dirty="0"/>
              <a:t>Monitor GC behavior</a:t>
            </a:r>
          </a:p>
          <a:p>
            <a:r>
              <a:rPr lang="en-US" dirty="0"/>
              <a:t>Don’t overuse threads</a:t>
            </a:r>
          </a:p>
          <a:p>
            <a:r>
              <a:rPr lang="en-US" dirty="0"/>
              <a:t>Always profile before optimizing</a:t>
            </a:r>
          </a:p>
        </p:txBody>
      </p:sp>
    </p:spTree>
    <p:extLst>
      <p:ext uri="{BB962C8B-B14F-4D97-AF65-F5344CB8AC3E}">
        <p14:creationId xmlns:p14="http://schemas.microsoft.com/office/powerpoint/2010/main" val="2077504050"/>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6D47C3-F5D4-93C0-07AC-5E4CF277737A}"/>
              </a:ext>
            </a:extLst>
          </p:cNvPr>
          <p:cNvSpPr>
            <a:spLocks noGrp="1"/>
          </p:cNvSpPr>
          <p:nvPr>
            <p:ph type="title"/>
          </p:nvPr>
        </p:nvSpPr>
        <p:spPr/>
        <p:txBody>
          <a:bodyPr>
            <a:normAutofit/>
          </a:bodyPr>
          <a:lstStyle/>
          <a:p>
            <a:r>
              <a:rPr lang="en-GB" sz="3600" dirty="0"/>
              <a:t>Day 2 : Session 1 : Code-Level Performance Optimization</a:t>
            </a:r>
            <a:endParaRPr lang="en-US" sz="3600" dirty="0"/>
          </a:p>
        </p:txBody>
      </p:sp>
      <p:sp>
        <p:nvSpPr>
          <p:cNvPr id="3" name="Content Placeholder 2">
            <a:extLst>
              <a:ext uri="{FF2B5EF4-FFF2-40B4-BE49-F238E27FC236}">
                <a16:creationId xmlns:a16="http://schemas.microsoft.com/office/drawing/2014/main" id="{A4F85CD3-74C9-244F-6C59-46BC79C1163B}"/>
              </a:ext>
            </a:extLst>
          </p:cNvPr>
          <p:cNvSpPr>
            <a:spLocks noGrp="1"/>
          </p:cNvSpPr>
          <p:nvPr>
            <p:ph idx="1"/>
          </p:nvPr>
        </p:nvSpPr>
        <p:spPr/>
        <p:txBody>
          <a:bodyPr/>
          <a:lstStyle/>
          <a:p>
            <a:r>
              <a:rPr lang="en-GB" dirty="0"/>
              <a:t>Session Objective </a:t>
            </a:r>
          </a:p>
          <a:p>
            <a:pPr lvl="1"/>
            <a:r>
              <a:rPr lang="en-GB" dirty="0"/>
              <a:t>Understand how </a:t>
            </a:r>
            <a:r>
              <a:rPr lang="en-GB" b="1" dirty="0"/>
              <a:t>application code directly impacts performance</a:t>
            </a:r>
            <a:r>
              <a:rPr lang="en-GB" dirty="0"/>
              <a:t>, often more than JVM tuning</a:t>
            </a:r>
          </a:p>
          <a:p>
            <a:pPr lvl="1"/>
            <a:r>
              <a:rPr lang="en-GB" dirty="0"/>
              <a:t>Identify </a:t>
            </a:r>
            <a:r>
              <a:rPr lang="en-GB" b="1" dirty="0"/>
              <a:t>hidden inefficiencies in everyday coding practices</a:t>
            </a:r>
            <a:r>
              <a:rPr lang="en-GB" dirty="0"/>
              <a:t> (collections, strings, synchronization, streams)</a:t>
            </a:r>
          </a:p>
          <a:p>
            <a:pPr lvl="1"/>
            <a:r>
              <a:rPr lang="en-GB" dirty="0"/>
              <a:t>Learn how to choose the </a:t>
            </a:r>
            <a:r>
              <a:rPr lang="en-GB" b="1" dirty="0"/>
              <a:t>right data structures and algorithms </a:t>
            </a:r>
            <a:r>
              <a:rPr lang="en-GB" dirty="0"/>
              <a:t>for optimal performance</a:t>
            </a:r>
          </a:p>
          <a:p>
            <a:pPr lvl="1"/>
            <a:r>
              <a:rPr lang="en-GB" dirty="0"/>
              <a:t>Recognize and eliminate </a:t>
            </a:r>
            <a:r>
              <a:rPr lang="en-GB" b="1" dirty="0"/>
              <a:t>common performance anti-patterns</a:t>
            </a:r>
            <a:r>
              <a:rPr lang="en-GB" dirty="0"/>
              <a:t> used in real-world applications</a:t>
            </a:r>
          </a:p>
          <a:p>
            <a:pPr lvl="1"/>
            <a:r>
              <a:rPr lang="en-GB" dirty="0"/>
              <a:t>Measure and compare performance using </a:t>
            </a:r>
            <a:r>
              <a:rPr lang="en-GB" b="1" dirty="0"/>
              <a:t>basic benchmarking and profiling tools (JFR/JMC)</a:t>
            </a:r>
            <a:endParaRPr lang="en-US" dirty="0"/>
          </a:p>
        </p:txBody>
      </p:sp>
    </p:spTree>
    <p:extLst>
      <p:ext uri="{BB962C8B-B14F-4D97-AF65-F5344CB8AC3E}">
        <p14:creationId xmlns:p14="http://schemas.microsoft.com/office/powerpoint/2010/main" val="4158832106"/>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C0B93-B010-D4D8-23DB-E9DCCCA343EF}"/>
              </a:ext>
            </a:extLst>
          </p:cNvPr>
          <p:cNvSpPr>
            <a:spLocks noGrp="1"/>
          </p:cNvSpPr>
          <p:nvPr>
            <p:ph type="title"/>
          </p:nvPr>
        </p:nvSpPr>
        <p:spPr/>
        <p:txBody>
          <a:bodyPr/>
          <a:lstStyle/>
          <a:p>
            <a:r>
              <a:rPr lang="en-GB" dirty="0"/>
              <a:t>Efficient Data Structures</a:t>
            </a:r>
            <a:endParaRPr lang="en-US" dirty="0"/>
          </a:p>
        </p:txBody>
      </p:sp>
      <p:sp>
        <p:nvSpPr>
          <p:cNvPr id="3" name="Content Placeholder 2">
            <a:extLst>
              <a:ext uri="{FF2B5EF4-FFF2-40B4-BE49-F238E27FC236}">
                <a16:creationId xmlns:a16="http://schemas.microsoft.com/office/drawing/2014/main" id="{12DB5721-AF74-0B7E-54E0-50500108BD89}"/>
              </a:ext>
            </a:extLst>
          </p:cNvPr>
          <p:cNvSpPr>
            <a:spLocks noGrp="1"/>
          </p:cNvSpPr>
          <p:nvPr>
            <p:ph sz="half" idx="1"/>
          </p:nvPr>
        </p:nvSpPr>
        <p:spPr/>
        <p:txBody>
          <a:bodyPr>
            <a:normAutofit/>
          </a:bodyPr>
          <a:lstStyle/>
          <a:p>
            <a:r>
              <a:rPr lang="en-GB" sz="2400" dirty="0"/>
              <a:t>Key Idea</a:t>
            </a:r>
          </a:p>
          <a:p>
            <a:pPr lvl="1"/>
            <a:r>
              <a:rPr lang="en-GB" sz="2000" dirty="0"/>
              <a:t>Choosing wrong data structure = hidden performance bug.</a:t>
            </a:r>
          </a:p>
          <a:p>
            <a:r>
              <a:rPr lang="en-GB" sz="2400" dirty="0"/>
              <a:t>Data Structures </a:t>
            </a:r>
          </a:p>
          <a:p>
            <a:pPr lvl="1"/>
            <a:r>
              <a:rPr lang="en-US" sz="2000" dirty="0" err="1"/>
              <a:t>ArrayList</a:t>
            </a:r>
            <a:r>
              <a:rPr lang="en-US" sz="2000" dirty="0"/>
              <a:t> – Fast reads, slow inserts in middle</a:t>
            </a:r>
          </a:p>
          <a:p>
            <a:pPr lvl="1"/>
            <a:r>
              <a:rPr lang="en-US" sz="2000" dirty="0"/>
              <a:t>LinkedList – Slow traversal</a:t>
            </a:r>
          </a:p>
          <a:p>
            <a:pPr lvl="1"/>
            <a:r>
              <a:rPr lang="en-US" sz="2000" dirty="0"/>
              <a:t>HashMap – O(1) average, but hashing cost matters</a:t>
            </a:r>
          </a:p>
          <a:p>
            <a:pPr lvl="1"/>
            <a:r>
              <a:rPr lang="en-US" sz="2000" dirty="0" err="1"/>
              <a:t>ConcurrentHashMap</a:t>
            </a:r>
            <a:r>
              <a:rPr lang="en-US" sz="2000" dirty="0"/>
              <a:t> – Better for multi-threading </a:t>
            </a:r>
          </a:p>
        </p:txBody>
      </p:sp>
      <p:pic>
        <p:nvPicPr>
          <p:cNvPr id="6" name="Content Placeholder 5">
            <a:extLst>
              <a:ext uri="{FF2B5EF4-FFF2-40B4-BE49-F238E27FC236}">
                <a16:creationId xmlns:a16="http://schemas.microsoft.com/office/drawing/2014/main" id="{6D84FB8F-4ADC-5BA0-3AA3-4DDA325C1FD5}"/>
              </a:ext>
            </a:extLst>
          </p:cNvPr>
          <p:cNvPicPr>
            <a:picLocks noGrp="1" noChangeAspect="1"/>
          </p:cNvPicPr>
          <p:nvPr>
            <p:ph sz="half" idx="2"/>
          </p:nvPr>
        </p:nvPicPr>
        <p:blipFill>
          <a:blip r:embed="rId2"/>
          <a:stretch>
            <a:fillRect/>
          </a:stretch>
        </p:blipFill>
        <p:spPr>
          <a:xfrm>
            <a:off x="6096000" y="1437683"/>
            <a:ext cx="5181600" cy="2648373"/>
          </a:xfrm>
          <a:prstGeom prst="rect">
            <a:avLst/>
          </a:prstGeom>
        </p:spPr>
      </p:pic>
    </p:spTree>
    <p:extLst>
      <p:ext uri="{BB962C8B-B14F-4D97-AF65-F5344CB8AC3E}">
        <p14:creationId xmlns:p14="http://schemas.microsoft.com/office/powerpoint/2010/main" val="346720835"/>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6D925D-1765-2B1C-83F9-724F9779A6C3}"/>
              </a:ext>
            </a:extLst>
          </p:cNvPr>
          <p:cNvSpPr>
            <a:spLocks noGrp="1"/>
          </p:cNvSpPr>
          <p:nvPr>
            <p:ph type="title"/>
          </p:nvPr>
        </p:nvSpPr>
        <p:spPr/>
        <p:txBody>
          <a:bodyPr/>
          <a:lstStyle/>
          <a:p>
            <a:r>
              <a:rPr lang="en-GB" dirty="0"/>
              <a:t>Example : Incorrect Data Structure</a:t>
            </a:r>
            <a:endParaRPr lang="en-US" dirty="0"/>
          </a:p>
        </p:txBody>
      </p:sp>
      <p:sp>
        <p:nvSpPr>
          <p:cNvPr id="6" name="TextBox 5">
            <a:extLst>
              <a:ext uri="{FF2B5EF4-FFF2-40B4-BE49-F238E27FC236}">
                <a16:creationId xmlns:a16="http://schemas.microsoft.com/office/drawing/2014/main" id="{A23DD72B-E5F5-01DE-E5D6-DE2751F1EB12}"/>
              </a:ext>
            </a:extLst>
          </p:cNvPr>
          <p:cNvSpPr txBox="1"/>
          <p:nvPr/>
        </p:nvSpPr>
        <p:spPr>
          <a:xfrm>
            <a:off x="772473" y="1996893"/>
            <a:ext cx="9402936" cy="4278094"/>
          </a:xfrm>
          <a:prstGeom prst="rect">
            <a:avLst/>
          </a:prstGeom>
          <a:solidFill>
            <a:schemeClr val="accent6">
              <a:lumMod val="20000"/>
              <a:lumOff val="80000"/>
            </a:schemeClr>
          </a:solidFill>
        </p:spPr>
        <p:style>
          <a:lnRef idx="2">
            <a:schemeClr val="accent2"/>
          </a:lnRef>
          <a:fillRef idx="1">
            <a:schemeClr val="lt1"/>
          </a:fillRef>
          <a:effectRef idx="0">
            <a:schemeClr val="accent2"/>
          </a:effectRef>
          <a:fontRef idx="minor">
            <a:schemeClr val="dk1"/>
          </a:fontRef>
        </p:style>
        <p:txBody>
          <a:bodyPr wrap="square">
            <a:spAutoFit/>
          </a:bodyPr>
          <a:lstStyle/>
          <a:p>
            <a:r>
              <a:rPr lang="en-US" sz="1600" dirty="0">
                <a:latin typeface="Consolas" panose="020B0609020204030204" pitchFamily="49" charset="0"/>
              </a:rPr>
              <a:t>import </a:t>
            </a:r>
            <a:r>
              <a:rPr lang="en-US" sz="1600" dirty="0" err="1">
                <a:latin typeface="Consolas" panose="020B0609020204030204" pitchFamily="49" charset="0"/>
              </a:rPr>
              <a:t>java.util</a:t>
            </a:r>
            <a:r>
              <a:rPr lang="en-US" sz="1600" dirty="0">
                <a:latin typeface="Consolas" panose="020B0609020204030204" pitchFamily="49" charset="0"/>
              </a:rPr>
              <a:t>.*;</a:t>
            </a:r>
          </a:p>
          <a:p>
            <a:endParaRPr lang="en-US" sz="1600" dirty="0">
              <a:latin typeface="Consolas" panose="020B0609020204030204" pitchFamily="49" charset="0"/>
            </a:endParaRPr>
          </a:p>
          <a:p>
            <a:r>
              <a:rPr lang="en-US" sz="1600" dirty="0">
                <a:latin typeface="Consolas" panose="020B0609020204030204" pitchFamily="49" charset="0"/>
              </a:rPr>
              <a:t>public class </a:t>
            </a:r>
            <a:r>
              <a:rPr lang="en-US" sz="1600" dirty="0" err="1">
                <a:latin typeface="Consolas" panose="020B0609020204030204" pitchFamily="49" charset="0"/>
              </a:rPr>
              <a:t>BadExample</a:t>
            </a:r>
            <a:r>
              <a:rPr lang="en-US" sz="1600" dirty="0">
                <a:latin typeface="Consolas" panose="020B0609020204030204" pitchFamily="49" charset="0"/>
              </a:rPr>
              <a:t> {</a:t>
            </a:r>
          </a:p>
          <a:p>
            <a:r>
              <a:rPr lang="en-US" sz="1600" dirty="0">
                <a:latin typeface="Consolas" panose="020B0609020204030204" pitchFamily="49" charset="0"/>
              </a:rPr>
              <a:t>    public static void main(String[] </a:t>
            </a:r>
            <a:r>
              <a:rPr lang="en-US" sz="1600" dirty="0" err="1">
                <a:latin typeface="Consolas" panose="020B0609020204030204" pitchFamily="49" charset="0"/>
              </a:rPr>
              <a:t>args</a:t>
            </a:r>
            <a:r>
              <a:rPr lang="en-US" sz="1600" dirty="0">
                <a:latin typeface="Consolas" panose="020B0609020204030204" pitchFamily="49" charset="0"/>
              </a:rPr>
              <a:t>) {</a:t>
            </a:r>
          </a:p>
          <a:p>
            <a:r>
              <a:rPr lang="en-US" sz="1600" dirty="0">
                <a:latin typeface="Consolas" panose="020B0609020204030204" pitchFamily="49" charset="0"/>
              </a:rPr>
              <a:t>        List&lt;Integer&gt; list = new LinkedList&lt;&gt;();</a:t>
            </a:r>
          </a:p>
          <a:p>
            <a:r>
              <a:rPr lang="en-US" sz="1600" dirty="0">
                <a:latin typeface="Consolas" panose="020B0609020204030204" pitchFamily="49" charset="0"/>
              </a:rPr>
              <a:t>        // Insert elements</a:t>
            </a:r>
          </a:p>
          <a:p>
            <a:r>
              <a:rPr lang="en-US" sz="1600" dirty="0">
                <a:latin typeface="Consolas" panose="020B0609020204030204" pitchFamily="49" charset="0"/>
              </a:rPr>
              <a:t>        for (int </a:t>
            </a:r>
            <a:r>
              <a:rPr lang="en-US" sz="1600" dirty="0" err="1">
                <a:latin typeface="Consolas" panose="020B0609020204030204" pitchFamily="49" charset="0"/>
              </a:rPr>
              <a:t>i</a:t>
            </a:r>
            <a:r>
              <a:rPr lang="en-US" sz="1600" dirty="0">
                <a:latin typeface="Consolas" panose="020B0609020204030204" pitchFamily="49" charset="0"/>
              </a:rPr>
              <a:t> = 0; </a:t>
            </a:r>
            <a:r>
              <a:rPr lang="en-US" sz="1600" dirty="0" err="1">
                <a:latin typeface="Consolas" panose="020B0609020204030204" pitchFamily="49" charset="0"/>
              </a:rPr>
              <a:t>i</a:t>
            </a:r>
            <a:r>
              <a:rPr lang="en-US" sz="1600" dirty="0">
                <a:latin typeface="Consolas" panose="020B0609020204030204" pitchFamily="49" charset="0"/>
              </a:rPr>
              <a:t> &lt; 100000; </a:t>
            </a:r>
            <a:r>
              <a:rPr lang="en-US" sz="1600" dirty="0" err="1">
                <a:latin typeface="Consolas" panose="020B0609020204030204" pitchFamily="49" charset="0"/>
              </a:rPr>
              <a:t>i</a:t>
            </a:r>
            <a:r>
              <a:rPr lang="en-US" sz="1600" dirty="0">
                <a:latin typeface="Consolas" panose="020B0609020204030204" pitchFamily="49" charset="0"/>
              </a:rPr>
              <a:t>++) {</a:t>
            </a:r>
          </a:p>
          <a:p>
            <a:r>
              <a:rPr lang="en-US" sz="1600" dirty="0">
                <a:latin typeface="Consolas" panose="020B0609020204030204" pitchFamily="49" charset="0"/>
              </a:rPr>
              <a:t>            </a:t>
            </a:r>
            <a:r>
              <a:rPr lang="en-US" sz="1600" dirty="0" err="1">
                <a:latin typeface="Consolas" panose="020B0609020204030204" pitchFamily="49" charset="0"/>
              </a:rPr>
              <a:t>list.add</a:t>
            </a:r>
            <a:r>
              <a:rPr lang="en-US" sz="1600" dirty="0">
                <a:latin typeface="Consolas" panose="020B0609020204030204" pitchFamily="49" charset="0"/>
              </a:rPr>
              <a:t>(</a:t>
            </a:r>
            <a:r>
              <a:rPr lang="en-US" sz="1600" dirty="0" err="1">
                <a:latin typeface="Consolas" panose="020B0609020204030204" pitchFamily="49" charset="0"/>
              </a:rPr>
              <a:t>i</a:t>
            </a:r>
            <a:r>
              <a:rPr lang="en-US" sz="1600" dirty="0">
                <a:latin typeface="Consolas" panose="020B0609020204030204" pitchFamily="49" charset="0"/>
              </a:rPr>
              <a:t>);</a:t>
            </a:r>
          </a:p>
          <a:p>
            <a:r>
              <a:rPr lang="en-US" sz="1600" dirty="0">
                <a:latin typeface="Consolas" panose="020B0609020204030204" pitchFamily="49" charset="0"/>
              </a:rPr>
              <a:t>        }</a:t>
            </a:r>
          </a:p>
          <a:p>
            <a:r>
              <a:rPr lang="en-US" sz="1600" dirty="0">
                <a:latin typeface="Consolas" panose="020B0609020204030204" pitchFamily="49" charset="0"/>
              </a:rPr>
              <a:t>        long start = </a:t>
            </a:r>
            <a:r>
              <a:rPr lang="en-US" sz="1600" dirty="0" err="1">
                <a:latin typeface="Consolas" panose="020B0609020204030204" pitchFamily="49" charset="0"/>
              </a:rPr>
              <a:t>System.currentTimeMillis</a:t>
            </a:r>
            <a:r>
              <a:rPr lang="en-US" sz="1600" dirty="0">
                <a:latin typeface="Consolas" panose="020B0609020204030204" pitchFamily="49" charset="0"/>
              </a:rPr>
              <a:t>();</a:t>
            </a:r>
          </a:p>
          <a:p>
            <a:r>
              <a:rPr lang="en-US" sz="1600" dirty="0">
                <a:latin typeface="Consolas" panose="020B0609020204030204" pitchFamily="49" charset="0"/>
              </a:rPr>
              <a:t>        // Frequent random access</a:t>
            </a:r>
          </a:p>
          <a:p>
            <a:r>
              <a:rPr lang="en-US" sz="1600" dirty="0">
                <a:latin typeface="Consolas" panose="020B0609020204030204" pitchFamily="49" charset="0"/>
              </a:rPr>
              <a:t>        for (int </a:t>
            </a:r>
            <a:r>
              <a:rPr lang="en-US" sz="1600" dirty="0" err="1">
                <a:latin typeface="Consolas" panose="020B0609020204030204" pitchFamily="49" charset="0"/>
              </a:rPr>
              <a:t>i</a:t>
            </a:r>
            <a:r>
              <a:rPr lang="en-US" sz="1600" dirty="0">
                <a:latin typeface="Consolas" panose="020B0609020204030204" pitchFamily="49" charset="0"/>
              </a:rPr>
              <a:t> = 0; </a:t>
            </a:r>
            <a:r>
              <a:rPr lang="en-US" sz="1600" dirty="0" err="1">
                <a:latin typeface="Consolas" panose="020B0609020204030204" pitchFamily="49" charset="0"/>
              </a:rPr>
              <a:t>i</a:t>
            </a:r>
            <a:r>
              <a:rPr lang="en-US" sz="1600" dirty="0">
                <a:latin typeface="Consolas" panose="020B0609020204030204" pitchFamily="49" charset="0"/>
              </a:rPr>
              <a:t> &lt; </a:t>
            </a:r>
            <a:r>
              <a:rPr lang="en-US" sz="1600" dirty="0" err="1">
                <a:latin typeface="Consolas" panose="020B0609020204030204" pitchFamily="49" charset="0"/>
              </a:rPr>
              <a:t>list.size</a:t>
            </a:r>
            <a:r>
              <a:rPr lang="en-US" sz="1600" dirty="0">
                <a:latin typeface="Consolas" panose="020B0609020204030204" pitchFamily="49" charset="0"/>
              </a:rPr>
              <a:t>(); </a:t>
            </a:r>
            <a:r>
              <a:rPr lang="en-US" sz="1600" dirty="0" err="1">
                <a:latin typeface="Consolas" panose="020B0609020204030204" pitchFamily="49" charset="0"/>
              </a:rPr>
              <a:t>i</a:t>
            </a:r>
            <a:r>
              <a:rPr lang="en-US" sz="1600" dirty="0">
                <a:latin typeface="Consolas" panose="020B0609020204030204" pitchFamily="49" charset="0"/>
              </a:rPr>
              <a:t>++) {</a:t>
            </a:r>
          </a:p>
          <a:p>
            <a:r>
              <a:rPr lang="en-US" sz="1600" dirty="0">
                <a:latin typeface="Consolas" panose="020B0609020204030204" pitchFamily="49" charset="0"/>
              </a:rPr>
              <a:t>            </a:t>
            </a:r>
            <a:r>
              <a:rPr lang="en-US" sz="1600" dirty="0" err="1">
                <a:latin typeface="Consolas" panose="020B0609020204030204" pitchFamily="49" charset="0"/>
              </a:rPr>
              <a:t>list.get</a:t>
            </a:r>
            <a:r>
              <a:rPr lang="en-US" sz="1600" dirty="0">
                <a:latin typeface="Consolas" panose="020B0609020204030204" pitchFamily="49" charset="0"/>
              </a:rPr>
              <a:t>(</a:t>
            </a:r>
            <a:r>
              <a:rPr lang="en-US" sz="1600" dirty="0" err="1">
                <a:latin typeface="Consolas" panose="020B0609020204030204" pitchFamily="49" charset="0"/>
              </a:rPr>
              <a:t>i</a:t>
            </a:r>
            <a:r>
              <a:rPr lang="en-US" sz="1600" dirty="0">
                <a:latin typeface="Consolas" panose="020B0609020204030204" pitchFamily="49" charset="0"/>
              </a:rPr>
              <a:t>);   // VERY SLOW in LinkedList</a:t>
            </a:r>
          </a:p>
          <a:p>
            <a:r>
              <a:rPr lang="en-US" sz="1600" dirty="0">
                <a:latin typeface="Consolas" panose="020B0609020204030204" pitchFamily="49" charset="0"/>
              </a:rPr>
              <a:t>        }</a:t>
            </a:r>
          </a:p>
          <a:p>
            <a:r>
              <a:rPr lang="en-US" sz="1600" dirty="0">
                <a:latin typeface="Consolas" panose="020B0609020204030204" pitchFamily="49" charset="0"/>
              </a:rPr>
              <a:t>        </a:t>
            </a:r>
            <a:r>
              <a:rPr lang="en-US" sz="1600" dirty="0" err="1">
                <a:latin typeface="Consolas" panose="020B0609020204030204" pitchFamily="49" charset="0"/>
              </a:rPr>
              <a:t>System.out.println</a:t>
            </a:r>
            <a:r>
              <a:rPr lang="en-US" sz="1600" dirty="0">
                <a:latin typeface="Consolas" panose="020B0609020204030204" pitchFamily="49" charset="0"/>
              </a:rPr>
              <a:t>("Time: " + (</a:t>
            </a:r>
            <a:r>
              <a:rPr lang="en-US" sz="1600" dirty="0" err="1">
                <a:latin typeface="Consolas" panose="020B0609020204030204" pitchFamily="49" charset="0"/>
              </a:rPr>
              <a:t>System.currentTimeMillis</a:t>
            </a:r>
            <a:r>
              <a:rPr lang="en-US" sz="1600" dirty="0">
                <a:latin typeface="Consolas" panose="020B0609020204030204" pitchFamily="49" charset="0"/>
              </a:rPr>
              <a:t>() - start));</a:t>
            </a:r>
          </a:p>
          <a:p>
            <a:r>
              <a:rPr lang="en-US" sz="1600" dirty="0">
                <a:latin typeface="Consolas" panose="020B0609020204030204" pitchFamily="49" charset="0"/>
              </a:rPr>
              <a:t>    }</a:t>
            </a:r>
          </a:p>
          <a:p>
            <a:r>
              <a:rPr lang="en-US" sz="1600" dirty="0">
                <a:latin typeface="Consolas" panose="020B0609020204030204" pitchFamily="49" charset="0"/>
              </a:rPr>
              <a:t>}</a:t>
            </a:r>
          </a:p>
        </p:txBody>
      </p:sp>
    </p:spTree>
    <p:extLst>
      <p:ext uri="{BB962C8B-B14F-4D97-AF65-F5344CB8AC3E}">
        <p14:creationId xmlns:p14="http://schemas.microsoft.com/office/powerpoint/2010/main" val="3834284544"/>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7F7BAE-D9EC-668E-5DB7-822E479FDA94}"/>
              </a:ext>
            </a:extLst>
          </p:cNvPr>
          <p:cNvSpPr>
            <a:spLocks noGrp="1"/>
          </p:cNvSpPr>
          <p:nvPr>
            <p:ph type="title"/>
          </p:nvPr>
        </p:nvSpPr>
        <p:spPr/>
        <p:txBody>
          <a:bodyPr/>
          <a:lstStyle/>
          <a:p>
            <a:r>
              <a:rPr lang="en-GB" dirty="0"/>
              <a:t>Example  : Correct Data Structure</a:t>
            </a:r>
            <a:endParaRPr lang="en-US" dirty="0"/>
          </a:p>
        </p:txBody>
      </p:sp>
      <p:sp>
        <p:nvSpPr>
          <p:cNvPr id="5" name="TextBox 4">
            <a:extLst>
              <a:ext uri="{FF2B5EF4-FFF2-40B4-BE49-F238E27FC236}">
                <a16:creationId xmlns:a16="http://schemas.microsoft.com/office/drawing/2014/main" id="{A2D60BEB-8190-3772-48C0-F1AB25196C4A}"/>
              </a:ext>
            </a:extLst>
          </p:cNvPr>
          <p:cNvSpPr txBox="1"/>
          <p:nvPr/>
        </p:nvSpPr>
        <p:spPr>
          <a:xfrm>
            <a:off x="838200" y="1571841"/>
            <a:ext cx="10121599" cy="3785652"/>
          </a:xfrm>
          <a:prstGeom prst="rect">
            <a:avLst/>
          </a:prstGeom>
          <a:solidFill>
            <a:schemeClr val="accent6">
              <a:lumMod val="20000"/>
              <a:lumOff val="80000"/>
            </a:schemeClr>
          </a:solidFill>
        </p:spPr>
        <p:style>
          <a:lnRef idx="2">
            <a:schemeClr val="accent2"/>
          </a:lnRef>
          <a:fillRef idx="1">
            <a:schemeClr val="lt1"/>
          </a:fillRef>
          <a:effectRef idx="0">
            <a:schemeClr val="accent2"/>
          </a:effectRef>
          <a:fontRef idx="minor">
            <a:schemeClr val="dk1"/>
          </a:fontRef>
        </p:style>
        <p:txBody>
          <a:bodyPr wrap="square">
            <a:spAutoFit/>
          </a:bodyPr>
          <a:lstStyle>
            <a:defPPr>
              <a:defRPr lang="en-US"/>
            </a:defPPr>
            <a:lvl1pPr>
              <a:defRPr sz="1600">
                <a:solidFill>
                  <a:schemeClr val="dk1"/>
                </a:solidFill>
                <a:latin typeface="Consolas" panose="020B0609020204030204" pitchFamily="49" charset="0"/>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dirty="0"/>
              <a:t>import </a:t>
            </a:r>
            <a:r>
              <a:rPr lang="en-US" dirty="0" err="1"/>
              <a:t>java.util</a:t>
            </a:r>
            <a:r>
              <a:rPr lang="en-US" dirty="0"/>
              <a:t>.*;</a:t>
            </a:r>
          </a:p>
          <a:p>
            <a:endParaRPr lang="en-US" dirty="0"/>
          </a:p>
          <a:p>
            <a:r>
              <a:rPr lang="en-US" dirty="0"/>
              <a:t>public class </a:t>
            </a:r>
            <a:r>
              <a:rPr lang="en-US" dirty="0" err="1"/>
              <a:t>GoodExample</a:t>
            </a:r>
            <a:r>
              <a:rPr lang="en-US" dirty="0"/>
              <a:t> {</a:t>
            </a:r>
          </a:p>
          <a:p>
            <a:r>
              <a:rPr lang="en-US" dirty="0"/>
              <a:t>    public static void main(String[] </a:t>
            </a:r>
            <a:r>
              <a:rPr lang="en-US" dirty="0" err="1"/>
              <a:t>args</a:t>
            </a:r>
            <a:r>
              <a:rPr lang="en-US" dirty="0"/>
              <a:t>) {</a:t>
            </a:r>
          </a:p>
          <a:p>
            <a:r>
              <a:rPr lang="en-US" dirty="0"/>
              <a:t>        List&lt;Integer&gt; list = new </a:t>
            </a:r>
            <a:r>
              <a:rPr lang="en-US" dirty="0" err="1"/>
              <a:t>ArrayList</a:t>
            </a:r>
            <a:r>
              <a:rPr lang="en-US" dirty="0"/>
              <a:t>&lt;&gt;();</a:t>
            </a:r>
          </a:p>
          <a:p>
            <a:r>
              <a:rPr lang="en-US" dirty="0"/>
              <a:t>        for (int </a:t>
            </a:r>
            <a:r>
              <a:rPr lang="en-US" dirty="0" err="1"/>
              <a:t>i</a:t>
            </a:r>
            <a:r>
              <a:rPr lang="en-US" dirty="0"/>
              <a:t> = 0; </a:t>
            </a:r>
            <a:r>
              <a:rPr lang="en-US" dirty="0" err="1"/>
              <a:t>i</a:t>
            </a:r>
            <a:r>
              <a:rPr lang="en-US" dirty="0"/>
              <a:t> &lt; 100000; </a:t>
            </a:r>
            <a:r>
              <a:rPr lang="en-US" dirty="0" err="1"/>
              <a:t>i</a:t>
            </a:r>
            <a:r>
              <a:rPr lang="en-US" dirty="0"/>
              <a:t>++) {</a:t>
            </a:r>
          </a:p>
          <a:p>
            <a:r>
              <a:rPr lang="en-US" dirty="0"/>
              <a:t>            </a:t>
            </a:r>
            <a:r>
              <a:rPr lang="en-US" dirty="0" err="1"/>
              <a:t>list.add</a:t>
            </a:r>
            <a:r>
              <a:rPr lang="en-US" dirty="0"/>
              <a:t>(</a:t>
            </a:r>
            <a:r>
              <a:rPr lang="en-US" dirty="0" err="1"/>
              <a:t>i</a:t>
            </a:r>
            <a:r>
              <a:rPr lang="en-US" dirty="0"/>
              <a:t>);</a:t>
            </a:r>
          </a:p>
          <a:p>
            <a:r>
              <a:rPr lang="en-US" dirty="0"/>
              <a:t>        }</a:t>
            </a:r>
          </a:p>
          <a:p>
            <a:r>
              <a:rPr lang="en-US" dirty="0"/>
              <a:t>        long start = </a:t>
            </a:r>
            <a:r>
              <a:rPr lang="en-US" dirty="0" err="1"/>
              <a:t>System.currentTimeMillis</a:t>
            </a:r>
            <a:r>
              <a:rPr lang="en-US" dirty="0"/>
              <a:t>();</a:t>
            </a:r>
          </a:p>
          <a:p>
            <a:r>
              <a:rPr lang="en-US" dirty="0"/>
              <a:t>        for (int </a:t>
            </a:r>
            <a:r>
              <a:rPr lang="en-US" dirty="0" err="1"/>
              <a:t>i</a:t>
            </a:r>
            <a:r>
              <a:rPr lang="en-US" dirty="0"/>
              <a:t> = 0; </a:t>
            </a:r>
            <a:r>
              <a:rPr lang="en-US" dirty="0" err="1"/>
              <a:t>i</a:t>
            </a:r>
            <a:r>
              <a:rPr lang="en-US" dirty="0"/>
              <a:t> &lt; </a:t>
            </a:r>
            <a:r>
              <a:rPr lang="en-US" dirty="0" err="1"/>
              <a:t>list.size</a:t>
            </a:r>
            <a:r>
              <a:rPr lang="en-US" dirty="0"/>
              <a:t>(); </a:t>
            </a:r>
            <a:r>
              <a:rPr lang="en-US" dirty="0" err="1"/>
              <a:t>i</a:t>
            </a:r>
            <a:r>
              <a:rPr lang="en-US" dirty="0"/>
              <a:t>++) {</a:t>
            </a:r>
          </a:p>
          <a:p>
            <a:r>
              <a:rPr lang="en-US" dirty="0"/>
              <a:t>            </a:t>
            </a:r>
            <a:r>
              <a:rPr lang="en-US" dirty="0" err="1"/>
              <a:t>list.get</a:t>
            </a:r>
            <a:r>
              <a:rPr lang="en-US" dirty="0"/>
              <a:t>(</a:t>
            </a:r>
            <a:r>
              <a:rPr lang="en-US" dirty="0" err="1"/>
              <a:t>i</a:t>
            </a:r>
            <a:r>
              <a:rPr lang="en-US" dirty="0"/>
              <a:t>);   // FAST (O(1))</a:t>
            </a:r>
          </a:p>
          <a:p>
            <a:r>
              <a:rPr lang="en-US" dirty="0"/>
              <a:t>        }</a:t>
            </a:r>
          </a:p>
          <a:p>
            <a:r>
              <a:rPr lang="en-US" dirty="0"/>
              <a:t>        </a:t>
            </a:r>
            <a:r>
              <a:rPr lang="en-US" dirty="0" err="1"/>
              <a:t>System.out.println</a:t>
            </a:r>
            <a:r>
              <a:rPr lang="en-US" dirty="0"/>
              <a:t>("Time: " + (</a:t>
            </a:r>
            <a:r>
              <a:rPr lang="en-US" dirty="0" err="1"/>
              <a:t>System.currentTimeMillis</a:t>
            </a:r>
            <a:r>
              <a:rPr lang="en-US" dirty="0"/>
              <a:t>() - start));</a:t>
            </a:r>
          </a:p>
          <a:p>
            <a:r>
              <a:rPr lang="en-US" dirty="0"/>
              <a:t>    }</a:t>
            </a:r>
          </a:p>
          <a:p>
            <a:r>
              <a:rPr lang="en-US" dirty="0"/>
              <a:t>}</a:t>
            </a:r>
          </a:p>
        </p:txBody>
      </p:sp>
    </p:spTree>
    <p:extLst>
      <p:ext uri="{BB962C8B-B14F-4D97-AF65-F5344CB8AC3E}">
        <p14:creationId xmlns:p14="http://schemas.microsoft.com/office/powerpoint/2010/main" val="3822438212"/>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7ED48C-F312-92DA-AEC3-A1221E0086DF}"/>
              </a:ext>
            </a:extLst>
          </p:cNvPr>
          <p:cNvSpPr>
            <a:spLocks noGrp="1"/>
          </p:cNvSpPr>
          <p:nvPr>
            <p:ph type="title"/>
          </p:nvPr>
        </p:nvSpPr>
        <p:spPr/>
        <p:txBody>
          <a:bodyPr/>
          <a:lstStyle/>
          <a:p>
            <a:r>
              <a:rPr lang="en-GB" dirty="0"/>
              <a:t>Cost of Synchronization</a:t>
            </a:r>
            <a:endParaRPr lang="en-US" dirty="0"/>
          </a:p>
        </p:txBody>
      </p:sp>
      <p:sp>
        <p:nvSpPr>
          <p:cNvPr id="3" name="Content Placeholder 2">
            <a:extLst>
              <a:ext uri="{FF2B5EF4-FFF2-40B4-BE49-F238E27FC236}">
                <a16:creationId xmlns:a16="http://schemas.microsoft.com/office/drawing/2014/main" id="{7BD559B2-53C4-1661-8984-2E5D2CE36866}"/>
              </a:ext>
            </a:extLst>
          </p:cNvPr>
          <p:cNvSpPr>
            <a:spLocks noGrp="1"/>
          </p:cNvSpPr>
          <p:nvPr>
            <p:ph idx="1"/>
          </p:nvPr>
        </p:nvSpPr>
        <p:spPr/>
        <p:txBody>
          <a:bodyPr/>
          <a:lstStyle/>
          <a:p>
            <a:r>
              <a:rPr lang="en-GB" dirty="0"/>
              <a:t>Why bad ?</a:t>
            </a:r>
          </a:p>
          <a:p>
            <a:pPr lvl="1"/>
            <a:r>
              <a:rPr lang="en-GB" dirty="0"/>
              <a:t>Thread blocking</a:t>
            </a:r>
          </a:p>
          <a:p>
            <a:pPr lvl="1"/>
            <a:r>
              <a:rPr lang="en-GB" dirty="0"/>
              <a:t>Context switching</a:t>
            </a:r>
          </a:p>
          <a:p>
            <a:pPr lvl="1"/>
            <a:r>
              <a:rPr lang="en-GB" dirty="0"/>
              <a:t>Reduced CPU utilization</a:t>
            </a:r>
          </a:p>
          <a:p>
            <a:r>
              <a:rPr lang="en-US" dirty="0"/>
              <a:t>Better</a:t>
            </a:r>
          </a:p>
          <a:p>
            <a:pPr lvl="1"/>
            <a:r>
              <a:rPr lang="en-US" dirty="0"/>
              <a:t>Use fine-grained locks</a:t>
            </a:r>
          </a:p>
          <a:p>
            <a:pPr lvl="1"/>
            <a:r>
              <a:rPr lang="en-US" dirty="0"/>
              <a:t>Use Concurrent collections</a:t>
            </a:r>
          </a:p>
          <a:p>
            <a:pPr lvl="1"/>
            <a:r>
              <a:rPr lang="en-US" dirty="0"/>
              <a:t>Use Atomic classes</a:t>
            </a:r>
          </a:p>
        </p:txBody>
      </p:sp>
    </p:spTree>
    <p:extLst>
      <p:ext uri="{BB962C8B-B14F-4D97-AF65-F5344CB8AC3E}">
        <p14:creationId xmlns:p14="http://schemas.microsoft.com/office/powerpoint/2010/main" val="3623491547"/>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8BEB4B-85E1-E5BC-3CC0-7CEBBDB6986E}"/>
              </a:ext>
            </a:extLst>
          </p:cNvPr>
          <p:cNvSpPr>
            <a:spLocks noGrp="1"/>
          </p:cNvSpPr>
          <p:nvPr>
            <p:ph type="title"/>
          </p:nvPr>
        </p:nvSpPr>
        <p:spPr/>
        <p:txBody>
          <a:bodyPr/>
          <a:lstStyle/>
          <a:p>
            <a:r>
              <a:rPr lang="en-US" dirty="0"/>
              <a:t>String Handling Optimization</a:t>
            </a:r>
          </a:p>
        </p:txBody>
      </p:sp>
      <p:sp>
        <p:nvSpPr>
          <p:cNvPr id="3" name="Content Placeholder 2">
            <a:extLst>
              <a:ext uri="{FF2B5EF4-FFF2-40B4-BE49-F238E27FC236}">
                <a16:creationId xmlns:a16="http://schemas.microsoft.com/office/drawing/2014/main" id="{2AB4BAD9-4E9F-A4E6-822E-BAEC506943C6}"/>
              </a:ext>
            </a:extLst>
          </p:cNvPr>
          <p:cNvSpPr>
            <a:spLocks noGrp="1"/>
          </p:cNvSpPr>
          <p:nvPr>
            <p:ph idx="1"/>
          </p:nvPr>
        </p:nvSpPr>
        <p:spPr/>
        <p:txBody>
          <a:bodyPr/>
          <a:lstStyle/>
          <a:p>
            <a:r>
              <a:rPr lang="en-GB" dirty="0"/>
              <a:t>Strings are immutable – creates thousands of objects</a:t>
            </a:r>
            <a:endParaRPr lang="en-US" dirty="0"/>
          </a:p>
        </p:txBody>
      </p:sp>
      <p:sp>
        <p:nvSpPr>
          <p:cNvPr id="5" name="TextBox 4">
            <a:extLst>
              <a:ext uri="{FF2B5EF4-FFF2-40B4-BE49-F238E27FC236}">
                <a16:creationId xmlns:a16="http://schemas.microsoft.com/office/drawing/2014/main" id="{029668D5-E3B4-7314-BA8F-4DD9EED7670D}"/>
              </a:ext>
            </a:extLst>
          </p:cNvPr>
          <p:cNvSpPr txBox="1"/>
          <p:nvPr/>
        </p:nvSpPr>
        <p:spPr>
          <a:xfrm>
            <a:off x="958820" y="4667387"/>
            <a:ext cx="6095276" cy="1077218"/>
          </a:xfrm>
          <a:prstGeom prst="rect">
            <a:avLst/>
          </a:prstGeom>
          <a:solidFill>
            <a:schemeClr val="accent6">
              <a:lumMod val="20000"/>
              <a:lumOff val="80000"/>
            </a:schemeClr>
          </a:solidFill>
        </p:spPr>
        <p:style>
          <a:lnRef idx="2">
            <a:schemeClr val="accent2"/>
          </a:lnRef>
          <a:fillRef idx="1">
            <a:schemeClr val="lt1"/>
          </a:fillRef>
          <a:effectRef idx="0">
            <a:schemeClr val="accent2"/>
          </a:effectRef>
          <a:fontRef idx="minor">
            <a:schemeClr val="dk1"/>
          </a:fontRef>
        </p:style>
        <p:txBody>
          <a:bodyPr wrap="square">
            <a:spAutoFit/>
          </a:bodyPr>
          <a:lstStyle>
            <a:defPPr>
              <a:defRPr lang="en-US"/>
            </a:defPPr>
            <a:lvl1pPr>
              <a:defRPr sz="1600">
                <a:solidFill>
                  <a:schemeClr val="dk1"/>
                </a:solidFill>
                <a:latin typeface="Consolas" panose="020B0609020204030204" pitchFamily="49" charset="0"/>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dirty="0"/>
              <a:t>StringBuilder sb = new StringBuilder();</a:t>
            </a:r>
          </a:p>
          <a:p>
            <a:r>
              <a:rPr lang="en-US" dirty="0"/>
              <a:t>for (int </a:t>
            </a:r>
            <a:r>
              <a:rPr lang="en-US" dirty="0" err="1"/>
              <a:t>i</a:t>
            </a:r>
            <a:r>
              <a:rPr lang="en-US" dirty="0"/>
              <a:t> = 0; </a:t>
            </a:r>
            <a:r>
              <a:rPr lang="en-US" dirty="0" err="1"/>
              <a:t>i</a:t>
            </a:r>
            <a:r>
              <a:rPr lang="en-US" dirty="0"/>
              <a:t> &lt; 10000; </a:t>
            </a:r>
            <a:r>
              <a:rPr lang="en-US" dirty="0" err="1"/>
              <a:t>i</a:t>
            </a:r>
            <a:r>
              <a:rPr lang="en-US" dirty="0"/>
              <a:t>++) {</a:t>
            </a:r>
          </a:p>
          <a:p>
            <a:r>
              <a:rPr lang="en-US" dirty="0"/>
              <a:t>    </a:t>
            </a:r>
            <a:r>
              <a:rPr lang="en-US" dirty="0" err="1"/>
              <a:t>sb.append</a:t>
            </a:r>
            <a:r>
              <a:rPr lang="en-US" dirty="0"/>
              <a:t>(</a:t>
            </a:r>
            <a:r>
              <a:rPr lang="en-US" dirty="0" err="1"/>
              <a:t>i</a:t>
            </a:r>
            <a:r>
              <a:rPr lang="en-US" dirty="0"/>
              <a:t>);</a:t>
            </a:r>
          </a:p>
          <a:p>
            <a:r>
              <a:rPr lang="en-US" dirty="0"/>
              <a:t>}</a:t>
            </a:r>
          </a:p>
        </p:txBody>
      </p:sp>
      <p:sp>
        <p:nvSpPr>
          <p:cNvPr id="7" name="TextBox 6">
            <a:extLst>
              <a:ext uri="{FF2B5EF4-FFF2-40B4-BE49-F238E27FC236}">
                <a16:creationId xmlns:a16="http://schemas.microsoft.com/office/drawing/2014/main" id="{D9ABF32E-7118-9499-7E70-6F536DCC3EDC}"/>
              </a:ext>
            </a:extLst>
          </p:cNvPr>
          <p:cNvSpPr txBox="1"/>
          <p:nvPr/>
        </p:nvSpPr>
        <p:spPr>
          <a:xfrm>
            <a:off x="958820" y="2924076"/>
            <a:ext cx="6095276" cy="1077218"/>
          </a:xfrm>
          <a:prstGeom prst="rect">
            <a:avLst/>
          </a:prstGeom>
          <a:solidFill>
            <a:schemeClr val="accent6">
              <a:lumMod val="20000"/>
              <a:lumOff val="80000"/>
            </a:schemeClr>
          </a:solidFill>
        </p:spPr>
        <p:style>
          <a:lnRef idx="2">
            <a:schemeClr val="accent2"/>
          </a:lnRef>
          <a:fillRef idx="1">
            <a:schemeClr val="lt1"/>
          </a:fillRef>
          <a:effectRef idx="0">
            <a:schemeClr val="accent2"/>
          </a:effectRef>
          <a:fontRef idx="minor">
            <a:schemeClr val="dk1"/>
          </a:fontRef>
        </p:style>
        <p:txBody>
          <a:bodyPr wrap="square">
            <a:spAutoFit/>
          </a:bodyPr>
          <a:lstStyle>
            <a:defPPr>
              <a:defRPr lang="en-US"/>
            </a:defPPr>
            <a:lvl1pPr>
              <a:defRPr sz="1600">
                <a:solidFill>
                  <a:schemeClr val="dk1"/>
                </a:solidFill>
                <a:latin typeface="Consolas" panose="020B0609020204030204" pitchFamily="49" charset="0"/>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dirty="0"/>
              <a:t>String result = "";</a:t>
            </a:r>
          </a:p>
          <a:p>
            <a:r>
              <a:rPr lang="en-US" dirty="0"/>
              <a:t>for (int </a:t>
            </a:r>
            <a:r>
              <a:rPr lang="en-US" dirty="0" err="1"/>
              <a:t>i</a:t>
            </a:r>
            <a:r>
              <a:rPr lang="en-US" dirty="0"/>
              <a:t> = 0; </a:t>
            </a:r>
            <a:r>
              <a:rPr lang="en-US" dirty="0" err="1"/>
              <a:t>i</a:t>
            </a:r>
            <a:r>
              <a:rPr lang="en-US" dirty="0"/>
              <a:t> &lt; 10000; </a:t>
            </a:r>
            <a:r>
              <a:rPr lang="en-US" dirty="0" err="1"/>
              <a:t>i</a:t>
            </a:r>
            <a:r>
              <a:rPr lang="en-US" dirty="0"/>
              <a:t>++) {</a:t>
            </a:r>
          </a:p>
          <a:p>
            <a:r>
              <a:rPr lang="en-US" dirty="0"/>
              <a:t>    result += </a:t>
            </a:r>
            <a:r>
              <a:rPr lang="en-US" dirty="0" err="1"/>
              <a:t>i</a:t>
            </a:r>
            <a:r>
              <a:rPr lang="en-US" dirty="0"/>
              <a:t>;</a:t>
            </a:r>
          </a:p>
          <a:p>
            <a:r>
              <a:rPr lang="en-US" dirty="0"/>
              <a:t>}</a:t>
            </a:r>
          </a:p>
        </p:txBody>
      </p:sp>
      <p:sp>
        <p:nvSpPr>
          <p:cNvPr id="8" name="TextBox 7">
            <a:extLst>
              <a:ext uri="{FF2B5EF4-FFF2-40B4-BE49-F238E27FC236}">
                <a16:creationId xmlns:a16="http://schemas.microsoft.com/office/drawing/2014/main" id="{490559A0-3423-9177-3ED6-08B092999B4B}"/>
              </a:ext>
            </a:extLst>
          </p:cNvPr>
          <p:cNvSpPr txBox="1"/>
          <p:nvPr/>
        </p:nvSpPr>
        <p:spPr>
          <a:xfrm>
            <a:off x="958820" y="2604473"/>
            <a:ext cx="542136" cy="369332"/>
          </a:xfrm>
          <a:prstGeom prst="rect">
            <a:avLst/>
          </a:prstGeom>
          <a:noFill/>
        </p:spPr>
        <p:txBody>
          <a:bodyPr wrap="none" rtlCol="0">
            <a:spAutoFit/>
          </a:bodyPr>
          <a:lstStyle/>
          <a:p>
            <a:r>
              <a:rPr lang="en-GB" dirty="0"/>
              <a:t>Bad</a:t>
            </a:r>
            <a:endParaRPr lang="en-US" dirty="0"/>
          </a:p>
        </p:txBody>
      </p:sp>
      <p:sp>
        <p:nvSpPr>
          <p:cNvPr id="9" name="TextBox 8">
            <a:extLst>
              <a:ext uri="{FF2B5EF4-FFF2-40B4-BE49-F238E27FC236}">
                <a16:creationId xmlns:a16="http://schemas.microsoft.com/office/drawing/2014/main" id="{7FC8D987-99A4-DEDB-8C96-8285EB12C70E}"/>
              </a:ext>
            </a:extLst>
          </p:cNvPr>
          <p:cNvSpPr txBox="1"/>
          <p:nvPr/>
        </p:nvSpPr>
        <p:spPr>
          <a:xfrm>
            <a:off x="958820" y="4298055"/>
            <a:ext cx="696024" cy="369332"/>
          </a:xfrm>
          <a:prstGeom prst="rect">
            <a:avLst/>
          </a:prstGeom>
          <a:noFill/>
        </p:spPr>
        <p:txBody>
          <a:bodyPr wrap="none" rtlCol="0">
            <a:spAutoFit/>
          </a:bodyPr>
          <a:lstStyle/>
          <a:p>
            <a:r>
              <a:rPr lang="en-GB" dirty="0"/>
              <a:t>Good</a:t>
            </a:r>
            <a:endParaRPr lang="en-US" dirty="0"/>
          </a:p>
        </p:txBody>
      </p:sp>
    </p:spTree>
    <p:extLst>
      <p:ext uri="{BB962C8B-B14F-4D97-AF65-F5344CB8AC3E}">
        <p14:creationId xmlns:p14="http://schemas.microsoft.com/office/powerpoint/2010/main" val="2896572436"/>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826552-848D-6D19-0B23-ECA6B50653E3}"/>
              </a:ext>
            </a:extLst>
          </p:cNvPr>
          <p:cNvSpPr>
            <a:spLocks noGrp="1"/>
          </p:cNvSpPr>
          <p:nvPr>
            <p:ph type="title"/>
          </p:nvPr>
        </p:nvSpPr>
        <p:spPr/>
        <p:txBody>
          <a:bodyPr/>
          <a:lstStyle/>
          <a:p>
            <a:r>
              <a:rPr lang="en-GB" dirty="0"/>
              <a:t>Collections Tuning</a:t>
            </a:r>
            <a:endParaRPr lang="en-US" dirty="0"/>
          </a:p>
        </p:txBody>
      </p:sp>
      <p:graphicFrame>
        <p:nvGraphicFramePr>
          <p:cNvPr id="5" name="Table 4">
            <a:extLst>
              <a:ext uri="{FF2B5EF4-FFF2-40B4-BE49-F238E27FC236}">
                <a16:creationId xmlns:a16="http://schemas.microsoft.com/office/drawing/2014/main" id="{67586339-EACF-33B9-C7D9-D72E493E48B0}"/>
              </a:ext>
            </a:extLst>
          </p:cNvPr>
          <p:cNvGraphicFramePr>
            <a:graphicFrameLocks noGrp="1"/>
          </p:cNvGraphicFramePr>
          <p:nvPr>
            <p:extLst>
              <p:ext uri="{D42A27DB-BD31-4B8C-83A1-F6EECF244321}">
                <p14:modId xmlns:p14="http://schemas.microsoft.com/office/powerpoint/2010/main" val="1785522908"/>
              </p:ext>
            </p:extLst>
          </p:nvPr>
        </p:nvGraphicFramePr>
        <p:xfrm>
          <a:off x="781862" y="4496197"/>
          <a:ext cx="10515600" cy="1463040"/>
        </p:xfrm>
        <a:graphic>
          <a:graphicData uri="http://schemas.openxmlformats.org/drawingml/2006/table">
            <a:tbl>
              <a:tblPr>
                <a:tableStyleId>{BC89EF96-8CEA-46FF-86C4-4CE0E7609802}</a:tableStyleId>
              </a:tblPr>
              <a:tblGrid>
                <a:gridCol w="3505200">
                  <a:extLst>
                    <a:ext uri="{9D8B030D-6E8A-4147-A177-3AD203B41FA5}">
                      <a16:colId xmlns:a16="http://schemas.microsoft.com/office/drawing/2014/main" val="3796669924"/>
                    </a:ext>
                  </a:extLst>
                </a:gridCol>
                <a:gridCol w="3505200">
                  <a:extLst>
                    <a:ext uri="{9D8B030D-6E8A-4147-A177-3AD203B41FA5}">
                      <a16:colId xmlns:a16="http://schemas.microsoft.com/office/drawing/2014/main" val="3827404991"/>
                    </a:ext>
                  </a:extLst>
                </a:gridCol>
                <a:gridCol w="3505200">
                  <a:extLst>
                    <a:ext uri="{9D8B030D-6E8A-4147-A177-3AD203B41FA5}">
                      <a16:colId xmlns:a16="http://schemas.microsoft.com/office/drawing/2014/main" val="1492800182"/>
                    </a:ext>
                  </a:extLst>
                </a:gridCol>
              </a:tblGrid>
              <a:tr h="0">
                <a:tc>
                  <a:txBody>
                    <a:bodyPr/>
                    <a:lstStyle/>
                    <a:p>
                      <a:pPr>
                        <a:buNone/>
                      </a:pPr>
                      <a:r>
                        <a:rPr lang="en-US" dirty="0"/>
                        <a:t>Operation</a:t>
                      </a:r>
                    </a:p>
                  </a:txBody>
                  <a:tcPr anchor="ctr"/>
                </a:tc>
                <a:tc>
                  <a:txBody>
                    <a:bodyPr/>
                    <a:lstStyle/>
                    <a:p>
                      <a:pPr>
                        <a:buNone/>
                      </a:pPr>
                      <a:r>
                        <a:rPr lang="en-US"/>
                        <a:t>ArrayList</a:t>
                      </a:r>
                    </a:p>
                  </a:txBody>
                  <a:tcPr anchor="ctr"/>
                </a:tc>
                <a:tc>
                  <a:txBody>
                    <a:bodyPr/>
                    <a:lstStyle/>
                    <a:p>
                      <a:pPr>
                        <a:buNone/>
                      </a:pPr>
                      <a:r>
                        <a:rPr lang="en-US"/>
                        <a:t>LinkedList</a:t>
                      </a:r>
                    </a:p>
                  </a:txBody>
                  <a:tcPr anchor="ctr"/>
                </a:tc>
                <a:extLst>
                  <a:ext uri="{0D108BD9-81ED-4DB2-BD59-A6C34878D82A}">
                    <a16:rowId xmlns:a16="http://schemas.microsoft.com/office/drawing/2014/main" val="3392277589"/>
                  </a:ext>
                </a:extLst>
              </a:tr>
              <a:tr h="0">
                <a:tc>
                  <a:txBody>
                    <a:bodyPr/>
                    <a:lstStyle/>
                    <a:p>
                      <a:pPr>
                        <a:buNone/>
                      </a:pPr>
                      <a:r>
                        <a:rPr lang="en-US"/>
                        <a:t>Access</a:t>
                      </a:r>
                    </a:p>
                  </a:txBody>
                  <a:tcPr anchor="ctr"/>
                </a:tc>
                <a:tc>
                  <a:txBody>
                    <a:bodyPr/>
                    <a:lstStyle/>
                    <a:p>
                      <a:pPr>
                        <a:buNone/>
                      </a:pPr>
                      <a:r>
                        <a:rPr lang="en-US" dirty="0"/>
                        <a:t>✅ Fast</a:t>
                      </a:r>
                    </a:p>
                  </a:txBody>
                  <a:tcPr anchor="ctr"/>
                </a:tc>
                <a:tc>
                  <a:txBody>
                    <a:bodyPr/>
                    <a:lstStyle/>
                    <a:p>
                      <a:pPr>
                        <a:buNone/>
                      </a:pPr>
                      <a:r>
                        <a:rPr lang="en-US"/>
                        <a:t>❌ Slow</a:t>
                      </a:r>
                    </a:p>
                  </a:txBody>
                  <a:tcPr anchor="ctr"/>
                </a:tc>
                <a:extLst>
                  <a:ext uri="{0D108BD9-81ED-4DB2-BD59-A6C34878D82A}">
                    <a16:rowId xmlns:a16="http://schemas.microsoft.com/office/drawing/2014/main" val="3358415032"/>
                  </a:ext>
                </a:extLst>
              </a:tr>
              <a:tr h="0">
                <a:tc>
                  <a:txBody>
                    <a:bodyPr/>
                    <a:lstStyle/>
                    <a:p>
                      <a:pPr>
                        <a:buNone/>
                      </a:pPr>
                      <a:r>
                        <a:rPr lang="en-US" dirty="0"/>
                        <a:t>Insert middle</a:t>
                      </a:r>
                    </a:p>
                  </a:txBody>
                  <a:tcPr anchor="ctr"/>
                </a:tc>
                <a:tc>
                  <a:txBody>
                    <a:bodyPr/>
                    <a:lstStyle/>
                    <a:p>
                      <a:pPr>
                        <a:buNone/>
                      </a:pPr>
                      <a:r>
                        <a:rPr lang="en-US"/>
                        <a:t>❌</a:t>
                      </a:r>
                    </a:p>
                  </a:txBody>
                  <a:tcPr anchor="ctr"/>
                </a:tc>
                <a:tc>
                  <a:txBody>
                    <a:bodyPr/>
                    <a:lstStyle/>
                    <a:p>
                      <a:pPr>
                        <a:buNone/>
                      </a:pPr>
                      <a:r>
                        <a:rPr lang="en-US"/>
                        <a:t>❌ (still slow in real)</a:t>
                      </a:r>
                    </a:p>
                  </a:txBody>
                  <a:tcPr anchor="ctr"/>
                </a:tc>
                <a:extLst>
                  <a:ext uri="{0D108BD9-81ED-4DB2-BD59-A6C34878D82A}">
                    <a16:rowId xmlns:a16="http://schemas.microsoft.com/office/drawing/2014/main" val="2005820157"/>
                  </a:ext>
                </a:extLst>
              </a:tr>
              <a:tr h="0">
                <a:tc>
                  <a:txBody>
                    <a:bodyPr/>
                    <a:lstStyle/>
                    <a:p>
                      <a:pPr>
                        <a:buNone/>
                      </a:pPr>
                      <a:r>
                        <a:rPr lang="en-US"/>
                        <a:t>Memory</a:t>
                      </a:r>
                    </a:p>
                  </a:txBody>
                  <a:tcPr anchor="ctr"/>
                </a:tc>
                <a:tc>
                  <a:txBody>
                    <a:bodyPr/>
                    <a:lstStyle/>
                    <a:p>
                      <a:pPr>
                        <a:buNone/>
                      </a:pPr>
                      <a:r>
                        <a:rPr lang="en-US"/>
                        <a:t>Compact</a:t>
                      </a:r>
                    </a:p>
                  </a:txBody>
                  <a:tcPr anchor="ctr"/>
                </a:tc>
                <a:tc>
                  <a:txBody>
                    <a:bodyPr/>
                    <a:lstStyle/>
                    <a:p>
                      <a:pPr>
                        <a:buNone/>
                      </a:pPr>
                      <a:r>
                        <a:rPr lang="en-US" dirty="0"/>
                        <a:t>Heavy</a:t>
                      </a:r>
                    </a:p>
                  </a:txBody>
                  <a:tcPr anchor="ctr"/>
                </a:tc>
                <a:extLst>
                  <a:ext uri="{0D108BD9-81ED-4DB2-BD59-A6C34878D82A}">
                    <a16:rowId xmlns:a16="http://schemas.microsoft.com/office/drawing/2014/main" val="2566241037"/>
                  </a:ext>
                </a:extLst>
              </a:tr>
            </a:tbl>
          </a:graphicData>
        </a:graphic>
      </p:graphicFrame>
      <p:graphicFrame>
        <p:nvGraphicFramePr>
          <p:cNvPr id="8" name="Table 7">
            <a:extLst>
              <a:ext uri="{FF2B5EF4-FFF2-40B4-BE49-F238E27FC236}">
                <a16:creationId xmlns:a16="http://schemas.microsoft.com/office/drawing/2014/main" id="{ED891DB4-9FD4-12BD-33B6-8FF6D13188F8}"/>
              </a:ext>
            </a:extLst>
          </p:cNvPr>
          <p:cNvGraphicFramePr>
            <a:graphicFrameLocks noGrp="1"/>
          </p:cNvGraphicFramePr>
          <p:nvPr>
            <p:extLst>
              <p:ext uri="{D42A27DB-BD31-4B8C-83A1-F6EECF244321}">
                <p14:modId xmlns:p14="http://schemas.microsoft.com/office/powerpoint/2010/main" val="3781126176"/>
              </p:ext>
            </p:extLst>
          </p:nvPr>
        </p:nvGraphicFramePr>
        <p:xfrm>
          <a:off x="781862" y="2160359"/>
          <a:ext cx="10515600" cy="1463040"/>
        </p:xfrm>
        <a:graphic>
          <a:graphicData uri="http://schemas.openxmlformats.org/drawingml/2006/table">
            <a:tbl>
              <a:tblPr>
                <a:tableStyleId>{BC89EF96-8CEA-46FF-86C4-4CE0E7609802}</a:tableStyleId>
              </a:tblPr>
              <a:tblGrid>
                <a:gridCol w="3505200">
                  <a:extLst>
                    <a:ext uri="{9D8B030D-6E8A-4147-A177-3AD203B41FA5}">
                      <a16:colId xmlns:a16="http://schemas.microsoft.com/office/drawing/2014/main" val="4189474677"/>
                    </a:ext>
                  </a:extLst>
                </a:gridCol>
                <a:gridCol w="3505200">
                  <a:extLst>
                    <a:ext uri="{9D8B030D-6E8A-4147-A177-3AD203B41FA5}">
                      <a16:colId xmlns:a16="http://schemas.microsoft.com/office/drawing/2014/main" val="910113212"/>
                    </a:ext>
                  </a:extLst>
                </a:gridCol>
                <a:gridCol w="3505200">
                  <a:extLst>
                    <a:ext uri="{9D8B030D-6E8A-4147-A177-3AD203B41FA5}">
                      <a16:colId xmlns:a16="http://schemas.microsoft.com/office/drawing/2014/main" val="266831765"/>
                    </a:ext>
                  </a:extLst>
                </a:gridCol>
              </a:tblGrid>
              <a:tr h="0">
                <a:tc>
                  <a:txBody>
                    <a:bodyPr/>
                    <a:lstStyle/>
                    <a:p>
                      <a:pPr>
                        <a:buNone/>
                      </a:pPr>
                      <a:r>
                        <a:rPr lang="en-US"/>
                        <a:t>Feature</a:t>
                      </a:r>
                    </a:p>
                  </a:txBody>
                  <a:tcPr anchor="ctr"/>
                </a:tc>
                <a:tc>
                  <a:txBody>
                    <a:bodyPr/>
                    <a:lstStyle/>
                    <a:p>
                      <a:pPr>
                        <a:buNone/>
                      </a:pPr>
                      <a:r>
                        <a:rPr lang="en-US"/>
                        <a:t>HashMap</a:t>
                      </a:r>
                    </a:p>
                  </a:txBody>
                  <a:tcPr anchor="ctr"/>
                </a:tc>
                <a:tc>
                  <a:txBody>
                    <a:bodyPr/>
                    <a:lstStyle/>
                    <a:p>
                      <a:pPr>
                        <a:buNone/>
                      </a:pPr>
                      <a:r>
                        <a:rPr lang="en-US"/>
                        <a:t>ConcurrentHashMap</a:t>
                      </a:r>
                    </a:p>
                  </a:txBody>
                  <a:tcPr anchor="ctr"/>
                </a:tc>
                <a:extLst>
                  <a:ext uri="{0D108BD9-81ED-4DB2-BD59-A6C34878D82A}">
                    <a16:rowId xmlns:a16="http://schemas.microsoft.com/office/drawing/2014/main" val="776528743"/>
                  </a:ext>
                </a:extLst>
              </a:tr>
              <a:tr h="0">
                <a:tc>
                  <a:txBody>
                    <a:bodyPr/>
                    <a:lstStyle/>
                    <a:p>
                      <a:pPr>
                        <a:buNone/>
                      </a:pPr>
                      <a:r>
                        <a:rPr lang="en-US"/>
                        <a:t>Thread-safe</a:t>
                      </a:r>
                    </a:p>
                  </a:txBody>
                  <a:tcPr anchor="ctr"/>
                </a:tc>
                <a:tc>
                  <a:txBody>
                    <a:bodyPr/>
                    <a:lstStyle/>
                    <a:p>
                      <a:pPr>
                        <a:buNone/>
                      </a:pPr>
                      <a:r>
                        <a:rPr lang="en-US"/>
                        <a:t>❌</a:t>
                      </a:r>
                    </a:p>
                  </a:txBody>
                  <a:tcPr anchor="ctr"/>
                </a:tc>
                <a:tc>
                  <a:txBody>
                    <a:bodyPr/>
                    <a:lstStyle/>
                    <a:p>
                      <a:pPr>
                        <a:buNone/>
                      </a:pPr>
                      <a:r>
                        <a:rPr lang="en-US"/>
                        <a:t>✅</a:t>
                      </a:r>
                    </a:p>
                  </a:txBody>
                  <a:tcPr anchor="ctr"/>
                </a:tc>
                <a:extLst>
                  <a:ext uri="{0D108BD9-81ED-4DB2-BD59-A6C34878D82A}">
                    <a16:rowId xmlns:a16="http://schemas.microsoft.com/office/drawing/2014/main" val="1294181155"/>
                  </a:ext>
                </a:extLst>
              </a:tr>
              <a:tr h="0">
                <a:tc>
                  <a:txBody>
                    <a:bodyPr/>
                    <a:lstStyle/>
                    <a:p>
                      <a:pPr>
                        <a:buNone/>
                      </a:pPr>
                      <a:r>
                        <a:rPr lang="en-US"/>
                        <a:t>Performance</a:t>
                      </a:r>
                    </a:p>
                  </a:txBody>
                  <a:tcPr anchor="ctr"/>
                </a:tc>
                <a:tc>
                  <a:txBody>
                    <a:bodyPr/>
                    <a:lstStyle/>
                    <a:p>
                      <a:pPr>
                        <a:buNone/>
                      </a:pPr>
                      <a:r>
                        <a:rPr lang="en-US"/>
                        <a:t>Fast</a:t>
                      </a:r>
                    </a:p>
                  </a:txBody>
                  <a:tcPr anchor="ctr"/>
                </a:tc>
                <a:tc>
                  <a:txBody>
                    <a:bodyPr/>
                    <a:lstStyle/>
                    <a:p>
                      <a:pPr>
                        <a:buNone/>
                      </a:pPr>
                      <a:r>
                        <a:rPr lang="en-US"/>
                        <a:t>Slight overhead</a:t>
                      </a:r>
                    </a:p>
                  </a:txBody>
                  <a:tcPr anchor="ctr"/>
                </a:tc>
                <a:extLst>
                  <a:ext uri="{0D108BD9-81ED-4DB2-BD59-A6C34878D82A}">
                    <a16:rowId xmlns:a16="http://schemas.microsoft.com/office/drawing/2014/main" val="769707003"/>
                  </a:ext>
                </a:extLst>
              </a:tr>
              <a:tr h="0">
                <a:tc>
                  <a:txBody>
                    <a:bodyPr/>
                    <a:lstStyle/>
                    <a:p>
                      <a:pPr>
                        <a:buNone/>
                      </a:pPr>
                      <a:r>
                        <a:rPr lang="en-US"/>
                        <a:t>Locking</a:t>
                      </a:r>
                    </a:p>
                  </a:txBody>
                  <a:tcPr anchor="ctr"/>
                </a:tc>
                <a:tc>
                  <a:txBody>
                    <a:bodyPr/>
                    <a:lstStyle/>
                    <a:p>
                      <a:pPr>
                        <a:buNone/>
                      </a:pPr>
                      <a:r>
                        <a:rPr lang="en-US"/>
                        <a:t>None</a:t>
                      </a:r>
                    </a:p>
                  </a:txBody>
                  <a:tcPr anchor="ctr"/>
                </a:tc>
                <a:tc>
                  <a:txBody>
                    <a:bodyPr/>
                    <a:lstStyle/>
                    <a:p>
                      <a:pPr>
                        <a:buNone/>
                      </a:pPr>
                      <a:r>
                        <a:rPr lang="en-US" dirty="0"/>
                        <a:t>Segment/lock-free</a:t>
                      </a:r>
                    </a:p>
                  </a:txBody>
                  <a:tcPr anchor="ctr"/>
                </a:tc>
                <a:extLst>
                  <a:ext uri="{0D108BD9-81ED-4DB2-BD59-A6C34878D82A}">
                    <a16:rowId xmlns:a16="http://schemas.microsoft.com/office/drawing/2014/main" val="1056903641"/>
                  </a:ext>
                </a:extLst>
              </a:tr>
            </a:tbl>
          </a:graphicData>
        </a:graphic>
      </p:graphicFrame>
      <p:sp>
        <p:nvSpPr>
          <p:cNvPr id="9" name="TextBox 8">
            <a:extLst>
              <a:ext uri="{FF2B5EF4-FFF2-40B4-BE49-F238E27FC236}">
                <a16:creationId xmlns:a16="http://schemas.microsoft.com/office/drawing/2014/main" id="{2A944445-B84F-7893-F3B6-F79A76F38EE0}"/>
              </a:ext>
            </a:extLst>
          </p:cNvPr>
          <p:cNvSpPr txBox="1"/>
          <p:nvPr/>
        </p:nvSpPr>
        <p:spPr>
          <a:xfrm>
            <a:off x="781862" y="1824822"/>
            <a:ext cx="3331618" cy="369332"/>
          </a:xfrm>
          <a:prstGeom prst="rect">
            <a:avLst/>
          </a:prstGeom>
          <a:noFill/>
        </p:spPr>
        <p:txBody>
          <a:bodyPr wrap="none" rtlCol="0">
            <a:spAutoFit/>
          </a:bodyPr>
          <a:lstStyle/>
          <a:p>
            <a:r>
              <a:rPr lang="en-US" dirty="0"/>
              <a:t>HashMap vs </a:t>
            </a:r>
            <a:r>
              <a:rPr lang="en-US" dirty="0" err="1"/>
              <a:t>ConcurrentHashMap</a:t>
            </a:r>
            <a:endParaRPr lang="en-US" dirty="0"/>
          </a:p>
        </p:txBody>
      </p:sp>
      <p:sp>
        <p:nvSpPr>
          <p:cNvPr id="10" name="TextBox 9">
            <a:extLst>
              <a:ext uri="{FF2B5EF4-FFF2-40B4-BE49-F238E27FC236}">
                <a16:creationId xmlns:a16="http://schemas.microsoft.com/office/drawing/2014/main" id="{55019C4C-99E8-C443-9B5D-2402239EA1BD}"/>
              </a:ext>
            </a:extLst>
          </p:cNvPr>
          <p:cNvSpPr txBox="1"/>
          <p:nvPr/>
        </p:nvSpPr>
        <p:spPr>
          <a:xfrm>
            <a:off x="781862" y="4126865"/>
            <a:ext cx="2272866" cy="369332"/>
          </a:xfrm>
          <a:prstGeom prst="rect">
            <a:avLst/>
          </a:prstGeom>
          <a:noFill/>
        </p:spPr>
        <p:txBody>
          <a:bodyPr wrap="none" rtlCol="0">
            <a:spAutoFit/>
          </a:bodyPr>
          <a:lstStyle>
            <a:defPPr>
              <a:defRPr lang="en-US"/>
            </a:defPPr>
            <a:lvl1pPr>
              <a:defRPr/>
            </a:lvl1pPr>
          </a:lstStyle>
          <a:p>
            <a:r>
              <a:rPr lang="en-US" dirty="0" err="1"/>
              <a:t>ArrayList</a:t>
            </a:r>
            <a:r>
              <a:rPr lang="en-US" dirty="0"/>
              <a:t> vs LinkedList</a:t>
            </a:r>
          </a:p>
        </p:txBody>
      </p:sp>
    </p:spTree>
    <p:extLst>
      <p:ext uri="{BB962C8B-B14F-4D97-AF65-F5344CB8AC3E}">
        <p14:creationId xmlns:p14="http://schemas.microsoft.com/office/powerpoint/2010/main" val="3723994963"/>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B82B29-DF75-9DAA-089B-70489A5E579E}"/>
              </a:ext>
            </a:extLst>
          </p:cNvPr>
          <p:cNvSpPr>
            <a:spLocks noGrp="1"/>
          </p:cNvSpPr>
          <p:nvPr>
            <p:ph type="title"/>
          </p:nvPr>
        </p:nvSpPr>
        <p:spPr/>
        <p:txBody>
          <a:bodyPr/>
          <a:lstStyle/>
          <a:p>
            <a:r>
              <a:rPr lang="en-US" dirty="0"/>
              <a:t>Streams vs loops performance</a:t>
            </a:r>
          </a:p>
        </p:txBody>
      </p:sp>
      <p:graphicFrame>
        <p:nvGraphicFramePr>
          <p:cNvPr id="4" name="Table 3">
            <a:extLst>
              <a:ext uri="{FF2B5EF4-FFF2-40B4-BE49-F238E27FC236}">
                <a16:creationId xmlns:a16="http://schemas.microsoft.com/office/drawing/2014/main" id="{6C91615F-94B7-76DD-F95E-56A7460333B5}"/>
              </a:ext>
            </a:extLst>
          </p:cNvPr>
          <p:cNvGraphicFramePr>
            <a:graphicFrameLocks noGrp="1"/>
          </p:cNvGraphicFramePr>
          <p:nvPr>
            <p:extLst>
              <p:ext uri="{D42A27DB-BD31-4B8C-83A1-F6EECF244321}">
                <p14:modId xmlns:p14="http://schemas.microsoft.com/office/powerpoint/2010/main" val="1470184128"/>
              </p:ext>
            </p:extLst>
          </p:nvPr>
        </p:nvGraphicFramePr>
        <p:xfrm>
          <a:off x="838200" y="2123957"/>
          <a:ext cx="10515600" cy="2194560"/>
        </p:xfrm>
        <a:graphic>
          <a:graphicData uri="http://schemas.openxmlformats.org/drawingml/2006/table">
            <a:tbl>
              <a:tblPr>
                <a:tableStyleId>{BC89EF96-8CEA-46FF-86C4-4CE0E7609802}</a:tableStyleId>
              </a:tblPr>
              <a:tblGrid>
                <a:gridCol w="3505200">
                  <a:extLst>
                    <a:ext uri="{9D8B030D-6E8A-4147-A177-3AD203B41FA5}">
                      <a16:colId xmlns:a16="http://schemas.microsoft.com/office/drawing/2014/main" val="898248546"/>
                    </a:ext>
                  </a:extLst>
                </a:gridCol>
                <a:gridCol w="3505200">
                  <a:extLst>
                    <a:ext uri="{9D8B030D-6E8A-4147-A177-3AD203B41FA5}">
                      <a16:colId xmlns:a16="http://schemas.microsoft.com/office/drawing/2014/main" val="841750739"/>
                    </a:ext>
                  </a:extLst>
                </a:gridCol>
                <a:gridCol w="3505200">
                  <a:extLst>
                    <a:ext uri="{9D8B030D-6E8A-4147-A177-3AD203B41FA5}">
                      <a16:colId xmlns:a16="http://schemas.microsoft.com/office/drawing/2014/main" val="4252874128"/>
                    </a:ext>
                  </a:extLst>
                </a:gridCol>
              </a:tblGrid>
              <a:tr h="0">
                <a:tc>
                  <a:txBody>
                    <a:bodyPr/>
                    <a:lstStyle/>
                    <a:p>
                      <a:pPr>
                        <a:buNone/>
                      </a:pPr>
                      <a:r>
                        <a:rPr lang="en-US" dirty="0"/>
                        <a:t>Aspect</a:t>
                      </a:r>
                    </a:p>
                  </a:txBody>
                  <a:tcPr anchor="ctr"/>
                </a:tc>
                <a:tc>
                  <a:txBody>
                    <a:bodyPr/>
                    <a:lstStyle/>
                    <a:p>
                      <a:pPr>
                        <a:buNone/>
                      </a:pPr>
                      <a:r>
                        <a:rPr lang="en-US"/>
                        <a:t>Loops (for/while)</a:t>
                      </a:r>
                    </a:p>
                  </a:txBody>
                  <a:tcPr anchor="ctr"/>
                </a:tc>
                <a:tc>
                  <a:txBody>
                    <a:bodyPr/>
                    <a:lstStyle/>
                    <a:p>
                      <a:pPr>
                        <a:buNone/>
                      </a:pPr>
                      <a:r>
                        <a:rPr lang="en-US"/>
                        <a:t>Streams</a:t>
                      </a:r>
                    </a:p>
                  </a:txBody>
                  <a:tcPr anchor="ctr"/>
                </a:tc>
                <a:extLst>
                  <a:ext uri="{0D108BD9-81ED-4DB2-BD59-A6C34878D82A}">
                    <a16:rowId xmlns:a16="http://schemas.microsoft.com/office/drawing/2014/main" val="2297953994"/>
                  </a:ext>
                </a:extLst>
              </a:tr>
              <a:tr h="0">
                <a:tc>
                  <a:txBody>
                    <a:bodyPr/>
                    <a:lstStyle/>
                    <a:p>
                      <a:pPr>
                        <a:buNone/>
                      </a:pPr>
                      <a:r>
                        <a:rPr lang="en-US" dirty="0"/>
                        <a:t>Performance</a:t>
                      </a:r>
                    </a:p>
                  </a:txBody>
                  <a:tcPr anchor="ctr"/>
                </a:tc>
                <a:tc>
                  <a:txBody>
                    <a:bodyPr/>
                    <a:lstStyle/>
                    <a:p>
                      <a:pPr>
                        <a:buNone/>
                      </a:pPr>
                      <a:r>
                        <a:rPr lang="en-US"/>
                        <a:t>✅ Faster (generally)</a:t>
                      </a:r>
                    </a:p>
                  </a:txBody>
                  <a:tcPr anchor="ctr"/>
                </a:tc>
                <a:tc>
                  <a:txBody>
                    <a:bodyPr/>
                    <a:lstStyle/>
                    <a:p>
                      <a:pPr>
                        <a:buNone/>
                      </a:pPr>
                      <a:r>
                        <a:rPr lang="en-US"/>
                        <a:t>❌ Slight overhead</a:t>
                      </a:r>
                    </a:p>
                  </a:txBody>
                  <a:tcPr anchor="ctr"/>
                </a:tc>
                <a:extLst>
                  <a:ext uri="{0D108BD9-81ED-4DB2-BD59-A6C34878D82A}">
                    <a16:rowId xmlns:a16="http://schemas.microsoft.com/office/drawing/2014/main" val="2190600319"/>
                  </a:ext>
                </a:extLst>
              </a:tr>
              <a:tr h="0">
                <a:tc>
                  <a:txBody>
                    <a:bodyPr/>
                    <a:lstStyle/>
                    <a:p>
                      <a:pPr>
                        <a:buNone/>
                      </a:pPr>
                      <a:r>
                        <a:rPr lang="en-US"/>
                        <a:t>Readability</a:t>
                      </a:r>
                    </a:p>
                  </a:txBody>
                  <a:tcPr anchor="ctr"/>
                </a:tc>
                <a:tc>
                  <a:txBody>
                    <a:bodyPr/>
                    <a:lstStyle/>
                    <a:p>
                      <a:pPr>
                        <a:buNone/>
                      </a:pPr>
                      <a:r>
                        <a:rPr lang="en-US"/>
                        <a:t>❌ Verbose</a:t>
                      </a:r>
                    </a:p>
                  </a:txBody>
                  <a:tcPr anchor="ctr"/>
                </a:tc>
                <a:tc>
                  <a:txBody>
                    <a:bodyPr/>
                    <a:lstStyle/>
                    <a:p>
                      <a:pPr>
                        <a:buNone/>
                      </a:pPr>
                      <a:r>
                        <a:rPr lang="en-US"/>
                        <a:t>✅ Clean &amp; declarative</a:t>
                      </a:r>
                    </a:p>
                  </a:txBody>
                  <a:tcPr anchor="ctr"/>
                </a:tc>
                <a:extLst>
                  <a:ext uri="{0D108BD9-81ED-4DB2-BD59-A6C34878D82A}">
                    <a16:rowId xmlns:a16="http://schemas.microsoft.com/office/drawing/2014/main" val="1220756499"/>
                  </a:ext>
                </a:extLst>
              </a:tr>
              <a:tr h="0">
                <a:tc>
                  <a:txBody>
                    <a:bodyPr/>
                    <a:lstStyle/>
                    <a:p>
                      <a:pPr>
                        <a:buNone/>
                      </a:pPr>
                      <a:r>
                        <a:rPr lang="en-US"/>
                        <a:t>Parallelism</a:t>
                      </a:r>
                    </a:p>
                  </a:txBody>
                  <a:tcPr anchor="ctr"/>
                </a:tc>
                <a:tc>
                  <a:txBody>
                    <a:bodyPr/>
                    <a:lstStyle/>
                    <a:p>
                      <a:pPr>
                        <a:buNone/>
                      </a:pPr>
                      <a:r>
                        <a:rPr lang="en-US"/>
                        <a:t>❌ Manual</a:t>
                      </a:r>
                    </a:p>
                  </a:txBody>
                  <a:tcPr anchor="ctr"/>
                </a:tc>
                <a:tc>
                  <a:txBody>
                    <a:bodyPr/>
                    <a:lstStyle/>
                    <a:p>
                      <a:pPr>
                        <a:buNone/>
                      </a:pPr>
                      <a:r>
                        <a:rPr lang="en-US"/>
                        <a:t>✅ Built-in (parallelStream)</a:t>
                      </a:r>
                    </a:p>
                  </a:txBody>
                  <a:tcPr anchor="ctr"/>
                </a:tc>
                <a:extLst>
                  <a:ext uri="{0D108BD9-81ED-4DB2-BD59-A6C34878D82A}">
                    <a16:rowId xmlns:a16="http://schemas.microsoft.com/office/drawing/2014/main" val="1687652119"/>
                  </a:ext>
                </a:extLst>
              </a:tr>
              <a:tr h="0">
                <a:tc>
                  <a:txBody>
                    <a:bodyPr/>
                    <a:lstStyle/>
                    <a:p>
                      <a:pPr>
                        <a:buNone/>
                      </a:pPr>
                      <a:r>
                        <a:rPr lang="en-US"/>
                        <a:t>Debugging</a:t>
                      </a:r>
                    </a:p>
                  </a:txBody>
                  <a:tcPr anchor="ctr"/>
                </a:tc>
                <a:tc>
                  <a:txBody>
                    <a:bodyPr/>
                    <a:lstStyle/>
                    <a:p>
                      <a:pPr>
                        <a:buNone/>
                      </a:pPr>
                      <a:r>
                        <a:rPr lang="en-US"/>
                        <a:t>✅ Easy</a:t>
                      </a:r>
                    </a:p>
                  </a:txBody>
                  <a:tcPr anchor="ctr"/>
                </a:tc>
                <a:tc>
                  <a:txBody>
                    <a:bodyPr/>
                    <a:lstStyle/>
                    <a:p>
                      <a:pPr>
                        <a:buNone/>
                      </a:pPr>
                      <a:r>
                        <a:rPr lang="en-US"/>
                        <a:t>❌ Harder</a:t>
                      </a:r>
                    </a:p>
                  </a:txBody>
                  <a:tcPr anchor="ctr"/>
                </a:tc>
                <a:extLst>
                  <a:ext uri="{0D108BD9-81ED-4DB2-BD59-A6C34878D82A}">
                    <a16:rowId xmlns:a16="http://schemas.microsoft.com/office/drawing/2014/main" val="2873688872"/>
                  </a:ext>
                </a:extLst>
              </a:tr>
              <a:tr h="0">
                <a:tc>
                  <a:txBody>
                    <a:bodyPr/>
                    <a:lstStyle/>
                    <a:p>
                      <a:pPr>
                        <a:buNone/>
                      </a:pPr>
                      <a:r>
                        <a:rPr lang="en-US" dirty="0"/>
                        <a:t>Memory</a:t>
                      </a:r>
                    </a:p>
                  </a:txBody>
                  <a:tcPr anchor="ctr"/>
                </a:tc>
                <a:tc>
                  <a:txBody>
                    <a:bodyPr/>
                    <a:lstStyle/>
                    <a:p>
                      <a:pPr>
                        <a:buNone/>
                      </a:pPr>
                      <a:r>
                        <a:rPr lang="en-US"/>
                        <a:t>✅ Less overhead</a:t>
                      </a:r>
                    </a:p>
                  </a:txBody>
                  <a:tcPr anchor="ctr"/>
                </a:tc>
                <a:tc>
                  <a:txBody>
                    <a:bodyPr/>
                    <a:lstStyle/>
                    <a:p>
                      <a:pPr>
                        <a:buNone/>
                      </a:pPr>
                      <a:r>
                        <a:rPr lang="en-US" dirty="0"/>
                        <a:t>❌ More object creation</a:t>
                      </a:r>
                    </a:p>
                  </a:txBody>
                  <a:tcPr anchor="ctr"/>
                </a:tc>
                <a:extLst>
                  <a:ext uri="{0D108BD9-81ED-4DB2-BD59-A6C34878D82A}">
                    <a16:rowId xmlns:a16="http://schemas.microsoft.com/office/drawing/2014/main" val="309385764"/>
                  </a:ext>
                </a:extLst>
              </a:tr>
            </a:tbl>
          </a:graphicData>
        </a:graphic>
      </p:graphicFrame>
      <p:sp>
        <p:nvSpPr>
          <p:cNvPr id="9" name="TextBox 8">
            <a:extLst>
              <a:ext uri="{FF2B5EF4-FFF2-40B4-BE49-F238E27FC236}">
                <a16:creationId xmlns:a16="http://schemas.microsoft.com/office/drawing/2014/main" id="{B91EBCD0-DB25-101D-2E26-C0E72A7EAE1B}"/>
              </a:ext>
            </a:extLst>
          </p:cNvPr>
          <p:cNvSpPr txBox="1"/>
          <p:nvPr/>
        </p:nvSpPr>
        <p:spPr>
          <a:xfrm>
            <a:off x="724803" y="4710368"/>
            <a:ext cx="6095276" cy="646331"/>
          </a:xfrm>
          <a:prstGeom prst="rect">
            <a:avLst/>
          </a:prstGeom>
          <a:noFill/>
        </p:spPr>
        <p:txBody>
          <a:bodyPr wrap="square">
            <a:spAutoFit/>
          </a:bodyPr>
          <a:lstStyle/>
          <a:p>
            <a:pPr marL="285750" indent="-285750">
              <a:buFont typeface="Arial" panose="020B0604020202020204" pitchFamily="34" charset="0"/>
              <a:buChar char="•"/>
            </a:pPr>
            <a:r>
              <a:rPr lang="en-GB" dirty="0"/>
              <a:t>Use loops for performance-critical code</a:t>
            </a:r>
          </a:p>
          <a:p>
            <a:pPr marL="285750" indent="-285750">
              <a:buFont typeface="Arial" panose="020B0604020202020204" pitchFamily="34" charset="0"/>
              <a:buChar char="•"/>
            </a:pPr>
            <a:r>
              <a:rPr lang="en-GB" dirty="0"/>
              <a:t>Use streams for readability &amp; maintainability</a:t>
            </a:r>
            <a:endParaRPr lang="en-US" dirty="0"/>
          </a:p>
        </p:txBody>
      </p:sp>
    </p:spTree>
    <p:extLst>
      <p:ext uri="{BB962C8B-B14F-4D97-AF65-F5344CB8AC3E}">
        <p14:creationId xmlns:p14="http://schemas.microsoft.com/office/powerpoint/2010/main" val="1682268161"/>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6BB66-CDF5-FD9C-659D-DFE78D2CC0F0}"/>
              </a:ext>
            </a:extLst>
          </p:cNvPr>
          <p:cNvSpPr>
            <a:spLocks noGrp="1"/>
          </p:cNvSpPr>
          <p:nvPr>
            <p:ph type="title"/>
          </p:nvPr>
        </p:nvSpPr>
        <p:spPr/>
        <p:txBody>
          <a:bodyPr/>
          <a:lstStyle/>
          <a:p>
            <a:r>
              <a:rPr lang="en-GB" dirty="0"/>
              <a:t>Why Streams are slower</a:t>
            </a:r>
            <a:endParaRPr lang="en-US" dirty="0"/>
          </a:p>
        </p:txBody>
      </p:sp>
      <p:sp>
        <p:nvSpPr>
          <p:cNvPr id="3" name="Content Placeholder 2">
            <a:extLst>
              <a:ext uri="{FF2B5EF4-FFF2-40B4-BE49-F238E27FC236}">
                <a16:creationId xmlns:a16="http://schemas.microsoft.com/office/drawing/2014/main" id="{A5A62CDC-C489-B4CA-AEC6-8D4F88BFF312}"/>
              </a:ext>
            </a:extLst>
          </p:cNvPr>
          <p:cNvSpPr>
            <a:spLocks noGrp="1"/>
          </p:cNvSpPr>
          <p:nvPr>
            <p:ph idx="1"/>
          </p:nvPr>
        </p:nvSpPr>
        <p:spPr/>
        <p:txBody>
          <a:bodyPr>
            <a:normAutofit lnSpcReduction="10000"/>
          </a:bodyPr>
          <a:lstStyle/>
          <a:p>
            <a:r>
              <a:rPr lang="en-GB" dirty="0"/>
              <a:t>Streams introduce hidden costs</a:t>
            </a:r>
          </a:p>
          <a:p>
            <a:pPr lvl="1"/>
            <a:r>
              <a:rPr lang="en-GB" dirty="0"/>
              <a:t>Lambda overhead</a:t>
            </a:r>
          </a:p>
          <a:p>
            <a:pPr lvl="2"/>
            <a:r>
              <a:rPr lang="en-GB" dirty="0"/>
              <a:t>Lambda = function object</a:t>
            </a:r>
          </a:p>
          <a:p>
            <a:pPr lvl="2"/>
            <a:r>
              <a:rPr lang="en-GB" dirty="0"/>
              <a:t>Adds method calls and indirection</a:t>
            </a:r>
          </a:p>
          <a:p>
            <a:pPr lvl="1"/>
            <a:r>
              <a:rPr lang="en-GB" dirty="0"/>
              <a:t>Internal Iteration</a:t>
            </a:r>
          </a:p>
          <a:p>
            <a:pPr lvl="2"/>
            <a:r>
              <a:rPr lang="en-GB" dirty="0"/>
              <a:t>Streams use iterator + pipeline</a:t>
            </a:r>
          </a:p>
          <a:p>
            <a:pPr lvl="2"/>
            <a:r>
              <a:rPr lang="en-GB" dirty="0"/>
              <a:t>Loops use simple index-based access</a:t>
            </a:r>
          </a:p>
          <a:p>
            <a:pPr lvl="1"/>
            <a:r>
              <a:rPr lang="en-GB" dirty="0"/>
              <a:t>Object creation</a:t>
            </a:r>
          </a:p>
          <a:p>
            <a:pPr lvl="2"/>
            <a:r>
              <a:rPr lang="en-GB" dirty="0"/>
              <a:t>Intermediate operation create objects</a:t>
            </a:r>
          </a:p>
          <a:p>
            <a:pPr lvl="2"/>
            <a:r>
              <a:rPr lang="en-GB" dirty="0"/>
              <a:t>Especially costly in large datasets</a:t>
            </a:r>
          </a:p>
          <a:p>
            <a:pPr lvl="1"/>
            <a:r>
              <a:rPr lang="en-GB" dirty="0"/>
              <a:t>Boxing/Unboxing</a:t>
            </a:r>
          </a:p>
          <a:p>
            <a:pPr lvl="2"/>
            <a:r>
              <a:rPr lang="en-US" dirty="0"/>
              <a:t>Streams may cause boxing overhead vs primitive loops</a:t>
            </a:r>
          </a:p>
        </p:txBody>
      </p:sp>
    </p:spTree>
    <p:extLst>
      <p:ext uri="{BB962C8B-B14F-4D97-AF65-F5344CB8AC3E}">
        <p14:creationId xmlns:p14="http://schemas.microsoft.com/office/powerpoint/2010/main" val="3912045249"/>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CFD82-3661-8286-106B-9DBA29CB1E06}"/>
              </a:ext>
            </a:extLst>
          </p:cNvPr>
          <p:cNvSpPr>
            <a:spLocks noGrp="1"/>
          </p:cNvSpPr>
          <p:nvPr>
            <p:ph type="title"/>
          </p:nvPr>
        </p:nvSpPr>
        <p:spPr/>
        <p:txBody>
          <a:bodyPr/>
          <a:lstStyle/>
          <a:p>
            <a:r>
              <a:rPr lang="en-GB" dirty="0"/>
              <a:t>Example</a:t>
            </a:r>
            <a:endParaRPr lang="en-US" dirty="0"/>
          </a:p>
        </p:txBody>
      </p:sp>
      <p:sp>
        <p:nvSpPr>
          <p:cNvPr id="5" name="TextBox 4">
            <a:extLst>
              <a:ext uri="{FF2B5EF4-FFF2-40B4-BE49-F238E27FC236}">
                <a16:creationId xmlns:a16="http://schemas.microsoft.com/office/drawing/2014/main" id="{BF0CD287-655E-C080-6F10-40721C3F31AD}"/>
              </a:ext>
            </a:extLst>
          </p:cNvPr>
          <p:cNvSpPr txBox="1"/>
          <p:nvPr/>
        </p:nvSpPr>
        <p:spPr>
          <a:xfrm>
            <a:off x="838200" y="2274838"/>
            <a:ext cx="5796617" cy="2308324"/>
          </a:xfrm>
          <a:prstGeom prst="rect">
            <a:avLst/>
          </a:prstGeom>
          <a:solidFill>
            <a:schemeClr val="accent6">
              <a:lumMod val="20000"/>
              <a:lumOff val="80000"/>
            </a:schemeClr>
          </a:solidFill>
        </p:spPr>
        <p:style>
          <a:lnRef idx="2">
            <a:schemeClr val="accent2"/>
          </a:lnRef>
          <a:fillRef idx="1">
            <a:schemeClr val="lt1"/>
          </a:fillRef>
          <a:effectRef idx="0">
            <a:schemeClr val="accent2"/>
          </a:effectRef>
          <a:fontRef idx="minor">
            <a:schemeClr val="dk1"/>
          </a:fontRef>
        </p:style>
        <p:txBody>
          <a:bodyPr wrap="square">
            <a:spAutoFit/>
          </a:bodyPr>
          <a:lstStyle>
            <a:defPPr>
              <a:defRPr lang="en-US"/>
            </a:defPPr>
            <a:lvl1pPr>
              <a:defRPr sz="1600">
                <a:solidFill>
                  <a:schemeClr val="dk1"/>
                </a:solidFill>
                <a:latin typeface="Consolas" panose="020B0609020204030204" pitchFamily="49" charset="0"/>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dirty="0"/>
              <a:t>long start = </a:t>
            </a:r>
            <a:r>
              <a:rPr lang="en-US" dirty="0" err="1"/>
              <a:t>System.nanoTime</a:t>
            </a:r>
            <a:r>
              <a:rPr lang="en-US" dirty="0"/>
              <a:t>();</a:t>
            </a:r>
          </a:p>
          <a:p>
            <a:endParaRPr lang="en-US" dirty="0"/>
          </a:p>
          <a:p>
            <a:r>
              <a:rPr lang="en-US" dirty="0"/>
              <a:t>int sum = 0;</a:t>
            </a:r>
          </a:p>
          <a:p>
            <a:r>
              <a:rPr lang="en-US" dirty="0"/>
              <a:t>for (int </a:t>
            </a:r>
            <a:r>
              <a:rPr lang="en-US" dirty="0" err="1"/>
              <a:t>i</a:t>
            </a:r>
            <a:r>
              <a:rPr lang="en-US" dirty="0"/>
              <a:t> = 0; </a:t>
            </a:r>
            <a:r>
              <a:rPr lang="en-US" dirty="0" err="1"/>
              <a:t>i</a:t>
            </a:r>
            <a:r>
              <a:rPr lang="en-US" dirty="0"/>
              <a:t> &lt; </a:t>
            </a:r>
            <a:r>
              <a:rPr lang="en-US" dirty="0" err="1"/>
              <a:t>list.size</a:t>
            </a:r>
            <a:r>
              <a:rPr lang="en-US" dirty="0"/>
              <a:t>(); </a:t>
            </a:r>
            <a:r>
              <a:rPr lang="en-US" dirty="0" err="1"/>
              <a:t>i</a:t>
            </a:r>
            <a:r>
              <a:rPr lang="en-US" dirty="0"/>
              <a:t>++) {</a:t>
            </a:r>
          </a:p>
          <a:p>
            <a:r>
              <a:rPr lang="en-US" dirty="0"/>
              <a:t>    sum += </a:t>
            </a:r>
            <a:r>
              <a:rPr lang="en-US" dirty="0" err="1"/>
              <a:t>list.get</a:t>
            </a:r>
            <a:r>
              <a:rPr lang="en-US" dirty="0"/>
              <a:t>(</a:t>
            </a:r>
            <a:r>
              <a:rPr lang="en-US" dirty="0" err="1"/>
              <a:t>i</a:t>
            </a:r>
            <a:r>
              <a:rPr lang="en-US" dirty="0"/>
              <a:t>);</a:t>
            </a:r>
          </a:p>
          <a:p>
            <a:r>
              <a:rPr lang="en-US" dirty="0"/>
              <a:t>}</a:t>
            </a:r>
          </a:p>
          <a:p>
            <a:endParaRPr lang="en-US" dirty="0"/>
          </a:p>
          <a:p>
            <a:r>
              <a:rPr lang="en-US" dirty="0"/>
              <a:t>long end = </a:t>
            </a:r>
            <a:r>
              <a:rPr lang="en-US" dirty="0" err="1"/>
              <a:t>System.nanoTime</a:t>
            </a:r>
            <a:r>
              <a:rPr lang="en-US" dirty="0"/>
              <a:t>();</a:t>
            </a:r>
          </a:p>
          <a:p>
            <a:r>
              <a:rPr lang="en-US" dirty="0" err="1"/>
              <a:t>System.out.println</a:t>
            </a:r>
            <a:r>
              <a:rPr lang="en-US" dirty="0"/>
              <a:t>("Loop Time: " + (end - start));</a:t>
            </a:r>
          </a:p>
        </p:txBody>
      </p:sp>
      <p:sp>
        <p:nvSpPr>
          <p:cNvPr id="7" name="TextBox 6">
            <a:extLst>
              <a:ext uri="{FF2B5EF4-FFF2-40B4-BE49-F238E27FC236}">
                <a16:creationId xmlns:a16="http://schemas.microsoft.com/office/drawing/2014/main" id="{21CA2345-3919-69AB-A803-A74CA1722395}"/>
              </a:ext>
            </a:extLst>
          </p:cNvPr>
          <p:cNvSpPr txBox="1"/>
          <p:nvPr/>
        </p:nvSpPr>
        <p:spPr>
          <a:xfrm>
            <a:off x="838200" y="4923215"/>
            <a:ext cx="6711017" cy="1569660"/>
          </a:xfrm>
          <a:prstGeom prst="rect">
            <a:avLst/>
          </a:prstGeom>
          <a:solidFill>
            <a:schemeClr val="accent6">
              <a:lumMod val="20000"/>
              <a:lumOff val="80000"/>
            </a:schemeClr>
          </a:solidFill>
        </p:spPr>
        <p:style>
          <a:lnRef idx="2">
            <a:schemeClr val="accent2"/>
          </a:lnRef>
          <a:fillRef idx="1">
            <a:schemeClr val="lt1"/>
          </a:fillRef>
          <a:effectRef idx="0">
            <a:schemeClr val="accent2"/>
          </a:effectRef>
          <a:fontRef idx="minor">
            <a:schemeClr val="dk1"/>
          </a:fontRef>
        </p:style>
        <p:txBody>
          <a:bodyPr wrap="square">
            <a:spAutoFit/>
          </a:bodyPr>
          <a:lstStyle>
            <a:defPPr>
              <a:defRPr lang="en-US"/>
            </a:defPPr>
            <a:lvl1pPr>
              <a:defRPr sz="1600">
                <a:solidFill>
                  <a:schemeClr val="dk1"/>
                </a:solidFill>
                <a:latin typeface="Consolas" panose="020B0609020204030204" pitchFamily="49" charset="0"/>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US" dirty="0"/>
              <a:t>long start = </a:t>
            </a:r>
            <a:r>
              <a:rPr lang="en-US" dirty="0" err="1"/>
              <a:t>System.nanoTime</a:t>
            </a:r>
            <a:r>
              <a:rPr lang="en-US" dirty="0"/>
              <a:t>();</a:t>
            </a:r>
          </a:p>
          <a:p>
            <a:endParaRPr lang="en-US" dirty="0"/>
          </a:p>
          <a:p>
            <a:r>
              <a:rPr lang="en-US" dirty="0"/>
              <a:t>int sum = </a:t>
            </a:r>
            <a:r>
              <a:rPr lang="en-US" dirty="0" err="1"/>
              <a:t>list.stream</a:t>
            </a:r>
            <a:r>
              <a:rPr lang="en-US" dirty="0"/>
              <a:t>().</a:t>
            </a:r>
            <a:r>
              <a:rPr lang="en-US" dirty="0" err="1"/>
              <a:t>mapToInt</a:t>
            </a:r>
            <a:r>
              <a:rPr lang="en-US" dirty="0"/>
              <a:t>(Integer::</a:t>
            </a:r>
            <a:r>
              <a:rPr lang="en-US" dirty="0" err="1"/>
              <a:t>intValue</a:t>
            </a:r>
            <a:r>
              <a:rPr lang="en-US" dirty="0"/>
              <a:t>).sum();</a:t>
            </a:r>
          </a:p>
          <a:p>
            <a:endParaRPr lang="en-US" dirty="0"/>
          </a:p>
          <a:p>
            <a:r>
              <a:rPr lang="en-US" dirty="0"/>
              <a:t>long end = </a:t>
            </a:r>
            <a:r>
              <a:rPr lang="en-US" dirty="0" err="1"/>
              <a:t>System.nanoTime</a:t>
            </a:r>
            <a:r>
              <a:rPr lang="en-US" dirty="0"/>
              <a:t>();</a:t>
            </a:r>
          </a:p>
          <a:p>
            <a:r>
              <a:rPr lang="en-US" dirty="0" err="1"/>
              <a:t>System.out.println</a:t>
            </a:r>
            <a:r>
              <a:rPr lang="en-US" dirty="0"/>
              <a:t>("Stream Time: " + (end - start));</a:t>
            </a:r>
          </a:p>
        </p:txBody>
      </p:sp>
      <p:sp>
        <p:nvSpPr>
          <p:cNvPr id="8" name="TextBox 7">
            <a:extLst>
              <a:ext uri="{FF2B5EF4-FFF2-40B4-BE49-F238E27FC236}">
                <a16:creationId xmlns:a16="http://schemas.microsoft.com/office/drawing/2014/main" id="{AEFE7B3B-027B-E1C2-730A-2F681CC123E6}"/>
              </a:ext>
            </a:extLst>
          </p:cNvPr>
          <p:cNvSpPr txBox="1"/>
          <p:nvPr/>
        </p:nvSpPr>
        <p:spPr>
          <a:xfrm>
            <a:off x="838200" y="1905506"/>
            <a:ext cx="2240229" cy="369332"/>
          </a:xfrm>
          <a:prstGeom prst="rect">
            <a:avLst/>
          </a:prstGeom>
          <a:noFill/>
        </p:spPr>
        <p:txBody>
          <a:bodyPr wrap="none" rtlCol="0">
            <a:spAutoFit/>
          </a:bodyPr>
          <a:lstStyle/>
          <a:p>
            <a:r>
              <a:rPr lang="en-GB" dirty="0"/>
              <a:t>Loop Version – Faster </a:t>
            </a:r>
            <a:endParaRPr lang="en-US" dirty="0"/>
          </a:p>
        </p:txBody>
      </p:sp>
      <p:sp>
        <p:nvSpPr>
          <p:cNvPr id="9" name="TextBox 8">
            <a:extLst>
              <a:ext uri="{FF2B5EF4-FFF2-40B4-BE49-F238E27FC236}">
                <a16:creationId xmlns:a16="http://schemas.microsoft.com/office/drawing/2014/main" id="{401F6677-997B-BDDB-14F1-14F3F9584AEF}"/>
              </a:ext>
            </a:extLst>
          </p:cNvPr>
          <p:cNvSpPr txBox="1"/>
          <p:nvPr/>
        </p:nvSpPr>
        <p:spPr>
          <a:xfrm>
            <a:off x="838200" y="4553883"/>
            <a:ext cx="1658596" cy="369332"/>
          </a:xfrm>
          <a:prstGeom prst="rect">
            <a:avLst/>
          </a:prstGeom>
          <a:noFill/>
        </p:spPr>
        <p:txBody>
          <a:bodyPr wrap="none" rtlCol="0">
            <a:spAutoFit/>
          </a:bodyPr>
          <a:lstStyle/>
          <a:p>
            <a:r>
              <a:rPr lang="en-GB" dirty="0"/>
              <a:t>Stream Version</a:t>
            </a:r>
            <a:endParaRPr lang="en-US" dirty="0"/>
          </a:p>
        </p:txBody>
      </p:sp>
      <p:graphicFrame>
        <p:nvGraphicFramePr>
          <p:cNvPr id="12" name="Table 11">
            <a:extLst>
              <a:ext uri="{FF2B5EF4-FFF2-40B4-BE49-F238E27FC236}">
                <a16:creationId xmlns:a16="http://schemas.microsoft.com/office/drawing/2014/main" id="{B915C3AA-31F5-B9DD-930C-B66D97070E00}"/>
              </a:ext>
            </a:extLst>
          </p:cNvPr>
          <p:cNvGraphicFramePr>
            <a:graphicFrameLocks noGrp="1"/>
          </p:cNvGraphicFramePr>
          <p:nvPr>
            <p:extLst>
              <p:ext uri="{D42A27DB-BD31-4B8C-83A1-F6EECF244321}">
                <p14:modId xmlns:p14="http://schemas.microsoft.com/office/powerpoint/2010/main" val="1396209524"/>
              </p:ext>
            </p:extLst>
          </p:nvPr>
        </p:nvGraphicFramePr>
        <p:xfrm>
          <a:off x="6788301" y="2274838"/>
          <a:ext cx="5341585" cy="1463040"/>
        </p:xfrm>
        <a:graphic>
          <a:graphicData uri="http://schemas.openxmlformats.org/drawingml/2006/table">
            <a:tbl>
              <a:tblPr>
                <a:tableStyleId>{BC89EF96-8CEA-46FF-86C4-4CE0E7609802}</a:tableStyleId>
              </a:tblPr>
              <a:tblGrid>
                <a:gridCol w="1429008">
                  <a:extLst>
                    <a:ext uri="{9D8B030D-6E8A-4147-A177-3AD203B41FA5}">
                      <a16:colId xmlns:a16="http://schemas.microsoft.com/office/drawing/2014/main" val="2093865442"/>
                    </a:ext>
                  </a:extLst>
                </a:gridCol>
                <a:gridCol w="1424185">
                  <a:extLst>
                    <a:ext uri="{9D8B030D-6E8A-4147-A177-3AD203B41FA5}">
                      <a16:colId xmlns:a16="http://schemas.microsoft.com/office/drawing/2014/main" val="3565300527"/>
                    </a:ext>
                  </a:extLst>
                </a:gridCol>
                <a:gridCol w="2488392">
                  <a:extLst>
                    <a:ext uri="{9D8B030D-6E8A-4147-A177-3AD203B41FA5}">
                      <a16:colId xmlns:a16="http://schemas.microsoft.com/office/drawing/2014/main" val="3920596061"/>
                    </a:ext>
                  </a:extLst>
                </a:gridCol>
              </a:tblGrid>
              <a:tr h="0">
                <a:tc>
                  <a:txBody>
                    <a:bodyPr/>
                    <a:lstStyle/>
                    <a:p>
                      <a:pPr>
                        <a:buNone/>
                      </a:pPr>
                      <a:r>
                        <a:rPr lang="en-US"/>
                        <a:t>Dataset Size</a:t>
                      </a:r>
                    </a:p>
                  </a:txBody>
                  <a:tcPr anchor="ctr"/>
                </a:tc>
                <a:tc>
                  <a:txBody>
                    <a:bodyPr/>
                    <a:lstStyle/>
                    <a:p>
                      <a:pPr>
                        <a:buNone/>
                      </a:pPr>
                      <a:r>
                        <a:rPr lang="en-US" dirty="0"/>
                        <a:t>Loop</a:t>
                      </a:r>
                    </a:p>
                  </a:txBody>
                  <a:tcPr anchor="ctr"/>
                </a:tc>
                <a:tc>
                  <a:txBody>
                    <a:bodyPr/>
                    <a:lstStyle/>
                    <a:p>
                      <a:pPr>
                        <a:buNone/>
                      </a:pPr>
                      <a:r>
                        <a:rPr lang="en-US"/>
                        <a:t>Stream</a:t>
                      </a:r>
                    </a:p>
                  </a:txBody>
                  <a:tcPr anchor="ctr"/>
                </a:tc>
                <a:extLst>
                  <a:ext uri="{0D108BD9-81ED-4DB2-BD59-A6C34878D82A}">
                    <a16:rowId xmlns:a16="http://schemas.microsoft.com/office/drawing/2014/main" val="136223959"/>
                  </a:ext>
                </a:extLst>
              </a:tr>
              <a:tr h="0">
                <a:tc>
                  <a:txBody>
                    <a:bodyPr/>
                    <a:lstStyle/>
                    <a:p>
                      <a:pPr>
                        <a:buNone/>
                      </a:pPr>
                      <a:r>
                        <a:rPr lang="en-US"/>
                        <a:t>1K</a:t>
                      </a:r>
                    </a:p>
                  </a:txBody>
                  <a:tcPr anchor="ctr"/>
                </a:tc>
                <a:tc>
                  <a:txBody>
                    <a:bodyPr/>
                    <a:lstStyle/>
                    <a:p>
                      <a:pPr>
                        <a:buNone/>
                      </a:pPr>
                      <a:r>
                        <a:rPr lang="en-US"/>
                        <a:t>Same</a:t>
                      </a:r>
                    </a:p>
                  </a:txBody>
                  <a:tcPr anchor="ctr"/>
                </a:tc>
                <a:tc>
                  <a:txBody>
                    <a:bodyPr/>
                    <a:lstStyle/>
                    <a:p>
                      <a:pPr>
                        <a:buNone/>
                      </a:pPr>
                      <a:r>
                        <a:rPr lang="en-US"/>
                        <a:t>Same</a:t>
                      </a:r>
                    </a:p>
                  </a:txBody>
                  <a:tcPr anchor="ctr"/>
                </a:tc>
                <a:extLst>
                  <a:ext uri="{0D108BD9-81ED-4DB2-BD59-A6C34878D82A}">
                    <a16:rowId xmlns:a16="http://schemas.microsoft.com/office/drawing/2014/main" val="765720130"/>
                  </a:ext>
                </a:extLst>
              </a:tr>
              <a:tr h="0">
                <a:tc>
                  <a:txBody>
                    <a:bodyPr/>
                    <a:lstStyle/>
                    <a:p>
                      <a:pPr>
                        <a:buNone/>
                      </a:pPr>
                      <a:r>
                        <a:rPr lang="en-US"/>
                        <a:t>1M</a:t>
                      </a:r>
                    </a:p>
                  </a:txBody>
                  <a:tcPr anchor="ctr"/>
                </a:tc>
                <a:tc>
                  <a:txBody>
                    <a:bodyPr/>
                    <a:lstStyle/>
                    <a:p>
                      <a:pPr>
                        <a:buNone/>
                      </a:pPr>
                      <a:r>
                        <a:rPr lang="en-US"/>
                        <a:t>Faster</a:t>
                      </a:r>
                    </a:p>
                  </a:txBody>
                  <a:tcPr anchor="ctr"/>
                </a:tc>
                <a:tc>
                  <a:txBody>
                    <a:bodyPr/>
                    <a:lstStyle/>
                    <a:p>
                      <a:pPr>
                        <a:buNone/>
                      </a:pPr>
                      <a:r>
                        <a:rPr lang="en-US"/>
                        <a:t>~10–30% slower</a:t>
                      </a:r>
                    </a:p>
                  </a:txBody>
                  <a:tcPr anchor="ctr"/>
                </a:tc>
                <a:extLst>
                  <a:ext uri="{0D108BD9-81ED-4DB2-BD59-A6C34878D82A}">
                    <a16:rowId xmlns:a16="http://schemas.microsoft.com/office/drawing/2014/main" val="2138817903"/>
                  </a:ext>
                </a:extLst>
              </a:tr>
              <a:tr h="0">
                <a:tc>
                  <a:txBody>
                    <a:bodyPr/>
                    <a:lstStyle/>
                    <a:p>
                      <a:pPr>
                        <a:buNone/>
                      </a:pPr>
                      <a:r>
                        <a:rPr lang="en-US" dirty="0"/>
                        <a:t>10M</a:t>
                      </a:r>
                    </a:p>
                  </a:txBody>
                  <a:tcPr anchor="ctr"/>
                </a:tc>
                <a:tc>
                  <a:txBody>
                    <a:bodyPr/>
                    <a:lstStyle/>
                    <a:p>
                      <a:pPr>
                        <a:buNone/>
                      </a:pPr>
                      <a:r>
                        <a:rPr lang="en-US" dirty="0"/>
                        <a:t>Much faster</a:t>
                      </a:r>
                    </a:p>
                  </a:txBody>
                  <a:tcPr anchor="ctr"/>
                </a:tc>
                <a:tc>
                  <a:txBody>
                    <a:bodyPr/>
                    <a:lstStyle/>
                    <a:p>
                      <a:pPr>
                        <a:buNone/>
                      </a:pPr>
                      <a:r>
                        <a:rPr lang="en-US" dirty="0"/>
                        <a:t>Noticeable lag</a:t>
                      </a:r>
                    </a:p>
                  </a:txBody>
                  <a:tcPr anchor="ctr"/>
                </a:tc>
                <a:extLst>
                  <a:ext uri="{0D108BD9-81ED-4DB2-BD59-A6C34878D82A}">
                    <a16:rowId xmlns:a16="http://schemas.microsoft.com/office/drawing/2014/main" val="683477464"/>
                  </a:ext>
                </a:extLst>
              </a:tr>
            </a:tbl>
          </a:graphicData>
        </a:graphic>
      </p:graphicFrame>
      <p:pic>
        <p:nvPicPr>
          <p:cNvPr id="14" name="Picture 13">
            <a:extLst>
              <a:ext uri="{FF2B5EF4-FFF2-40B4-BE49-F238E27FC236}">
                <a16:creationId xmlns:a16="http://schemas.microsoft.com/office/drawing/2014/main" id="{321BB04C-7AB7-6F32-B4E7-5F25AB8A0F8F}"/>
              </a:ext>
            </a:extLst>
          </p:cNvPr>
          <p:cNvPicPr>
            <a:picLocks noChangeAspect="1"/>
          </p:cNvPicPr>
          <p:nvPr/>
        </p:nvPicPr>
        <p:blipFill>
          <a:blip r:embed="rId2"/>
          <a:stretch>
            <a:fillRect/>
          </a:stretch>
        </p:blipFill>
        <p:spPr>
          <a:xfrm>
            <a:off x="7674182" y="4583162"/>
            <a:ext cx="4169681" cy="1911505"/>
          </a:xfrm>
          <a:prstGeom prst="rect">
            <a:avLst/>
          </a:prstGeom>
        </p:spPr>
      </p:pic>
    </p:spTree>
    <p:extLst>
      <p:ext uri="{BB962C8B-B14F-4D97-AF65-F5344CB8AC3E}">
        <p14:creationId xmlns:p14="http://schemas.microsoft.com/office/powerpoint/2010/main" val="448006897"/>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D08A29-AC33-5152-7877-7A6B87517332}"/>
              </a:ext>
            </a:extLst>
          </p:cNvPr>
          <p:cNvSpPr>
            <a:spLocks noGrp="1"/>
          </p:cNvSpPr>
          <p:nvPr>
            <p:ph type="title"/>
          </p:nvPr>
        </p:nvSpPr>
        <p:spPr/>
        <p:txBody>
          <a:bodyPr/>
          <a:lstStyle/>
          <a:p>
            <a:r>
              <a:rPr lang="en-GB" dirty="0"/>
              <a:t>When Streams can be faster</a:t>
            </a:r>
            <a:endParaRPr lang="en-US" dirty="0"/>
          </a:p>
        </p:txBody>
      </p:sp>
      <p:sp>
        <p:nvSpPr>
          <p:cNvPr id="3" name="Content Placeholder 2">
            <a:extLst>
              <a:ext uri="{FF2B5EF4-FFF2-40B4-BE49-F238E27FC236}">
                <a16:creationId xmlns:a16="http://schemas.microsoft.com/office/drawing/2014/main" id="{4074514E-A5EF-5B0B-7ED4-199BC039E7C6}"/>
              </a:ext>
            </a:extLst>
          </p:cNvPr>
          <p:cNvSpPr>
            <a:spLocks noGrp="1"/>
          </p:cNvSpPr>
          <p:nvPr>
            <p:ph idx="1"/>
          </p:nvPr>
        </p:nvSpPr>
        <p:spPr/>
        <p:txBody>
          <a:bodyPr/>
          <a:lstStyle/>
          <a:p>
            <a:r>
              <a:rPr lang="en-GB" dirty="0"/>
              <a:t>Streams become faster when using </a:t>
            </a:r>
            <a:r>
              <a:rPr lang="en-GB" dirty="0" err="1"/>
              <a:t>parallelStream</a:t>
            </a:r>
            <a:r>
              <a:rPr lang="en-GB" dirty="0"/>
              <a:t>() </a:t>
            </a:r>
          </a:p>
          <a:p>
            <a:r>
              <a:rPr lang="en-GB" dirty="0"/>
              <a:t>Conditions where it wins</a:t>
            </a:r>
          </a:p>
          <a:p>
            <a:pPr lvl="1"/>
            <a:r>
              <a:rPr lang="en-GB" dirty="0"/>
              <a:t>Large dataset – millions of elements</a:t>
            </a:r>
          </a:p>
          <a:p>
            <a:pPr lvl="1"/>
            <a:r>
              <a:rPr lang="en-US" dirty="0"/>
              <a:t>CPU intensive operation – not just simple sum</a:t>
            </a:r>
          </a:p>
          <a:p>
            <a:pPr lvl="1"/>
            <a:r>
              <a:rPr lang="en-US" dirty="0"/>
              <a:t>Stateless operations – no shared mutable state</a:t>
            </a:r>
          </a:p>
          <a:p>
            <a:pPr lvl="1"/>
            <a:r>
              <a:rPr lang="en-US" dirty="0"/>
              <a:t>Multi-core CPU available </a:t>
            </a:r>
          </a:p>
          <a:p>
            <a:pPr lvl="1"/>
            <a:r>
              <a:rPr lang="en-US" dirty="0"/>
              <a:t>Work per element is heavy enough</a:t>
            </a:r>
          </a:p>
        </p:txBody>
      </p:sp>
      <p:pic>
        <p:nvPicPr>
          <p:cNvPr id="5" name="Picture 4">
            <a:extLst>
              <a:ext uri="{FF2B5EF4-FFF2-40B4-BE49-F238E27FC236}">
                <a16:creationId xmlns:a16="http://schemas.microsoft.com/office/drawing/2014/main" id="{54A408AC-A10D-630D-BFBA-76426C6AECD6}"/>
              </a:ext>
            </a:extLst>
          </p:cNvPr>
          <p:cNvPicPr>
            <a:picLocks noChangeAspect="1"/>
          </p:cNvPicPr>
          <p:nvPr/>
        </p:nvPicPr>
        <p:blipFill>
          <a:blip r:embed="rId2"/>
          <a:stretch>
            <a:fillRect/>
          </a:stretch>
        </p:blipFill>
        <p:spPr>
          <a:xfrm>
            <a:off x="6268984" y="4201227"/>
            <a:ext cx="5314862" cy="2255491"/>
          </a:xfrm>
          <a:prstGeom prst="rect">
            <a:avLst/>
          </a:prstGeom>
        </p:spPr>
      </p:pic>
    </p:spTree>
    <p:extLst>
      <p:ext uri="{BB962C8B-B14F-4D97-AF65-F5344CB8AC3E}">
        <p14:creationId xmlns:p14="http://schemas.microsoft.com/office/powerpoint/2010/main" val="2081031161"/>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E300B6-ED4B-8A47-0CD8-0B241324C9DD}"/>
              </a:ext>
            </a:extLst>
          </p:cNvPr>
          <p:cNvSpPr>
            <a:spLocks noGrp="1"/>
          </p:cNvSpPr>
          <p:nvPr>
            <p:ph type="title"/>
          </p:nvPr>
        </p:nvSpPr>
        <p:spPr/>
        <p:txBody>
          <a:bodyPr/>
          <a:lstStyle/>
          <a:p>
            <a:r>
              <a:rPr lang="en-IN" dirty="0"/>
              <a:t>Avoiding Anti-Patterns</a:t>
            </a:r>
            <a:endParaRPr lang="en-US" dirty="0"/>
          </a:p>
        </p:txBody>
      </p:sp>
      <p:sp>
        <p:nvSpPr>
          <p:cNvPr id="3" name="Content Placeholder 2">
            <a:extLst>
              <a:ext uri="{FF2B5EF4-FFF2-40B4-BE49-F238E27FC236}">
                <a16:creationId xmlns:a16="http://schemas.microsoft.com/office/drawing/2014/main" id="{C6FB05B9-EDE4-F5DD-3806-357E598B57A5}"/>
              </a:ext>
            </a:extLst>
          </p:cNvPr>
          <p:cNvSpPr>
            <a:spLocks noGrp="1"/>
          </p:cNvSpPr>
          <p:nvPr>
            <p:ph idx="1"/>
          </p:nvPr>
        </p:nvSpPr>
        <p:spPr/>
        <p:txBody>
          <a:bodyPr/>
          <a:lstStyle/>
          <a:p>
            <a:r>
              <a:rPr lang="en-IN" dirty="0"/>
              <a:t>Unnecessary boxing/unboxing</a:t>
            </a:r>
          </a:p>
          <a:p>
            <a:r>
              <a:rPr lang="en-IN" dirty="0"/>
              <a:t>Inefficient use of streams</a:t>
            </a:r>
          </a:p>
          <a:p>
            <a:r>
              <a:rPr lang="en-IN" dirty="0"/>
              <a:t>Heavy reflection use</a:t>
            </a:r>
            <a:endParaRPr lang="en-US" dirty="0"/>
          </a:p>
        </p:txBody>
      </p:sp>
    </p:spTree>
    <p:extLst>
      <p:ext uri="{BB962C8B-B14F-4D97-AF65-F5344CB8AC3E}">
        <p14:creationId xmlns:p14="http://schemas.microsoft.com/office/powerpoint/2010/main" val="990308888"/>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F7B454-1534-A43B-472D-6A37815696AC}"/>
              </a:ext>
            </a:extLst>
          </p:cNvPr>
          <p:cNvSpPr>
            <a:spLocks noGrp="1"/>
          </p:cNvSpPr>
          <p:nvPr>
            <p:ph type="title"/>
          </p:nvPr>
        </p:nvSpPr>
        <p:spPr/>
        <p:txBody>
          <a:bodyPr>
            <a:normAutofit/>
          </a:bodyPr>
          <a:lstStyle/>
          <a:p>
            <a:r>
              <a:rPr lang="en-IN" sz="4000" dirty="0"/>
              <a:t>Session 2 : Concurrency &amp; Thread Optimization</a:t>
            </a:r>
            <a:endParaRPr lang="en-US" sz="4000" dirty="0"/>
          </a:p>
        </p:txBody>
      </p:sp>
      <p:sp>
        <p:nvSpPr>
          <p:cNvPr id="3" name="Content Placeholder 2">
            <a:extLst>
              <a:ext uri="{FF2B5EF4-FFF2-40B4-BE49-F238E27FC236}">
                <a16:creationId xmlns:a16="http://schemas.microsoft.com/office/drawing/2014/main" id="{DDD4575D-10E6-4C19-4B49-0EAF83168BF5}"/>
              </a:ext>
            </a:extLst>
          </p:cNvPr>
          <p:cNvSpPr>
            <a:spLocks noGrp="1"/>
          </p:cNvSpPr>
          <p:nvPr>
            <p:ph idx="1"/>
          </p:nvPr>
        </p:nvSpPr>
        <p:spPr/>
        <p:txBody>
          <a:bodyPr>
            <a:normAutofit/>
          </a:bodyPr>
          <a:lstStyle/>
          <a:p>
            <a:r>
              <a:rPr lang="en-GB" sz="2000" dirty="0"/>
              <a:t>Understand the </a:t>
            </a:r>
            <a:r>
              <a:rPr lang="en-GB" sz="2000" b="1" dirty="0"/>
              <a:t>cost of threads and context switching</a:t>
            </a:r>
            <a:r>
              <a:rPr lang="en-GB" sz="2000" dirty="0"/>
              <a:t> in Java</a:t>
            </a:r>
          </a:p>
          <a:p>
            <a:r>
              <a:rPr lang="en-GB" sz="2000" dirty="0"/>
              <a:t>Learn how to use the </a:t>
            </a:r>
            <a:r>
              <a:rPr lang="en-GB" sz="2000" b="1" dirty="0"/>
              <a:t>Executor Framework</a:t>
            </a:r>
            <a:r>
              <a:rPr lang="en-GB" sz="2000" dirty="0"/>
              <a:t> to manage threads efficiently</a:t>
            </a:r>
          </a:p>
          <a:p>
            <a:r>
              <a:rPr lang="en-GB" sz="2000" dirty="0"/>
              <a:t>Apply </a:t>
            </a:r>
            <a:r>
              <a:rPr lang="en-GB" sz="2000" b="1" dirty="0"/>
              <a:t>thread pool sizing strategies</a:t>
            </a:r>
            <a:r>
              <a:rPr lang="en-GB" sz="2000" dirty="0"/>
              <a:t> for CPU-bound and I/O-bound workloads</a:t>
            </a:r>
          </a:p>
          <a:p>
            <a:r>
              <a:rPr lang="en-GB" sz="2000" dirty="0"/>
              <a:t>Explore advanced concurrency models like </a:t>
            </a:r>
            <a:r>
              <a:rPr lang="en-GB" sz="2000" b="1" dirty="0"/>
              <a:t>Fork/Join</a:t>
            </a:r>
            <a:r>
              <a:rPr lang="en-GB" sz="2000" dirty="0"/>
              <a:t> and </a:t>
            </a:r>
            <a:r>
              <a:rPr lang="en-GB" sz="2000" b="1" dirty="0"/>
              <a:t>Virtual Threads (Project Loom)</a:t>
            </a:r>
          </a:p>
          <a:p>
            <a:r>
              <a:rPr lang="en-GB" sz="2000" dirty="0"/>
              <a:t>Identify and reduce </a:t>
            </a:r>
            <a:r>
              <a:rPr lang="en-GB" sz="2000" b="1" dirty="0"/>
              <a:t>contention, synchronization overhead, and false sharing</a:t>
            </a:r>
          </a:p>
          <a:p>
            <a:r>
              <a:rPr lang="en-GB" sz="2000" dirty="0"/>
              <a:t>Gain practical skills to </a:t>
            </a:r>
            <a:r>
              <a:rPr lang="en-GB" sz="2000" b="1" dirty="0"/>
              <a:t>analyse and optimize multithreaded applications</a:t>
            </a:r>
            <a:endParaRPr lang="en-US" sz="2000" dirty="0"/>
          </a:p>
        </p:txBody>
      </p:sp>
    </p:spTree>
    <p:extLst>
      <p:ext uri="{BB962C8B-B14F-4D97-AF65-F5344CB8AC3E}">
        <p14:creationId xmlns:p14="http://schemas.microsoft.com/office/powerpoint/2010/main" val="1712914430"/>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69F84-EE9F-7100-B1C8-639D96E278D2}"/>
              </a:ext>
            </a:extLst>
          </p:cNvPr>
          <p:cNvSpPr>
            <a:spLocks noGrp="1"/>
          </p:cNvSpPr>
          <p:nvPr>
            <p:ph type="title"/>
          </p:nvPr>
        </p:nvSpPr>
        <p:spPr/>
        <p:txBody>
          <a:bodyPr/>
          <a:lstStyle/>
          <a:p>
            <a:r>
              <a:rPr lang="en-IN" dirty="0"/>
              <a:t>Thread Lifecycle &amp; Scheduling Cost</a:t>
            </a:r>
            <a:endParaRPr lang="en-US" dirty="0"/>
          </a:p>
        </p:txBody>
      </p:sp>
      <p:sp>
        <p:nvSpPr>
          <p:cNvPr id="3" name="Content Placeholder 2">
            <a:extLst>
              <a:ext uri="{FF2B5EF4-FFF2-40B4-BE49-F238E27FC236}">
                <a16:creationId xmlns:a16="http://schemas.microsoft.com/office/drawing/2014/main" id="{2C26190C-28CC-3DD3-C1E6-8608F81A60CC}"/>
              </a:ext>
            </a:extLst>
          </p:cNvPr>
          <p:cNvSpPr>
            <a:spLocks noGrp="1"/>
          </p:cNvSpPr>
          <p:nvPr>
            <p:ph sz="half" idx="1"/>
          </p:nvPr>
        </p:nvSpPr>
        <p:spPr/>
        <p:txBody>
          <a:bodyPr>
            <a:normAutofit/>
          </a:bodyPr>
          <a:lstStyle/>
          <a:p>
            <a:r>
              <a:rPr lang="en-IN" sz="2000" dirty="0"/>
              <a:t>Thread Lifecycle – A thread goes through</a:t>
            </a:r>
          </a:p>
          <a:p>
            <a:pPr marL="914400" lvl="1" indent="-457200">
              <a:buFont typeface="+mj-lt"/>
              <a:buAutoNum type="arabicPeriod"/>
            </a:pPr>
            <a:r>
              <a:rPr lang="en-IN" sz="1800" dirty="0"/>
              <a:t>NEW – Created but not started</a:t>
            </a:r>
          </a:p>
          <a:p>
            <a:pPr marL="914400" lvl="1" indent="-457200">
              <a:buFont typeface="+mj-lt"/>
              <a:buAutoNum type="arabicPeriod"/>
            </a:pPr>
            <a:r>
              <a:rPr lang="en-IN" sz="1800" dirty="0"/>
              <a:t>RUNNABLE – Ready/Running</a:t>
            </a:r>
          </a:p>
          <a:p>
            <a:pPr marL="914400" lvl="1" indent="-457200">
              <a:buFont typeface="+mj-lt"/>
              <a:buAutoNum type="arabicPeriod"/>
            </a:pPr>
            <a:r>
              <a:rPr lang="en-IN" sz="1800" dirty="0"/>
              <a:t>BLOCKED – Waiting for monitor lock</a:t>
            </a:r>
          </a:p>
          <a:p>
            <a:pPr marL="914400" lvl="1" indent="-457200">
              <a:buFont typeface="+mj-lt"/>
              <a:buAutoNum type="arabicPeriod"/>
            </a:pPr>
            <a:r>
              <a:rPr lang="en-IN" sz="1800" dirty="0"/>
              <a:t>WAITING/TIMED WAITING – Waiting for signal/sleep</a:t>
            </a:r>
          </a:p>
          <a:p>
            <a:pPr marL="914400" lvl="1" indent="-457200">
              <a:buFont typeface="+mj-lt"/>
              <a:buAutoNum type="arabicPeriod"/>
            </a:pPr>
            <a:r>
              <a:rPr lang="en-IN" sz="1800" dirty="0"/>
              <a:t>TERMINATED</a:t>
            </a:r>
            <a:endParaRPr lang="en-US" sz="1800" dirty="0"/>
          </a:p>
        </p:txBody>
      </p:sp>
      <p:pic>
        <p:nvPicPr>
          <p:cNvPr id="8" name="Content Placeholder 7">
            <a:extLst>
              <a:ext uri="{FF2B5EF4-FFF2-40B4-BE49-F238E27FC236}">
                <a16:creationId xmlns:a16="http://schemas.microsoft.com/office/drawing/2014/main" id="{5E079BE4-B3C8-53C5-E4CC-06AE403B4835}"/>
              </a:ext>
            </a:extLst>
          </p:cNvPr>
          <p:cNvPicPr>
            <a:picLocks noGrp="1" noChangeAspect="1"/>
          </p:cNvPicPr>
          <p:nvPr>
            <p:ph sz="half" idx="2"/>
          </p:nvPr>
        </p:nvPicPr>
        <p:blipFill>
          <a:blip r:embed="rId2"/>
          <a:stretch>
            <a:fillRect/>
          </a:stretch>
        </p:blipFill>
        <p:spPr>
          <a:xfrm>
            <a:off x="6172200" y="3216293"/>
            <a:ext cx="5181600" cy="1570001"/>
          </a:xfrm>
          <a:prstGeom prst="rect">
            <a:avLst/>
          </a:prstGeom>
        </p:spPr>
      </p:pic>
    </p:spTree>
    <p:extLst>
      <p:ext uri="{BB962C8B-B14F-4D97-AF65-F5344CB8AC3E}">
        <p14:creationId xmlns:p14="http://schemas.microsoft.com/office/powerpoint/2010/main" val="1140403169"/>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890401-EED7-ECE1-A878-5F99B17C1AF6}"/>
              </a:ext>
            </a:extLst>
          </p:cNvPr>
          <p:cNvSpPr>
            <a:spLocks noGrp="1"/>
          </p:cNvSpPr>
          <p:nvPr>
            <p:ph type="title"/>
          </p:nvPr>
        </p:nvSpPr>
        <p:spPr/>
        <p:txBody>
          <a:bodyPr/>
          <a:lstStyle/>
          <a:p>
            <a:r>
              <a:rPr lang="en-IN" dirty="0"/>
              <a:t>Thread Scheduling in Java</a:t>
            </a:r>
            <a:endParaRPr lang="en-US" dirty="0"/>
          </a:p>
        </p:txBody>
      </p:sp>
      <p:sp>
        <p:nvSpPr>
          <p:cNvPr id="3" name="Content Placeholder 2">
            <a:extLst>
              <a:ext uri="{FF2B5EF4-FFF2-40B4-BE49-F238E27FC236}">
                <a16:creationId xmlns:a16="http://schemas.microsoft.com/office/drawing/2014/main" id="{C33BC809-5243-1327-B85B-5E31CFB0C017}"/>
              </a:ext>
            </a:extLst>
          </p:cNvPr>
          <p:cNvSpPr>
            <a:spLocks noGrp="1"/>
          </p:cNvSpPr>
          <p:nvPr>
            <p:ph idx="1"/>
          </p:nvPr>
        </p:nvSpPr>
        <p:spPr/>
        <p:txBody>
          <a:bodyPr/>
          <a:lstStyle/>
          <a:p>
            <a:r>
              <a:rPr lang="en-IN" dirty="0"/>
              <a:t>What is Scheduling ?</a:t>
            </a:r>
          </a:p>
          <a:p>
            <a:pPr lvl="1"/>
            <a:r>
              <a:rPr lang="en-IN" dirty="0"/>
              <a:t>Thread scheduling is how the CPU decides which thread runs next.</a:t>
            </a:r>
          </a:p>
          <a:p>
            <a:r>
              <a:rPr lang="en-IN" dirty="0"/>
              <a:t>Key Points</a:t>
            </a:r>
          </a:p>
          <a:p>
            <a:pPr lvl="1"/>
            <a:r>
              <a:rPr lang="en-IN" dirty="0"/>
              <a:t>Controlled by OS scheduler, not by JVM fully</a:t>
            </a:r>
          </a:p>
          <a:p>
            <a:pPr lvl="1"/>
            <a:r>
              <a:rPr lang="en-IN" dirty="0"/>
              <a:t>Java uses pre-emptive scheduling</a:t>
            </a:r>
          </a:p>
          <a:p>
            <a:pPr lvl="1"/>
            <a:r>
              <a:rPr lang="en-IN" dirty="0"/>
              <a:t>Usage</a:t>
            </a:r>
          </a:p>
          <a:p>
            <a:pPr lvl="2"/>
            <a:r>
              <a:rPr lang="en-IN" dirty="0"/>
              <a:t>Thread priority</a:t>
            </a:r>
          </a:p>
          <a:p>
            <a:pPr lvl="2"/>
            <a:r>
              <a:rPr lang="en-IN" dirty="0"/>
              <a:t>Time slicing</a:t>
            </a:r>
          </a:p>
          <a:p>
            <a:pPr lvl="2"/>
            <a:r>
              <a:rPr lang="en-IN" dirty="0"/>
              <a:t>CPU availability</a:t>
            </a:r>
            <a:endParaRPr lang="en-US" dirty="0"/>
          </a:p>
        </p:txBody>
      </p:sp>
    </p:spTree>
    <p:extLst>
      <p:ext uri="{BB962C8B-B14F-4D97-AF65-F5344CB8AC3E}">
        <p14:creationId xmlns:p14="http://schemas.microsoft.com/office/powerpoint/2010/main" val="4214738349"/>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3842D-3924-75D5-6B11-C1A6D54F3D7B}"/>
              </a:ext>
            </a:extLst>
          </p:cNvPr>
          <p:cNvSpPr>
            <a:spLocks noGrp="1"/>
          </p:cNvSpPr>
          <p:nvPr>
            <p:ph type="title"/>
          </p:nvPr>
        </p:nvSpPr>
        <p:spPr/>
        <p:txBody>
          <a:bodyPr>
            <a:normAutofit/>
          </a:bodyPr>
          <a:lstStyle/>
          <a:p>
            <a:r>
              <a:rPr lang="en-IN" sz="4000" dirty="0"/>
              <a:t>Cost of Thread Scheduling : Context Switching Cost</a:t>
            </a:r>
            <a:endParaRPr lang="en-US" sz="4000" dirty="0"/>
          </a:p>
        </p:txBody>
      </p:sp>
      <p:sp>
        <p:nvSpPr>
          <p:cNvPr id="3" name="Content Placeholder 2">
            <a:extLst>
              <a:ext uri="{FF2B5EF4-FFF2-40B4-BE49-F238E27FC236}">
                <a16:creationId xmlns:a16="http://schemas.microsoft.com/office/drawing/2014/main" id="{7809EC5B-89BD-00C2-605A-571FE6E74195}"/>
              </a:ext>
            </a:extLst>
          </p:cNvPr>
          <p:cNvSpPr>
            <a:spLocks noGrp="1"/>
          </p:cNvSpPr>
          <p:nvPr>
            <p:ph idx="1"/>
          </p:nvPr>
        </p:nvSpPr>
        <p:spPr/>
        <p:txBody>
          <a:bodyPr/>
          <a:lstStyle/>
          <a:p>
            <a:r>
              <a:rPr lang="en-IN" dirty="0"/>
              <a:t>Thread scheduling is not free – it has significant overhead</a:t>
            </a:r>
          </a:p>
          <a:p>
            <a:r>
              <a:rPr lang="en-IN" dirty="0"/>
              <a:t>What happens ?</a:t>
            </a:r>
          </a:p>
          <a:p>
            <a:pPr lvl="1"/>
            <a:r>
              <a:rPr lang="en-IN" dirty="0"/>
              <a:t>When CPU switches from Thread A to Thread B</a:t>
            </a:r>
          </a:p>
          <a:p>
            <a:pPr lvl="1"/>
            <a:r>
              <a:rPr lang="en-US" dirty="0"/>
              <a:t>Save current thread state in registers, stack</a:t>
            </a:r>
          </a:p>
          <a:p>
            <a:pPr lvl="1"/>
            <a:r>
              <a:rPr lang="en-US" dirty="0"/>
              <a:t>Load another thread state</a:t>
            </a:r>
          </a:p>
          <a:p>
            <a:r>
              <a:rPr lang="en-US" dirty="0"/>
              <a:t>Cost</a:t>
            </a:r>
          </a:p>
          <a:p>
            <a:pPr lvl="1"/>
            <a:r>
              <a:rPr lang="en-US" dirty="0"/>
              <a:t>1000s of CPU cycles</a:t>
            </a:r>
          </a:p>
          <a:p>
            <a:pPr lvl="1"/>
            <a:r>
              <a:rPr lang="en-US" dirty="0"/>
              <a:t>CPU cache get invalidated</a:t>
            </a:r>
          </a:p>
          <a:p>
            <a:pPr lvl="1"/>
            <a:endParaRPr lang="en-US" dirty="0"/>
          </a:p>
        </p:txBody>
      </p:sp>
    </p:spTree>
    <p:extLst>
      <p:ext uri="{BB962C8B-B14F-4D97-AF65-F5344CB8AC3E}">
        <p14:creationId xmlns:p14="http://schemas.microsoft.com/office/powerpoint/2010/main" val="2128184185"/>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84A062-F282-A260-8333-574601FCE099}"/>
              </a:ext>
            </a:extLst>
          </p:cNvPr>
          <p:cNvSpPr>
            <a:spLocks noGrp="1"/>
          </p:cNvSpPr>
          <p:nvPr>
            <p:ph type="title"/>
          </p:nvPr>
        </p:nvSpPr>
        <p:spPr/>
        <p:txBody>
          <a:bodyPr/>
          <a:lstStyle/>
          <a:p>
            <a:r>
              <a:rPr lang="en-IN" dirty="0"/>
              <a:t>Cost of Thread Scheduling : Lock Contention</a:t>
            </a:r>
            <a:endParaRPr lang="en-US" dirty="0"/>
          </a:p>
        </p:txBody>
      </p:sp>
      <p:sp>
        <p:nvSpPr>
          <p:cNvPr id="3" name="Content Placeholder 2">
            <a:extLst>
              <a:ext uri="{FF2B5EF4-FFF2-40B4-BE49-F238E27FC236}">
                <a16:creationId xmlns:a16="http://schemas.microsoft.com/office/drawing/2014/main" id="{65A22E0C-40DC-3CC1-3809-1BEA85F4E293}"/>
              </a:ext>
            </a:extLst>
          </p:cNvPr>
          <p:cNvSpPr>
            <a:spLocks noGrp="1"/>
          </p:cNvSpPr>
          <p:nvPr>
            <p:ph idx="1"/>
          </p:nvPr>
        </p:nvSpPr>
        <p:spPr/>
        <p:txBody>
          <a:bodyPr/>
          <a:lstStyle/>
          <a:p>
            <a:r>
              <a:rPr lang="en-IN" dirty="0"/>
              <a:t>If many threads</a:t>
            </a:r>
          </a:p>
          <a:p>
            <a:pPr lvl="1"/>
            <a:r>
              <a:rPr lang="en-IN" dirty="0"/>
              <a:t>Compete for same lock</a:t>
            </a:r>
          </a:p>
          <a:p>
            <a:pPr lvl="1"/>
            <a:r>
              <a:rPr lang="en-IN" dirty="0"/>
              <a:t>Threads go to BLOCKED STATES</a:t>
            </a:r>
          </a:p>
          <a:p>
            <a:pPr lvl="1"/>
            <a:r>
              <a:rPr lang="en-IN" dirty="0"/>
              <a:t>Scheduler keeps switching</a:t>
            </a:r>
          </a:p>
          <a:p>
            <a:r>
              <a:rPr lang="en-IN" dirty="0"/>
              <a:t>Cost</a:t>
            </a:r>
          </a:p>
          <a:p>
            <a:pPr lvl="1"/>
            <a:r>
              <a:rPr lang="en-IN" dirty="0"/>
              <a:t>Increased latency</a:t>
            </a:r>
          </a:p>
          <a:p>
            <a:pPr lvl="1"/>
            <a:r>
              <a:rPr lang="en-IN" dirty="0"/>
              <a:t>Reduced throughput</a:t>
            </a:r>
            <a:endParaRPr lang="en-US" dirty="0"/>
          </a:p>
        </p:txBody>
      </p:sp>
    </p:spTree>
    <p:extLst>
      <p:ext uri="{BB962C8B-B14F-4D97-AF65-F5344CB8AC3E}">
        <p14:creationId xmlns:p14="http://schemas.microsoft.com/office/powerpoint/2010/main" val="968016986"/>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935B31-E424-9E65-9559-A66681756B07}"/>
              </a:ext>
            </a:extLst>
          </p:cNvPr>
          <p:cNvSpPr>
            <a:spLocks noGrp="1"/>
          </p:cNvSpPr>
          <p:nvPr>
            <p:ph type="title"/>
          </p:nvPr>
        </p:nvSpPr>
        <p:spPr/>
        <p:txBody>
          <a:bodyPr/>
          <a:lstStyle/>
          <a:p>
            <a:r>
              <a:rPr lang="en-IN" dirty="0"/>
              <a:t>Cost of Thread Scheduling : Idle Waiting</a:t>
            </a:r>
            <a:endParaRPr lang="en-US" dirty="0"/>
          </a:p>
        </p:txBody>
      </p:sp>
      <p:sp>
        <p:nvSpPr>
          <p:cNvPr id="3" name="Content Placeholder 2">
            <a:extLst>
              <a:ext uri="{FF2B5EF4-FFF2-40B4-BE49-F238E27FC236}">
                <a16:creationId xmlns:a16="http://schemas.microsoft.com/office/drawing/2014/main" id="{8BD4F5CE-2C7E-58F8-0D78-4C83E47AC3B5}"/>
              </a:ext>
            </a:extLst>
          </p:cNvPr>
          <p:cNvSpPr>
            <a:spLocks noGrp="1"/>
          </p:cNvSpPr>
          <p:nvPr>
            <p:ph idx="1"/>
          </p:nvPr>
        </p:nvSpPr>
        <p:spPr/>
        <p:txBody>
          <a:bodyPr/>
          <a:lstStyle/>
          <a:p>
            <a:r>
              <a:rPr lang="en-IN" dirty="0"/>
              <a:t>Threads doing noting still</a:t>
            </a:r>
          </a:p>
          <a:p>
            <a:pPr lvl="1"/>
            <a:r>
              <a:rPr lang="en-IN" dirty="0"/>
              <a:t>Occupy memory</a:t>
            </a:r>
          </a:p>
          <a:p>
            <a:pPr lvl="1"/>
            <a:r>
              <a:rPr lang="en-IN" dirty="0"/>
              <a:t>Need scheduling and management</a:t>
            </a:r>
            <a:endParaRPr lang="en-US" dirty="0"/>
          </a:p>
        </p:txBody>
      </p:sp>
    </p:spTree>
    <p:extLst>
      <p:ext uri="{BB962C8B-B14F-4D97-AF65-F5344CB8AC3E}">
        <p14:creationId xmlns:p14="http://schemas.microsoft.com/office/powerpoint/2010/main" val="639598274"/>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7BDE1A-987C-C1C0-1125-F5E6B77AED7C}"/>
              </a:ext>
            </a:extLst>
          </p:cNvPr>
          <p:cNvSpPr>
            <a:spLocks noGrp="1"/>
          </p:cNvSpPr>
          <p:nvPr>
            <p:ph type="title"/>
          </p:nvPr>
        </p:nvSpPr>
        <p:spPr/>
        <p:txBody>
          <a:bodyPr/>
          <a:lstStyle/>
          <a:p>
            <a:r>
              <a:rPr lang="en-IN" dirty="0"/>
              <a:t>Solution</a:t>
            </a:r>
            <a:endParaRPr lang="en-US" dirty="0"/>
          </a:p>
        </p:txBody>
      </p:sp>
      <p:sp>
        <p:nvSpPr>
          <p:cNvPr id="3" name="Content Placeholder 2">
            <a:extLst>
              <a:ext uri="{FF2B5EF4-FFF2-40B4-BE49-F238E27FC236}">
                <a16:creationId xmlns:a16="http://schemas.microsoft.com/office/drawing/2014/main" id="{50722870-ADCA-4F94-4E5B-EC99D0A90A77}"/>
              </a:ext>
            </a:extLst>
          </p:cNvPr>
          <p:cNvSpPr>
            <a:spLocks noGrp="1"/>
          </p:cNvSpPr>
          <p:nvPr>
            <p:ph idx="1"/>
          </p:nvPr>
        </p:nvSpPr>
        <p:spPr/>
        <p:txBody>
          <a:bodyPr/>
          <a:lstStyle/>
          <a:p>
            <a:r>
              <a:rPr lang="en-IN" dirty="0"/>
              <a:t>Bad Design</a:t>
            </a:r>
          </a:p>
          <a:p>
            <a:pPr lvl="1"/>
            <a:r>
              <a:rPr lang="en-IN" dirty="0"/>
              <a:t>1000 threads</a:t>
            </a:r>
          </a:p>
          <a:p>
            <a:pPr lvl="1"/>
            <a:r>
              <a:rPr lang="en-IN" dirty="0"/>
              <a:t>High context switching</a:t>
            </a:r>
          </a:p>
          <a:p>
            <a:pPr lvl="1"/>
            <a:r>
              <a:rPr lang="en-IN" dirty="0"/>
              <a:t>CPU thrashing</a:t>
            </a:r>
          </a:p>
          <a:p>
            <a:r>
              <a:rPr lang="en-IN" dirty="0"/>
              <a:t>Good Design</a:t>
            </a:r>
          </a:p>
          <a:p>
            <a:pPr lvl="1"/>
            <a:r>
              <a:rPr lang="en-IN" dirty="0"/>
              <a:t>8-16 threads (based on CPU cores)</a:t>
            </a:r>
          </a:p>
          <a:p>
            <a:pPr lvl="1"/>
            <a:r>
              <a:rPr lang="en-IN" dirty="0"/>
              <a:t>Stable throughput</a:t>
            </a:r>
            <a:endParaRPr lang="en-US" dirty="0"/>
          </a:p>
        </p:txBody>
      </p:sp>
    </p:spTree>
    <p:extLst>
      <p:ext uri="{BB962C8B-B14F-4D97-AF65-F5344CB8AC3E}">
        <p14:creationId xmlns:p14="http://schemas.microsoft.com/office/powerpoint/2010/main" val="1181506005"/>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6932D4-C961-21EF-96A9-7624202481C7}"/>
              </a:ext>
            </a:extLst>
          </p:cNvPr>
          <p:cNvSpPr>
            <a:spLocks noGrp="1"/>
          </p:cNvSpPr>
          <p:nvPr>
            <p:ph type="title"/>
          </p:nvPr>
        </p:nvSpPr>
        <p:spPr/>
        <p:txBody>
          <a:bodyPr/>
          <a:lstStyle/>
          <a:p>
            <a:r>
              <a:rPr lang="en-IN" dirty="0"/>
              <a:t>Key takeaways</a:t>
            </a:r>
            <a:endParaRPr lang="en-US" dirty="0"/>
          </a:p>
        </p:txBody>
      </p:sp>
      <p:sp>
        <p:nvSpPr>
          <p:cNvPr id="3" name="Content Placeholder 2">
            <a:extLst>
              <a:ext uri="{FF2B5EF4-FFF2-40B4-BE49-F238E27FC236}">
                <a16:creationId xmlns:a16="http://schemas.microsoft.com/office/drawing/2014/main" id="{15B2FC2C-37C4-676F-62CE-9E27397D169C}"/>
              </a:ext>
            </a:extLst>
          </p:cNvPr>
          <p:cNvSpPr>
            <a:spLocks noGrp="1"/>
          </p:cNvSpPr>
          <p:nvPr>
            <p:ph idx="1"/>
          </p:nvPr>
        </p:nvSpPr>
        <p:spPr/>
        <p:txBody>
          <a:bodyPr>
            <a:normAutofit lnSpcReduction="10000"/>
          </a:bodyPr>
          <a:lstStyle/>
          <a:p>
            <a:r>
              <a:rPr lang="en-GB" b="1" dirty="0"/>
              <a:t>Thread Lifecycle</a:t>
            </a:r>
          </a:p>
          <a:p>
            <a:pPr lvl="1"/>
            <a:r>
              <a:rPr lang="en-GB" dirty="0"/>
              <a:t>NEW → RUNNABLE → BLOCKED / WAITING → TERMINATED </a:t>
            </a:r>
          </a:p>
          <a:p>
            <a:pPr lvl="1"/>
            <a:r>
              <a:rPr lang="en-GB" dirty="0"/>
              <a:t>Controlled via locks, wait/notify, sleep </a:t>
            </a:r>
          </a:p>
          <a:p>
            <a:r>
              <a:rPr lang="en-GB" b="1" dirty="0"/>
              <a:t>Scheduling Cost</a:t>
            </a:r>
          </a:p>
          <a:p>
            <a:pPr lvl="1"/>
            <a:r>
              <a:rPr lang="en-GB" dirty="0"/>
              <a:t>Context switching is expensive </a:t>
            </a:r>
          </a:p>
          <a:p>
            <a:pPr lvl="1"/>
            <a:r>
              <a:rPr lang="en-GB" dirty="0"/>
              <a:t>Too many threads = performance degradation </a:t>
            </a:r>
          </a:p>
          <a:p>
            <a:pPr lvl="1"/>
            <a:r>
              <a:rPr lang="en-GB" dirty="0"/>
              <a:t>Lock contention slows system </a:t>
            </a:r>
          </a:p>
          <a:p>
            <a:r>
              <a:rPr lang="en-GB" b="1" dirty="0"/>
              <a:t>Best Practices</a:t>
            </a:r>
          </a:p>
          <a:p>
            <a:pPr lvl="1"/>
            <a:r>
              <a:rPr lang="en-GB" dirty="0"/>
              <a:t>Use thread pools </a:t>
            </a:r>
          </a:p>
          <a:p>
            <a:pPr lvl="1"/>
            <a:r>
              <a:rPr lang="en-GB" dirty="0"/>
              <a:t>Avoid unnecessary synchronization </a:t>
            </a:r>
          </a:p>
          <a:p>
            <a:pPr lvl="1"/>
            <a:r>
              <a:rPr lang="en-GB" dirty="0"/>
              <a:t>Minimize thread creation</a:t>
            </a:r>
          </a:p>
          <a:p>
            <a:endParaRPr lang="en-US" dirty="0"/>
          </a:p>
        </p:txBody>
      </p:sp>
    </p:spTree>
    <p:extLst>
      <p:ext uri="{BB962C8B-B14F-4D97-AF65-F5344CB8AC3E}">
        <p14:creationId xmlns:p14="http://schemas.microsoft.com/office/powerpoint/2010/main" val="2944937953"/>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8BFD7-E72D-CF31-74B6-2D7A80A9B422}"/>
              </a:ext>
            </a:extLst>
          </p:cNvPr>
          <p:cNvSpPr>
            <a:spLocks noGrp="1"/>
          </p:cNvSpPr>
          <p:nvPr>
            <p:ph type="title"/>
          </p:nvPr>
        </p:nvSpPr>
        <p:spPr/>
        <p:txBody>
          <a:bodyPr/>
          <a:lstStyle/>
          <a:p>
            <a:r>
              <a:rPr lang="en-IN" dirty="0"/>
              <a:t>Executor framework tuning</a:t>
            </a:r>
            <a:endParaRPr lang="en-US" dirty="0"/>
          </a:p>
        </p:txBody>
      </p:sp>
      <p:sp>
        <p:nvSpPr>
          <p:cNvPr id="3" name="Content Placeholder 2">
            <a:extLst>
              <a:ext uri="{FF2B5EF4-FFF2-40B4-BE49-F238E27FC236}">
                <a16:creationId xmlns:a16="http://schemas.microsoft.com/office/drawing/2014/main" id="{DE31C1BC-46D6-6B5A-0F10-CE7EC8211AC6}"/>
              </a:ext>
            </a:extLst>
          </p:cNvPr>
          <p:cNvSpPr>
            <a:spLocks noGrp="1"/>
          </p:cNvSpPr>
          <p:nvPr>
            <p:ph idx="1"/>
          </p:nvPr>
        </p:nvSpPr>
        <p:spPr/>
        <p:txBody>
          <a:bodyPr/>
          <a:lstStyle/>
          <a:p>
            <a:r>
              <a:rPr lang="en-IN" dirty="0"/>
              <a:t>Default thread pools often cause</a:t>
            </a:r>
          </a:p>
          <a:p>
            <a:pPr lvl="1"/>
            <a:r>
              <a:rPr lang="en-IN" dirty="0"/>
              <a:t>Too many threads – context switching overload</a:t>
            </a:r>
          </a:p>
          <a:p>
            <a:pPr lvl="1"/>
            <a:r>
              <a:rPr lang="en-IN" dirty="0"/>
              <a:t>Too few threads – underutilized CPU</a:t>
            </a:r>
          </a:p>
          <a:p>
            <a:pPr lvl="1"/>
            <a:r>
              <a:rPr lang="en-IN" dirty="0"/>
              <a:t>Unbounded queue – memory issues / latency spikes</a:t>
            </a:r>
          </a:p>
          <a:p>
            <a:pPr lvl="1"/>
            <a:r>
              <a:rPr lang="en-IN" dirty="0"/>
              <a:t>Wrong rejection policy – system instability</a:t>
            </a:r>
          </a:p>
          <a:p>
            <a:r>
              <a:rPr lang="en-IN" dirty="0"/>
              <a:t>Proper tuning = </a:t>
            </a:r>
            <a:r>
              <a:rPr lang="en-IN" b="1" dirty="0"/>
              <a:t>optimal throughput + stable latency</a:t>
            </a:r>
            <a:endParaRPr lang="en-US" b="1" dirty="0"/>
          </a:p>
        </p:txBody>
      </p:sp>
    </p:spTree>
    <p:extLst>
      <p:ext uri="{BB962C8B-B14F-4D97-AF65-F5344CB8AC3E}">
        <p14:creationId xmlns:p14="http://schemas.microsoft.com/office/powerpoint/2010/main" val="2972575535"/>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FCD329-8F7E-8F72-D7D9-909FA8B114E4}"/>
              </a:ext>
            </a:extLst>
          </p:cNvPr>
          <p:cNvSpPr>
            <a:spLocks noGrp="1"/>
          </p:cNvSpPr>
          <p:nvPr>
            <p:ph type="title"/>
          </p:nvPr>
        </p:nvSpPr>
        <p:spPr/>
        <p:txBody>
          <a:bodyPr/>
          <a:lstStyle/>
          <a:p>
            <a:r>
              <a:rPr lang="en-IN" dirty="0"/>
              <a:t>Executor framework tuning</a:t>
            </a:r>
            <a:endParaRPr lang="en-US" dirty="0"/>
          </a:p>
        </p:txBody>
      </p:sp>
      <p:sp>
        <p:nvSpPr>
          <p:cNvPr id="3" name="Content Placeholder 2">
            <a:extLst>
              <a:ext uri="{FF2B5EF4-FFF2-40B4-BE49-F238E27FC236}">
                <a16:creationId xmlns:a16="http://schemas.microsoft.com/office/drawing/2014/main" id="{6AE37E79-6B36-0B47-1357-E938A535B2A4}"/>
              </a:ext>
            </a:extLst>
          </p:cNvPr>
          <p:cNvSpPr>
            <a:spLocks noGrp="1"/>
          </p:cNvSpPr>
          <p:nvPr>
            <p:ph idx="1"/>
          </p:nvPr>
        </p:nvSpPr>
        <p:spPr/>
        <p:txBody>
          <a:bodyPr>
            <a:normAutofit fontScale="92500" lnSpcReduction="10000"/>
          </a:bodyPr>
          <a:lstStyle/>
          <a:p>
            <a:r>
              <a:rPr lang="en-IN" dirty="0"/>
              <a:t>Key parameters to tune</a:t>
            </a:r>
          </a:p>
          <a:p>
            <a:pPr lvl="1"/>
            <a:r>
              <a:rPr lang="en-IN" dirty="0"/>
              <a:t>Core Pool Size</a:t>
            </a:r>
          </a:p>
          <a:p>
            <a:pPr lvl="2"/>
            <a:r>
              <a:rPr lang="en-IN" dirty="0"/>
              <a:t>Minimum threads always alive</a:t>
            </a:r>
          </a:p>
          <a:p>
            <a:pPr lvl="2"/>
            <a:r>
              <a:rPr lang="en-IN" dirty="0"/>
              <a:t>Good for steady workload</a:t>
            </a:r>
          </a:p>
          <a:p>
            <a:pPr lvl="1"/>
            <a:r>
              <a:rPr lang="en-IN" dirty="0"/>
              <a:t>Maximum Pool Size</a:t>
            </a:r>
          </a:p>
          <a:p>
            <a:pPr lvl="2"/>
            <a:r>
              <a:rPr lang="en-IN" dirty="0"/>
              <a:t>Upper limit of threads</a:t>
            </a:r>
          </a:p>
          <a:p>
            <a:pPr lvl="2"/>
            <a:r>
              <a:rPr lang="en-IN" dirty="0"/>
              <a:t>Used during peak load</a:t>
            </a:r>
          </a:p>
          <a:p>
            <a:pPr lvl="1"/>
            <a:r>
              <a:rPr lang="en-IN" dirty="0"/>
              <a:t>Queue Type</a:t>
            </a:r>
          </a:p>
          <a:p>
            <a:pPr lvl="2"/>
            <a:r>
              <a:rPr lang="en-IN" dirty="0"/>
              <a:t>Controls how tasks are buffered</a:t>
            </a:r>
          </a:p>
          <a:p>
            <a:pPr lvl="1"/>
            <a:r>
              <a:rPr lang="en-IN" dirty="0"/>
              <a:t>Keep Alive Time</a:t>
            </a:r>
          </a:p>
          <a:p>
            <a:pPr lvl="2"/>
            <a:r>
              <a:rPr lang="en-IN" dirty="0"/>
              <a:t>Idle threads above core size get terminated</a:t>
            </a:r>
          </a:p>
          <a:p>
            <a:pPr lvl="1"/>
            <a:r>
              <a:rPr lang="en-IN" dirty="0"/>
              <a:t>Rejection Policy</a:t>
            </a:r>
          </a:p>
          <a:p>
            <a:pPr lvl="2"/>
            <a:r>
              <a:rPr lang="en-IN" dirty="0"/>
              <a:t>When pool is full</a:t>
            </a:r>
          </a:p>
        </p:txBody>
      </p:sp>
    </p:spTree>
    <p:extLst>
      <p:ext uri="{BB962C8B-B14F-4D97-AF65-F5344CB8AC3E}">
        <p14:creationId xmlns:p14="http://schemas.microsoft.com/office/powerpoint/2010/main" val="4042193575"/>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48678-E104-3C45-0DD3-E4D843E5B0D0}"/>
              </a:ext>
            </a:extLst>
          </p:cNvPr>
          <p:cNvSpPr>
            <a:spLocks noGrp="1"/>
          </p:cNvSpPr>
          <p:nvPr>
            <p:ph type="title"/>
          </p:nvPr>
        </p:nvSpPr>
        <p:spPr/>
        <p:txBody>
          <a:bodyPr/>
          <a:lstStyle/>
          <a:p>
            <a:r>
              <a:rPr lang="en-IN" dirty="0"/>
              <a:t>Executor framework tuning</a:t>
            </a:r>
            <a:endParaRPr lang="en-US" dirty="0"/>
          </a:p>
        </p:txBody>
      </p:sp>
      <p:graphicFrame>
        <p:nvGraphicFramePr>
          <p:cNvPr id="7" name="Table 6">
            <a:extLst>
              <a:ext uri="{FF2B5EF4-FFF2-40B4-BE49-F238E27FC236}">
                <a16:creationId xmlns:a16="http://schemas.microsoft.com/office/drawing/2014/main" id="{0BA14A71-BE2A-E18D-F8B5-BD87D03663AC}"/>
              </a:ext>
            </a:extLst>
          </p:cNvPr>
          <p:cNvGraphicFramePr>
            <a:graphicFrameLocks noGrp="1"/>
          </p:cNvGraphicFramePr>
          <p:nvPr>
            <p:extLst>
              <p:ext uri="{D42A27DB-BD31-4B8C-83A1-F6EECF244321}">
                <p14:modId xmlns:p14="http://schemas.microsoft.com/office/powerpoint/2010/main" val="1585509467"/>
              </p:ext>
            </p:extLst>
          </p:nvPr>
        </p:nvGraphicFramePr>
        <p:xfrm>
          <a:off x="838200" y="1818926"/>
          <a:ext cx="10515600" cy="2194560"/>
        </p:xfrm>
        <a:graphic>
          <a:graphicData uri="http://schemas.openxmlformats.org/drawingml/2006/table">
            <a:tbl>
              <a:tblPr>
                <a:tableStyleId>{BC89EF96-8CEA-46FF-86C4-4CE0E7609802}</a:tableStyleId>
              </a:tblPr>
              <a:tblGrid>
                <a:gridCol w="3505200">
                  <a:extLst>
                    <a:ext uri="{9D8B030D-6E8A-4147-A177-3AD203B41FA5}">
                      <a16:colId xmlns:a16="http://schemas.microsoft.com/office/drawing/2014/main" val="3919506705"/>
                    </a:ext>
                  </a:extLst>
                </a:gridCol>
                <a:gridCol w="3505200">
                  <a:extLst>
                    <a:ext uri="{9D8B030D-6E8A-4147-A177-3AD203B41FA5}">
                      <a16:colId xmlns:a16="http://schemas.microsoft.com/office/drawing/2014/main" val="3880021914"/>
                    </a:ext>
                  </a:extLst>
                </a:gridCol>
                <a:gridCol w="3505200">
                  <a:extLst>
                    <a:ext uri="{9D8B030D-6E8A-4147-A177-3AD203B41FA5}">
                      <a16:colId xmlns:a16="http://schemas.microsoft.com/office/drawing/2014/main" val="2787665906"/>
                    </a:ext>
                  </a:extLst>
                </a:gridCol>
              </a:tblGrid>
              <a:tr h="0">
                <a:tc>
                  <a:txBody>
                    <a:bodyPr/>
                    <a:lstStyle/>
                    <a:p>
                      <a:pPr>
                        <a:buNone/>
                      </a:pPr>
                      <a:r>
                        <a:rPr lang="en-US" dirty="0"/>
                        <a:t>Aspect</a:t>
                      </a:r>
                    </a:p>
                  </a:txBody>
                  <a:tcPr anchor="ctr"/>
                </a:tc>
                <a:tc>
                  <a:txBody>
                    <a:bodyPr/>
                    <a:lstStyle/>
                    <a:p>
                      <a:pPr>
                        <a:buNone/>
                      </a:pPr>
                      <a:r>
                        <a:rPr lang="en-US"/>
                        <a:t>Bad Config</a:t>
                      </a:r>
                    </a:p>
                  </a:txBody>
                  <a:tcPr anchor="ctr"/>
                </a:tc>
                <a:tc>
                  <a:txBody>
                    <a:bodyPr/>
                    <a:lstStyle/>
                    <a:p>
                      <a:pPr>
                        <a:buNone/>
                      </a:pPr>
                      <a:r>
                        <a:rPr lang="en-US"/>
                        <a:t>Tuned Config</a:t>
                      </a:r>
                    </a:p>
                  </a:txBody>
                  <a:tcPr anchor="ctr"/>
                </a:tc>
                <a:extLst>
                  <a:ext uri="{0D108BD9-81ED-4DB2-BD59-A6C34878D82A}">
                    <a16:rowId xmlns:a16="http://schemas.microsoft.com/office/drawing/2014/main" val="2009993460"/>
                  </a:ext>
                </a:extLst>
              </a:tr>
              <a:tr h="0">
                <a:tc>
                  <a:txBody>
                    <a:bodyPr/>
                    <a:lstStyle/>
                    <a:p>
                      <a:pPr>
                        <a:buNone/>
                      </a:pPr>
                      <a:r>
                        <a:rPr lang="en-US" dirty="0"/>
                        <a:t>Queue</a:t>
                      </a:r>
                    </a:p>
                  </a:txBody>
                  <a:tcPr anchor="ctr"/>
                </a:tc>
                <a:tc>
                  <a:txBody>
                    <a:bodyPr/>
                    <a:lstStyle/>
                    <a:p>
                      <a:pPr>
                        <a:buNone/>
                      </a:pPr>
                      <a:r>
                        <a:rPr lang="en-US"/>
                        <a:t>Unbounded</a:t>
                      </a:r>
                    </a:p>
                  </a:txBody>
                  <a:tcPr anchor="ctr"/>
                </a:tc>
                <a:tc>
                  <a:txBody>
                    <a:bodyPr/>
                    <a:lstStyle/>
                    <a:p>
                      <a:pPr>
                        <a:buNone/>
                      </a:pPr>
                      <a:r>
                        <a:rPr lang="en-US"/>
                        <a:t>Bounded</a:t>
                      </a:r>
                    </a:p>
                  </a:txBody>
                  <a:tcPr anchor="ctr"/>
                </a:tc>
                <a:extLst>
                  <a:ext uri="{0D108BD9-81ED-4DB2-BD59-A6C34878D82A}">
                    <a16:rowId xmlns:a16="http://schemas.microsoft.com/office/drawing/2014/main" val="67573945"/>
                  </a:ext>
                </a:extLst>
              </a:tr>
              <a:tr h="0">
                <a:tc>
                  <a:txBody>
                    <a:bodyPr/>
                    <a:lstStyle/>
                    <a:p>
                      <a:pPr>
                        <a:buNone/>
                      </a:pPr>
                      <a:r>
                        <a:rPr lang="en-US" dirty="0"/>
                        <a:t>Stability</a:t>
                      </a:r>
                    </a:p>
                  </a:txBody>
                  <a:tcPr anchor="ctr"/>
                </a:tc>
                <a:tc>
                  <a:txBody>
                    <a:bodyPr/>
                    <a:lstStyle/>
                    <a:p>
                      <a:pPr>
                        <a:buNone/>
                      </a:pPr>
                      <a:r>
                        <a:rPr lang="en-US"/>
                        <a:t>❌ Poor</a:t>
                      </a:r>
                    </a:p>
                  </a:txBody>
                  <a:tcPr anchor="ctr"/>
                </a:tc>
                <a:tc>
                  <a:txBody>
                    <a:bodyPr/>
                    <a:lstStyle/>
                    <a:p>
                      <a:pPr>
                        <a:buNone/>
                      </a:pPr>
                      <a:r>
                        <a:rPr lang="en-US"/>
                        <a:t>✅ Stable</a:t>
                      </a:r>
                    </a:p>
                  </a:txBody>
                  <a:tcPr anchor="ctr"/>
                </a:tc>
                <a:extLst>
                  <a:ext uri="{0D108BD9-81ED-4DB2-BD59-A6C34878D82A}">
                    <a16:rowId xmlns:a16="http://schemas.microsoft.com/office/drawing/2014/main" val="573989917"/>
                  </a:ext>
                </a:extLst>
              </a:tr>
              <a:tr h="0">
                <a:tc>
                  <a:txBody>
                    <a:bodyPr/>
                    <a:lstStyle/>
                    <a:p>
                      <a:pPr>
                        <a:buNone/>
                      </a:pPr>
                      <a:r>
                        <a:rPr lang="en-US" dirty="0"/>
                        <a:t>Latency</a:t>
                      </a:r>
                    </a:p>
                  </a:txBody>
                  <a:tcPr anchor="ctr"/>
                </a:tc>
                <a:tc>
                  <a:txBody>
                    <a:bodyPr/>
                    <a:lstStyle/>
                    <a:p>
                      <a:pPr>
                        <a:buNone/>
                      </a:pPr>
                      <a:r>
                        <a:rPr lang="en-US"/>
                        <a:t>❌ Increasing</a:t>
                      </a:r>
                    </a:p>
                  </a:txBody>
                  <a:tcPr anchor="ctr"/>
                </a:tc>
                <a:tc>
                  <a:txBody>
                    <a:bodyPr/>
                    <a:lstStyle/>
                    <a:p>
                      <a:pPr>
                        <a:buNone/>
                      </a:pPr>
                      <a:r>
                        <a:rPr lang="en-US"/>
                        <a:t>✅ Controlled</a:t>
                      </a:r>
                    </a:p>
                  </a:txBody>
                  <a:tcPr anchor="ctr"/>
                </a:tc>
                <a:extLst>
                  <a:ext uri="{0D108BD9-81ED-4DB2-BD59-A6C34878D82A}">
                    <a16:rowId xmlns:a16="http://schemas.microsoft.com/office/drawing/2014/main" val="3918523184"/>
                  </a:ext>
                </a:extLst>
              </a:tr>
              <a:tr h="0">
                <a:tc>
                  <a:txBody>
                    <a:bodyPr/>
                    <a:lstStyle/>
                    <a:p>
                      <a:pPr>
                        <a:buNone/>
                      </a:pPr>
                      <a:r>
                        <a:rPr lang="en-US"/>
                        <a:t>Backpressure</a:t>
                      </a:r>
                    </a:p>
                  </a:txBody>
                  <a:tcPr anchor="ctr"/>
                </a:tc>
                <a:tc>
                  <a:txBody>
                    <a:bodyPr/>
                    <a:lstStyle/>
                    <a:p>
                      <a:pPr>
                        <a:buNone/>
                      </a:pPr>
                      <a:r>
                        <a:rPr lang="en-US"/>
                        <a:t>❌ None</a:t>
                      </a:r>
                    </a:p>
                  </a:txBody>
                  <a:tcPr anchor="ctr"/>
                </a:tc>
                <a:tc>
                  <a:txBody>
                    <a:bodyPr/>
                    <a:lstStyle/>
                    <a:p>
                      <a:pPr>
                        <a:buNone/>
                      </a:pPr>
                      <a:r>
                        <a:rPr lang="en-US"/>
                        <a:t>✅ Yes</a:t>
                      </a:r>
                    </a:p>
                  </a:txBody>
                  <a:tcPr anchor="ctr"/>
                </a:tc>
                <a:extLst>
                  <a:ext uri="{0D108BD9-81ED-4DB2-BD59-A6C34878D82A}">
                    <a16:rowId xmlns:a16="http://schemas.microsoft.com/office/drawing/2014/main" val="3905008972"/>
                  </a:ext>
                </a:extLst>
              </a:tr>
              <a:tr h="0">
                <a:tc>
                  <a:txBody>
                    <a:bodyPr/>
                    <a:lstStyle/>
                    <a:p>
                      <a:pPr>
                        <a:buNone/>
                      </a:pPr>
                      <a:r>
                        <a:rPr lang="en-US" dirty="0"/>
                        <a:t>Debugging</a:t>
                      </a:r>
                    </a:p>
                  </a:txBody>
                  <a:tcPr anchor="ctr"/>
                </a:tc>
                <a:tc>
                  <a:txBody>
                    <a:bodyPr/>
                    <a:lstStyle/>
                    <a:p>
                      <a:pPr>
                        <a:buNone/>
                      </a:pPr>
                      <a:r>
                        <a:rPr lang="en-US"/>
                        <a:t>❌ Hard</a:t>
                      </a:r>
                    </a:p>
                  </a:txBody>
                  <a:tcPr anchor="ctr"/>
                </a:tc>
                <a:tc>
                  <a:txBody>
                    <a:bodyPr/>
                    <a:lstStyle/>
                    <a:p>
                      <a:pPr>
                        <a:buNone/>
                      </a:pPr>
                      <a:r>
                        <a:rPr lang="en-US" dirty="0"/>
                        <a:t>✅ Easy</a:t>
                      </a:r>
                    </a:p>
                  </a:txBody>
                  <a:tcPr anchor="ctr"/>
                </a:tc>
                <a:extLst>
                  <a:ext uri="{0D108BD9-81ED-4DB2-BD59-A6C34878D82A}">
                    <a16:rowId xmlns:a16="http://schemas.microsoft.com/office/drawing/2014/main" val="4080037780"/>
                  </a:ext>
                </a:extLst>
              </a:tr>
            </a:tbl>
          </a:graphicData>
        </a:graphic>
      </p:graphicFrame>
    </p:spTree>
    <p:extLst>
      <p:ext uri="{BB962C8B-B14F-4D97-AF65-F5344CB8AC3E}">
        <p14:creationId xmlns:p14="http://schemas.microsoft.com/office/powerpoint/2010/main" val="2379826811"/>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D48D8B-9811-E5B6-0AC1-E2FF59D840F4}"/>
              </a:ext>
            </a:extLst>
          </p:cNvPr>
          <p:cNvSpPr>
            <a:spLocks noGrp="1"/>
          </p:cNvSpPr>
          <p:nvPr>
            <p:ph type="title"/>
          </p:nvPr>
        </p:nvSpPr>
        <p:spPr/>
        <p:txBody>
          <a:bodyPr/>
          <a:lstStyle/>
          <a:p>
            <a:r>
              <a:rPr lang="en-GB" dirty="0"/>
              <a:t>Fork/Join Framework</a:t>
            </a:r>
            <a:endParaRPr lang="en-US" dirty="0"/>
          </a:p>
        </p:txBody>
      </p:sp>
      <p:sp>
        <p:nvSpPr>
          <p:cNvPr id="3" name="Content Placeholder 2">
            <a:extLst>
              <a:ext uri="{FF2B5EF4-FFF2-40B4-BE49-F238E27FC236}">
                <a16:creationId xmlns:a16="http://schemas.microsoft.com/office/drawing/2014/main" id="{F7347A0D-33CC-F3DB-AE74-F9C3B58F829D}"/>
              </a:ext>
            </a:extLst>
          </p:cNvPr>
          <p:cNvSpPr>
            <a:spLocks noGrp="1"/>
          </p:cNvSpPr>
          <p:nvPr>
            <p:ph idx="1"/>
          </p:nvPr>
        </p:nvSpPr>
        <p:spPr/>
        <p:txBody>
          <a:bodyPr/>
          <a:lstStyle/>
          <a:p>
            <a:r>
              <a:rPr lang="en-GB" dirty="0"/>
              <a:t>Fork/Join is NOT about making everything parallel, it's about efficiently parallelizing recursive, splitable problems</a:t>
            </a:r>
          </a:p>
          <a:p>
            <a:r>
              <a:rPr lang="en-GB" dirty="0"/>
              <a:t>The framework follows this pattern</a:t>
            </a:r>
          </a:p>
          <a:p>
            <a:pPr lvl="1"/>
            <a:r>
              <a:rPr lang="en-GB" dirty="0"/>
              <a:t>Problem – Split (Fork) – Solve in parallel – Combine (Join)</a:t>
            </a:r>
          </a:p>
          <a:p>
            <a:r>
              <a:rPr lang="en-GB" dirty="0"/>
              <a:t>Best suited for</a:t>
            </a:r>
          </a:p>
          <a:p>
            <a:pPr lvl="1"/>
            <a:r>
              <a:rPr lang="en-GB" dirty="0"/>
              <a:t>Recursive problems</a:t>
            </a:r>
          </a:p>
          <a:p>
            <a:pPr lvl="1"/>
            <a:r>
              <a:rPr lang="en-GB" dirty="0"/>
              <a:t>CPU intensive tasks</a:t>
            </a:r>
          </a:p>
          <a:p>
            <a:pPr lvl="1"/>
            <a:r>
              <a:rPr lang="en-GB" dirty="0"/>
              <a:t>Large data processing (arrays, collections)</a:t>
            </a:r>
            <a:endParaRPr lang="en-US" dirty="0"/>
          </a:p>
        </p:txBody>
      </p:sp>
    </p:spTree>
    <p:extLst>
      <p:ext uri="{BB962C8B-B14F-4D97-AF65-F5344CB8AC3E}">
        <p14:creationId xmlns:p14="http://schemas.microsoft.com/office/powerpoint/2010/main" val="1157348818"/>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7EE597-1139-523F-2103-956732EA813A}"/>
              </a:ext>
            </a:extLst>
          </p:cNvPr>
          <p:cNvSpPr>
            <a:spLocks noGrp="1"/>
          </p:cNvSpPr>
          <p:nvPr>
            <p:ph type="title"/>
          </p:nvPr>
        </p:nvSpPr>
        <p:spPr/>
        <p:txBody>
          <a:bodyPr/>
          <a:lstStyle/>
          <a:p>
            <a:r>
              <a:rPr lang="en-GB" dirty="0"/>
              <a:t>Fork/Join Framework</a:t>
            </a:r>
            <a:endParaRPr lang="en-US" dirty="0"/>
          </a:p>
        </p:txBody>
      </p:sp>
      <p:sp>
        <p:nvSpPr>
          <p:cNvPr id="3" name="Content Placeholder 2">
            <a:extLst>
              <a:ext uri="{FF2B5EF4-FFF2-40B4-BE49-F238E27FC236}">
                <a16:creationId xmlns:a16="http://schemas.microsoft.com/office/drawing/2014/main" id="{21087F19-8C40-9ABA-4AC7-10DE30348696}"/>
              </a:ext>
            </a:extLst>
          </p:cNvPr>
          <p:cNvSpPr>
            <a:spLocks noGrp="1"/>
          </p:cNvSpPr>
          <p:nvPr>
            <p:ph idx="1"/>
          </p:nvPr>
        </p:nvSpPr>
        <p:spPr>
          <a:xfrm>
            <a:off x="838200" y="1825625"/>
            <a:ext cx="10515600" cy="1437767"/>
          </a:xfrm>
        </p:spPr>
        <p:txBody>
          <a:bodyPr/>
          <a:lstStyle/>
          <a:p>
            <a:r>
              <a:rPr lang="en-GB" dirty="0" err="1"/>
              <a:t>ForkJoinTask</a:t>
            </a:r>
            <a:r>
              <a:rPr lang="en-GB" dirty="0"/>
              <a:t> has two main types</a:t>
            </a:r>
          </a:p>
          <a:p>
            <a:pPr lvl="1"/>
            <a:r>
              <a:rPr lang="en-GB" dirty="0" err="1"/>
              <a:t>RecursiveTask</a:t>
            </a:r>
            <a:r>
              <a:rPr lang="en-GB" dirty="0"/>
              <a:t> – Return result</a:t>
            </a:r>
          </a:p>
          <a:p>
            <a:pPr lvl="1"/>
            <a:r>
              <a:rPr lang="en-GB" dirty="0" err="1"/>
              <a:t>RecursiveAction</a:t>
            </a:r>
            <a:r>
              <a:rPr lang="en-GB" dirty="0"/>
              <a:t> – No result</a:t>
            </a:r>
          </a:p>
          <a:p>
            <a:endParaRPr lang="en-US" dirty="0"/>
          </a:p>
        </p:txBody>
      </p:sp>
      <p:pic>
        <p:nvPicPr>
          <p:cNvPr id="5" name="Picture 4">
            <a:extLst>
              <a:ext uri="{FF2B5EF4-FFF2-40B4-BE49-F238E27FC236}">
                <a16:creationId xmlns:a16="http://schemas.microsoft.com/office/drawing/2014/main" id="{69B75A62-759A-0B1D-9650-914F425CCDE3}"/>
              </a:ext>
            </a:extLst>
          </p:cNvPr>
          <p:cNvPicPr>
            <a:picLocks noChangeAspect="1"/>
          </p:cNvPicPr>
          <p:nvPr/>
        </p:nvPicPr>
        <p:blipFill>
          <a:blip r:embed="rId2"/>
          <a:stretch>
            <a:fillRect/>
          </a:stretch>
        </p:blipFill>
        <p:spPr>
          <a:xfrm>
            <a:off x="838200" y="3507929"/>
            <a:ext cx="3174103" cy="744006"/>
          </a:xfrm>
          <a:prstGeom prst="rect">
            <a:avLst/>
          </a:prstGeom>
        </p:spPr>
      </p:pic>
      <p:pic>
        <p:nvPicPr>
          <p:cNvPr id="7" name="Picture 6">
            <a:extLst>
              <a:ext uri="{FF2B5EF4-FFF2-40B4-BE49-F238E27FC236}">
                <a16:creationId xmlns:a16="http://schemas.microsoft.com/office/drawing/2014/main" id="{457649EE-5757-8D21-6B1B-578F711295DF}"/>
              </a:ext>
            </a:extLst>
          </p:cNvPr>
          <p:cNvPicPr>
            <a:picLocks noChangeAspect="1"/>
          </p:cNvPicPr>
          <p:nvPr/>
        </p:nvPicPr>
        <p:blipFill>
          <a:blip r:embed="rId3"/>
          <a:stretch>
            <a:fillRect/>
          </a:stretch>
        </p:blipFill>
        <p:spPr>
          <a:xfrm>
            <a:off x="4336823" y="3505894"/>
            <a:ext cx="2994633" cy="749852"/>
          </a:xfrm>
          <a:prstGeom prst="rect">
            <a:avLst/>
          </a:prstGeom>
        </p:spPr>
      </p:pic>
    </p:spTree>
    <p:extLst>
      <p:ext uri="{BB962C8B-B14F-4D97-AF65-F5344CB8AC3E}">
        <p14:creationId xmlns:p14="http://schemas.microsoft.com/office/powerpoint/2010/main" val="1088348411"/>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5871C-2596-5406-6148-DDCF61499E38}"/>
              </a:ext>
            </a:extLst>
          </p:cNvPr>
          <p:cNvSpPr>
            <a:spLocks noGrp="1"/>
          </p:cNvSpPr>
          <p:nvPr>
            <p:ph type="title"/>
          </p:nvPr>
        </p:nvSpPr>
        <p:spPr/>
        <p:txBody>
          <a:bodyPr/>
          <a:lstStyle/>
          <a:p>
            <a:r>
              <a:rPr lang="en-IN" b="1" dirty="0"/>
              <a:t>Different types of Threads</a:t>
            </a:r>
            <a:endParaRPr lang="en-US" b="1" dirty="0"/>
          </a:p>
        </p:txBody>
      </p:sp>
      <p:sp>
        <p:nvSpPr>
          <p:cNvPr id="3" name="Content Placeholder 2">
            <a:extLst>
              <a:ext uri="{FF2B5EF4-FFF2-40B4-BE49-F238E27FC236}">
                <a16:creationId xmlns:a16="http://schemas.microsoft.com/office/drawing/2014/main" id="{CFB49716-B45C-BA36-17F2-8EC20B811189}"/>
              </a:ext>
            </a:extLst>
          </p:cNvPr>
          <p:cNvSpPr>
            <a:spLocks noGrp="1"/>
          </p:cNvSpPr>
          <p:nvPr>
            <p:ph idx="1"/>
          </p:nvPr>
        </p:nvSpPr>
        <p:spPr/>
        <p:txBody>
          <a:bodyPr/>
          <a:lstStyle/>
          <a:p>
            <a:r>
              <a:rPr lang="en-IN" b="1" dirty="0"/>
              <a:t>Kernel/OS Thread</a:t>
            </a:r>
          </a:p>
          <a:p>
            <a:pPr lvl="1"/>
            <a:r>
              <a:rPr lang="en-IN" dirty="0"/>
              <a:t>This is also known as OS Thread.</a:t>
            </a:r>
          </a:p>
          <a:p>
            <a:pPr lvl="1"/>
            <a:r>
              <a:rPr lang="en-IN" dirty="0"/>
              <a:t>Kernel Threads are managed and scheduled by the operating system</a:t>
            </a:r>
          </a:p>
          <a:p>
            <a:r>
              <a:rPr lang="en-IN" b="1" dirty="0"/>
              <a:t>Platform Thread</a:t>
            </a:r>
          </a:p>
          <a:p>
            <a:pPr lvl="1"/>
            <a:r>
              <a:rPr lang="en-IN" dirty="0"/>
              <a:t>Each Java platform thread is associated 1-to-1 with an OS OR kernel thread</a:t>
            </a:r>
            <a:endParaRPr lang="en-US" dirty="0"/>
          </a:p>
        </p:txBody>
      </p:sp>
    </p:spTree>
    <p:extLst>
      <p:ext uri="{BB962C8B-B14F-4D97-AF65-F5344CB8AC3E}">
        <p14:creationId xmlns:p14="http://schemas.microsoft.com/office/powerpoint/2010/main" val="2154758937"/>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01E54-D2F8-D750-CDC7-30DAB4707307}"/>
              </a:ext>
            </a:extLst>
          </p:cNvPr>
          <p:cNvSpPr>
            <a:spLocks noGrp="1"/>
          </p:cNvSpPr>
          <p:nvPr>
            <p:ph type="title"/>
          </p:nvPr>
        </p:nvSpPr>
        <p:spPr/>
        <p:txBody>
          <a:bodyPr/>
          <a:lstStyle/>
          <a:p>
            <a:r>
              <a:rPr lang="en-IN" b="1" dirty="0"/>
              <a:t>Virtual Threads</a:t>
            </a:r>
            <a:endParaRPr lang="en-US" b="1" dirty="0"/>
          </a:p>
        </p:txBody>
      </p:sp>
      <p:sp>
        <p:nvSpPr>
          <p:cNvPr id="3" name="Content Placeholder 2">
            <a:extLst>
              <a:ext uri="{FF2B5EF4-FFF2-40B4-BE49-F238E27FC236}">
                <a16:creationId xmlns:a16="http://schemas.microsoft.com/office/drawing/2014/main" id="{92CB2897-C6D0-2CF8-369A-470DE8BE14E3}"/>
              </a:ext>
            </a:extLst>
          </p:cNvPr>
          <p:cNvSpPr>
            <a:spLocks noGrp="1"/>
          </p:cNvSpPr>
          <p:nvPr>
            <p:ph sz="half" idx="1"/>
          </p:nvPr>
        </p:nvSpPr>
        <p:spPr/>
        <p:txBody>
          <a:bodyPr/>
          <a:lstStyle/>
          <a:p>
            <a:r>
              <a:rPr lang="en-IN" dirty="0"/>
              <a:t>A Virtual Thread is a lightweight thread managed by the JVM instead of operating system.</a:t>
            </a:r>
          </a:p>
          <a:p>
            <a:r>
              <a:rPr lang="en-IN" dirty="0"/>
              <a:t>It looks like a normal Java thread but internally</a:t>
            </a:r>
          </a:p>
          <a:p>
            <a:pPr lvl="1"/>
            <a:r>
              <a:rPr lang="en-IN" dirty="0"/>
              <a:t>Scheduled by the JVM</a:t>
            </a:r>
          </a:p>
          <a:p>
            <a:pPr lvl="1"/>
            <a:r>
              <a:rPr lang="en-IN" dirty="0"/>
              <a:t>Extremely cheap to create </a:t>
            </a:r>
          </a:p>
          <a:p>
            <a:pPr lvl="1"/>
            <a:r>
              <a:rPr lang="en-IN" dirty="0"/>
              <a:t>Can block without wasting OS resources</a:t>
            </a:r>
            <a:endParaRPr lang="en-US" dirty="0"/>
          </a:p>
        </p:txBody>
      </p:sp>
      <p:pic>
        <p:nvPicPr>
          <p:cNvPr id="10" name="Content Placeholder 9">
            <a:extLst>
              <a:ext uri="{FF2B5EF4-FFF2-40B4-BE49-F238E27FC236}">
                <a16:creationId xmlns:a16="http://schemas.microsoft.com/office/drawing/2014/main" id="{A89BCC33-18ED-1683-8DB8-49F1DE7482DA}"/>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8182179" y="980312"/>
            <a:ext cx="1668957" cy="4655513"/>
          </a:xfrm>
        </p:spPr>
      </p:pic>
    </p:spTree>
    <p:extLst>
      <p:ext uri="{BB962C8B-B14F-4D97-AF65-F5344CB8AC3E}">
        <p14:creationId xmlns:p14="http://schemas.microsoft.com/office/powerpoint/2010/main" val="3308720797"/>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576930-7EB9-2D59-EBA1-55117BBEB57E}"/>
              </a:ext>
            </a:extLst>
          </p:cNvPr>
          <p:cNvSpPr>
            <a:spLocks noGrp="1"/>
          </p:cNvSpPr>
          <p:nvPr>
            <p:ph type="title"/>
          </p:nvPr>
        </p:nvSpPr>
        <p:spPr/>
        <p:txBody>
          <a:bodyPr/>
          <a:lstStyle/>
          <a:p>
            <a:r>
              <a:rPr lang="en-IN" b="1" dirty="0"/>
              <a:t>Compare with Platform Thread</a:t>
            </a:r>
            <a:endParaRPr lang="en-US" b="1" dirty="0"/>
          </a:p>
        </p:txBody>
      </p:sp>
      <p:graphicFrame>
        <p:nvGraphicFramePr>
          <p:cNvPr id="4" name="Table 3">
            <a:extLst>
              <a:ext uri="{FF2B5EF4-FFF2-40B4-BE49-F238E27FC236}">
                <a16:creationId xmlns:a16="http://schemas.microsoft.com/office/drawing/2014/main" id="{F250B7DE-337D-BDDD-3755-41CBD7EEC8A5}"/>
              </a:ext>
            </a:extLst>
          </p:cNvPr>
          <p:cNvGraphicFramePr>
            <a:graphicFrameLocks noGrp="1"/>
          </p:cNvGraphicFramePr>
          <p:nvPr/>
        </p:nvGraphicFramePr>
        <p:xfrm>
          <a:off x="838200" y="2904014"/>
          <a:ext cx="10515600" cy="2194560"/>
        </p:xfrm>
        <a:graphic>
          <a:graphicData uri="http://schemas.openxmlformats.org/drawingml/2006/table">
            <a:tbl>
              <a:tblPr>
                <a:tableStyleId>{35758FB7-9AC5-4552-8A53-C91805E547FA}</a:tableStyleId>
              </a:tblPr>
              <a:tblGrid>
                <a:gridCol w="3505200">
                  <a:extLst>
                    <a:ext uri="{9D8B030D-6E8A-4147-A177-3AD203B41FA5}">
                      <a16:colId xmlns:a16="http://schemas.microsoft.com/office/drawing/2014/main" val="393020955"/>
                    </a:ext>
                  </a:extLst>
                </a:gridCol>
                <a:gridCol w="3505200">
                  <a:extLst>
                    <a:ext uri="{9D8B030D-6E8A-4147-A177-3AD203B41FA5}">
                      <a16:colId xmlns:a16="http://schemas.microsoft.com/office/drawing/2014/main" val="3515915843"/>
                    </a:ext>
                  </a:extLst>
                </a:gridCol>
                <a:gridCol w="3505200">
                  <a:extLst>
                    <a:ext uri="{9D8B030D-6E8A-4147-A177-3AD203B41FA5}">
                      <a16:colId xmlns:a16="http://schemas.microsoft.com/office/drawing/2014/main" val="523298544"/>
                    </a:ext>
                  </a:extLst>
                </a:gridCol>
              </a:tblGrid>
              <a:tr h="0">
                <a:tc>
                  <a:txBody>
                    <a:bodyPr/>
                    <a:lstStyle/>
                    <a:p>
                      <a:pPr>
                        <a:buNone/>
                      </a:pPr>
                      <a:r>
                        <a:rPr lang="en-US"/>
                        <a:t>Aspect</a:t>
                      </a:r>
                    </a:p>
                  </a:txBody>
                  <a:tcPr anchor="ctr"/>
                </a:tc>
                <a:tc>
                  <a:txBody>
                    <a:bodyPr/>
                    <a:lstStyle/>
                    <a:p>
                      <a:pPr>
                        <a:buNone/>
                      </a:pPr>
                      <a:r>
                        <a:rPr lang="en-US"/>
                        <a:t>Platform Thread</a:t>
                      </a:r>
                    </a:p>
                  </a:txBody>
                  <a:tcPr anchor="ctr"/>
                </a:tc>
                <a:tc>
                  <a:txBody>
                    <a:bodyPr/>
                    <a:lstStyle/>
                    <a:p>
                      <a:pPr>
                        <a:buNone/>
                      </a:pPr>
                      <a:r>
                        <a:rPr lang="en-US"/>
                        <a:t>Virtual Thread</a:t>
                      </a:r>
                    </a:p>
                  </a:txBody>
                  <a:tcPr anchor="ctr"/>
                </a:tc>
                <a:extLst>
                  <a:ext uri="{0D108BD9-81ED-4DB2-BD59-A6C34878D82A}">
                    <a16:rowId xmlns:a16="http://schemas.microsoft.com/office/drawing/2014/main" val="2535172322"/>
                  </a:ext>
                </a:extLst>
              </a:tr>
              <a:tr h="0">
                <a:tc>
                  <a:txBody>
                    <a:bodyPr/>
                    <a:lstStyle/>
                    <a:p>
                      <a:pPr>
                        <a:buNone/>
                      </a:pPr>
                      <a:r>
                        <a:rPr lang="en-US"/>
                        <a:t>Backed by</a:t>
                      </a:r>
                    </a:p>
                  </a:txBody>
                  <a:tcPr anchor="ctr"/>
                </a:tc>
                <a:tc>
                  <a:txBody>
                    <a:bodyPr/>
                    <a:lstStyle/>
                    <a:p>
                      <a:pPr>
                        <a:buNone/>
                      </a:pPr>
                      <a:r>
                        <a:rPr lang="en-US"/>
                        <a:t>OS thread</a:t>
                      </a:r>
                    </a:p>
                  </a:txBody>
                  <a:tcPr anchor="ctr"/>
                </a:tc>
                <a:tc>
                  <a:txBody>
                    <a:bodyPr/>
                    <a:lstStyle/>
                    <a:p>
                      <a:pPr>
                        <a:buNone/>
                      </a:pPr>
                      <a:r>
                        <a:rPr lang="en-US"/>
                        <a:t>JVM scheduler</a:t>
                      </a:r>
                    </a:p>
                  </a:txBody>
                  <a:tcPr anchor="ctr"/>
                </a:tc>
                <a:extLst>
                  <a:ext uri="{0D108BD9-81ED-4DB2-BD59-A6C34878D82A}">
                    <a16:rowId xmlns:a16="http://schemas.microsoft.com/office/drawing/2014/main" val="1960198319"/>
                  </a:ext>
                </a:extLst>
              </a:tr>
              <a:tr h="0">
                <a:tc>
                  <a:txBody>
                    <a:bodyPr/>
                    <a:lstStyle/>
                    <a:p>
                      <a:pPr>
                        <a:buNone/>
                      </a:pPr>
                      <a:r>
                        <a:rPr lang="en-US"/>
                        <a:t>Creation cost</a:t>
                      </a:r>
                    </a:p>
                  </a:txBody>
                  <a:tcPr anchor="ctr"/>
                </a:tc>
                <a:tc>
                  <a:txBody>
                    <a:bodyPr/>
                    <a:lstStyle/>
                    <a:p>
                      <a:pPr>
                        <a:buNone/>
                      </a:pPr>
                      <a:r>
                        <a:rPr lang="en-US"/>
                        <a:t>Expensive</a:t>
                      </a:r>
                    </a:p>
                  </a:txBody>
                  <a:tcPr anchor="ctr"/>
                </a:tc>
                <a:tc>
                  <a:txBody>
                    <a:bodyPr/>
                    <a:lstStyle/>
                    <a:p>
                      <a:pPr>
                        <a:buNone/>
                      </a:pPr>
                      <a:r>
                        <a:rPr lang="en-US"/>
                        <a:t>Very cheap</a:t>
                      </a:r>
                    </a:p>
                  </a:txBody>
                  <a:tcPr anchor="ctr"/>
                </a:tc>
                <a:extLst>
                  <a:ext uri="{0D108BD9-81ED-4DB2-BD59-A6C34878D82A}">
                    <a16:rowId xmlns:a16="http://schemas.microsoft.com/office/drawing/2014/main" val="1658156294"/>
                  </a:ext>
                </a:extLst>
              </a:tr>
              <a:tr h="0">
                <a:tc>
                  <a:txBody>
                    <a:bodyPr/>
                    <a:lstStyle/>
                    <a:p>
                      <a:pPr>
                        <a:buNone/>
                      </a:pPr>
                      <a:r>
                        <a:rPr lang="en-US"/>
                        <a:t>Count</a:t>
                      </a:r>
                    </a:p>
                  </a:txBody>
                  <a:tcPr anchor="ctr"/>
                </a:tc>
                <a:tc>
                  <a:txBody>
                    <a:bodyPr/>
                    <a:lstStyle/>
                    <a:p>
                      <a:pPr>
                        <a:buNone/>
                      </a:pPr>
                      <a:r>
                        <a:rPr lang="en-US"/>
                        <a:t>Hundreds / thousands</a:t>
                      </a:r>
                    </a:p>
                  </a:txBody>
                  <a:tcPr anchor="ctr"/>
                </a:tc>
                <a:tc>
                  <a:txBody>
                    <a:bodyPr/>
                    <a:lstStyle/>
                    <a:p>
                      <a:pPr>
                        <a:buNone/>
                      </a:pPr>
                      <a:r>
                        <a:rPr lang="en-US"/>
                        <a:t>Millions</a:t>
                      </a:r>
                    </a:p>
                  </a:txBody>
                  <a:tcPr anchor="ctr"/>
                </a:tc>
                <a:extLst>
                  <a:ext uri="{0D108BD9-81ED-4DB2-BD59-A6C34878D82A}">
                    <a16:rowId xmlns:a16="http://schemas.microsoft.com/office/drawing/2014/main" val="3741193912"/>
                  </a:ext>
                </a:extLst>
              </a:tr>
              <a:tr h="0">
                <a:tc>
                  <a:txBody>
                    <a:bodyPr/>
                    <a:lstStyle/>
                    <a:p>
                      <a:pPr>
                        <a:buNone/>
                      </a:pPr>
                      <a:r>
                        <a:rPr lang="en-US"/>
                        <a:t>Blocking</a:t>
                      </a:r>
                    </a:p>
                  </a:txBody>
                  <a:tcPr anchor="ctr"/>
                </a:tc>
                <a:tc>
                  <a:txBody>
                    <a:bodyPr/>
                    <a:lstStyle/>
                    <a:p>
                      <a:pPr>
                        <a:buNone/>
                      </a:pPr>
                      <a:r>
                        <a:rPr lang="en-US" dirty="0"/>
                        <a:t>Wastes OS thread</a:t>
                      </a:r>
                    </a:p>
                  </a:txBody>
                  <a:tcPr anchor="ctr"/>
                </a:tc>
                <a:tc>
                  <a:txBody>
                    <a:bodyPr/>
                    <a:lstStyle/>
                    <a:p>
                      <a:pPr>
                        <a:buNone/>
                      </a:pPr>
                      <a:r>
                        <a:rPr lang="en-US" dirty="0"/>
                        <a:t>JVM parks it</a:t>
                      </a:r>
                    </a:p>
                  </a:txBody>
                  <a:tcPr anchor="ctr"/>
                </a:tc>
                <a:extLst>
                  <a:ext uri="{0D108BD9-81ED-4DB2-BD59-A6C34878D82A}">
                    <a16:rowId xmlns:a16="http://schemas.microsoft.com/office/drawing/2014/main" val="825593794"/>
                  </a:ext>
                </a:extLst>
              </a:tr>
              <a:tr h="0">
                <a:tc>
                  <a:txBody>
                    <a:bodyPr/>
                    <a:lstStyle/>
                    <a:p>
                      <a:pPr>
                        <a:buNone/>
                      </a:pPr>
                      <a:r>
                        <a:rPr lang="en-US"/>
                        <a:t>Used in</a:t>
                      </a:r>
                    </a:p>
                  </a:txBody>
                  <a:tcPr anchor="ctr"/>
                </a:tc>
                <a:tc>
                  <a:txBody>
                    <a:bodyPr/>
                    <a:lstStyle/>
                    <a:p>
                      <a:pPr>
                        <a:buNone/>
                      </a:pPr>
                      <a:r>
                        <a:rPr lang="en-US"/>
                        <a:t>Java since day 1</a:t>
                      </a:r>
                    </a:p>
                  </a:txBody>
                  <a:tcPr anchor="ctr"/>
                </a:tc>
                <a:tc>
                  <a:txBody>
                    <a:bodyPr/>
                    <a:lstStyle/>
                    <a:p>
                      <a:pPr>
                        <a:buNone/>
                      </a:pPr>
                      <a:r>
                        <a:rPr lang="en-US" dirty="0"/>
                        <a:t>Java 19 (Loom)</a:t>
                      </a:r>
                    </a:p>
                  </a:txBody>
                  <a:tcPr anchor="ctr"/>
                </a:tc>
                <a:extLst>
                  <a:ext uri="{0D108BD9-81ED-4DB2-BD59-A6C34878D82A}">
                    <a16:rowId xmlns:a16="http://schemas.microsoft.com/office/drawing/2014/main" val="921594108"/>
                  </a:ext>
                </a:extLst>
              </a:tr>
            </a:tbl>
          </a:graphicData>
        </a:graphic>
      </p:graphicFrame>
    </p:spTree>
    <p:extLst>
      <p:ext uri="{BB962C8B-B14F-4D97-AF65-F5344CB8AC3E}">
        <p14:creationId xmlns:p14="http://schemas.microsoft.com/office/powerpoint/2010/main" val="3355363291"/>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B15C57-8518-45A1-C049-429E0AF9088D}"/>
              </a:ext>
            </a:extLst>
          </p:cNvPr>
          <p:cNvSpPr>
            <a:spLocks noGrp="1"/>
          </p:cNvSpPr>
          <p:nvPr>
            <p:ph type="title"/>
          </p:nvPr>
        </p:nvSpPr>
        <p:spPr/>
        <p:txBody>
          <a:bodyPr/>
          <a:lstStyle/>
          <a:p>
            <a:r>
              <a:rPr lang="en-IN" b="1" dirty="0"/>
              <a:t>Why do we need Virtual Threads ?</a:t>
            </a:r>
            <a:endParaRPr lang="en-US" b="1" dirty="0"/>
          </a:p>
        </p:txBody>
      </p:sp>
      <p:sp>
        <p:nvSpPr>
          <p:cNvPr id="4" name="Rectangle 3">
            <a:extLst>
              <a:ext uri="{FF2B5EF4-FFF2-40B4-BE49-F238E27FC236}">
                <a16:creationId xmlns:a16="http://schemas.microsoft.com/office/drawing/2014/main" id="{D6AED4B4-54D3-1180-734A-F8376F9AD528}"/>
              </a:ext>
            </a:extLst>
          </p:cNvPr>
          <p:cNvSpPr/>
          <p:nvPr/>
        </p:nvSpPr>
        <p:spPr>
          <a:xfrm>
            <a:off x="838200" y="1690688"/>
            <a:ext cx="914400" cy="914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16 GB RAM</a:t>
            </a:r>
            <a:endParaRPr lang="en-US" dirty="0"/>
          </a:p>
        </p:txBody>
      </p:sp>
      <p:sp>
        <p:nvSpPr>
          <p:cNvPr id="5" name="TextBox 4">
            <a:extLst>
              <a:ext uri="{FF2B5EF4-FFF2-40B4-BE49-F238E27FC236}">
                <a16:creationId xmlns:a16="http://schemas.microsoft.com/office/drawing/2014/main" id="{6E5CD21B-8757-3F3D-D506-FB1CB3BF7975}"/>
              </a:ext>
            </a:extLst>
          </p:cNvPr>
          <p:cNvSpPr txBox="1"/>
          <p:nvPr/>
        </p:nvSpPr>
        <p:spPr>
          <a:xfrm>
            <a:off x="1939544" y="1690688"/>
            <a:ext cx="1843966" cy="369332"/>
          </a:xfrm>
          <a:prstGeom prst="rect">
            <a:avLst/>
          </a:prstGeom>
          <a:noFill/>
        </p:spPr>
        <p:txBody>
          <a:bodyPr wrap="none" rtlCol="0">
            <a:spAutoFit/>
          </a:bodyPr>
          <a:lstStyle/>
          <a:p>
            <a:r>
              <a:rPr lang="en-IN" dirty="0"/>
              <a:t>1 Thread = 20 MB</a:t>
            </a:r>
            <a:endParaRPr lang="en-US" dirty="0"/>
          </a:p>
        </p:txBody>
      </p:sp>
      <p:sp>
        <p:nvSpPr>
          <p:cNvPr id="6" name="TextBox 5">
            <a:extLst>
              <a:ext uri="{FF2B5EF4-FFF2-40B4-BE49-F238E27FC236}">
                <a16:creationId xmlns:a16="http://schemas.microsoft.com/office/drawing/2014/main" id="{6EA96496-0E55-6B77-469B-170FEA12A196}"/>
              </a:ext>
            </a:extLst>
          </p:cNvPr>
          <p:cNvSpPr txBox="1"/>
          <p:nvPr/>
        </p:nvSpPr>
        <p:spPr>
          <a:xfrm>
            <a:off x="1939544" y="2145856"/>
            <a:ext cx="4696863" cy="369332"/>
          </a:xfrm>
          <a:prstGeom prst="rect">
            <a:avLst/>
          </a:prstGeom>
          <a:noFill/>
        </p:spPr>
        <p:txBody>
          <a:bodyPr wrap="none" rtlCol="0">
            <a:spAutoFit/>
          </a:bodyPr>
          <a:lstStyle/>
          <a:p>
            <a:r>
              <a:rPr lang="en-IN" dirty="0"/>
              <a:t>I can create around 800 Threads. (16 *1024 /20)</a:t>
            </a:r>
            <a:endParaRPr lang="en-US" dirty="0"/>
          </a:p>
        </p:txBody>
      </p:sp>
      <p:sp>
        <p:nvSpPr>
          <p:cNvPr id="7" name="TextBox 6">
            <a:extLst>
              <a:ext uri="{FF2B5EF4-FFF2-40B4-BE49-F238E27FC236}">
                <a16:creationId xmlns:a16="http://schemas.microsoft.com/office/drawing/2014/main" id="{4485B40E-D4FE-5A81-286E-AE4BD23F1D89}"/>
              </a:ext>
            </a:extLst>
          </p:cNvPr>
          <p:cNvSpPr txBox="1"/>
          <p:nvPr/>
        </p:nvSpPr>
        <p:spPr>
          <a:xfrm>
            <a:off x="1939544" y="2601024"/>
            <a:ext cx="3942426" cy="369332"/>
          </a:xfrm>
          <a:prstGeom prst="rect">
            <a:avLst/>
          </a:prstGeom>
          <a:noFill/>
        </p:spPr>
        <p:txBody>
          <a:bodyPr wrap="none" rtlCol="0">
            <a:spAutoFit/>
          </a:bodyPr>
          <a:lstStyle/>
          <a:p>
            <a:r>
              <a:rPr lang="en-IN" dirty="0"/>
              <a:t>Single request processing time = 100 </a:t>
            </a:r>
            <a:r>
              <a:rPr lang="en-IN" dirty="0" err="1"/>
              <a:t>ms</a:t>
            </a:r>
            <a:endParaRPr lang="en-US" dirty="0"/>
          </a:p>
        </p:txBody>
      </p:sp>
      <p:sp>
        <p:nvSpPr>
          <p:cNvPr id="11" name="Rectangle 10">
            <a:extLst>
              <a:ext uri="{FF2B5EF4-FFF2-40B4-BE49-F238E27FC236}">
                <a16:creationId xmlns:a16="http://schemas.microsoft.com/office/drawing/2014/main" id="{98FEEB8D-B73B-A1E7-87D7-CE0D8E954CEE}"/>
              </a:ext>
            </a:extLst>
          </p:cNvPr>
          <p:cNvSpPr/>
          <p:nvPr/>
        </p:nvSpPr>
        <p:spPr>
          <a:xfrm>
            <a:off x="834210" y="3060192"/>
            <a:ext cx="1843966" cy="94691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Request Preparation </a:t>
            </a:r>
            <a:br>
              <a:rPr lang="en-IN" dirty="0"/>
            </a:br>
            <a:r>
              <a:rPr lang="en-IN" dirty="0"/>
              <a:t>0.1 </a:t>
            </a:r>
            <a:r>
              <a:rPr lang="en-IN" dirty="0" err="1"/>
              <a:t>ms</a:t>
            </a:r>
            <a:endParaRPr lang="en-US" dirty="0"/>
          </a:p>
        </p:txBody>
      </p:sp>
      <p:sp>
        <p:nvSpPr>
          <p:cNvPr id="15" name="Rectangle 14">
            <a:extLst>
              <a:ext uri="{FF2B5EF4-FFF2-40B4-BE49-F238E27FC236}">
                <a16:creationId xmlns:a16="http://schemas.microsoft.com/office/drawing/2014/main" id="{87203939-3514-5EE8-9C75-73652F8C7DF1}"/>
              </a:ext>
            </a:extLst>
          </p:cNvPr>
          <p:cNvSpPr/>
          <p:nvPr/>
        </p:nvSpPr>
        <p:spPr>
          <a:xfrm>
            <a:off x="2678176" y="3060192"/>
            <a:ext cx="3417824" cy="94691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IO (</a:t>
            </a:r>
            <a:r>
              <a:rPr lang="en-IN" dirty="0" err="1"/>
              <a:t>Database,Disk</a:t>
            </a:r>
            <a:r>
              <a:rPr lang="en-IN" dirty="0"/>
              <a:t>) Operations </a:t>
            </a:r>
          </a:p>
          <a:p>
            <a:pPr algn="ctr"/>
            <a:r>
              <a:rPr lang="en-IN" dirty="0"/>
              <a:t>100 </a:t>
            </a:r>
            <a:r>
              <a:rPr lang="en-IN" dirty="0" err="1"/>
              <a:t>ms</a:t>
            </a:r>
            <a:endParaRPr lang="en-US" dirty="0"/>
          </a:p>
        </p:txBody>
      </p:sp>
      <p:sp>
        <p:nvSpPr>
          <p:cNvPr id="17" name="Rectangle 16">
            <a:extLst>
              <a:ext uri="{FF2B5EF4-FFF2-40B4-BE49-F238E27FC236}">
                <a16:creationId xmlns:a16="http://schemas.microsoft.com/office/drawing/2014/main" id="{D08B252F-3B80-CC21-0359-645CCC5CDF22}"/>
              </a:ext>
            </a:extLst>
          </p:cNvPr>
          <p:cNvSpPr/>
          <p:nvPr/>
        </p:nvSpPr>
        <p:spPr>
          <a:xfrm>
            <a:off x="6096000" y="3060192"/>
            <a:ext cx="1843966" cy="94691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Response Preparation </a:t>
            </a:r>
            <a:br>
              <a:rPr lang="en-IN" dirty="0"/>
            </a:br>
            <a:r>
              <a:rPr lang="en-IN" dirty="0"/>
              <a:t>0.1 </a:t>
            </a:r>
            <a:r>
              <a:rPr lang="en-IN" dirty="0" err="1"/>
              <a:t>ms</a:t>
            </a:r>
            <a:endParaRPr lang="en-US" dirty="0"/>
          </a:p>
        </p:txBody>
      </p:sp>
      <p:sp>
        <p:nvSpPr>
          <p:cNvPr id="18" name="TextBox 17">
            <a:extLst>
              <a:ext uri="{FF2B5EF4-FFF2-40B4-BE49-F238E27FC236}">
                <a16:creationId xmlns:a16="http://schemas.microsoft.com/office/drawing/2014/main" id="{325A94DA-C91A-CF59-1CB9-A863088F7186}"/>
              </a:ext>
            </a:extLst>
          </p:cNvPr>
          <p:cNvSpPr txBox="1"/>
          <p:nvPr/>
        </p:nvSpPr>
        <p:spPr>
          <a:xfrm>
            <a:off x="8294624" y="3060192"/>
            <a:ext cx="2546979" cy="369332"/>
          </a:xfrm>
          <a:prstGeom prst="rect">
            <a:avLst/>
          </a:prstGeom>
          <a:noFill/>
        </p:spPr>
        <p:txBody>
          <a:bodyPr wrap="none" rtlCol="0">
            <a:spAutoFit/>
          </a:bodyPr>
          <a:lstStyle/>
          <a:p>
            <a:r>
              <a:rPr lang="en-IN" dirty="0"/>
              <a:t>800 Concurrent Requests</a:t>
            </a:r>
            <a:endParaRPr lang="en-US" dirty="0"/>
          </a:p>
        </p:txBody>
      </p:sp>
      <p:sp>
        <p:nvSpPr>
          <p:cNvPr id="19" name="TextBox 18">
            <a:extLst>
              <a:ext uri="{FF2B5EF4-FFF2-40B4-BE49-F238E27FC236}">
                <a16:creationId xmlns:a16="http://schemas.microsoft.com/office/drawing/2014/main" id="{3E7E0E4F-DA37-0C95-048C-E321AB17A85F}"/>
              </a:ext>
            </a:extLst>
          </p:cNvPr>
          <p:cNvSpPr txBox="1"/>
          <p:nvPr/>
        </p:nvSpPr>
        <p:spPr>
          <a:xfrm>
            <a:off x="8294624" y="3584448"/>
            <a:ext cx="2164375" cy="369332"/>
          </a:xfrm>
          <a:prstGeom prst="rect">
            <a:avLst/>
          </a:prstGeom>
          <a:noFill/>
        </p:spPr>
        <p:txBody>
          <a:bodyPr wrap="none" rtlCol="0">
            <a:spAutoFit/>
          </a:bodyPr>
          <a:lstStyle/>
          <a:p>
            <a:r>
              <a:rPr lang="en-IN" dirty="0"/>
              <a:t>1 Request = 1 Thread</a:t>
            </a:r>
            <a:endParaRPr lang="en-US" dirty="0"/>
          </a:p>
        </p:txBody>
      </p:sp>
      <p:sp>
        <p:nvSpPr>
          <p:cNvPr id="20" name="TextBox 19">
            <a:extLst>
              <a:ext uri="{FF2B5EF4-FFF2-40B4-BE49-F238E27FC236}">
                <a16:creationId xmlns:a16="http://schemas.microsoft.com/office/drawing/2014/main" id="{7B07A68A-D021-E27D-EA26-C12459DBB02F}"/>
              </a:ext>
            </a:extLst>
          </p:cNvPr>
          <p:cNvSpPr txBox="1"/>
          <p:nvPr/>
        </p:nvSpPr>
        <p:spPr>
          <a:xfrm>
            <a:off x="987552" y="4425696"/>
            <a:ext cx="4462440" cy="369332"/>
          </a:xfrm>
          <a:prstGeom prst="rect">
            <a:avLst/>
          </a:prstGeom>
          <a:noFill/>
        </p:spPr>
        <p:txBody>
          <a:bodyPr wrap="none" rtlCol="0">
            <a:spAutoFit/>
          </a:bodyPr>
          <a:lstStyle/>
          <a:p>
            <a:r>
              <a:rPr lang="en-IN" dirty="0"/>
              <a:t>Total CPU time for processing single request =</a:t>
            </a:r>
            <a:endParaRPr lang="en-US" dirty="0"/>
          </a:p>
        </p:txBody>
      </p:sp>
      <p:sp>
        <p:nvSpPr>
          <p:cNvPr id="21" name="TextBox 20">
            <a:extLst>
              <a:ext uri="{FF2B5EF4-FFF2-40B4-BE49-F238E27FC236}">
                <a16:creationId xmlns:a16="http://schemas.microsoft.com/office/drawing/2014/main" id="{E7E399B9-2EFE-B401-4F65-1B40AA6B622E}"/>
              </a:ext>
            </a:extLst>
          </p:cNvPr>
          <p:cNvSpPr txBox="1"/>
          <p:nvPr/>
        </p:nvSpPr>
        <p:spPr>
          <a:xfrm>
            <a:off x="5394721" y="4425696"/>
            <a:ext cx="2483372" cy="369332"/>
          </a:xfrm>
          <a:prstGeom prst="rect">
            <a:avLst/>
          </a:prstGeom>
          <a:noFill/>
        </p:spPr>
        <p:txBody>
          <a:bodyPr wrap="none" rtlCol="0">
            <a:spAutoFit/>
          </a:bodyPr>
          <a:lstStyle/>
          <a:p>
            <a:r>
              <a:rPr lang="en-IN" dirty="0"/>
              <a:t>0.1 </a:t>
            </a:r>
            <a:r>
              <a:rPr lang="en-IN" dirty="0" err="1"/>
              <a:t>ms</a:t>
            </a:r>
            <a:r>
              <a:rPr lang="en-IN" dirty="0"/>
              <a:t> + 0.1 </a:t>
            </a:r>
            <a:r>
              <a:rPr lang="en-IN" dirty="0" err="1"/>
              <a:t>ms</a:t>
            </a:r>
            <a:r>
              <a:rPr lang="en-IN" dirty="0"/>
              <a:t> = 0.2 </a:t>
            </a:r>
            <a:r>
              <a:rPr lang="en-IN" dirty="0" err="1"/>
              <a:t>ms</a:t>
            </a:r>
            <a:endParaRPr lang="en-US" dirty="0"/>
          </a:p>
        </p:txBody>
      </p:sp>
      <p:sp>
        <p:nvSpPr>
          <p:cNvPr id="22" name="TextBox 21">
            <a:extLst>
              <a:ext uri="{FF2B5EF4-FFF2-40B4-BE49-F238E27FC236}">
                <a16:creationId xmlns:a16="http://schemas.microsoft.com/office/drawing/2014/main" id="{F3C5DD09-C63D-93FF-7FE9-12179D73BB2E}"/>
              </a:ext>
            </a:extLst>
          </p:cNvPr>
          <p:cNvSpPr txBox="1"/>
          <p:nvPr/>
        </p:nvSpPr>
        <p:spPr>
          <a:xfrm>
            <a:off x="987552" y="4822610"/>
            <a:ext cx="4609660" cy="369332"/>
          </a:xfrm>
          <a:prstGeom prst="rect">
            <a:avLst/>
          </a:prstGeom>
          <a:noFill/>
        </p:spPr>
        <p:txBody>
          <a:bodyPr wrap="none" rtlCol="0">
            <a:spAutoFit/>
          </a:bodyPr>
          <a:lstStyle/>
          <a:p>
            <a:r>
              <a:rPr lang="en-IN" dirty="0"/>
              <a:t>Total Requests are 800 = 800 * 0.2 </a:t>
            </a:r>
            <a:r>
              <a:rPr lang="en-IN" dirty="0" err="1"/>
              <a:t>ms</a:t>
            </a:r>
            <a:r>
              <a:rPr lang="en-IN" dirty="0"/>
              <a:t> = 160 </a:t>
            </a:r>
            <a:r>
              <a:rPr lang="en-IN" dirty="0" err="1"/>
              <a:t>ms</a:t>
            </a:r>
            <a:endParaRPr lang="en-US" dirty="0"/>
          </a:p>
        </p:txBody>
      </p:sp>
      <p:sp>
        <p:nvSpPr>
          <p:cNvPr id="23" name="TextBox 22">
            <a:extLst>
              <a:ext uri="{FF2B5EF4-FFF2-40B4-BE49-F238E27FC236}">
                <a16:creationId xmlns:a16="http://schemas.microsoft.com/office/drawing/2014/main" id="{D8FDEDB0-8815-DE68-A3C0-67541FDC553F}"/>
              </a:ext>
            </a:extLst>
          </p:cNvPr>
          <p:cNvSpPr txBox="1"/>
          <p:nvPr/>
        </p:nvSpPr>
        <p:spPr>
          <a:xfrm>
            <a:off x="987552" y="5213620"/>
            <a:ext cx="5033879" cy="369332"/>
          </a:xfrm>
          <a:prstGeom prst="rect">
            <a:avLst/>
          </a:prstGeom>
          <a:noFill/>
        </p:spPr>
        <p:txBody>
          <a:bodyPr wrap="none" rtlCol="0">
            <a:spAutoFit/>
          </a:bodyPr>
          <a:lstStyle/>
          <a:p>
            <a:r>
              <a:rPr lang="en-IN" dirty="0"/>
              <a:t>CPU utilization of 1 second = 160 </a:t>
            </a:r>
            <a:r>
              <a:rPr lang="en-IN" dirty="0" err="1"/>
              <a:t>ms</a:t>
            </a:r>
            <a:r>
              <a:rPr lang="en-IN" dirty="0"/>
              <a:t> / 1000 </a:t>
            </a:r>
            <a:r>
              <a:rPr lang="en-IN" dirty="0" err="1"/>
              <a:t>ms</a:t>
            </a:r>
            <a:r>
              <a:rPr lang="en-IN" dirty="0"/>
              <a:t> = 16</a:t>
            </a:r>
            <a:endParaRPr lang="en-US" dirty="0"/>
          </a:p>
        </p:txBody>
      </p:sp>
      <p:sp>
        <p:nvSpPr>
          <p:cNvPr id="24" name="TextBox 23">
            <a:extLst>
              <a:ext uri="{FF2B5EF4-FFF2-40B4-BE49-F238E27FC236}">
                <a16:creationId xmlns:a16="http://schemas.microsoft.com/office/drawing/2014/main" id="{2CE214AF-C028-7959-A030-3A83E44BD6B9}"/>
              </a:ext>
            </a:extLst>
          </p:cNvPr>
          <p:cNvSpPr txBox="1"/>
          <p:nvPr/>
        </p:nvSpPr>
        <p:spPr>
          <a:xfrm>
            <a:off x="1020064" y="5647484"/>
            <a:ext cx="2174441" cy="369332"/>
          </a:xfrm>
          <a:prstGeom prst="rect">
            <a:avLst/>
          </a:prstGeom>
          <a:noFill/>
        </p:spPr>
        <p:txBody>
          <a:bodyPr wrap="none" rtlCol="0">
            <a:spAutoFit/>
          </a:bodyPr>
          <a:lstStyle/>
          <a:p>
            <a:r>
              <a:rPr lang="en-IN" dirty="0"/>
              <a:t>CPU utilization = 16%</a:t>
            </a:r>
            <a:endParaRPr lang="en-US" dirty="0"/>
          </a:p>
        </p:txBody>
      </p:sp>
      <p:sp>
        <p:nvSpPr>
          <p:cNvPr id="25" name="TextBox 24">
            <a:extLst>
              <a:ext uri="{FF2B5EF4-FFF2-40B4-BE49-F238E27FC236}">
                <a16:creationId xmlns:a16="http://schemas.microsoft.com/office/drawing/2014/main" id="{45032AE4-6E53-C691-4EED-A3E1EB07F9F0}"/>
              </a:ext>
            </a:extLst>
          </p:cNvPr>
          <p:cNvSpPr txBox="1"/>
          <p:nvPr/>
        </p:nvSpPr>
        <p:spPr>
          <a:xfrm>
            <a:off x="1020064" y="6071252"/>
            <a:ext cx="5097229" cy="369332"/>
          </a:xfrm>
          <a:prstGeom prst="rect">
            <a:avLst/>
          </a:prstGeom>
          <a:noFill/>
        </p:spPr>
        <p:txBody>
          <a:bodyPr wrap="none" rtlCol="0">
            <a:spAutoFit/>
          </a:bodyPr>
          <a:lstStyle/>
          <a:p>
            <a:r>
              <a:rPr lang="en-IN" dirty="0"/>
              <a:t>We are not optimally utilizing the CPU to its capacity</a:t>
            </a:r>
            <a:endParaRPr lang="en-US" dirty="0"/>
          </a:p>
        </p:txBody>
      </p:sp>
    </p:spTree>
    <p:extLst>
      <p:ext uri="{BB962C8B-B14F-4D97-AF65-F5344CB8AC3E}">
        <p14:creationId xmlns:p14="http://schemas.microsoft.com/office/powerpoint/2010/main" val="1511857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3"/>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4"/>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6" grpId="0"/>
      <p:bldP spid="7" grpId="0"/>
      <p:bldP spid="11" grpId="0" animBg="1"/>
      <p:bldP spid="15" grpId="0" animBg="1"/>
      <p:bldP spid="17" grpId="0" animBg="1"/>
      <p:bldP spid="18" grpId="0"/>
      <p:bldP spid="19" grpId="0"/>
      <p:bldP spid="20" grpId="0"/>
      <p:bldP spid="21" grpId="0"/>
      <p:bldP spid="22" grpId="0"/>
      <p:bldP spid="23" grpId="0"/>
      <p:bldP spid="24" grpId="0"/>
      <p:bldP spid="25" grpId="0"/>
    </p:bld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A24D22-E20B-3D73-EFB1-CE421FDED51E}"/>
              </a:ext>
            </a:extLst>
          </p:cNvPr>
          <p:cNvSpPr>
            <a:spLocks noGrp="1"/>
          </p:cNvSpPr>
          <p:nvPr>
            <p:ph type="title"/>
          </p:nvPr>
        </p:nvSpPr>
        <p:spPr/>
        <p:txBody>
          <a:bodyPr/>
          <a:lstStyle/>
          <a:p>
            <a:r>
              <a:rPr lang="en-IN" b="1" dirty="0"/>
              <a:t>Why do we need Virtual Threads ?</a:t>
            </a:r>
            <a:endParaRPr lang="en-US" b="1" dirty="0"/>
          </a:p>
        </p:txBody>
      </p:sp>
      <p:sp>
        <p:nvSpPr>
          <p:cNvPr id="4" name="TextBox 3">
            <a:extLst>
              <a:ext uri="{FF2B5EF4-FFF2-40B4-BE49-F238E27FC236}">
                <a16:creationId xmlns:a16="http://schemas.microsoft.com/office/drawing/2014/main" id="{65409872-6E94-A33F-55D9-27FABF2429F4}"/>
              </a:ext>
            </a:extLst>
          </p:cNvPr>
          <p:cNvSpPr txBox="1"/>
          <p:nvPr/>
        </p:nvSpPr>
        <p:spPr>
          <a:xfrm>
            <a:off x="999744" y="1836928"/>
            <a:ext cx="1957780" cy="369332"/>
          </a:xfrm>
          <a:prstGeom prst="rect">
            <a:avLst/>
          </a:prstGeom>
          <a:noFill/>
        </p:spPr>
        <p:txBody>
          <a:bodyPr wrap="none" rtlCol="0">
            <a:spAutoFit/>
          </a:bodyPr>
          <a:lstStyle/>
          <a:p>
            <a:r>
              <a:rPr lang="en-IN" dirty="0"/>
              <a:t>16% = 800 Threads</a:t>
            </a:r>
            <a:endParaRPr lang="en-US" dirty="0"/>
          </a:p>
        </p:txBody>
      </p:sp>
      <p:sp>
        <p:nvSpPr>
          <p:cNvPr id="5" name="TextBox 4">
            <a:extLst>
              <a:ext uri="{FF2B5EF4-FFF2-40B4-BE49-F238E27FC236}">
                <a16:creationId xmlns:a16="http://schemas.microsoft.com/office/drawing/2014/main" id="{9362623A-CE60-3251-D910-A40AF6CCF1A6}"/>
              </a:ext>
            </a:extLst>
          </p:cNvPr>
          <p:cNvSpPr txBox="1"/>
          <p:nvPr/>
        </p:nvSpPr>
        <p:spPr>
          <a:xfrm>
            <a:off x="999744" y="2271776"/>
            <a:ext cx="6549935" cy="369332"/>
          </a:xfrm>
          <a:prstGeom prst="rect">
            <a:avLst/>
          </a:prstGeom>
          <a:noFill/>
        </p:spPr>
        <p:txBody>
          <a:bodyPr wrap="none" rtlCol="0">
            <a:spAutoFit/>
          </a:bodyPr>
          <a:lstStyle/>
          <a:p>
            <a:r>
              <a:rPr lang="en-IN" dirty="0"/>
              <a:t>How many threads do we need to create in order to utilize 90% CPU</a:t>
            </a:r>
            <a:endParaRPr lang="en-US" dirty="0"/>
          </a:p>
        </p:txBody>
      </p:sp>
      <p:sp>
        <p:nvSpPr>
          <p:cNvPr id="6" name="TextBox 5">
            <a:extLst>
              <a:ext uri="{FF2B5EF4-FFF2-40B4-BE49-F238E27FC236}">
                <a16:creationId xmlns:a16="http://schemas.microsoft.com/office/drawing/2014/main" id="{25FFE8B7-ED5F-CC9A-1A34-27212976BE6C}"/>
              </a:ext>
            </a:extLst>
          </p:cNvPr>
          <p:cNvSpPr txBox="1"/>
          <p:nvPr/>
        </p:nvSpPr>
        <p:spPr>
          <a:xfrm>
            <a:off x="999744" y="2706132"/>
            <a:ext cx="5738238" cy="369332"/>
          </a:xfrm>
          <a:prstGeom prst="rect">
            <a:avLst/>
          </a:prstGeom>
          <a:noFill/>
        </p:spPr>
        <p:txBody>
          <a:bodyPr wrap="none" rtlCol="0">
            <a:spAutoFit/>
          </a:bodyPr>
          <a:lstStyle/>
          <a:p>
            <a:r>
              <a:rPr lang="en-IN" dirty="0"/>
              <a:t>Number of threads required = 800 * 90 / 16 = 4500 threads</a:t>
            </a:r>
            <a:endParaRPr lang="en-US" dirty="0"/>
          </a:p>
        </p:txBody>
      </p:sp>
      <p:sp>
        <p:nvSpPr>
          <p:cNvPr id="7" name="TextBox 6">
            <a:extLst>
              <a:ext uri="{FF2B5EF4-FFF2-40B4-BE49-F238E27FC236}">
                <a16:creationId xmlns:a16="http://schemas.microsoft.com/office/drawing/2014/main" id="{EB419202-4E22-FFBB-7FF6-E9DC4339DE09}"/>
              </a:ext>
            </a:extLst>
          </p:cNvPr>
          <p:cNvSpPr txBox="1"/>
          <p:nvPr/>
        </p:nvSpPr>
        <p:spPr>
          <a:xfrm>
            <a:off x="999744" y="3140488"/>
            <a:ext cx="5623078" cy="369332"/>
          </a:xfrm>
          <a:prstGeom prst="rect">
            <a:avLst/>
          </a:prstGeom>
          <a:noFill/>
        </p:spPr>
        <p:txBody>
          <a:bodyPr wrap="none" rtlCol="0">
            <a:spAutoFit/>
          </a:bodyPr>
          <a:lstStyle/>
          <a:p>
            <a:r>
              <a:rPr lang="en-IN" dirty="0"/>
              <a:t>How much RAM is required for same = 4500 * 20 = 90 GB</a:t>
            </a:r>
            <a:endParaRPr lang="en-US" dirty="0"/>
          </a:p>
        </p:txBody>
      </p:sp>
      <p:sp>
        <p:nvSpPr>
          <p:cNvPr id="3" name="TextBox 2">
            <a:extLst>
              <a:ext uri="{FF2B5EF4-FFF2-40B4-BE49-F238E27FC236}">
                <a16:creationId xmlns:a16="http://schemas.microsoft.com/office/drawing/2014/main" id="{C2732C04-F9E6-1299-B51F-CC777DE9C29B}"/>
              </a:ext>
            </a:extLst>
          </p:cNvPr>
          <p:cNvSpPr txBox="1"/>
          <p:nvPr/>
        </p:nvSpPr>
        <p:spPr>
          <a:xfrm>
            <a:off x="999744" y="3690126"/>
            <a:ext cx="6096000" cy="2308324"/>
          </a:xfrm>
          <a:prstGeom prst="rect">
            <a:avLst/>
          </a:prstGeom>
          <a:noFill/>
        </p:spPr>
        <p:txBody>
          <a:bodyPr wrap="square">
            <a:spAutoFit/>
          </a:bodyPr>
          <a:lstStyle/>
          <a:p>
            <a:pPr>
              <a:buNone/>
            </a:pPr>
            <a:r>
              <a:rPr lang="en-GB" b="1" dirty="0"/>
              <a:t>Use Case</a:t>
            </a:r>
          </a:p>
          <a:p>
            <a:pPr lvl="1">
              <a:buFont typeface="Arial" panose="020B0604020202020204" pitchFamily="34" charset="0"/>
              <a:buChar char="•"/>
            </a:pPr>
            <a:r>
              <a:rPr lang="en-GB" dirty="0"/>
              <a:t>REST APIs </a:t>
            </a:r>
          </a:p>
          <a:p>
            <a:pPr lvl="1">
              <a:buFont typeface="Arial" panose="020B0604020202020204" pitchFamily="34" charset="0"/>
              <a:buChar char="•"/>
            </a:pPr>
            <a:r>
              <a:rPr lang="en-GB" dirty="0"/>
              <a:t>DB calls </a:t>
            </a:r>
          </a:p>
          <a:p>
            <a:pPr lvl="1">
              <a:buFont typeface="Arial" panose="020B0604020202020204" pitchFamily="34" charset="0"/>
              <a:buChar char="•"/>
            </a:pPr>
            <a:r>
              <a:rPr lang="en-GB" dirty="0"/>
              <a:t>Microservices </a:t>
            </a:r>
          </a:p>
          <a:p>
            <a:pPr lvl="1">
              <a:buFont typeface="Arial" panose="020B0604020202020204" pitchFamily="34" charset="0"/>
              <a:buChar char="•"/>
            </a:pPr>
            <a:r>
              <a:rPr lang="en-GB" dirty="0"/>
              <a:t>Blocking I/O </a:t>
            </a:r>
          </a:p>
          <a:p>
            <a:pPr>
              <a:buNone/>
            </a:pPr>
            <a:r>
              <a:rPr lang="en-GB" b="1" dirty="0"/>
              <a:t>Not Needed</a:t>
            </a:r>
          </a:p>
          <a:p>
            <a:pPr lvl="1">
              <a:buFont typeface="Arial" panose="020B0604020202020204" pitchFamily="34" charset="0"/>
              <a:buChar char="•"/>
            </a:pPr>
            <a:r>
              <a:rPr lang="en-GB" dirty="0"/>
              <a:t>CPU-heavy tasks </a:t>
            </a:r>
          </a:p>
          <a:p>
            <a:pPr lvl="1">
              <a:buFont typeface="Arial" panose="020B0604020202020204" pitchFamily="34" charset="0"/>
              <a:buChar char="•"/>
            </a:pPr>
            <a:r>
              <a:rPr lang="en-GB" dirty="0"/>
              <a:t>Batch processing</a:t>
            </a:r>
          </a:p>
        </p:txBody>
      </p:sp>
    </p:spTree>
    <p:extLst>
      <p:ext uri="{BB962C8B-B14F-4D97-AF65-F5344CB8AC3E}">
        <p14:creationId xmlns:p14="http://schemas.microsoft.com/office/powerpoint/2010/main" val="1451238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B8BCBF-745A-2E03-C3AE-DCC83B19A89A}"/>
              </a:ext>
            </a:extLst>
          </p:cNvPr>
          <p:cNvSpPr>
            <a:spLocks noGrp="1"/>
          </p:cNvSpPr>
          <p:nvPr>
            <p:ph type="title"/>
          </p:nvPr>
        </p:nvSpPr>
        <p:spPr/>
        <p:txBody>
          <a:bodyPr>
            <a:normAutofit/>
          </a:bodyPr>
          <a:lstStyle/>
          <a:p>
            <a:r>
              <a:rPr lang="en-GB" sz="4000" dirty="0"/>
              <a:t>Session 3 : Microservices &amp; JVM Performance</a:t>
            </a:r>
            <a:endParaRPr lang="en-US" sz="4000" dirty="0"/>
          </a:p>
        </p:txBody>
      </p:sp>
      <p:sp>
        <p:nvSpPr>
          <p:cNvPr id="3" name="Content Placeholder 2">
            <a:extLst>
              <a:ext uri="{FF2B5EF4-FFF2-40B4-BE49-F238E27FC236}">
                <a16:creationId xmlns:a16="http://schemas.microsoft.com/office/drawing/2014/main" id="{12E957FD-7BBA-849F-C622-E6915361676F}"/>
              </a:ext>
            </a:extLst>
          </p:cNvPr>
          <p:cNvSpPr>
            <a:spLocks noGrp="1"/>
          </p:cNvSpPr>
          <p:nvPr>
            <p:ph idx="1"/>
          </p:nvPr>
        </p:nvSpPr>
        <p:spPr/>
        <p:txBody>
          <a:bodyPr/>
          <a:lstStyle/>
          <a:p>
            <a:r>
              <a:rPr lang="en-GB" dirty="0"/>
              <a:t>Performance Tuning for Spring Boot/Microservices</a:t>
            </a:r>
          </a:p>
          <a:p>
            <a:r>
              <a:rPr lang="en-GB" dirty="0"/>
              <a:t>Startup optimization (AOT, Native Images)</a:t>
            </a:r>
          </a:p>
          <a:p>
            <a:r>
              <a:rPr lang="en-GB" dirty="0"/>
              <a:t>Memory Footprint reduction</a:t>
            </a:r>
          </a:p>
          <a:p>
            <a:r>
              <a:rPr lang="en-GB" dirty="0"/>
              <a:t>HTTP Connection pool tuning</a:t>
            </a:r>
          </a:p>
          <a:p>
            <a:r>
              <a:rPr lang="en-GB" dirty="0"/>
              <a:t>Using Actuator metrics &amp; </a:t>
            </a:r>
            <a:r>
              <a:rPr lang="en-GB" dirty="0" err="1"/>
              <a:t>Micrometer</a:t>
            </a:r>
            <a:endParaRPr lang="en-GB" dirty="0"/>
          </a:p>
        </p:txBody>
      </p:sp>
    </p:spTree>
    <p:extLst>
      <p:ext uri="{BB962C8B-B14F-4D97-AF65-F5344CB8AC3E}">
        <p14:creationId xmlns:p14="http://schemas.microsoft.com/office/powerpoint/2010/main" val="293332893"/>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5280A7-2561-1DFF-F1CB-E302BD873197}"/>
              </a:ext>
            </a:extLst>
          </p:cNvPr>
          <p:cNvSpPr>
            <a:spLocks noGrp="1"/>
          </p:cNvSpPr>
          <p:nvPr>
            <p:ph type="title"/>
          </p:nvPr>
        </p:nvSpPr>
        <p:spPr/>
        <p:txBody>
          <a:bodyPr>
            <a:normAutofit/>
          </a:bodyPr>
          <a:lstStyle/>
          <a:p>
            <a:r>
              <a:rPr lang="en-US" sz="3600" dirty="0"/>
              <a:t>Performance Tuning for Spring Boot / Microservices</a:t>
            </a:r>
          </a:p>
        </p:txBody>
      </p:sp>
      <p:sp>
        <p:nvSpPr>
          <p:cNvPr id="3" name="Content Placeholder 2">
            <a:extLst>
              <a:ext uri="{FF2B5EF4-FFF2-40B4-BE49-F238E27FC236}">
                <a16:creationId xmlns:a16="http://schemas.microsoft.com/office/drawing/2014/main" id="{6D8CD5FB-1EA1-236B-4921-9AA68B38E1DA}"/>
              </a:ext>
            </a:extLst>
          </p:cNvPr>
          <p:cNvSpPr>
            <a:spLocks noGrp="1"/>
          </p:cNvSpPr>
          <p:nvPr>
            <p:ph idx="1"/>
          </p:nvPr>
        </p:nvSpPr>
        <p:spPr/>
        <p:txBody>
          <a:bodyPr/>
          <a:lstStyle/>
          <a:p>
            <a:r>
              <a:rPr lang="en-GB" dirty="0"/>
              <a:t>Common Bottlenecks</a:t>
            </a:r>
          </a:p>
          <a:p>
            <a:pPr lvl="1"/>
            <a:r>
              <a:rPr lang="en-GB" dirty="0"/>
              <a:t>Slow DB calls</a:t>
            </a:r>
          </a:p>
          <a:p>
            <a:pPr lvl="1"/>
            <a:r>
              <a:rPr lang="en-GB" dirty="0"/>
              <a:t>Blocking APIs</a:t>
            </a:r>
          </a:p>
          <a:p>
            <a:pPr lvl="1"/>
            <a:r>
              <a:rPr lang="en-GB" dirty="0"/>
              <a:t>Thread pool exhaustion</a:t>
            </a:r>
            <a:endParaRPr lang="en-US" dirty="0"/>
          </a:p>
        </p:txBody>
      </p:sp>
      <p:pic>
        <p:nvPicPr>
          <p:cNvPr id="5" name="Picture 4">
            <a:extLst>
              <a:ext uri="{FF2B5EF4-FFF2-40B4-BE49-F238E27FC236}">
                <a16:creationId xmlns:a16="http://schemas.microsoft.com/office/drawing/2014/main" id="{F27EAD26-E26E-3BD0-60F3-5E0D23B8D250}"/>
              </a:ext>
            </a:extLst>
          </p:cNvPr>
          <p:cNvPicPr>
            <a:picLocks noChangeAspect="1"/>
          </p:cNvPicPr>
          <p:nvPr/>
        </p:nvPicPr>
        <p:blipFill>
          <a:blip r:embed="rId2"/>
          <a:stretch>
            <a:fillRect/>
          </a:stretch>
        </p:blipFill>
        <p:spPr>
          <a:xfrm>
            <a:off x="838200" y="3517636"/>
            <a:ext cx="7179321" cy="2794264"/>
          </a:xfrm>
          <a:prstGeom prst="rect">
            <a:avLst/>
          </a:prstGeom>
        </p:spPr>
      </p:pic>
    </p:spTree>
    <p:extLst>
      <p:ext uri="{BB962C8B-B14F-4D97-AF65-F5344CB8AC3E}">
        <p14:creationId xmlns:p14="http://schemas.microsoft.com/office/powerpoint/2010/main" val="372143437"/>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74D5D6-93DE-0FA8-0884-34C571081821}"/>
              </a:ext>
            </a:extLst>
          </p:cNvPr>
          <p:cNvSpPr>
            <a:spLocks noGrp="1"/>
          </p:cNvSpPr>
          <p:nvPr>
            <p:ph type="title"/>
          </p:nvPr>
        </p:nvSpPr>
        <p:spPr/>
        <p:txBody>
          <a:bodyPr/>
          <a:lstStyle/>
          <a:p>
            <a:r>
              <a:rPr lang="en-GB" dirty="0"/>
              <a:t>Startup Optimization</a:t>
            </a:r>
            <a:endParaRPr lang="en-US" dirty="0"/>
          </a:p>
        </p:txBody>
      </p:sp>
      <p:sp>
        <p:nvSpPr>
          <p:cNvPr id="3" name="Content Placeholder 2">
            <a:extLst>
              <a:ext uri="{FF2B5EF4-FFF2-40B4-BE49-F238E27FC236}">
                <a16:creationId xmlns:a16="http://schemas.microsoft.com/office/drawing/2014/main" id="{3887C2AA-BB7E-04D7-A634-B4A17FDAB680}"/>
              </a:ext>
            </a:extLst>
          </p:cNvPr>
          <p:cNvSpPr>
            <a:spLocks noGrp="1"/>
          </p:cNvSpPr>
          <p:nvPr>
            <p:ph idx="1"/>
          </p:nvPr>
        </p:nvSpPr>
        <p:spPr/>
        <p:txBody>
          <a:bodyPr/>
          <a:lstStyle/>
          <a:p>
            <a:r>
              <a:rPr lang="en-GB" dirty="0"/>
              <a:t>Techniques</a:t>
            </a:r>
          </a:p>
          <a:p>
            <a:pPr lvl="1"/>
            <a:r>
              <a:rPr lang="en-GB" dirty="0"/>
              <a:t>Lazy Initialization</a:t>
            </a:r>
          </a:p>
          <a:p>
            <a:pPr lvl="1"/>
            <a:r>
              <a:rPr lang="en-GB" dirty="0"/>
              <a:t>Spring AOT</a:t>
            </a:r>
          </a:p>
          <a:p>
            <a:pPr lvl="1"/>
            <a:r>
              <a:rPr lang="en-GB" dirty="0" err="1"/>
              <a:t>CRaC</a:t>
            </a:r>
            <a:r>
              <a:rPr lang="en-GB" dirty="0"/>
              <a:t> – Coordinated Restored at Checkpoint</a:t>
            </a:r>
          </a:p>
          <a:p>
            <a:pPr lvl="1"/>
            <a:r>
              <a:rPr lang="en-GB" dirty="0" err="1"/>
              <a:t>GraalVM</a:t>
            </a:r>
            <a:r>
              <a:rPr lang="en-GB" dirty="0"/>
              <a:t> Native Images</a:t>
            </a:r>
            <a:endParaRPr lang="en-US" dirty="0"/>
          </a:p>
        </p:txBody>
      </p:sp>
    </p:spTree>
    <p:extLst>
      <p:ext uri="{BB962C8B-B14F-4D97-AF65-F5344CB8AC3E}">
        <p14:creationId xmlns:p14="http://schemas.microsoft.com/office/powerpoint/2010/main" val="1985190538"/>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0D81BD-8BC1-2AA9-F731-B684811848B6}"/>
              </a:ext>
            </a:extLst>
          </p:cNvPr>
          <p:cNvSpPr>
            <a:spLocks noGrp="1"/>
          </p:cNvSpPr>
          <p:nvPr>
            <p:ph type="title"/>
          </p:nvPr>
        </p:nvSpPr>
        <p:spPr/>
        <p:txBody>
          <a:bodyPr/>
          <a:lstStyle/>
          <a:p>
            <a:r>
              <a:rPr lang="en-GB" dirty="0"/>
              <a:t>Memory footprint reduction</a:t>
            </a:r>
            <a:endParaRPr lang="en-US" dirty="0"/>
          </a:p>
        </p:txBody>
      </p:sp>
      <p:sp>
        <p:nvSpPr>
          <p:cNvPr id="3" name="Content Placeholder 2">
            <a:extLst>
              <a:ext uri="{FF2B5EF4-FFF2-40B4-BE49-F238E27FC236}">
                <a16:creationId xmlns:a16="http://schemas.microsoft.com/office/drawing/2014/main" id="{48F2B076-9B96-4935-408D-28FA400885CA}"/>
              </a:ext>
            </a:extLst>
          </p:cNvPr>
          <p:cNvSpPr>
            <a:spLocks noGrp="1"/>
          </p:cNvSpPr>
          <p:nvPr>
            <p:ph idx="1"/>
          </p:nvPr>
        </p:nvSpPr>
        <p:spPr/>
        <p:txBody>
          <a:bodyPr/>
          <a:lstStyle/>
          <a:p>
            <a:r>
              <a:rPr lang="en-GB" dirty="0"/>
              <a:t>Techniques</a:t>
            </a:r>
          </a:p>
          <a:p>
            <a:pPr lvl="1"/>
            <a:r>
              <a:rPr lang="en-GB" dirty="0"/>
              <a:t>Use Pagination instead of loading full data</a:t>
            </a:r>
            <a:endParaRPr lang="en-US" dirty="0"/>
          </a:p>
        </p:txBody>
      </p:sp>
    </p:spTree>
    <p:extLst>
      <p:ext uri="{BB962C8B-B14F-4D97-AF65-F5344CB8AC3E}">
        <p14:creationId xmlns:p14="http://schemas.microsoft.com/office/powerpoint/2010/main" val="2106287087"/>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5AEB91-A4CA-D9C8-8464-FF3A664325C6}"/>
              </a:ext>
            </a:extLst>
          </p:cNvPr>
          <p:cNvSpPr>
            <a:spLocks noGrp="1"/>
          </p:cNvSpPr>
          <p:nvPr>
            <p:ph type="ctrTitle"/>
          </p:nvPr>
        </p:nvSpPr>
        <p:spPr/>
        <p:txBody>
          <a:bodyPr/>
          <a:lstStyle/>
          <a:p>
            <a:r>
              <a:rPr lang="en-GB" b="1" dirty="0" err="1"/>
              <a:t>GraalVM</a:t>
            </a:r>
            <a:endParaRPr lang="en-US" b="1" dirty="0"/>
          </a:p>
        </p:txBody>
      </p:sp>
    </p:spTree>
    <p:extLst>
      <p:ext uri="{BB962C8B-B14F-4D97-AF65-F5344CB8AC3E}">
        <p14:creationId xmlns:p14="http://schemas.microsoft.com/office/powerpoint/2010/main" val="3976383020"/>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21119D-1FC6-2F5F-F227-68C109A074F5}"/>
              </a:ext>
            </a:extLst>
          </p:cNvPr>
          <p:cNvSpPr>
            <a:spLocks noGrp="1"/>
          </p:cNvSpPr>
          <p:nvPr>
            <p:ph type="title"/>
          </p:nvPr>
        </p:nvSpPr>
        <p:spPr/>
        <p:txBody>
          <a:bodyPr/>
          <a:lstStyle/>
          <a:p>
            <a:r>
              <a:rPr lang="en-GB" b="1" dirty="0"/>
              <a:t>Startup Optimization and Memory footprint reduction</a:t>
            </a:r>
            <a:endParaRPr lang="en-US" b="1" dirty="0"/>
          </a:p>
        </p:txBody>
      </p:sp>
      <p:sp>
        <p:nvSpPr>
          <p:cNvPr id="3" name="Content Placeholder 2">
            <a:extLst>
              <a:ext uri="{FF2B5EF4-FFF2-40B4-BE49-F238E27FC236}">
                <a16:creationId xmlns:a16="http://schemas.microsoft.com/office/drawing/2014/main" id="{6E887751-9683-F6E0-100E-159552EED824}"/>
              </a:ext>
            </a:extLst>
          </p:cNvPr>
          <p:cNvSpPr>
            <a:spLocks noGrp="1"/>
          </p:cNvSpPr>
          <p:nvPr>
            <p:ph idx="1"/>
          </p:nvPr>
        </p:nvSpPr>
        <p:spPr/>
        <p:txBody>
          <a:bodyPr/>
          <a:lstStyle/>
          <a:p>
            <a:r>
              <a:rPr lang="en-GB" b="1" dirty="0" err="1"/>
              <a:t>GraalVM</a:t>
            </a:r>
            <a:r>
              <a:rPr lang="en-GB" dirty="0"/>
              <a:t> is a high performance JDK that speeds up the performance of Java and JVM-based applications and simplifies the building and running of Java cloud native services.</a:t>
            </a:r>
          </a:p>
          <a:p>
            <a:r>
              <a:rPr lang="en-GB" dirty="0"/>
              <a:t>The optimized compiler generates faster code and uses fewer compute resources, enabling applications start instantly.</a:t>
            </a:r>
            <a:endParaRPr lang="en-US" dirty="0"/>
          </a:p>
        </p:txBody>
      </p:sp>
    </p:spTree>
    <p:extLst>
      <p:ext uri="{BB962C8B-B14F-4D97-AF65-F5344CB8AC3E}">
        <p14:creationId xmlns:p14="http://schemas.microsoft.com/office/powerpoint/2010/main" val="2008236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07A5D7-4F49-84C7-DD3C-801FF45233D9}"/>
              </a:ext>
            </a:extLst>
          </p:cNvPr>
          <p:cNvSpPr>
            <a:spLocks noGrp="1"/>
          </p:cNvSpPr>
          <p:nvPr>
            <p:ph type="title"/>
          </p:nvPr>
        </p:nvSpPr>
        <p:spPr/>
        <p:txBody>
          <a:bodyPr/>
          <a:lstStyle/>
          <a:p>
            <a:r>
              <a:rPr lang="en-GB" b="1" dirty="0" err="1"/>
              <a:t>GraalVM</a:t>
            </a:r>
            <a:r>
              <a:rPr lang="en-GB" b="1" dirty="0"/>
              <a:t> : Questions</a:t>
            </a:r>
            <a:endParaRPr lang="en-US" b="1" dirty="0"/>
          </a:p>
        </p:txBody>
      </p:sp>
      <p:sp>
        <p:nvSpPr>
          <p:cNvPr id="3" name="Content Placeholder 2">
            <a:extLst>
              <a:ext uri="{FF2B5EF4-FFF2-40B4-BE49-F238E27FC236}">
                <a16:creationId xmlns:a16="http://schemas.microsoft.com/office/drawing/2014/main" id="{3E2F4183-E5BF-B26C-8FF9-EBD078920EAE}"/>
              </a:ext>
            </a:extLst>
          </p:cNvPr>
          <p:cNvSpPr>
            <a:spLocks noGrp="1"/>
          </p:cNvSpPr>
          <p:nvPr>
            <p:ph idx="1"/>
          </p:nvPr>
        </p:nvSpPr>
        <p:spPr/>
        <p:txBody>
          <a:bodyPr>
            <a:normAutofit/>
          </a:bodyPr>
          <a:lstStyle/>
          <a:p>
            <a:r>
              <a:rPr lang="en-GB" b="1" dirty="0"/>
              <a:t>Why we need to use </a:t>
            </a:r>
            <a:r>
              <a:rPr lang="en-GB" b="1" dirty="0" err="1"/>
              <a:t>GraalVM</a:t>
            </a:r>
            <a:r>
              <a:rPr lang="en-GB" b="1" dirty="0"/>
              <a:t>, when I am good with traditional JDKs?</a:t>
            </a:r>
          </a:p>
          <a:p>
            <a:pPr lvl="1"/>
            <a:r>
              <a:rPr lang="en-GB" dirty="0"/>
              <a:t>Businesses want to deliver innovative software that scales and automates processes, while also running and consuming fewer resources.</a:t>
            </a:r>
          </a:p>
          <a:p>
            <a:pPr lvl="1"/>
            <a:r>
              <a:rPr lang="en-GB" dirty="0"/>
              <a:t>Organizations are moving applications to the cloud and adopting cloud-native architectures like microservices, serverless to reduce costs and improve efficiency. </a:t>
            </a:r>
          </a:p>
        </p:txBody>
      </p:sp>
    </p:spTree>
    <p:extLst>
      <p:ext uri="{BB962C8B-B14F-4D97-AF65-F5344CB8AC3E}">
        <p14:creationId xmlns:p14="http://schemas.microsoft.com/office/powerpoint/2010/main" val="28427674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429FF-ADE5-A70E-57E7-5D2E7AED1500}"/>
              </a:ext>
            </a:extLst>
          </p:cNvPr>
          <p:cNvSpPr>
            <a:spLocks noGrp="1"/>
          </p:cNvSpPr>
          <p:nvPr>
            <p:ph type="title"/>
          </p:nvPr>
        </p:nvSpPr>
        <p:spPr/>
        <p:txBody>
          <a:bodyPr/>
          <a:lstStyle/>
          <a:p>
            <a:r>
              <a:rPr lang="en-GB" b="1" dirty="0"/>
              <a:t>What happens inside normal JDK?</a:t>
            </a:r>
            <a:endParaRPr lang="en-US" b="1" dirty="0"/>
          </a:p>
        </p:txBody>
      </p:sp>
      <p:sp>
        <p:nvSpPr>
          <p:cNvPr id="4" name="Rectangle 3">
            <a:extLst>
              <a:ext uri="{FF2B5EF4-FFF2-40B4-BE49-F238E27FC236}">
                <a16:creationId xmlns:a16="http://schemas.microsoft.com/office/drawing/2014/main" id="{7B56F72A-00B5-7DEE-2A9F-60C4E3B04E3F}"/>
              </a:ext>
            </a:extLst>
          </p:cNvPr>
          <p:cNvSpPr/>
          <p:nvPr/>
        </p:nvSpPr>
        <p:spPr>
          <a:xfrm>
            <a:off x="2044423" y="3170452"/>
            <a:ext cx="726728" cy="86648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Java</a:t>
            </a:r>
            <a:br>
              <a:rPr lang="en-GB" dirty="0"/>
            </a:br>
            <a:r>
              <a:rPr lang="en-GB" dirty="0"/>
              <a:t>Code</a:t>
            </a:r>
            <a:endParaRPr lang="en-US" dirty="0"/>
          </a:p>
        </p:txBody>
      </p:sp>
      <p:sp>
        <p:nvSpPr>
          <p:cNvPr id="5" name="Rectangle 4">
            <a:extLst>
              <a:ext uri="{FF2B5EF4-FFF2-40B4-BE49-F238E27FC236}">
                <a16:creationId xmlns:a16="http://schemas.microsoft.com/office/drawing/2014/main" id="{361992BE-CDAD-24C7-F6DF-42CFCE52458A}"/>
              </a:ext>
            </a:extLst>
          </p:cNvPr>
          <p:cNvSpPr/>
          <p:nvPr/>
        </p:nvSpPr>
        <p:spPr>
          <a:xfrm>
            <a:off x="4120789" y="3170452"/>
            <a:ext cx="726728" cy="86648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.class</a:t>
            </a:r>
            <a:endParaRPr lang="en-US" dirty="0"/>
          </a:p>
        </p:txBody>
      </p:sp>
      <p:cxnSp>
        <p:nvCxnSpPr>
          <p:cNvPr id="7" name="Straight Arrow Connector 6">
            <a:extLst>
              <a:ext uri="{FF2B5EF4-FFF2-40B4-BE49-F238E27FC236}">
                <a16:creationId xmlns:a16="http://schemas.microsoft.com/office/drawing/2014/main" id="{DC9C5A34-8133-911C-4BD5-9B06B1CAB5F8}"/>
              </a:ext>
            </a:extLst>
          </p:cNvPr>
          <p:cNvCxnSpPr/>
          <p:nvPr/>
        </p:nvCxnSpPr>
        <p:spPr>
          <a:xfrm>
            <a:off x="2986774" y="3603694"/>
            <a:ext cx="87846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90DCF3E5-FEF5-6C15-334C-B4CD83C23CC6}"/>
              </a:ext>
            </a:extLst>
          </p:cNvPr>
          <p:cNvSpPr txBox="1"/>
          <p:nvPr/>
        </p:nvSpPr>
        <p:spPr>
          <a:xfrm>
            <a:off x="2888998" y="3298195"/>
            <a:ext cx="1072730" cy="261610"/>
          </a:xfrm>
          <a:prstGeom prst="rect">
            <a:avLst/>
          </a:prstGeom>
          <a:noFill/>
        </p:spPr>
        <p:txBody>
          <a:bodyPr wrap="none" rtlCol="0">
            <a:spAutoFit/>
          </a:bodyPr>
          <a:lstStyle/>
          <a:p>
            <a:r>
              <a:rPr lang="en-GB" sz="1100" dirty="0" err="1"/>
              <a:t>javac</a:t>
            </a:r>
            <a:r>
              <a:rPr lang="en-GB" sz="1100" dirty="0"/>
              <a:t> Hello.java</a:t>
            </a:r>
            <a:endParaRPr lang="en-US" sz="1100" dirty="0"/>
          </a:p>
        </p:txBody>
      </p:sp>
      <p:cxnSp>
        <p:nvCxnSpPr>
          <p:cNvPr id="9" name="Straight Arrow Connector 8">
            <a:extLst>
              <a:ext uri="{FF2B5EF4-FFF2-40B4-BE49-F238E27FC236}">
                <a16:creationId xmlns:a16="http://schemas.microsoft.com/office/drawing/2014/main" id="{85847B7D-B03D-67FB-6C17-61E1D02234DF}"/>
              </a:ext>
            </a:extLst>
          </p:cNvPr>
          <p:cNvCxnSpPr/>
          <p:nvPr/>
        </p:nvCxnSpPr>
        <p:spPr>
          <a:xfrm>
            <a:off x="5055814" y="3603694"/>
            <a:ext cx="87846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FDDC562E-D352-E668-6CF5-4BBBAEA1D68B}"/>
              </a:ext>
            </a:extLst>
          </p:cNvPr>
          <p:cNvSpPr txBox="1"/>
          <p:nvPr/>
        </p:nvSpPr>
        <p:spPr>
          <a:xfrm>
            <a:off x="5122186" y="3298195"/>
            <a:ext cx="745717" cy="261610"/>
          </a:xfrm>
          <a:prstGeom prst="rect">
            <a:avLst/>
          </a:prstGeom>
          <a:noFill/>
        </p:spPr>
        <p:txBody>
          <a:bodyPr wrap="none" rtlCol="0">
            <a:spAutoFit/>
          </a:bodyPr>
          <a:lstStyle/>
          <a:p>
            <a:r>
              <a:rPr lang="en-GB" sz="1100" dirty="0"/>
              <a:t>java Hello</a:t>
            </a:r>
            <a:endParaRPr lang="en-US" sz="1100" dirty="0"/>
          </a:p>
        </p:txBody>
      </p:sp>
      <p:sp>
        <p:nvSpPr>
          <p:cNvPr id="11" name="Rectangle 10">
            <a:extLst>
              <a:ext uri="{FF2B5EF4-FFF2-40B4-BE49-F238E27FC236}">
                <a16:creationId xmlns:a16="http://schemas.microsoft.com/office/drawing/2014/main" id="{FE68F423-328B-25D5-86E4-918834E052C6}"/>
              </a:ext>
            </a:extLst>
          </p:cNvPr>
          <p:cNvSpPr/>
          <p:nvPr/>
        </p:nvSpPr>
        <p:spPr>
          <a:xfrm>
            <a:off x="6093338" y="3170452"/>
            <a:ext cx="726728" cy="86648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JVM</a:t>
            </a:r>
            <a:endParaRPr lang="en-US" dirty="0"/>
          </a:p>
        </p:txBody>
      </p:sp>
      <p:cxnSp>
        <p:nvCxnSpPr>
          <p:cNvPr id="12" name="Straight Arrow Connector 11">
            <a:extLst>
              <a:ext uri="{FF2B5EF4-FFF2-40B4-BE49-F238E27FC236}">
                <a16:creationId xmlns:a16="http://schemas.microsoft.com/office/drawing/2014/main" id="{9A37C06B-0DEE-43E7-02EA-A771B364672D}"/>
              </a:ext>
            </a:extLst>
          </p:cNvPr>
          <p:cNvCxnSpPr/>
          <p:nvPr/>
        </p:nvCxnSpPr>
        <p:spPr>
          <a:xfrm>
            <a:off x="6912755" y="3614342"/>
            <a:ext cx="87846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D58CC095-413F-FEE3-C2E2-298E2640F4FB}"/>
              </a:ext>
            </a:extLst>
          </p:cNvPr>
          <p:cNvSpPr txBox="1"/>
          <p:nvPr/>
        </p:nvSpPr>
        <p:spPr>
          <a:xfrm>
            <a:off x="6983005" y="3298195"/>
            <a:ext cx="591829" cy="261610"/>
          </a:xfrm>
          <a:prstGeom prst="rect">
            <a:avLst/>
          </a:prstGeom>
          <a:noFill/>
        </p:spPr>
        <p:txBody>
          <a:bodyPr wrap="none" rtlCol="0">
            <a:spAutoFit/>
          </a:bodyPr>
          <a:lstStyle/>
          <a:p>
            <a:r>
              <a:rPr lang="en-GB" sz="1100" dirty="0"/>
              <a:t>Output</a:t>
            </a:r>
            <a:endParaRPr lang="en-US" sz="1100" dirty="0"/>
          </a:p>
        </p:txBody>
      </p:sp>
      <p:sp>
        <p:nvSpPr>
          <p:cNvPr id="14" name="Rectangle 13">
            <a:extLst>
              <a:ext uri="{FF2B5EF4-FFF2-40B4-BE49-F238E27FC236}">
                <a16:creationId xmlns:a16="http://schemas.microsoft.com/office/drawing/2014/main" id="{B90C5DE9-B274-5D62-EB04-5666903D6025}"/>
              </a:ext>
            </a:extLst>
          </p:cNvPr>
          <p:cNvSpPr/>
          <p:nvPr/>
        </p:nvSpPr>
        <p:spPr>
          <a:xfrm>
            <a:off x="7950279" y="3408036"/>
            <a:ext cx="951478" cy="3913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Output</a:t>
            </a:r>
            <a:endParaRPr lang="en-US" dirty="0"/>
          </a:p>
        </p:txBody>
      </p:sp>
    </p:spTree>
    <p:extLst>
      <p:ext uri="{BB962C8B-B14F-4D97-AF65-F5344CB8AC3E}">
        <p14:creationId xmlns:p14="http://schemas.microsoft.com/office/powerpoint/2010/main" val="38203554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8" grpId="0"/>
      <p:bldP spid="10" grpId="0"/>
      <p:bldP spid="11" grpId="0" animBg="1"/>
      <p:bldP spid="13" grpId="0"/>
      <p:bldP spid="14" grpId="0" animBg="1"/>
    </p:bld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F34ECC-F7FB-09DD-0444-B69C0740D463}"/>
              </a:ext>
            </a:extLst>
          </p:cNvPr>
          <p:cNvSpPr>
            <a:spLocks noGrp="1"/>
          </p:cNvSpPr>
          <p:nvPr>
            <p:ph type="title"/>
          </p:nvPr>
        </p:nvSpPr>
        <p:spPr/>
        <p:txBody>
          <a:bodyPr/>
          <a:lstStyle/>
          <a:p>
            <a:r>
              <a:rPr lang="en-GB" b="1" dirty="0"/>
              <a:t>What happens inside JVM?</a:t>
            </a:r>
            <a:endParaRPr lang="en-US" b="1" dirty="0"/>
          </a:p>
        </p:txBody>
      </p:sp>
      <p:sp>
        <p:nvSpPr>
          <p:cNvPr id="3" name="Content Placeholder 2">
            <a:extLst>
              <a:ext uri="{FF2B5EF4-FFF2-40B4-BE49-F238E27FC236}">
                <a16:creationId xmlns:a16="http://schemas.microsoft.com/office/drawing/2014/main" id="{84B7DD72-5131-349B-F7D0-5510326DE754}"/>
              </a:ext>
            </a:extLst>
          </p:cNvPr>
          <p:cNvSpPr>
            <a:spLocks noGrp="1"/>
          </p:cNvSpPr>
          <p:nvPr>
            <p:ph idx="1"/>
          </p:nvPr>
        </p:nvSpPr>
        <p:spPr/>
        <p:txBody>
          <a:bodyPr>
            <a:normAutofit fontScale="62500" lnSpcReduction="20000"/>
          </a:bodyPr>
          <a:lstStyle/>
          <a:p>
            <a:r>
              <a:rPr lang="en-GB" b="1" dirty="0"/>
              <a:t>Class Loading</a:t>
            </a:r>
          </a:p>
          <a:p>
            <a:pPr lvl="1"/>
            <a:r>
              <a:rPr lang="en-GB" dirty="0"/>
              <a:t>The JVM starts by loading the necessary classes and resources required by the program.</a:t>
            </a:r>
          </a:p>
          <a:p>
            <a:pPr lvl="1"/>
            <a:r>
              <a:rPr lang="en-GB" dirty="0"/>
              <a:t>It searches for bytecode files(.class) that correspond to the classes used in the program and loads them into memory.</a:t>
            </a:r>
          </a:p>
          <a:p>
            <a:r>
              <a:rPr lang="en-GB" b="1" dirty="0"/>
              <a:t>Bytecode Verification</a:t>
            </a:r>
          </a:p>
          <a:p>
            <a:pPr lvl="1"/>
            <a:r>
              <a:rPr lang="en-GB" dirty="0"/>
              <a:t> Once the classes are loaded, the JVM preforms bytecode verification. It checks the bytecode for any violations of the Java language specification.</a:t>
            </a:r>
          </a:p>
          <a:p>
            <a:pPr lvl="1"/>
            <a:r>
              <a:rPr lang="en-GB" dirty="0"/>
              <a:t> This step ensures the safety and security of the JVM by preventing the execution of malicious or malformed bytecode.</a:t>
            </a:r>
          </a:p>
          <a:p>
            <a:r>
              <a:rPr lang="en-GB" b="1" dirty="0"/>
              <a:t>Just-In-Time(JIT) Compilation</a:t>
            </a:r>
          </a:p>
          <a:p>
            <a:pPr lvl="1"/>
            <a:r>
              <a:rPr lang="en-US" dirty="0"/>
              <a:t>After the bytecode is verified, the JVM employs a Just-In-Time(JIT) compiler to convert the bytecode into machine code. The JIT compiler analyzes the bytecode and identifies portions of the code that are frequently executed, known as hot spots.</a:t>
            </a:r>
          </a:p>
          <a:p>
            <a:pPr lvl="1"/>
            <a:r>
              <a:rPr lang="en-US" dirty="0"/>
              <a:t>It optimizes the hot spots by translating them into highly optimized machine code, specific to the underlying hardware and operating system.</a:t>
            </a:r>
          </a:p>
          <a:p>
            <a:pPr lvl="1"/>
            <a:r>
              <a:rPr lang="en-US" dirty="0"/>
              <a:t>This compilation process is known as dynamic or on-the-fly compilation because it happens during runtime.</a:t>
            </a:r>
          </a:p>
          <a:p>
            <a:r>
              <a:rPr lang="en-US" b="1" dirty="0"/>
              <a:t>Execution</a:t>
            </a:r>
          </a:p>
          <a:p>
            <a:pPr lvl="1"/>
            <a:r>
              <a:rPr lang="en-US" dirty="0"/>
              <a:t>Once JIT compilation is completed, JVM starts executing the optimized machine code. </a:t>
            </a:r>
          </a:p>
          <a:p>
            <a:pPr lvl="1"/>
            <a:r>
              <a:rPr lang="en-US" dirty="0"/>
              <a:t>It interprets the bytecode and executes the corresponding instructions. At this stage, the Java program is running natively on the underlying hardware, similar to programs written in other programming languages.</a:t>
            </a:r>
          </a:p>
        </p:txBody>
      </p:sp>
    </p:spTree>
    <p:extLst>
      <p:ext uri="{BB962C8B-B14F-4D97-AF65-F5344CB8AC3E}">
        <p14:creationId xmlns:p14="http://schemas.microsoft.com/office/powerpoint/2010/main" val="15722881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D45AD-6B05-D043-8D28-726C8B3E6DB7}"/>
              </a:ext>
            </a:extLst>
          </p:cNvPr>
          <p:cNvSpPr>
            <a:spLocks noGrp="1"/>
          </p:cNvSpPr>
          <p:nvPr>
            <p:ph type="title"/>
          </p:nvPr>
        </p:nvSpPr>
        <p:spPr/>
        <p:txBody>
          <a:bodyPr/>
          <a:lstStyle/>
          <a:p>
            <a:r>
              <a:rPr lang="en-GB" dirty="0"/>
              <a:t>What happens with </a:t>
            </a:r>
            <a:r>
              <a:rPr lang="en-GB" dirty="0" err="1"/>
              <a:t>GraalVM</a:t>
            </a:r>
            <a:endParaRPr lang="en-US" dirty="0"/>
          </a:p>
        </p:txBody>
      </p:sp>
      <p:sp>
        <p:nvSpPr>
          <p:cNvPr id="4" name="Rectangle 3">
            <a:extLst>
              <a:ext uri="{FF2B5EF4-FFF2-40B4-BE49-F238E27FC236}">
                <a16:creationId xmlns:a16="http://schemas.microsoft.com/office/drawing/2014/main" id="{05705993-4DDA-9C28-2130-CC6E22DCEDD5}"/>
              </a:ext>
            </a:extLst>
          </p:cNvPr>
          <p:cNvSpPr/>
          <p:nvPr/>
        </p:nvSpPr>
        <p:spPr>
          <a:xfrm>
            <a:off x="838200" y="1962567"/>
            <a:ext cx="726728" cy="86648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Java</a:t>
            </a:r>
            <a:br>
              <a:rPr lang="en-GB" dirty="0"/>
            </a:br>
            <a:r>
              <a:rPr lang="en-GB" dirty="0"/>
              <a:t>Code</a:t>
            </a:r>
            <a:endParaRPr lang="en-US" dirty="0"/>
          </a:p>
        </p:txBody>
      </p:sp>
      <p:sp>
        <p:nvSpPr>
          <p:cNvPr id="5" name="Rectangle 4">
            <a:extLst>
              <a:ext uri="{FF2B5EF4-FFF2-40B4-BE49-F238E27FC236}">
                <a16:creationId xmlns:a16="http://schemas.microsoft.com/office/drawing/2014/main" id="{DF5F4CB9-BBD0-9758-4348-48E1077F2E8A}"/>
              </a:ext>
            </a:extLst>
          </p:cNvPr>
          <p:cNvSpPr/>
          <p:nvPr/>
        </p:nvSpPr>
        <p:spPr>
          <a:xfrm>
            <a:off x="2950485" y="1951919"/>
            <a:ext cx="726728" cy="86648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.class</a:t>
            </a:r>
            <a:endParaRPr lang="en-US" dirty="0"/>
          </a:p>
        </p:txBody>
      </p:sp>
      <p:cxnSp>
        <p:nvCxnSpPr>
          <p:cNvPr id="6" name="Straight Arrow Connector 5">
            <a:extLst>
              <a:ext uri="{FF2B5EF4-FFF2-40B4-BE49-F238E27FC236}">
                <a16:creationId xmlns:a16="http://schemas.microsoft.com/office/drawing/2014/main" id="{36794224-A960-9CDD-4BE8-002C69EF82A9}"/>
              </a:ext>
            </a:extLst>
          </p:cNvPr>
          <p:cNvCxnSpPr/>
          <p:nvPr/>
        </p:nvCxnSpPr>
        <p:spPr>
          <a:xfrm>
            <a:off x="1816470" y="2385161"/>
            <a:ext cx="87846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8C9192F6-66EC-89BD-372C-46CDB4AA8770}"/>
              </a:ext>
            </a:extLst>
          </p:cNvPr>
          <p:cNvSpPr txBox="1"/>
          <p:nvPr/>
        </p:nvSpPr>
        <p:spPr>
          <a:xfrm>
            <a:off x="1713725" y="2074826"/>
            <a:ext cx="1072730" cy="261610"/>
          </a:xfrm>
          <a:prstGeom prst="rect">
            <a:avLst/>
          </a:prstGeom>
          <a:noFill/>
        </p:spPr>
        <p:txBody>
          <a:bodyPr wrap="none" rtlCol="0">
            <a:spAutoFit/>
          </a:bodyPr>
          <a:lstStyle/>
          <a:p>
            <a:r>
              <a:rPr lang="en-GB" sz="1100" dirty="0" err="1"/>
              <a:t>javac</a:t>
            </a:r>
            <a:r>
              <a:rPr lang="en-GB" sz="1100" dirty="0"/>
              <a:t> Hello.java</a:t>
            </a:r>
            <a:endParaRPr lang="en-US" sz="1100" dirty="0"/>
          </a:p>
        </p:txBody>
      </p:sp>
      <p:cxnSp>
        <p:nvCxnSpPr>
          <p:cNvPr id="8" name="Straight Arrow Connector 7">
            <a:extLst>
              <a:ext uri="{FF2B5EF4-FFF2-40B4-BE49-F238E27FC236}">
                <a16:creationId xmlns:a16="http://schemas.microsoft.com/office/drawing/2014/main" id="{DA47DC16-4B22-0A39-D827-5236B504EA8B}"/>
              </a:ext>
            </a:extLst>
          </p:cNvPr>
          <p:cNvCxnSpPr/>
          <p:nvPr/>
        </p:nvCxnSpPr>
        <p:spPr>
          <a:xfrm>
            <a:off x="3885510" y="2385161"/>
            <a:ext cx="87846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49B33902-097B-0AD0-7DE2-66FB4FA2A350}"/>
              </a:ext>
            </a:extLst>
          </p:cNvPr>
          <p:cNvSpPr txBox="1"/>
          <p:nvPr/>
        </p:nvSpPr>
        <p:spPr>
          <a:xfrm>
            <a:off x="3951882" y="2074826"/>
            <a:ext cx="745717" cy="261610"/>
          </a:xfrm>
          <a:prstGeom prst="rect">
            <a:avLst/>
          </a:prstGeom>
          <a:noFill/>
        </p:spPr>
        <p:txBody>
          <a:bodyPr wrap="none" rtlCol="0">
            <a:spAutoFit/>
          </a:bodyPr>
          <a:lstStyle/>
          <a:p>
            <a:r>
              <a:rPr lang="en-GB" sz="1100" dirty="0"/>
              <a:t>java Hello</a:t>
            </a:r>
            <a:endParaRPr lang="en-US" sz="1100" dirty="0"/>
          </a:p>
        </p:txBody>
      </p:sp>
      <p:sp>
        <p:nvSpPr>
          <p:cNvPr id="10" name="Rectangle 9">
            <a:extLst>
              <a:ext uri="{FF2B5EF4-FFF2-40B4-BE49-F238E27FC236}">
                <a16:creationId xmlns:a16="http://schemas.microsoft.com/office/drawing/2014/main" id="{F7E74E35-C6B0-E4AD-3F00-7E85C0C68E7A}"/>
              </a:ext>
            </a:extLst>
          </p:cNvPr>
          <p:cNvSpPr/>
          <p:nvPr/>
        </p:nvSpPr>
        <p:spPr>
          <a:xfrm>
            <a:off x="4923034" y="1951919"/>
            <a:ext cx="1162300" cy="86648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err="1"/>
              <a:t>GraalVM</a:t>
            </a:r>
            <a:br>
              <a:rPr lang="en-GB" dirty="0"/>
            </a:br>
            <a:r>
              <a:rPr lang="en-GB" dirty="0"/>
              <a:t>JIT</a:t>
            </a:r>
            <a:endParaRPr lang="en-US" dirty="0"/>
          </a:p>
        </p:txBody>
      </p:sp>
      <p:cxnSp>
        <p:nvCxnSpPr>
          <p:cNvPr id="11" name="Straight Arrow Connector 10">
            <a:extLst>
              <a:ext uri="{FF2B5EF4-FFF2-40B4-BE49-F238E27FC236}">
                <a16:creationId xmlns:a16="http://schemas.microsoft.com/office/drawing/2014/main" id="{713E1879-9B22-31EB-87FC-4DB3D303AABE}"/>
              </a:ext>
            </a:extLst>
          </p:cNvPr>
          <p:cNvCxnSpPr/>
          <p:nvPr/>
        </p:nvCxnSpPr>
        <p:spPr>
          <a:xfrm>
            <a:off x="6293631" y="2395809"/>
            <a:ext cx="87846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1AC2F867-35DB-78EC-C7F2-82937086B8B6}"/>
              </a:ext>
            </a:extLst>
          </p:cNvPr>
          <p:cNvSpPr txBox="1"/>
          <p:nvPr/>
        </p:nvSpPr>
        <p:spPr>
          <a:xfrm>
            <a:off x="6363881" y="2074826"/>
            <a:ext cx="591829" cy="261610"/>
          </a:xfrm>
          <a:prstGeom prst="rect">
            <a:avLst/>
          </a:prstGeom>
          <a:noFill/>
        </p:spPr>
        <p:txBody>
          <a:bodyPr wrap="none" rtlCol="0">
            <a:spAutoFit/>
          </a:bodyPr>
          <a:lstStyle/>
          <a:p>
            <a:r>
              <a:rPr lang="en-GB" sz="1100" dirty="0"/>
              <a:t>Output</a:t>
            </a:r>
            <a:endParaRPr lang="en-US" sz="1100" dirty="0"/>
          </a:p>
        </p:txBody>
      </p:sp>
      <p:sp>
        <p:nvSpPr>
          <p:cNvPr id="13" name="Rectangle 12">
            <a:extLst>
              <a:ext uri="{FF2B5EF4-FFF2-40B4-BE49-F238E27FC236}">
                <a16:creationId xmlns:a16="http://schemas.microsoft.com/office/drawing/2014/main" id="{9516F78F-4088-B2B9-C162-2A4F37A32DF5}"/>
              </a:ext>
            </a:extLst>
          </p:cNvPr>
          <p:cNvSpPr/>
          <p:nvPr/>
        </p:nvSpPr>
        <p:spPr>
          <a:xfrm>
            <a:off x="7331155" y="2189503"/>
            <a:ext cx="951478" cy="3913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Output</a:t>
            </a:r>
            <a:endParaRPr lang="en-US" dirty="0"/>
          </a:p>
        </p:txBody>
      </p:sp>
      <p:sp>
        <p:nvSpPr>
          <p:cNvPr id="15" name="Rectangle 14">
            <a:extLst>
              <a:ext uri="{FF2B5EF4-FFF2-40B4-BE49-F238E27FC236}">
                <a16:creationId xmlns:a16="http://schemas.microsoft.com/office/drawing/2014/main" id="{CDC2E384-0F56-258F-7C48-123B5F5375BA}"/>
              </a:ext>
            </a:extLst>
          </p:cNvPr>
          <p:cNvSpPr/>
          <p:nvPr/>
        </p:nvSpPr>
        <p:spPr>
          <a:xfrm>
            <a:off x="838200" y="3907828"/>
            <a:ext cx="726728" cy="86648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Java</a:t>
            </a:r>
            <a:br>
              <a:rPr lang="en-GB" dirty="0"/>
            </a:br>
            <a:r>
              <a:rPr lang="en-GB" dirty="0"/>
              <a:t>Code</a:t>
            </a:r>
            <a:endParaRPr lang="en-US" dirty="0"/>
          </a:p>
        </p:txBody>
      </p:sp>
      <p:sp>
        <p:nvSpPr>
          <p:cNvPr id="16" name="Rectangle 15">
            <a:extLst>
              <a:ext uri="{FF2B5EF4-FFF2-40B4-BE49-F238E27FC236}">
                <a16:creationId xmlns:a16="http://schemas.microsoft.com/office/drawing/2014/main" id="{7E6C38BE-8FE8-C559-14A2-48F36719D6A5}"/>
              </a:ext>
            </a:extLst>
          </p:cNvPr>
          <p:cNvSpPr/>
          <p:nvPr/>
        </p:nvSpPr>
        <p:spPr>
          <a:xfrm>
            <a:off x="2950485" y="3897180"/>
            <a:ext cx="726728" cy="86648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.class</a:t>
            </a:r>
            <a:endParaRPr lang="en-US" dirty="0"/>
          </a:p>
        </p:txBody>
      </p:sp>
      <p:cxnSp>
        <p:nvCxnSpPr>
          <p:cNvPr id="17" name="Straight Arrow Connector 16">
            <a:extLst>
              <a:ext uri="{FF2B5EF4-FFF2-40B4-BE49-F238E27FC236}">
                <a16:creationId xmlns:a16="http://schemas.microsoft.com/office/drawing/2014/main" id="{A62C31AD-5830-F2A4-C151-5B0B969B98A5}"/>
              </a:ext>
            </a:extLst>
          </p:cNvPr>
          <p:cNvCxnSpPr/>
          <p:nvPr/>
        </p:nvCxnSpPr>
        <p:spPr>
          <a:xfrm>
            <a:off x="1816470" y="4330422"/>
            <a:ext cx="87846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62B9F33B-C397-679D-704C-43C4EABBA414}"/>
              </a:ext>
            </a:extLst>
          </p:cNvPr>
          <p:cNvSpPr txBox="1"/>
          <p:nvPr/>
        </p:nvSpPr>
        <p:spPr>
          <a:xfrm>
            <a:off x="1721341" y="4032844"/>
            <a:ext cx="1072730" cy="261610"/>
          </a:xfrm>
          <a:prstGeom prst="rect">
            <a:avLst/>
          </a:prstGeom>
          <a:noFill/>
        </p:spPr>
        <p:txBody>
          <a:bodyPr wrap="none" rtlCol="0">
            <a:spAutoFit/>
          </a:bodyPr>
          <a:lstStyle/>
          <a:p>
            <a:r>
              <a:rPr lang="en-GB" sz="1100" dirty="0" err="1"/>
              <a:t>javac</a:t>
            </a:r>
            <a:r>
              <a:rPr lang="en-GB" sz="1100" dirty="0"/>
              <a:t> Hello.java</a:t>
            </a:r>
            <a:endParaRPr lang="en-US" sz="1100" dirty="0"/>
          </a:p>
        </p:txBody>
      </p:sp>
      <p:cxnSp>
        <p:nvCxnSpPr>
          <p:cNvPr id="19" name="Straight Arrow Connector 18">
            <a:extLst>
              <a:ext uri="{FF2B5EF4-FFF2-40B4-BE49-F238E27FC236}">
                <a16:creationId xmlns:a16="http://schemas.microsoft.com/office/drawing/2014/main" id="{95CDF69B-4B05-5732-6FCB-E888971DD7A1}"/>
              </a:ext>
            </a:extLst>
          </p:cNvPr>
          <p:cNvCxnSpPr>
            <a:cxnSpLocks/>
          </p:cNvCxnSpPr>
          <p:nvPr/>
        </p:nvCxnSpPr>
        <p:spPr>
          <a:xfrm>
            <a:off x="3885510" y="4330422"/>
            <a:ext cx="1342683" cy="106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F7C7B3BD-E343-3D3D-50F6-F8E9BB055675}"/>
              </a:ext>
            </a:extLst>
          </p:cNvPr>
          <p:cNvSpPr txBox="1"/>
          <p:nvPr/>
        </p:nvSpPr>
        <p:spPr>
          <a:xfrm>
            <a:off x="3933896" y="4032844"/>
            <a:ext cx="1258678" cy="261610"/>
          </a:xfrm>
          <a:prstGeom prst="rect">
            <a:avLst/>
          </a:prstGeom>
          <a:noFill/>
        </p:spPr>
        <p:txBody>
          <a:bodyPr wrap="none" rtlCol="0">
            <a:spAutoFit/>
          </a:bodyPr>
          <a:lstStyle/>
          <a:p>
            <a:r>
              <a:rPr lang="en-GB" sz="1100" dirty="0"/>
              <a:t>native-image Hello</a:t>
            </a:r>
            <a:endParaRPr lang="en-US" sz="1100" dirty="0"/>
          </a:p>
        </p:txBody>
      </p:sp>
      <p:sp>
        <p:nvSpPr>
          <p:cNvPr id="21" name="Rectangle 20">
            <a:extLst>
              <a:ext uri="{FF2B5EF4-FFF2-40B4-BE49-F238E27FC236}">
                <a16:creationId xmlns:a16="http://schemas.microsoft.com/office/drawing/2014/main" id="{A3130DE0-35D2-14A2-187F-1D2DE5064522}"/>
              </a:ext>
            </a:extLst>
          </p:cNvPr>
          <p:cNvSpPr/>
          <p:nvPr/>
        </p:nvSpPr>
        <p:spPr>
          <a:xfrm>
            <a:off x="5493617" y="3897180"/>
            <a:ext cx="1162300" cy="86648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err="1"/>
              <a:t>GraalVM</a:t>
            </a:r>
            <a:br>
              <a:rPr lang="en-GB" dirty="0"/>
            </a:br>
            <a:r>
              <a:rPr lang="en-GB" dirty="0"/>
              <a:t>AOT</a:t>
            </a:r>
            <a:endParaRPr lang="en-US" dirty="0"/>
          </a:p>
        </p:txBody>
      </p:sp>
      <p:cxnSp>
        <p:nvCxnSpPr>
          <p:cNvPr id="23" name="Straight Arrow Connector 22">
            <a:extLst>
              <a:ext uri="{FF2B5EF4-FFF2-40B4-BE49-F238E27FC236}">
                <a16:creationId xmlns:a16="http://schemas.microsoft.com/office/drawing/2014/main" id="{9475A339-5916-A34D-56F1-414EF6EBDE44}"/>
              </a:ext>
            </a:extLst>
          </p:cNvPr>
          <p:cNvCxnSpPr/>
          <p:nvPr/>
        </p:nvCxnSpPr>
        <p:spPr>
          <a:xfrm>
            <a:off x="6732862" y="4341070"/>
            <a:ext cx="87846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53DDC886-F357-1379-65FA-19D39ABD2D98}"/>
              </a:ext>
            </a:extLst>
          </p:cNvPr>
          <p:cNvSpPr/>
          <p:nvPr/>
        </p:nvSpPr>
        <p:spPr>
          <a:xfrm>
            <a:off x="7806894" y="4145412"/>
            <a:ext cx="2579040" cy="3913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Native executable code</a:t>
            </a:r>
            <a:endParaRPr lang="en-US" dirty="0"/>
          </a:p>
        </p:txBody>
      </p:sp>
      <p:cxnSp>
        <p:nvCxnSpPr>
          <p:cNvPr id="26" name="Straight Arrow Connector 25">
            <a:extLst>
              <a:ext uri="{FF2B5EF4-FFF2-40B4-BE49-F238E27FC236}">
                <a16:creationId xmlns:a16="http://schemas.microsoft.com/office/drawing/2014/main" id="{F718A6E0-15E0-F6F9-B291-D9F18636CCF7}"/>
              </a:ext>
            </a:extLst>
          </p:cNvPr>
          <p:cNvCxnSpPr>
            <a:cxnSpLocks/>
          </p:cNvCxnSpPr>
          <p:nvPr/>
        </p:nvCxnSpPr>
        <p:spPr>
          <a:xfrm>
            <a:off x="10594124" y="4331752"/>
            <a:ext cx="35070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084A9D3F-EB3F-57E9-5E3A-FE6E78294F96}"/>
              </a:ext>
            </a:extLst>
          </p:cNvPr>
          <p:cNvSpPr/>
          <p:nvPr/>
        </p:nvSpPr>
        <p:spPr>
          <a:xfrm>
            <a:off x="11128511" y="4134764"/>
            <a:ext cx="951478" cy="3913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Output</a:t>
            </a:r>
            <a:endParaRPr lang="en-US" dirty="0"/>
          </a:p>
        </p:txBody>
      </p:sp>
      <p:sp>
        <p:nvSpPr>
          <p:cNvPr id="29" name="TextBox 28">
            <a:extLst>
              <a:ext uri="{FF2B5EF4-FFF2-40B4-BE49-F238E27FC236}">
                <a16:creationId xmlns:a16="http://schemas.microsoft.com/office/drawing/2014/main" id="{CA4DCFB1-C992-7A3D-D067-7113F1745A41}"/>
              </a:ext>
            </a:extLst>
          </p:cNvPr>
          <p:cNvSpPr txBox="1"/>
          <p:nvPr/>
        </p:nvSpPr>
        <p:spPr>
          <a:xfrm>
            <a:off x="10456765" y="4034778"/>
            <a:ext cx="556563" cy="261610"/>
          </a:xfrm>
          <a:prstGeom prst="rect">
            <a:avLst/>
          </a:prstGeom>
          <a:noFill/>
        </p:spPr>
        <p:txBody>
          <a:bodyPr wrap="none" rtlCol="0">
            <a:spAutoFit/>
          </a:bodyPr>
          <a:lstStyle/>
          <a:p>
            <a:r>
              <a:rPr lang="en-GB" sz="1100" dirty="0"/>
              <a:t>./hello</a:t>
            </a:r>
            <a:endParaRPr lang="en-US" sz="1100" dirty="0"/>
          </a:p>
        </p:txBody>
      </p:sp>
      <p:sp>
        <p:nvSpPr>
          <p:cNvPr id="30" name="TextBox 29">
            <a:extLst>
              <a:ext uri="{FF2B5EF4-FFF2-40B4-BE49-F238E27FC236}">
                <a16:creationId xmlns:a16="http://schemas.microsoft.com/office/drawing/2014/main" id="{18C9170E-8AB7-8A8A-C8E2-1D19EBDECB91}"/>
              </a:ext>
            </a:extLst>
          </p:cNvPr>
          <p:cNvSpPr txBox="1"/>
          <p:nvPr/>
        </p:nvSpPr>
        <p:spPr>
          <a:xfrm>
            <a:off x="791831" y="1506022"/>
            <a:ext cx="1024639" cy="369332"/>
          </a:xfrm>
          <a:prstGeom prst="rect">
            <a:avLst/>
          </a:prstGeom>
          <a:noFill/>
        </p:spPr>
        <p:txBody>
          <a:bodyPr wrap="none" rtlCol="0">
            <a:spAutoFit/>
          </a:bodyPr>
          <a:lstStyle/>
          <a:p>
            <a:r>
              <a:rPr lang="en-GB" dirty="0"/>
              <a:t>JIT mode</a:t>
            </a:r>
            <a:endParaRPr lang="en-US" dirty="0"/>
          </a:p>
        </p:txBody>
      </p:sp>
      <p:sp>
        <p:nvSpPr>
          <p:cNvPr id="31" name="TextBox 30">
            <a:extLst>
              <a:ext uri="{FF2B5EF4-FFF2-40B4-BE49-F238E27FC236}">
                <a16:creationId xmlns:a16="http://schemas.microsoft.com/office/drawing/2014/main" id="{A913AE7B-9B0E-85F7-9B93-9A9248AED2B7}"/>
              </a:ext>
            </a:extLst>
          </p:cNvPr>
          <p:cNvSpPr txBox="1"/>
          <p:nvPr/>
        </p:nvSpPr>
        <p:spPr>
          <a:xfrm>
            <a:off x="838200" y="3374338"/>
            <a:ext cx="1169744" cy="369332"/>
          </a:xfrm>
          <a:prstGeom prst="rect">
            <a:avLst/>
          </a:prstGeom>
          <a:noFill/>
        </p:spPr>
        <p:txBody>
          <a:bodyPr wrap="none" rtlCol="0">
            <a:spAutoFit/>
          </a:bodyPr>
          <a:lstStyle/>
          <a:p>
            <a:r>
              <a:rPr lang="en-GB" dirty="0"/>
              <a:t>AOT mode</a:t>
            </a:r>
            <a:endParaRPr lang="en-US" dirty="0"/>
          </a:p>
        </p:txBody>
      </p:sp>
      <p:sp>
        <p:nvSpPr>
          <p:cNvPr id="32" name="TextBox 31">
            <a:extLst>
              <a:ext uri="{FF2B5EF4-FFF2-40B4-BE49-F238E27FC236}">
                <a16:creationId xmlns:a16="http://schemas.microsoft.com/office/drawing/2014/main" id="{16A4FE0E-00F7-7053-6095-31D396232EF1}"/>
              </a:ext>
            </a:extLst>
          </p:cNvPr>
          <p:cNvSpPr txBox="1"/>
          <p:nvPr/>
        </p:nvSpPr>
        <p:spPr>
          <a:xfrm>
            <a:off x="838200" y="5322686"/>
            <a:ext cx="11408636" cy="923330"/>
          </a:xfrm>
          <a:prstGeom prst="rect">
            <a:avLst/>
          </a:prstGeom>
          <a:noFill/>
        </p:spPr>
        <p:txBody>
          <a:bodyPr wrap="none" rtlCol="0">
            <a:spAutoFit/>
          </a:bodyPr>
          <a:lstStyle/>
          <a:p>
            <a:r>
              <a:rPr lang="en-GB" dirty="0" err="1"/>
              <a:t>GraalVM</a:t>
            </a:r>
            <a:r>
              <a:rPr lang="en-GB" dirty="0"/>
              <a:t> includes a Native utility to compile applications ahead-of-time(AOT) into native executables. The executables</a:t>
            </a:r>
          </a:p>
          <a:p>
            <a:r>
              <a:rPr lang="en-GB" dirty="0"/>
              <a:t>are smaller, start nearly instantaneously, and consume a fraction of the compute resources needed to run the same java</a:t>
            </a:r>
          </a:p>
          <a:p>
            <a:r>
              <a:rPr lang="en-GB" dirty="0"/>
              <a:t>application on a Java Virtual Machine. It makes </a:t>
            </a:r>
            <a:r>
              <a:rPr lang="en-GB" dirty="0" err="1"/>
              <a:t>GraalVM</a:t>
            </a:r>
            <a:r>
              <a:rPr lang="en-GB" dirty="0"/>
              <a:t> ideal for cloud deployments and microservices. </a:t>
            </a:r>
            <a:endParaRPr lang="en-US" dirty="0"/>
          </a:p>
        </p:txBody>
      </p:sp>
    </p:spTree>
    <p:extLst>
      <p:ext uri="{BB962C8B-B14F-4D97-AF65-F5344CB8AC3E}">
        <p14:creationId xmlns:p14="http://schemas.microsoft.com/office/powerpoint/2010/main" val="4214258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5"/>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7"/>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8"/>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6"/>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9"/>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20"/>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21"/>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23"/>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25"/>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26"/>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29"/>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27"/>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p:bldP spid="9" grpId="0"/>
      <p:bldP spid="10" grpId="0" animBg="1"/>
      <p:bldP spid="12" grpId="0"/>
      <p:bldP spid="13" grpId="0" animBg="1"/>
      <p:bldP spid="15" grpId="0" animBg="1"/>
      <p:bldP spid="16" grpId="0" animBg="1"/>
      <p:bldP spid="18" grpId="0"/>
      <p:bldP spid="20" grpId="0"/>
      <p:bldP spid="21" grpId="0" animBg="1"/>
      <p:bldP spid="25" grpId="0" animBg="1"/>
      <p:bldP spid="27" grpId="0" animBg="1"/>
      <p:bldP spid="29" grpId="0"/>
      <p:bldP spid="30" grpId="0"/>
      <p:bldP spid="31" grpId="0"/>
      <p:bldP spid="32" grpId="0"/>
    </p:bld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0DAD0-DD97-3D97-09C5-587D8BFA57BE}"/>
              </a:ext>
            </a:extLst>
          </p:cNvPr>
          <p:cNvSpPr>
            <a:spLocks noGrp="1"/>
          </p:cNvSpPr>
          <p:nvPr>
            <p:ph type="title"/>
          </p:nvPr>
        </p:nvSpPr>
        <p:spPr/>
        <p:txBody>
          <a:bodyPr/>
          <a:lstStyle/>
          <a:p>
            <a:r>
              <a:rPr lang="en-GB" dirty="0" err="1"/>
              <a:t>GraalVM</a:t>
            </a:r>
            <a:r>
              <a:rPr lang="en-GB" dirty="0"/>
              <a:t> : HelloWorld Demo</a:t>
            </a:r>
            <a:endParaRPr lang="en-US" dirty="0"/>
          </a:p>
        </p:txBody>
      </p:sp>
      <p:pic>
        <p:nvPicPr>
          <p:cNvPr id="5" name="Content Placeholder 4">
            <a:extLst>
              <a:ext uri="{FF2B5EF4-FFF2-40B4-BE49-F238E27FC236}">
                <a16:creationId xmlns:a16="http://schemas.microsoft.com/office/drawing/2014/main" id="{DCBCA5D6-BA4A-EF7E-5AC6-A732AACEA663}"/>
              </a:ext>
            </a:extLst>
          </p:cNvPr>
          <p:cNvPicPr>
            <a:picLocks noGrp="1" noChangeAspect="1"/>
          </p:cNvPicPr>
          <p:nvPr>
            <p:ph idx="1"/>
          </p:nvPr>
        </p:nvPicPr>
        <p:blipFill>
          <a:blip r:embed="rId2"/>
          <a:stretch>
            <a:fillRect/>
          </a:stretch>
        </p:blipFill>
        <p:spPr>
          <a:xfrm>
            <a:off x="3109495" y="2167475"/>
            <a:ext cx="5973009" cy="3667637"/>
          </a:xfrm>
        </p:spPr>
      </p:pic>
    </p:spTree>
    <p:extLst>
      <p:ext uri="{BB962C8B-B14F-4D97-AF65-F5344CB8AC3E}">
        <p14:creationId xmlns:p14="http://schemas.microsoft.com/office/powerpoint/2010/main" val="513554590"/>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11FA1266-FE12-8A2E-A5AF-717F82E6E719}"/>
              </a:ext>
            </a:extLst>
          </p:cNvPr>
          <p:cNvSpPr/>
          <p:nvPr/>
        </p:nvSpPr>
        <p:spPr>
          <a:xfrm>
            <a:off x="1078114" y="2723235"/>
            <a:ext cx="1521338" cy="189667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32D4689-F4C8-5881-F7BD-0587C300067F}"/>
              </a:ext>
            </a:extLst>
          </p:cNvPr>
          <p:cNvSpPr>
            <a:spLocks noGrp="1"/>
          </p:cNvSpPr>
          <p:nvPr>
            <p:ph type="title"/>
          </p:nvPr>
        </p:nvSpPr>
        <p:spPr/>
        <p:txBody>
          <a:bodyPr/>
          <a:lstStyle/>
          <a:p>
            <a:r>
              <a:rPr lang="en-IN" dirty="0"/>
              <a:t>What happens in </a:t>
            </a:r>
            <a:r>
              <a:rPr lang="en-IN" dirty="0" err="1"/>
              <a:t>GraalVM</a:t>
            </a:r>
            <a:r>
              <a:rPr lang="en-IN" dirty="0"/>
              <a:t> AOT mode?</a:t>
            </a:r>
            <a:endParaRPr lang="en-US" dirty="0"/>
          </a:p>
        </p:txBody>
      </p:sp>
      <p:sp>
        <p:nvSpPr>
          <p:cNvPr id="5" name="Rectangle 4">
            <a:extLst>
              <a:ext uri="{FF2B5EF4-FFF2-40B4-BE49-F238E27FC236}">
                <a16:creationId xmlns:a16="http://schemas.microsoft.com/office/drawing/2014/main" id="{074D40A4-74CC-6C76-038D-566861213302}"/>
              </a:ext>
            </a:extLst>
          </p:cNvPr>
          <p:cNvSpPr/>
          <p:nvPr/>
        </p:nvSpPr>
        <p:spPr>
          <a:xfrm>
            <a:off x="1189918" y="2823060"/>
            <a:ext cx="1289743" cy="3114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dirty="0"/>
              <a:t>Application classes</a:t>
            </a:r>
            <a:endParaRPr lang="en-US" sz="1100" dirty="0"/>
          </a:p>
        </p:txBody>
      </p:sp>
      <p:sp>
        <p:nvSpPr>
          <p:cNvPr id="6" name="Rectangle 5">
            <a:extLst>
              <a:ext uri="{FF2B5EF4-FFF2-40B4-BE49-F238E27FC236}">
                <a16:creationId xmlns:a16="http://schemas.microsoft.com/office/drawing/2014/main" id="{CE8A432C-DD0E-160C-C49D-FA6DD8B780F0}"/>
              </a:ext>
            </a:extLst>
          </p:cNvPr>
          <p:cNvSpPr/>
          <p:nvPr/>
        </p:nvSpPr>
        <p:spPr>
          <a:xfrm>
            <a:off x="1189918" y="3266285"/>
            <a:ext cx="1289743" cy="3114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dirty="0"/>
              <a:t>Libraries</a:t>
            </a:r>
            <a:endParaRPr lang="en-US" sz="1100" dirty="0"/>
          </a:p>
        </p:txBody>
      </p:sp>
      <p:sp>
        <p:nvSpPr>
          <p:cNvPr id="7" name="Rectangle 6">
            <a:extLst>
              <a:ext uri="{FF2B5EF4-FFF2-40B4-BE49-F238E27FC236}">
                <a16:creationId xmlns:a16="http://schemas.microsoft.com/office/drawing/2014/main" id="{65B099BF-C360-2970-BDA7-FA53B305B5CE}"/>
              </a:ext>
            </a:extLst>
          </p:cNvPr>
          <p:cNvSpPr/>
          <p:nvPr/>
        </p:nvSpPr>
        <p:spPr>
          <a:xfrm>
            <a:off x="1189918" y="3709510"/>
            <a:ext cx="1289743" cy="3114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dirty="0"/>
              <a:t>JDK</a:t>
            </a:r>
            <a:endParaRPr lang="en-US" sz="1100" dirty="0"/>
          </a:p>
        </p:txBody>
      </p:sp>
      <p:sp>
        <p:nvSpPr>
          <p:cNvPr id="8" name="Rectangle 7">
            <a:extLst>
              <a:ext uri="{FF2B5EF4-FFF2-40B4-BE49-F238E27FC236}">
                <a16:creationId xmlns:a16="http://schemas.microsoft.com/office/drawing/2014/main" id="{CF957C48-7142-624F-D302-D9D9C6600AE8}"/>
              </a:ext>
            </a:extLst>
          </p:cNvPr>
          <p:cNvSpPr/>
          <p:nvPr/>
        </p:nvSpPr>
        <p:spPr>
          <a:xfrm>
            <a:off x="1189918" y="4152735"/>
            <a:ext cx="1289743" cy="3114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dirty="0"/>
              <a:t>Substrate VM</a:t>
            </a:r>
            <a:endParaRPr lang="en-US" sz="1100" dirty="0"/>
          </a:p>
        </p:txBody>
      </p:sp>
      <p:sp>
        <p:nvSpPr>
          <p:cNvPr id="9" name="TextBox 8">
            <a:extLst>
              <a:ext uri="{FF2B5EF4-FFF2-40B4-BE49-F238E27FC236}">
                <a16:creationId xmlns:a16="http://schemas.microsoft.com/office/drawing/2014/main" id="{C9399CC7-DBCE-8A2F-6842-50E1417356D1}"/>
              </a:ext>
            </a:extLst>
          </p:cNvPr>
          <p:cNvSpPr txBox="1"/>
          <p:nvPr/>
        </p:nvSpPr>
        <p:spPr>
          <a:xfrm>
            <a:off x="2641384" y="3393992"/>
            <a:ext cx="930063" cy="261610"/>
          </a:xfrm>
          <a:prstGeom prst="rect">
            <a:avLst/>
          </a:prstGeom>
          <a:noFill/>
        </p:spPr>
        <p:txBody>
          <a:bodyPr wrap="none" rtlCol="0">
            <a:spAutoFit/>
          </a:bodyPr>
          <a:lstStyle/>
          <a:p>
            <a:r>
              <a:rPr lang="en-GB" sz="1100" dirty="0"/>
              <a:t>native-image</a:t>
            </a:r>
            <a:endParaRPr lang="en-US" sz="1100" dirty="0"/>
          </a:p>
        </p:txBody>
      </p:sp>
      <p:cxnSp>
        <p:nvCxnSpPr>
          <p:cNvPr id="10" name="Straight Arrow Connector 9">
            <a:extLst>
              <a:ext uri="{FF2B5EF4-FFF2-40B4-BE49-F238E27FC236}">
                <a16:creationId xmlns:a16="http://schemas.microsoft.com/office/drawing/2014/main" id="{94D09B14-29E6-F697-55C0-5E0AD808C638}"/>
              </a:ext>
            </a:extLst>
          </p:cNvPr>
          <p:cNvCxnSpPr/>
          <p:nvPr/>
        </p:nvCxnSpPr>
        <p:spPr>
          <a:xfrm>
            <a:off x="2696875" y="3709509"/>
            <a:ext cx="87846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60AC9181-A583-6C04-793E-A240001B6284}"/>
              </a:ext>
            </a:extLst>
          </p:cNvPr>
          <p:cNvSpPr/>
          <p:nvPr/>
        </p:nvSpPr>
        <p:spPr>
          <a:xfrm>
            <a:off x="3708625" y="1982531"/>
            <a:ext cx="3757426" cy="34539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dirty="0"/>
              <a:t>Iterative static analysis of the code will be done</a:t>
            </a:r>
          </a:p>
          <a:p>
            <a:pPr algn="ctr"/>
            <a:r>
              <a:rPr lang="en-IN" sz="1400" dirty="0"/>
              <a:t>by </a:t>
            </a:r>
            <a:r>
              <a:rPr lang="en-IN" sz="1400" dirty="0" err="1"/>
              <a:t>GraalVM</a:t>
            </a:r>
            <a:r>
              <a:rPr lang="en-IN" sz="1400" dirty="0"/>
              <a:t> until fixed point reached.</a:t>
            </a:r>
          </a:p>
          <a:p>
            <a:pPr algn="ctr"/>
            <a:endParaRPr lang="en-IN" sz="1400" dirty="0"/>
          </a:p>
          <a:p>
            <a:pPr algn="ctr"/>
            <a:r>
              <a:rPr lang="en-IN" sz="1400" dirty="0" err="1"/>
              <a:t>GraalVM</a:t>
            </a:r>
            <a:r>
              <a:rPr lang="en-IN" sz="1400" dirty="0"/>
              <a:t> scans all the reachable classes, method etc. Any unused code will be ignored</a:t>
            </a:r>
          </a:p>
          <a:p>
            <a:pPr algn="ctr"/>
            <a:endParaRPr lang="en-IN" sz="1400" dirty="0"/>
          </a:p>
          <a:p>
            <a:pPr algn="ctr"/>
            <a:r>
              <a:rPr lang="en-IN" sz="1400" dirty="0"/>
              <a:t>Any dynamic code invoked with </a:t>
            </a:r>
            <a:r>
              <a:rPr lang="en-IN" sz="1400" dirty="0" err="1"/>
              <a:t>reflection,JNI</a:t>
            </a:r>
            <a:r>
              <a:rPr lang="en-IN" sz="1400" dirty="0"/>
              <a:t>, Dynamic proxy etc can’t analysed by </a:t>
            </a:r>
            <a:r>
              <a:rPr lang="en-IN" sz="1400" dirty="0" err="1"/>
              <a:t>GraalVM</a:t>
            </a:r>
            <a:r>
              <a:rPr lang="en-IN" sz="1400" dirty="0"/>
              <a:t> since it performs static analysis. To overcome this, we need to provide Reachability Metadata to </a:t>
            </a:r>
            <a:r>
              <a:rPr lang="en-IN" sz="1400" dirty="0" err="1"/>
              <a:t>GraalVM</a:t>
            </a:r>
            <a:endParaRPr lang="en-US" sz="1400" dirty="0"/>
          </a:p>
        </p:txBody>
      </p:sp>
      <p:sp>
        <p:nvSpPr>
          <p:cNvPr id="12" name="TextBox 11">
            <a:extLst>
              <a:ext uri="{FF2B5EF4-FFF2-40B4-BE49-F238E27FC236}">
                <a16:creationId xmlns:a16="http://schemas.microsoft.com/office/drawing/2014/main" id="{6DD5A1D4-4F0A-93B6-6F2C-44F483923244}"/>
              </a:ext>
            </a:extLst>
          </p:cNvPr>
          <p:cNvSpPr txBox="1"/>
          <p:nvPr/>
        </p:nvSpPr>
        <p:spPr>
          <a:xfrm>
            <a:off x="7596143" y="3266285"/>
            <a:ext cx="1016625" cy="430887"/>
          </a:xfrm>
          <a:prstGeom prst="rect">
            <a:avLst/>
          </a:prstGeom>
          <a:noFill/>
        </p:spPr>
        <p:txBody>
          <a:bodyPr wrap="none" rtlCol="0">
            <a:spAutoFit/>
          </a:bodyPr>
          <a:lstStyle/>
          <a:p>
            <a:r>
              <a:rPr lang="en-GB" sz="1100" dirty="0"/>
              <a:t>Ahead-of-time</a:t>
            </a:r>
          </a:p>
          <a:p>
            <a:r>
              <a:rPr lang="en-GB" sz="1100" dirty="0"/>
              <a:t>compilation</a:t>
            </a:r>
            <a:endParaRPr lang="en-US" sz="1100" dirty="0"/>
          </a:p>
        </p:txBody>
      </p:sp>
      <p:cxnSp>
        <p:nvCxnSpPr>
          <p:cNvPr id="13" name="Straight Arrow Connector 12">
            <a:extLst>
              <a:ext uri="{FF2B5EF4-FFF2-40B4-BE49-F238E27FC236}">
                <a16:creationId xmlns:a16="http://schemas.microsoft.com/office/drawing/2014/main" id="{94F9847A-98F5-0872-BD86-A748B386216D}"/>
              </a:ext>
            </a:extLst>
          </p:cNvPr>
          <p:cNvCxnSpPr/>
          <p:nvPr/>
        </p:nvCxnSpPr>
        <p:spPr>
          <a:xfrm>
            <a:off x="7665225" y="3709510"/>
            <a:ext cx="87846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35DE7727-C897-FCDF-F865-197F59C05D07}"/>
              </a:ext>
            </a:extLst>
          </p:cNvPr>
          <p:cNvSpPr/>
          <p:nvPr/>
        </p:nvSpPr>
        <p:spPr>
          <a:xfrm>
            <a:off x="8656180" y="3416111"/>
            <a:ext cx="1333668" cy="47898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dirty="0"/>
              <a:t>Native executable code</a:t>
            </a:r>
            <a:endParaRPr lang="en-US" sz="1200" dirty="0"/>
          </a:p>
        </p:txBody>
      </p:sp>
      <p:cxnSp>
        <p:nvCxnSpPr>
          <p:cNvPr id="18" name="Straight Arrow Connector 17">
            <a:extLst>
              <a:ext uri="{FF2B5EF4-FFF2-40B4-BE49-F238E27FC236}">
                <a16:creationId xmlns:a16="http://schemas.microsoft.com/office/drawing/2014/main" id="{90712023-31A2-9ECC-8A54-DE5AFEF1D1D9}"/>
              </a:ext>
            </a:extLst>
          </p:cNvPr>
          <p:cNvCxnSpPr>
            <a:cxnSpLocks/>
          </p:cNvCxnSpPr>
          <p:nvPr/>
        </p:nvCxnSpPr>
        <p:spPr>
          <a:xfrm>
            <a:off x="10102340" y="3706181"/>
            <a:ext cx="491835" cy="33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8FD08136-F05F-932F-87AB-FD3A1AA90DB0}"/>
              </a:ext>
            </a:extLst>
          </p:cNvPr>
          <p:cNvSpPr/>
          <p:nvPr/>
        </p:nvSpPr>
        <p:spPr>
          <a:xfrm>
            <a:off x="10706667" y="3432083"/>
            <a:ext cx="742036" cy="47898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200" dirty="0"/>
              <a:t>Output</a:t>
            </a:r>
            <a:endParaRPr lang="en-US" sz="1200" dirty="0"/>
          </a:p>
        </p:txBody>
      </p:sp>
    </p:spTree>
    <p:extLst>
      <p:ext uri="{BB962C8B-B14F-4D97-AF65-F5344CB8AC3E}">
        <p14:creationId xmlns:p14="http://schemas.microsoft.com/office/powerpoint/2010/main" val="27388502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8"/>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5" grpId="0" animBg="1"/>
      <p:bldP spid="6" grpId="0" animBg="1"/>
      <p:bldP spid="7" grpId="0" animBg="1"/>
      <p:bldP spid="8" grpId="0" animBg="1"/>
      <p:bldP spid="9" grpId="0"/>
      <p:bldP spid="11" grpId="0" animBg="1"/>
      <p:bldP spid="12" grpId="0"/>
      <p:bldP spid="15" grpId="0" animBg="1"/>
      <p:bldP spid="20" grpId="0" animBg="1"/>
    </p:bld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90C77-2123-5804-63D8-A79FB7EFDAFB}"/>
              </a:ext>
            </a:extLst>
          </p:cNvPr>
          <p:cNvSpPr>
            <a:spLocks noGrp="1"/>
          </p:cNvSpPr>
          <p:nvPr>
            <p:ph type="title"/>
          </p:nvPr>
        </p:nvSpPr>
        <p:spPr/>
        <p:txBody>
          <a:bodyPr/>
          <a:lstStyle/>
          <a:p>
            <a:r>
              <a:rPr lang="en-IN" dirty="0"/>
              <a:t>Advantages </a:t>
            </a:r>
            <a:r>
              <a:rPr lang="en-IN" dirty="0" err="1"/>
              <a:t>ofGraalVM</a:t>
            </a:r>
            <a:endParaRPr lang="en-US" dirty="0"/>
          </a:p>
        </p:txBody>
      </p:sp>
      <p:sp>
        <p:nvSpPr>
          <p:cNvPr id="3" name="Content Placeholder 2">
            <a:extLst>
              <a:ext uri="{FF2B5EF4-FFF2-40B4-BE49-F238E27FC236}">
                <a16:creationId xmlns:a16="http://schemas.microsoft.com/office/drawing/2014/main" id="{CAC174BE-1D32-9991-60DF-002B96A14ED9}"/>
              </a:ext>
            </a:extLst>
          </p:cNvPr>
          <p:cNvSpPr>
            <a:spLocks noGrp="1"/>
          </p:cNvSpPr>
          <p:nvPr>
            <p:ph idx="1"/>
          </p:nvPr>
        </p:nvSpPr>
        <p:spPr/>
        <p:txBody>
          <a:bodyPr>
            <a:noAutofit/>
          </a:bodyPr>
          <a:lstStyle/>
          <a:p>
            <a:r>
              <a:rPr lang="en-IN" sz="2400" dirty="0"/>
              <a:t>Apps start instantly</a:t>
            </a:r>
          </a:p>
          <a:p>
            <a:pPr lvl="1"/>
            <a:r>
              <a:rPr lang="en-IN" sz="2000" dirty="0"/>
              <a:t>JIT – Normal Just In Time Compilation</a:t>
            </a:r>
          </a:p>
          <a:p>
            <a:pPr lvl="2"/>
            <a:r>
              <a:rPr lang="en-IN" sz="1800" dirty="0"/>
              <a:t>Load JAR files from disk</a:t>
            </a:r>
          </a:p>
          <a:p>
            <a:pPr lvl="2"/>
            <a:r>
              <a:rPr lang="en-IN" sz="1800" dirty="0"/>
              <a:t>Extract class files</a:t>
            </a:r>
          </a:p>
          <a:p>
            <a:pPr lvl="2"/>
            <a:r>
              <a:rPr lang="en-IN" sz="1800" dirty="0"/>
              <a:t>Verify class definitions</a:t>
            </a:r>
          </a:p>
          <a:p>
            <a:pPr lvl="2"/>
            <a:r>
              <a:rPr lang="en-IN" sz="1800" dirty="0"/>
              <a:t>Interpreter logic</a:t>
            </a:r>
          </a:p>
          <a:p>
            <a:pPr lvl="2"/>
            <a:r>
              <a:rPr lang="en-IN" sz="1800" dirty="0"/>
              <a:t>Profiling</a:t>
            </a:r>
          </a:p>
          <a:p>
            <a:pPr lvl="2"/>
            <a:r>
              <a:rPr lang="en-IN" sz="1800" dirty="0"/>
              <a:t>Compile to machine code</a:t>
            </a:r>
          </a:p>
          <a:p>
            <a:pPr lvl="2"/>
            <a:r>
              <a:rPr lang="en-IN" sz="1800" dirty="0"/>
              <a:t>Initiate the start process with full speed</a:t>
            </a:r>
          </a:p>
          <a:p>
            <a:pPr lvl="1"/>
            <a:r>
              <a:rPr lang="en-US" sz="2000" dirty="0"/>
              <a:t>AOT – Ahead Of Time Compilation</a:t>
            </a:r>
          </a:p>
          <a:p>
            <a:pPr lvl="2"/>
            <a:r>
              <a:rPr lang="en-US" sz="1800" dirty="0"/>
              <a:t>Load native executable code from disk</a:t>
            </a:r>
          </a:p>
          <a:p>
            <a:pPr lvl="2"/>
            <a:r>
              <a:rPr lang="en-IN" sz="1800" dirty="0"/>
              <a:t>Initiate the start process with full speed</a:t>
            </a:r>
            <a:endParaRPr lang="en-US" sz="1800" dirty="0"/>
          </a:p>
          <a:p>
            <a:r>
              <a:rPr lang="en-IN" sz="2400" dirty="0"/>
              <a:t>Since the number of steps with </a:t>
            </a:r>
            <a:r>
              <a:rPr lang="en-IN" sz="2400" dirty="0" err="1"/>
              <a:t>GraalVM</a:t>
            </a:r>
            <a:r>
              <a:rPr lang="en-IN" sz="2400" dirty="0"/>
              <a:t> is less and code is ready for execution in native format, the start time will be less compared to traditional JDK</a:t>
            </a:r>
          </a:p>
        </p:txBody>
      </p:sp>
    </p:spTree>
    <p:extLst>
      <p:ext uri="{BB962C8B-B14F-4D97-AF65-F5344CB8AC3E}">
        <p14:creationId xmlns:p14="http://schemas.microsoft.com/office/powerpoint/2010/main" val="4131709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A582D1-C901-1C4F-9D78-F071591E9B7D}"/>
              </a:ext>
            </a:extLst>
          </p:cNvPr>
          <p:cNvSpPr>
            <a:spLocks noGrp="1"/>
          </p:cNvSpPr>
          <p:nvPr>
            <p:ph type="title"/>
          </p:nvPr>
        </p:nvSpPr>
        <p:spPr/>
        <p:txBody>
          <a:bodyPr/>
          <a:lstStyle/>
          <a:p>
            <a:r>
              <a:rPr lang="en-IN" dirty="0"/>
              <a:t>Advantages </a:t>
            </a:r>
            <a:r>
              <a:rPr lang="en-IN" dirty="0" err="1"/>
              <a:t>ofGraalVM</a:t>
            </a:r>
            <a:endParaRPr lang="en-US" dirty="0"/>
          </a:p>
        </p:txBody>
      </p:sp>
      <p:sp>
        <p:nvSpPr>
          <p:cNvPr id="3" name="Content Placeholder 2">
            <a:extLst>
              <a:ext uri="{FF2B5EF4-FFF2-40B4-BE49-F238E27FC236}">
                <a16:creationId xmlns:a16="http://schemas.microsoft.com/office/drawing/2014/main" id="{1DF641B8-13FD-4D0B-F093-D046EF18625C}"/>
              </a:ext>
            </a:extLst>
          </p:cNvPr>
          <p:cNvSpPr>
            <a:spLocks noGrp="1"/>
          </p:cNvSpPr>
          <p:nvPr>
            <p:ph idx="1"/>
          </p:nvPr>
        </p:nvSpPr>
        <p:spPr/>
        <p:txBody>
          <a:bodyPr/>
          <a:lstStyle/>
          <a:p>
            <a:r>
              <a:rPr lang="en-IN" dirty="0"/>
              <a:t>Low memory consumption </a:t>
            </a:r>
          </a:p>
          <a:p>
            <a:pPr lvl="1"/>
            <a:r>
              <a:rPr lang="en-IN" dirty="0"/>
              <a:t>Save Cloud Bill</a:t>
            </a:r>
          </a:p>
          <a:p>
            <a:r>
              <a:rPr lang="en-IN" dirty="0"/>
              <a:t>Compact packaging</a:t>
            </a:r>
          </a:p>
          <a:p>
            <a:pPr lvl="1"/>
            <a:r>
              <a:rPr lang="en-IN" dirty="0"/>
              <a:t>Save Cloud Bill</a:t>
            </a:r>
          </a:p>
          <a:p>
            <a:r>
              <a:rPr lang="en-US" dirty="0"/>
              <a:t>Reduced Attack Surface</a:t>
            </a:r>
          </a:p>
          <a:p>
            <a:pPr lvl="1"/>
            <a:r>
              <a:rPr lang="en-US" dirty="0"/>
              <a:t>Only code reachable by the application are included in the image and no new code can be loaded at runtime.</a:t>
            </a:r>
          </a:p>
          <a:p>
            <a:pPr lvl="1"/>
            <a:r>
              <a:rPr lang="en-US" dirty="0"/>
              <a:t>Reflection, Deserialization </a:t>
            </a:r>
            <a:r>
              <a:rPr lang="en-US" dirty="0" err="1"/>
              <a:t>etc</a:t>
            </a:r>
            <a:r>
              <a:rPr lang="en-US" dirty="0"/>
              <a:t> are disabled and require explicit reachability metadata configuration</a:t>
            </a:r>
          </a:p>
          <a:p>
            <a:r>
              <a:rPr lang="en-US" dirty="0"/>
              <a:t>Polyglot support</a:t>
            </a:r>
          </a:p>
          <a:p>
            <a:pPr lvl="1"/>
            <a:endParaRPr lang="en-US" dirty="0"/>
          </a:p>
        </p:txBody>
      </p:sp>
    </p:spTree>
    <p:extLst>
      <p:ext uri="{BB962C8B-B14F-4D97-AF65-F5344CB8AC3E}">
        <p14:creationId xmlns:p14="http://schemas.microsoft.com/office/powerpoint/2010/main" val="2455136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BCF3D-487B-ED42-74BB-9AF8E1F4AD06}"/>
              </a:ext>
            </a:extLst>
          </p:cNvPr>
          <p:cNvSpPr>
            <a:spLocks noGrp="1"/>
          </p:cNvSpPr>
          <p:nvPr>
            <p:ph type="title"/>
          </p:nvPr>
        </p:nvSpPr>
        <p:spPr/>
        <p:txBody>
          <a:bodyPr/>
          <a:lstStyle/>
          <a:p>
            <a:r>
              <a:rPr lang="en-IN" dirty="0"/>
              <a:t>Limitation of </a:t>
            </a:r>
            <a:r>
              <a:rPr lang="en-IN" dirty="0" err="1"/>
              <a:t>GraalVM</a:t>
            </a:r>
            <a:endParaRPr lang="en-US" dirty="0"/>
          </a:p>
        </p:txBody>
      </p:sp>
      <p:sp>
        <p:nvSpPr>
          <p:cNvPr id="3" name="Content Placeholder 2">
            <a:extLst>
              <a:ext uri="{FF2B5EF4-FFF2-40B4-BE49-F238E27FC236}">
                <a16:creationId xmlns:a16="http://schemas.microsoft.com/office/drawing/2014/main" id="{B29B90B1-F213-4653-2FB9-22150D57A031}"/>
              </a:ext>
            </a:extLst>
          </p:cNvPr>
          <p:cNvSpPr>
            <a:spLocks noGrp="1"/>
          </p:cNvSpPr>
          <p:nvPr>
            <p:ph idx="1"/>
          </p:nvPr>
        </p:nvSpPr>
        <p:spPr/>
        <p:txBody>
          <a:bodyPr>
            <a:noAutofit/>
          </a:bodyPr>
          <a:lstStyle/>
          <a:p>
            <a:r>
              <a:rPr lang="en-IN" sz="2000" dirty="0" err="1"/>
              <a:t>GraalVM</a:t>
            </a:r>
            <a:r>
              <a:rPr lang="en-IN" sz="2000" dirty="0"/>
              <a:t> static analysis may not automatically detected all reflection code, JNI, Dynamic proxy code. </a:t>
            </a:r>
            <a:r>
              <a:rPr lang="en-US" sz="2000" dirty="0"/>
              <a:t>Workaround is to provide this information manually to the </a:t>
            </a:r>
            <a:r>
              <a:rPr lang="en-US" sz="2000" dirty="0" err="1"/>
              <a:t>GraalVM</a:t>
            </a:r>
            <a:r>
              <a:rPr lang="en-US" sz="2000" dirty="0"/>
              <a:t> using Reachability metadata.</a:t>
            </a:r>
          </a:p>
          <a:p>
            <a:r>
              <a:rPr lang="en-US" sz="2000" dirty="0"/>
              <a:t>Maintaining Reachability metadata for our own application code is file, but how about the dynamic code used in libraries and frameworks?</a:t>
            </a:r>
          </a:p>
          <a:p>
            <a:pPr lvl="1"/>
            <a:r>
              <a:rPr lang="en-US" sz="1800" dirty="0"/>
              <a:t>The solution is, all major frameworks like Spring Boot , </a:t>
            </a:r>
            <a:r>
              <a:rPr lang="en-US" sz="1800" dirty="0" err="1"/>
              <a:t>Quarkus</a:t>
            </a:r>
            <a:r>
              <a:rPr lang="en-US" sz="1800" dirty="0"/>
              <a:t> , Micronaut, Helidon are already updated their code to provide this Reachability metadata.</a:t>
            </a:r>
          </a:p>
          <a:p>
            <a:r>
              <a:rPr lang="en-US" sz="2000" dirty="0"/>
              <a:t>Need lot of computational efforts at build time. Make sure to use a powerful machine with the same platform target and OS. You can’t build on windows and deploy the executables code into Linux server</a:t>
            </a:r>
          </a:p>
          <a:p>
            <a:r>
              <a:rPr lang="en-US" sz="2000" dirty="0"/>
              <a:t>During local development and unit testing, it will be annoying to use AOT because it takes lots of time to generate native executable code. Instead use JIT and go for AOT only during the final build process.</a:t>
            </a:r>
          </a:p>
        </p:txBody>
      </p:sp>
    </p:spTree>
    <p:extLst>
      <p:ext uri="{BB962C8B-B14F-4D97-AF65-F5344CB8AC3E}">
        <p14:creationId xmlns:p14="http://schemas.microsoft.com/office/powerpoint/2010/main" val="26963769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F28FF-662B-3512-5796-9E6DCB6B7440}"/>
              </a:ext>
            </a:extLst>
          </p:cNvPr>
          <p:cNvSpPr>
            <a:spLocks noGrp="1"/>
          </p:cNvSpPr>
          <p:nvPr>
            <p:ph type="title"/>
          </p:nvPr>
        </p:nvSpPr>
        <p:spPr/>
        <p:txBody>
          <a:bodyPr/>
          <a:lstStyle/>
          <a:p>
            <a:r>
              <a:rPr lang="en-GB" dirty="0"/>
              <a:t>Actuator metrics</a:t>
            </a:r>
            <a:endParaRPr lang="en-US" dirty="0"/>
          </a:p>
        </p:txBody>
      </p:sp>
      <p:sp>
        <p:nvSpPr>
          <p:cNvPr id="3" name="Content Placeholder 2">
            <a:extLst>
              <a:ext uri="{FF2B5EF4-FFF2-40B4-BE49-F238E27FC236}">
                <a16:creationId xmlns:a16="http://schemas.microsoft.com/office/drawing/2014/main" id="{1EC3F7B8-C53F-16F1-384F-C0C47D6B1F28}"/>
              </a:ext>
            </a:extLst>
          </p:cNvPr>
          <p:cNvSpPr>
            <a:spLocks noGrp="1"/>
          </p:cNvSpPr>
          <p:nvPr>
            <p:ph idx="1"/>
          </p:nvPr>
        </p:nvSpPr>
        <p:spPr/>
        <p:txBody>
          <a:bodyPr/>
          <a:lstStyle/>
          <a:p>
            <a:r>
              <a:rPr lang="en-US" b="1" dirty="0"/>
              <a:t>Important Metrics</a:t>
            </a:r>
          </a:p>
          <a:p>
            <a:pPr lvl="1"/>
            <a:r>
              <a:rPr lang="en-US" dirty="0"/>
              <a:t>/actuator/metrics/</a:t>
            </a:r>
            <a:r>
              <a:rPr lang="en-US" dirty="0" err="1"/>
              <a:t>http.server.requests</a:t>
            </a:r>
            <a:endParaRPr lang="en-US" dirty="0"/>
          </a:p>
          <a:p>
            <a:pPr lvl="1"/>
            <a:r>
              <a:rPr lang="en-US" dirty="0"/>
              <a:t>/actuator/metrics/</a:t>
            </a:r>
            <a:r>
              <a:rPr lang="en-US" dirty="0" err="1"/>
              <a:t>jvm.memory.used</a:t>
            </a:r>
            <a:endParaRPr lang="en-US" dirty="0"/>
          </a:p>
          <a:p>
            <a:pPr lvl="1"/>
            <a:r>
              <a:rPr lang="en-US" dirty="0"/>
              <a:t>/actuator/metrics/</a:t>
            </a:r>
            <a:r>
              <a:rPr lang="en-US" dirty="0" err="1"/>
              <a:t>system.cpu.usage</a:t>
            </a:r>
            <a:endParaRPr lang="en-US" dirty="0"/>
          </a:p>
          <a:p>
            <a:endParaRPr lang="en-US" dirty="0"/>
          </a:p>
        </p:txBody>
      </p:sp>
    </p:spTree>
    <p:extLst>
      <p:ext uri="{BB962C8B-B14F-4D97-AF65-F5344CB8AC3E}">
        <p14:creationId xmlns:p14="http://schemas.microsoft.com/office/powerpoint/2010/main" val="549105799"/>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80AA79-A6C6-FAA4-3925-C0C22D70CA83}"/>
              </a:ext>
            </a:extLst>
          </p:cNvPr>
          <p:cNvSpPr>
            <a:spLocks noGrp="1"/>
          </p:cNvSpPr>
          <p:nvPr>
            <p:ph type="title"/>
          </p:nvPr>
        </p:nvSpPr>
        <p:spPr/>
        <p:txBody>
          <a:bodyPr>
            <a:normAutofit/>
          </a:bodyPr>
          <a:lstStyle/>
          <a:p>
            <a:r>
              <a:rPr lang="en-GB" sz="4000" dirty="0"/>
              <a:t>Session 4 : Database Optimization</a:t>
            </a:r>
            <a:endParaRPr lang="en-US" sz="4000" dirty="0"/>
          </a:p>
        </p:txBody>
      </p:sp>
      <p:sp>
        <p:nvSpPr>
          <p:cNvPr id="3" name="Content Placeholder 2">
            <a:extLst>
              <a:ext uri="{FF2B5EF4-FFF2-40B4-BE49-F238E27FC236}">
                <a16:creationId xmlns:a16="http://schemas.microsoft.com/office/drawing/2014/main" id="{05A364C9-041B-A5B3-1492-E66DE7E3AF5F}"/>
              </a:ext>
            </a:extLst>
          </p:cNvPr>
          <p:cNvSpPr>
            <a:spLocks noGrp="1"/>
          </p:cNvSpPr>
          <p:nvPr>
            <p:ph idx="1"/>
          </p:nvPr>
        </p:nvSpPr>
        <p:spPr/>
        <p:txBody>
          <a:bodyPr>
            <a:normAutofit/>
          </a:bodyPr>
          <a:lstStyle/>
          <a:p>
            <a:r>
              <a:rPr lang="en-US" dirty="0"/>
              <a:t>DB latency analysis</a:t>
            </a:r>
          </a:p>
          <a:p>
            <a:r>
              <a:rPr lang="en-US" dirty="0"/>
              <a:t>JDBC tuning:</a:t>
            </a:r>
          </a:p>
          <a:p>
            <a:pPr lvl="1"/>
            <a:r>
              <a:rPr lang="en-US" dirty="0"/>
              <a:t>Connection pooling</a:t>
            </a:r>
          </a:p>
          <a:p>
            <a:pPr lvl="1"/>
            <a:r>
              <a:rPr lang="en-US" dirty="0"/>
              <a:t>Batch updates</a:t>
            </a:r>
          </a:p>
          <a:p>
            <a:pPr lvl="1"/>
            <a:r>
              <a:rPr lang="en-US" dirty="0"/>
              <a:t>Prepared statements</a:t>
            </a:r>
          </a:p>
          <a:p>
            <a:r>
              <a:rPr lang="en-US" dirty="0"/>
              <a:t>Hibernate/JPA performance tuning:</a:t>
            </a:r>
          </a:p>
          <a:p>
            <a:pPr lvl="1"/>
            <a:r>
              <a:rPr lang="en-US" dirty="0"/>
              <a:t>N+1 issue elimination</a:t>
            </a:r>
          </a:p>
          <a:p>
            <a:pPr lvl="1"/>
            <a:r>
              <a:rPr lang="en-US" dirty="0"/>
              <a:t>Fetch strategies</a:t>
            </a:r>
          </a:p>
          <a:p>
            <a:pPr lvl="1"/>
            <a:r>
              <a:rPr lang="en-US" dirty="0"/>
              <a:t>Caching (L1/L2)</a:t>
            </a:r>
          </a:p>
        </p:txBody>
      </p:sp>
    </p:spTree>
    <p:extLst>
      <p:ext uri="{BB962C8B-B14F-4D97-AF65-F5344CB8AC3E}">
        <p14:creationId xmlns:p14="http://schemas.microsoft.com/office/powerpoint/2010/main" val="880361643"/>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3177A7-71D9-A789-5AE0-357EDB708158}"/>
              </a:ext>
            </a:extLst>
          </p:cNvPr>
          <p:cNvSpPr>
            <a:spLocks noGrp="1"/>
          </p:cNvSpPr>
          <p:nvPr>
            <p:ph type="title"/>
          </p:nvPr>
        </p:nvSpPr>
        <p:spPr/>
        <p:txBody>
          <a:bodyPr/>
          <a:lstStyle/>
          <a:p>
            <a:r>
              <a:rPr lang="en-GB" dirty="0"/>
              <a:t>What is DB Latency ?</a:t>
            </a:r>
            <a:endParaRPr lang="en-US" dirty="0"/>
          </a:p>
        </p:txBody>
      </p:sp>
      <p:sp>
        <p:nvSpPr>
          <p:cNvPr id="3" name="Content Placeholder 2">
            <a:extLst>
              <a:ext uri="{FF2B5EF4-FFF2-40B4-BE49-F238E27FC236}">
                <a16:creationId xmlns:a16="http://schemas.microsoft.com/office/drawing/2014/main" id="{3A35E627-870F-4F57-D6E4-C52279F47D60}"/>
              </a:ext>
            </a:extLst>
          </p:cNvPr>
          <p:cNvSpPr>
            <a:spLocks noGrp="1"/>
          </p:cNvSpPr>
          <p:nvPr>
            <p:ph idx="1"/>
          </p:nvPr>
        </p:nvSpPr>
        <p:spPr>
          <a:xfrm>
            <a:off x="797560" y="1858137"/>
            <a:ext cx="10515600" cy="4351338"/>
          </a:xfrm>
        </p:spPr>
        <p:txBody>
          <a:bodyPr/>
          <a:lstStyle/>
          <a:p>
            <a:r>
              <a:rPr lang="en-GB" dirty="0"/>
              <a:t>Total time taken by DB interaction</a:t>
            </a:r>
            <a:endParaRPr lang="en-US" dirty="0"/>
          </a:p>
        </p:txBody>
      </p:sp>
      <p:sp>
        <p:nvSpPr>
          <p:cNvPr id="5" name="TextBox 4">
            <a:extLst>
              <a:ext uri="{FF2B5EF4-FFF2-40B4-BE49-F238E27FC236}">
                <a16:creationId xmlns:a16="http://schemas.microsoft.com/office/drawing/2014/main" id="{330B446E-01CD-50E2-72FC-9003CAA5829E}"/>
              </a:ext>
            </a:extLst>
          </p:cNvPr>
          <p:cNvSpPr txBox="1"/>
          <p:nvPr/>
        </p:nvSpPr>
        <p:spPr>
          <a:xfrm>
            <a:off x="838200" y="2451576"/>
            <a:ext cx="10256520" cy="369332"/>
          </a:xfrm>
          <a:prstGeom prst="rect">
            <a:avLst/>
          </a:prstGeom>
          <a:noFill/>
        </p:spPr>
        <p:txBody>
          <a:bodyPr wrap="square">
            <a:spAutoFit/>
          </a:bodyPr>
          <a:lstStyle/>
          <a:p>
            <a:r>
              <a:rPr lang="en-US" dirty="0"/>
              <a:t>Total DB Latency = Network Time + Connection Acquisition Time + Query Execution Time + Result Fetch Time</a:t>
            </a:r>
          </a:p>
        </p:txBody>
      </p:sp>
    </p:spTree>
    <p:extLst>
      <p:ext uri="{BB962C8B-B14F-4D97-AF65-F5344CB8AC3E}">
        <p14:creationId xmlns:p14="http://schemas.microsoft.com/office/powerpoint/2010/main" val="382560194"/>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80AF2F-17B5-F693-2023-1BE0B350ABF2}"/>
              </a:ext>
            </a:extLst>
          </p:cNvPr>
          <p:cNvSpPr>
            <a:spLocks noGrp="1"/>
          </p:cNvSpPr>
          <p:nvPr>
            <p:ph type="title"/>
          </p:nvPr>
        </p:nvSpPr>
        <p:spPr/>
        <p:txBody>
          <a:bodyPr/>
          <a:lstStyle/>
          <a:p>
            <a:r>
              <a:rPr lang="en-GB" dirty="0"/>
              <a:t>JDBC Tuning</a:t>
            </a:r>
            <a:endParaRPr lang="en-US" dirty="0"/>
          </a:p>
        </p:txBody>
      </p:sp>
      <p:sp>
        <p:nvSpPr>
          <p:cNvPr id="3" name="Content Placeholder 2">
            <a:extLst>
              <a:ext uri="{FF2B5EF4-FFF2-40B4-BE49-F238E27FC236}">
                <a16:creationId xmlns:a16="http://schemas.microsoft.com/office/drawing/2014/main" id="{0586AC7B-A199-74A3-FBC7-A8C58EF6F7ED}"/>
              </a:ext>
            </a:extLst>
          </p:cNvPr>
          <p:cNvSpPr>
            <a:spLocks noGrp="1"/>
          </p:cNvSpPr>
          <p:nvPr>
            <p:ph idx="1"/>
          </p:nvPr>
        </p:nvSpPr>
        <p:spPr/>
        <p:txBody>
          <a:bodyPr/>
          <a:lstStyle/>
          <a:p>
            <a:r>
              <a:rPr lang="en-GB" dirty="0"/>
              <a:t>Connection Pooling</a:t>
            </a:r>
          </a:p>
          <a:p>
            <a:r>
              <a:rPr lang="en-GB" dirty="0"/>
              <a:t>Batch Updates</a:t>
            </a:r>
          </a:p>
          <a:p>
            <a:r>
              <a:rPr lang="en-GB" dirty="0"/>
              <a:t>Prepare Statements</a:t>
            </a:r>
            <a:endParaRPr lang="en-US" dirty="0"/>
          </a:p>
        </p:txBody>
      </p:sp>
    </p:spTree>
    <p:extLst>
      <p:ext uri="{BB962C8B-B14F-4D97-AF65-F5344CB8AC3E}">
        <p14:creationId xmlns:p14="http://schemas.microsoft.com/office/powerpoint/2010/main" val="168098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4065</TotalTime>
  <Words>9686</Words>
  <Application>Microsoft Office PowerPoint</Application>
  <PresentationFormat>Widescreen</PresentationFormat>
  <Paragraphs>1677</Paragraphs>
  <Slides>193</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193</vt:i4>
      </vt:variant>
    </vt:vector>
  </HeadingPairs>
  <TitlesOfParts>
    <vt:vector size="199" baseType="lpstr">
      <vt:lpstr>Arial</vt:lpstr>
      <vt:lpstr>Calibri</vt:lpstr>
      <vt:lpstr>Calibri Light</vt:lpstr>
      <vt:lpstr>Consolas</vt:lpstr>
      <vt:lpstr>Courier New</vt:lpstr>
      <vt:lpstr>Office Theme</vt:lpstr>
      <vt:lpstr>Java Performance Tuning</vt:lpstr>
      <vt:lpstr>Agenda</vt:lpstr>
      <vt:lpstr>Agenda</vt:lpstr>
      <vt:lpstr>Session 1 : Introduction to Performance Engineering </vt:lpstr>
      <vt:lpstr>Session 1 : Introduction to Performance Engineering</vt:lpstr>
      <vt:lpstr>What is Performance Tuning( vs Engineering) ?</vt:lpstr>
      <vt:lpstr>What is Performance Tuning( vs Engineering) ?</vt:lpstr>
      <vt:lpstr>Performance Engineering Cycle</vt:lpstr>
      <vt:lpstr>Key Performance Metrics : Throughput</vt:lpstr>
      <vt:lpstr>Key Performance Metrics : Latency</vt:lpstr>
      <vt:lpstr>Key Performance Metrics : Response Time</vt:lpstr>
      <vt:lpstr>Key Performance Metrics : Memory Footprint</vt:lpstr>
      <vt:lpstr>Common Performance Bottlenecks : CPU Bottlenecks</vt:lpstr>
      <vt:lpstr>Common Performance Bottlenecks : Memory Bottleneck</vt:lpstr>
      <vt:lpstr>Common Performance Bottlenecks : Thread Contention</vt:lpstr>
      <vt:lpstr>Common Performance Bottlenecks : I/O Bottlenecks</vt:lpstr>
      <vt:lpstr>Common Performance Bottlenecks : Database Bottleneck</vt:lpstr>
      <vt:lpstr>Tools Overview</vt:lpstr>
      <vt:lpstr>Tools Overview</vt:lpstr>
      <vt:lpstr>MCQ</vt:lpstr>
      <vt:lpstr>MCQ</vt:lpstr>
      <vt:lpstr>MCQ</vt:lpstr>
      <vt:lpstr>Session 2 : JVM Architecture Deep Dive</vt:lpstr>
      <vt:lpstr>What happens inside normal JDK?</vt:lpstr>
      <vt:lpstr>What happens inside JVM?</vt:lpstr>
      <vt:lpstr>Understanding Bytecode instructions </vt:lpstr>
      <vt:lpstr>Understanding Bytecode instructions </vt:lpstr>
      <vt:lpstr>Types of Class Loaders</vt:lpstr>
      <vt:lpstr>Class Loader Subsystem</vt:lpstr>
      <vt:lpstr>Class Loading Demo</vt:lpstr>
      <vt:lpstr>JIT Compiler &amp; HotSpot Optimizations</vt:lpstr>
      <vt:lpstr>JIT Compiler &amp; HotSpot Optimizations</vt:lpstr>
      <vt:lpstr>JIT Compiler &amp; HotSpot Optimizations</vt:lpstr>
      <vt:lpstr>JVM Memory Components (Core Section)</vt:lpstr>
      <vt:lpstr>Heap (Shared)</vt:lpstr>
      <vt:lpstr>Stack – Thread-specific</vt:lpstr>
      <vt:lpstr>Metaspace</vt:lpstr>
      <vt:lpstr>Code Cache</vt:lpstr>
      <vt:lpstr>Memory Observation (Visual VM) : Demo</vt:lpstr>
      <vt:lpstr>Object Lifecycle &amp; Escape Analysis</vt:lpstr>
      <vt:lpstr>Escape Analysis</vt:lpstr>
      <vt:lpstr>Why this matters for performance</vt:lpstr>
      <vt:lpstr>Important Clarification</vt:lpstr>
      <vt:lpstr>Common Misconfigurations</vt:lpstr>
      <vt:lpstr>MCQ</vt:lpstr>
      <vt:lpstr>MCQ</vt:lpstr>
      <vt:lpstr>MCQ</vt:lpstr>
      <vt:lpstr>Session 3 : Java Memory Model &amp; Heap Optimization</vt:lpstr>
      <vt:lpstr>Java Memory Model (JMM)</vt:lpstr>
      <vt:lpstr>Heap &amp; Object Allocation</vt:lpstr>
      <vt:lpstr>Young Generation – Where objects are born</vt:lpstr>
      <vt:lpstr>Eden Space (Object Birthplace)</vt:lpstr>
      <vt:lpstr>Survivor Spaces (S0 &amp; S1)</vt:lpstr>
      <vt:lpstr>Old Generation ( Long-lived objects )</vt:lpstr>
      <vt:lpstr>Object Creation Cost &amp; Escape Analysis</vt:lpstr>
      <vt:lpstr>Object Creation Impact</vt:lpstr>
      <vt:lpstr>Escape Analysis</vt:lpstr>
      <vt:lpstr>VisualVM observations</vt:lpstr>
      <vt:lpstr>Reducing GC Pressure</vt:lpstr>
      <vt:lpstr>Avoiding Temporary Object Creation &amp; Mutable Objects</vt:lpstr>
      <vt:lpstr>Using Off-Heap Structures – Advanced but Powerful</vt:lpstr>
      <vt:lpstr>Why Use Off-Heap Memory</vt:lpstr>
      <vt:lpstr>Off Heap Memory : Risks &amp; Caution</vt:lpstr>
      <vt:lpstr>MCQ</vt:lpstr>
      <vt:lpstr>MCQ</vt:lpstr>
      <vt:lpstr>MCQ</vt:lpstr>
      <vt:lpstr>Session 4 : Garbage Collection Algorithms &amp; Tuning</vt:lpstr>
      <vt:lpstr>What is Garbage Collection ?</vt:lpstr>
      <vt:lpstr>Why GC matters for performance ?</vt:lpstr>
      <vt:lpstr>GC Process – Core Concept </vt:lpstr>
      <vt:lpstr>Step 1 : Mark</vt:lpstr>
      <vt:lpstr>Step 2 : Normal Deletion - Sweeping</vt:lpstr>
      <vt:lpstr>Step 3 - Deletion with Compacting - Compaction</vt:lpstr>
      <vt:lpstr>JVM Generations</vt:lpstr>
      <vt:lpstr>Young  Generation</vt:lpstr>
      <vt:lpstr>Viewing the generations in VisualVM</vt:lpstr>
      <vt:lpstr>Types of Garbage Collectors in Java</vt:lpstr>
      <vt:lpstr>Types of Garbage Collectors in Java</vt:lpstr>
      <vt:lpstr>Quick Comparison Table</vt:lpstr>
      <vt:lpstr>Reviewing Generational GC - CMS</vt:lpstr>
      <vt:lpstr>How Young GC work in CMS</vt:lpstr>
      <vt:lpstr>Young Generation Collection : CMS</vt:lpstr>
      <vt:lpstr>After Young GC : CMS</vt:lpstr>
      <vt:lpstr>Old Generation Collection with CMS</vt:lpstr>
      <vt:lpstr>Old Generation Collection – Concurrent Sweep</vt:lpstr>
      <vt:lpstr>Old Generation Collection  - After Sweeping</vt:lpstr>
      <vt:lpstr>CMS GC – In VisualVM and VisualGC</vt:lpstr>
      <vt:lpstr>G1 Garbage Collector Overview</vt:lpstr>
      <vt:lpstr>G1 Garbage Collector Overview</vt:lpstr>
      <vt:lpstr>G1 Operational Overview</vt:lpstr>
      <vt:lpstr>G1 Operational Overview</vt:lpstr>
      <vt:lpstr>The G1 Garbage Collector Step by Step</vt:lpstr>
      <vt:lpstr>G1 Heap Application </vt:lpstr>
      <vt:lpstr>G1 Heap Application </vt:lpstr>
      <vt:lpstr>Young Generation in G1</vt:lpstr>
      <vt:lpstr>A Young GC in G1</vt:lpstr>
      <vt:lpstr>End of a Young GC with G1</vt:lpstr>
      <vt:lpstr>End of a Young GC with G1</vt:lpstr>
      <vt:lpstr>Summary</vt:lpstr>
      <vt:lpstr>Initial Marking Phase – Stop The World</vt:lpstr>
      <vt:lpstr>Concurrent Marking Phase</vt:lpstr>
      <vt:lpstr>Remark Phase – Stop The World</vt:lpstr>
      <vt:lpstr>Copying/Cleanup Phase</vt:lpstr>
      <vt:lpstr>After Copying/Cleanup Phase</vt:lpstr>
      <vt:lpstr>Summary</vt:lpstr>
      <vt:lpstr>G1 Garbage Collector Overview</vt:lpstr>
      <vt:lpstr>Code Example</vt:lpstr>
      <vt:lpstr>GC Logs</vt:lpstr>
      <vt:lpstr>1. JVM Startup – System is Ready</vt:lpstr>
      <vt:lpstr>Your Program Starts Allocating Memory</vt:lpstr>
      <vt:lpstr>First GC Happens – GC(0)</vt:lpstr>
      <vt:lpstr>Second GC GC(1)</vt:lpstr>
      <vt:lpstr>Pattern you should notice</vt:lpstr>
      <vt:lpstr>Concurrent Mark Cycle</vt:lpstr>
      <vt:lpstr>Concurrent Mark Cycle</vt:lpstr>
      <vt:lpstr>Concurrent Mark Cycle</vt:lpstr>
      <vt:lpstr>Observations</vt:lpstr>
      <vt:lpstr>Updated Code with GC </vt:lpstr>
      <vt:lpstr>Observation 1. GC is actually working </vt:lpstr>
      <vt:lpstr>2. What Your Program is Doing (Correct Behaviour)</vt:lpstr>
      <vt:lpstr>3. Young GC Pattern – Perfect Example</vt:lpstr>
      <vt:lpstr>4. Memory Reclamation</vt:lpstr>
      <vt:lpstr>5. Why Memory Drops So Much ?</vt:lpstr>
      <vt:lpstr>6. Survivor Space Behavior</vt:lpstr>
      <vt:lpstr>7. Old Generation Growth (Slow &amp; Healthy)</vt:lpstr>
      <vt:lpstr>8. GC Efficiency </vt:lpstr>
      <vt:lpstr>9. No Humongous Objects</vt:lpstr>
      <vt:lpstr>11. Final Heap State</vt:lpstr>
      <vt:lpstr>G1 provides predictable pause time</vt:lpstr>
      <vt:lpstr>G1 provides predictable pause time</vt:lpstr>
      <vt:lpstr>G1 provides predictable pause time</vt:lpstr>
      <vt:lpstr>G1 provides predictable pause time</vt:lpstr>
      <vt:lpstr>G1 Garbage Collector Tuning Parameters</vt:lpstr>
      <vt:lpstr>MCQ</vt:lpstr>
      <vt:lpstr>MCQ</vt:lpstr>
      <vt:lpstr>MCQ</vt:lpstr>
      <vt:lpstr>Session 5 : Profiling &amp; Application Diagnostics</vt:lpstr>
      <vt:lpstr>What is Profiling ?</vt:lpstr>
      <vt:lpstr>Types of Profiling</vt:lpstr>
      <vt:lpstr>Observations in JMC</vt:lpstr>
      <vt:lpstr>Observations in JMC</vt:lpstr>
      <vt:lpstr>Observations in JMC</vt:lpstr>
      <vt:lpstr>Observations in JMC</vt:lpstr>
      <vt:lpstr>Profiling Key Takeaways</vt:lpstr>
      <vt:lpstr>Day 2 : Session 1 : Code-Level Performance Optimization</vt:lpstr>
      <vt:lpstr>Efficient Data Structures</vt:lpstr>
      <vt:lpstr>Example : Incorrect Data Structure</vt:lpstr>
      <vt:lpstr>Example  : Correct Data Structure</vt:lpstr>
      <vt:lpstr>Cost of Synchronization</vt:lpstr>
      <vt:lpstr>String Handling Optimization</vt:lpstr>
      <vt:lpstr>Collections Tuning</vt:lpstr>
      <vt:lpstr>Streams vs loops performance</vt:lpstr>
      <vt:lpstr>Why Streams are slower</vt:lpstr>
      <vt:lpstr>Example</vt:lpstr>
      <vt:lpstr>When Streams can be faster</vt:lpstr>
      <vt:lpstr>Avoiding Anti-Patterns</vt:lpstr>
      <vt:lpstr>Session 2 : Concurrency &amp; Thread Optimization</vt:lpstr>
      <vt:lpstr>Thread Lifecycle &amp; Scheduling Cost</vt:lpstr>
      <vt:lpstr>Thread Scheduling in Java</vt:lpstr>
      <vt:lpstr>Cost of Thread Scheduling : Context Switching Cost</vt:lpstr>
      <vt:lpstr>Cost of Thread Scheduling : Lock Contention</vt:lpstr>
      <vt:lpstr>Cost of Thread Scheduling : Idle Waiting</vt:lpstr>
      <vt:lpstr>Solution</vt:lpstr>
      <vt:lpstr>Key takeaways</vt:lpstr>
      <vt:lpstr>Executor framework tuning</vt:lpstr>
      <vt:lpstr>Executor framework tuning</vt:lpstr>
      <vt:lpstr>Executor framework tuning</vt:lpstr>
      <vt:lpstr>Fork/Join Framework</vt:lpstr>
      <vt:lpstr>Fork/Join Framework</vt:lpstr>
      <vt:lpstr>Different types of Threads</vt:lpstr>
      <vt:lpstr>Virtual Threads</vt:lpstr>
      <vt:lpstr>Compare with Platform Thread</vt:lpstr>
      <vt:lpstr>Why do we need Virtual Threads ?</vt:lpstr>
      <vt:lpstr>Why do we need Virtual Threads ?</vt:lpstr>
      <vt:lpstr>Session 3 : Microservices &amp; JVM Performance</vt:lpstr>
      <vt:lpstr>Performance Tuning for Spring Boot / Microservices</vt:lpstr>
      <vt:lpstr>Startup Optimization</vt:lpstr>
      <vt:lpstr>Memory footprint reduction</vt:lpstr>
      <vt:lpstr>GraalVM</vt:lpstr>
      <vt:lpstr>Startup Optimization and Memory footprint reduction</vt:lpstr>
      <vt:lpstr>GraalVM : Questions</vt:lpstr>
      <vt:lpstr>What happens inside normal JDK?</vt:lpstr>
      <vt:lpstr>What happens inside JVM?</vt:lpstr>
      <vt:lpstr>What happens with GraalVM</vt:lpstr>
      <vt:lpstr>GraalVM : HelloWorld Demo</vt:lpstr>
      <vt:lpstr>What happens in GraalVM AOT mode?</vt:lpstr>
      <vt:lpstr>Advantages ofGraalVM</vt:lpstr>
      <vt:lpstr>Advantages ofGraalVM</vt:lpstr>
      <vt:lpstr>Limitation of GraalVM</vt:lpstr>
      <vt:lpstr>Actuator metrics</vt:lpstr>
      <vt:lpstr>Session 4 : Database Optimization</vt:lpstr>
      <vt:lpstr>What is DB Latency ?</vt:lpstr>
      <vt:lpstr>JDBC Tuning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Vivek Gohil</dc:creator>
  <cp:lastModifiedBy>Vivek Gohil</cp:lastModifiedBy>
  <cp:revision>32</cp:revision>
  <dcterms:created xsi:type="dcterms:W3CDTF">2026-03-28T06:23:58Z</dcterms:created>
  <dcterms:modified xsi:type="dcterms:W3CDTF">2026-04-13T19:03:54Z</dcterms:modified>
</cp:coreProperties>
</file>