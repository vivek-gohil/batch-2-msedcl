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F2FB"/>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CB98575-E177-44BD-8030-97688550C635}" v="125" dt="2026-03-11T18:47:18.5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0" autoAdjust="0"/>
    <p:restoredTop sz="94660"/>
  </p:normalViewPr>
  <p:slideViewPr>
    <p:cSldViewPr snapToGrid="0">
      <p:cViewPr varScale="1">
        <p:scale>
          <a:sx n="46" d="100"/>
          <a:sy n="46" d="100"/>
        </p:scale>
        <p:origin x="902" y="3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3FC970-9BD9-429F-B7F4-01CA0FBF6460}" type="datetimeFigureOut">
              <a:rPr lang="en-US" smtClean="0"/>
              <a:t>6/2/2026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1FD358-4BD0-4C1F-A6BF-41A5F19D4189}" type="slidenum">
              <a:rPr lang="en-US" smtClean="0"/>
              <a:t>‹#›</a:t>
            </a:fld>
            <a:endParaRPr lang="en-US"/>
          </a:p>
        </p:txBody>
      </p:sp>
    </p:spTree>
    <p:extLst>
      <p:ext uri="{BB962C8B-B14F-4D97-AF65-F5344CB8AC3E}">
        <p14:creationId xmlns:p14="http://schemas.microsoft.com/office/powerpoint/2010/main" val="12412972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1FD358-4BD0-4C1F-A6BF-41A5F19D4189}" type="slidenum">
              <a:rPr lang="en-US" smtClean="0"/>
              <a:t>16</a:t>
            </a:fld>
            <a:endParaRPr lang="en-US"/>
          </a:p>
        </p:txBody>
      </p:sp>
    </p:spTree>
    <p:extLst>
      <p:ext uri="{BB962C8B-B14F-4D97-AF65-F5344CB8AC3E}">
        <p14:creationId xmlns:p14="http://schemas.microsoft.com/office/powerpoint/2010/main" val="29245022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97CED-867A-CF06-4304-960B26986C2C}"/>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F62E844-8EAD-8170-3444-23ADFB262BA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9B5836B7-7B73-AECE-A26D-788878808522}"/>
              </a:ext>
            </a:extLst>
          </p:cNvPr>
          <p:cNvSpPr>
            <a:spLocks noGrp="1"/>
          </p:cNvSpPr>
          <p:nvPr>
            <p:ph type="dt" sz="half" idx="10"/>
          </p:nvPr>
        </p:nvSpPr>
        <p:spPr/>
        <p:txBody>
          <a:bodyPr/>
          <a:lstStyle/>
          <a:p>
            <a:fld id="{BF3A89FD-7CCA-4189-ACE1-93E620A61345}" type="datetimeFigureOut">
              <a:rPr lang="en-US" smtClean="0"/>
              <a:t>6/2/2026</a:t>
            </a:fld>
            <a:endParaRPr lang="en-US"/>
          </a:p>
        </p:txBody>
      </p:sp>
      <p:sp>
        <p:nvSpPr>
          <p:cNvPr id="5" name="Footer Placeholder 4">
            <a:extLst>
              <a:ext uri="{FF2B5EF4-FFF2-40B4-BE49-F238E27FC236}">
                <a16:creationId xmlns:a16="http://schemas.microsoft.com/office/drawing/2014/main" id="{C8BE6C81-91EC-CFB3-823B-A84BCB7889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D82F27-65FD-D1CE-D519-B54BC646D0CF}"/>
              </a:ext>
            </a:extLst>
          </p:cNvPr>
          <p:cNvSpPr>
            <a:spLocks noGrp="1"/>
          </p:cNvSpPr>
          <p:nvPr>
            <p:ph type="sldNum" sz="quarter" idx="12"/>
          </p:nvPr>
        </p:nvSpPr>
        <p:spPr/>
        <p:txBody>
          <a:bodyPr/>
          <a:lstStyle/>
          <a:p>
            <a:fld id="{1F7EE9F6-3056-4046-B946-F6D4888DA941}" type="slidenum">
              <a:rPr lang="en-US" smtClean="0"/>
              <a:t>‹#›</a:t>
            </a:fld>
            <a:endParaRPr lang="en-US"/>
          </a:p>
        </p:txBody>
      </p:sp>
    </p:spTree>
    <p:extLst>
      <p:ext uri="{BB962C8B-B14F-4D97-AF65-F5344CB8AC3E}">
        <p14:creationId xmlns:p14="http://schemas.microsoft.com/office/powerpoint/2010/main" val="19240904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29B45-423A-2295-CFD9-55E0ED381B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6D647AD8-65F8-8088-90C6-C28A1DCF3805}"/>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F64D4B5-BC53-6117-E9DB-37F76AC89657}"/>
              </a:ext>
            </a:extLst>
          </p:cNvPr>
          <p:cNvSpPr>
            <a:spLocks noGrp="1"/>
          </p:cNvSpPr>
          <p:nvPr>
            <p:ph type="dt" sz="half" idx="10"/>
          </p:nvPr>
        </p:nvSpPr>
        <p:spPr/>
        <p:txBody>
          <a:bodyPr/>
          <a:lstStyle/>
          <a:p>
            <a:fld id="{BF3A89FD-7CCA-4189-ACE1-93E620A61345}" type="datetimeFigureOut">
              <a:rPr lang="en-US" smtClean="0"/>
              <a:t>6/2/2026</a:t>
            </a:fld>
            <a:endParaRPr lang="en-US"/>
          </a:p>
        </p:txBody>
      </p:sp>
      <p:sp>
        <p:nvSpPr>
          <p:cNvPr id="5" name="Footer Placeholder 4">
            <a:extLst>
              <a:ext uri="{FF2B5EF4-FFF2-40B4-BE49-F238E27FC236}">
                <a16:creationId xmlns:a16="http://schemas.microsoft.com/office/drawing/2014/main" id="{3ED31172-C9C1-8229-F5E7-D99A90C4C1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EAFE7E-0FE6-A173-6CBE-1B7CFCB5DD84}"/>
              </a:ext>
            </a:extLst>
          </p:cNvPr>
          <p:cNvSpPr>
            <a:spLocks noGrp="1"/>
          </p:cNvSpPr>
          <p:nvPr>
            <p:ph type="sldNum" sz="quarter" idx="12"/>
          </p:nvPr>
        </p:nvSpPr>
        <p:spPr/>
        <p:txBody>
          <a:bodyPr/>
          <a:lstStyle/>
          <a:p>
            <a:fld id="{1F7EE9F6-3056-4046-B946-F6D4888DA941}" type="slidenum">
              <a:rPr lang="en-US" smtClean="0"/>
              <a:t>‹#›</a:t>
            </a:fld>
            <a:endParaRPr lang="en-US"/>
          </a:p>
        </p:txBody>
      </p:sp>
    </p:spTree>
    <p:extLst>
      <p:ext uri="{BB962C8B-B14F-4D97-AF65-F5344CB8AC3E}">
        <p14:creationId xmlns:p14="http://schemas.microsoft.com/office/powerpoint/2010/main" val="17034780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23389-F1C1-11F0-6A3C-F2E45C0CB21E}"/>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5DF13837-E773-3D97-821E-C16306BF4DC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473F27B4-865D-5FE7-483A-F8DF41DFBEA9}"/>
              </a:ext>
            </a:extLst>
          </p:cNvPr>
          <p:cNvSpPr>
            <a:spLocks noGrp="1"/>
          </p:cNvSpPr>
          <p:nvPr>
            <p:ph type="dt" sz="half" idx="10"/>
          </p:nvPr>
        </p:nvSpPr>
        <p:spPr/>
        <p:txBody>
          <a:bodyPr/>
          <a:lstStyle/>
          <a:p>
            <a:fld id="{BF3A89FD-7CCA-4189-ACE1-93E620A61345}" type="datetimeFigureOut">
              <a:rPr lang="en-US" smtClean="0"/>
              <a:t>6/2/2026</a:t>
            </a:fld>
            <a:endParaRPr lang="en-US"/>
          </a:p>
        </p:txBody>
      </p:sp>
      <p:sp>
        <p:nvSpPr>
          <p:cNvPr id="5" name="Footer Placeholder 4">
            <a:extLst>
              <a:ext uri="{FF2B5EF4-FFF2-40B4-BE49-F238E27FC236}">
                <a16:creationId xmlns:a16="http://schemas.microsoft.com/office/drawing/2014/main" id="{3954DE5F-CDF4-15B8-5998-B3865442BF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D7A570-80FB-FA3B-FBAB-4289858E6F7B}"/>
              </a:ext>
            </a:extLst>
          </p:cNvPr>
          <p:cNvSpPr>
            <a:spLocks noGrp="1"/>
          </p:cNvSpPr>
          <p:nvPr>
            <p:ph type="sldNum" sz="quarter" idx="12"/>
          </p:nvPr>
        </p:nvSpPr>
        <p:spPr/>
        <p:txBody>
          <a:bodyPr/>
          <a:lstStyle/>
          <a:p>
            <a:fld id="{1F7EE9F6-3056-4046-B946-F6D4888DA941}" type="slidenum">
              <a:rPr lang="en-US" smtClean="0"/>
              <a:t>‹#›</a:t>
            </a:fld>
            <a:endParaRPr lang="en-US"/>
          </a:p>
        </p:txBody>
      </p:sp>
    </p:spTree>
    <p:extLst>
      <p:ext uri="{BB962C8B-B14F-4D97-AF65-F5344CB8AC3E}">
        <p14:creationId xmlns:p14="http://schemas.microsoft.com/office/powerpoint/2010/main" val="9637723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89D34-2263-A8FA-3D72-51417E8B6E55}"/>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EEDF06F2-F9F6-25EB-CFFF-C19F11D34E53}"/>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8523EFED-5632-80B4-52C4-DDC21B9E69B9}"/>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BEC2C41E-710A-6FD3-982D-F01261CEA6CA}"/>
              </a:ext>
            </a:extLst>
          </p:cNvPr>
          <p:cNvSpPr>
            <a:spLocks noGrp="1"/>
          </p:cNvSpPr>
          <p:nvPr>
            <p:ph type="dt" sz="half" idx="10"/>
          </p:nvPr>
        </p:nvSpPr>
        <p:spPr/>
        <p:txBody>
          <a:bodyPr/>
          <a:lstStyle/>
          <a:p>
            <a:fld id="{BF3A89FD-7CCA-4189-ACE1-93E620A61345}" type="datetimeFigureOut">
              <a:rPr lang="en-US" smtClean="0"/>
              <a:t>6/2/2026</a:t>
            </a:fld>
            <a:endParaRPr lang="en-US"/>
          </a:p>
        </p:txBody>
      </p:sp>
      <p:sp>
        <p:nvSpPr>
          <p:cNvPr id="6" name="Footer Placeholder 5">
            <a:extLst>
              <a:ext uri="{FF2B5EF4-FFF2-40B4-BE49-F238E27FC236}">
                <a16:creationId xmlns:a16="http://schemas.microsoft.com/office/drawing/2014/main" id="{F710979E-0FF4-F260-A58E-CEBB59A8F52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3C183D8-942A-D29B-DEC9-3238DEA004CD}"/>
              </a:ext>
            </a:extLst>
          </p:cNvPr>
          <p:cNvSpPr>
            <a:spLocks noGrp="1"/>
          </p:cNvSpPr>
          <p:nvPr>
            <p:ph type="sldNum" sz="quarter" idx="12"/>
          </p:nvPr>
        </p:nvSpPr>
        <p:spPr/>
        <p:txBody>
          <a:bodyPr/>
          <a:lstStyle/>
          <a:p>
            <a:fld id="{1F7EE9F6-3056-4046-B946-F6D4888DA941}" type="slidenum">
              <a:rPr lang="en-US" smtClean="0"/>
              <a:t>‹#›</a:t>
            </a:fld>
            <a:endParaRPr lang="en-US"/>
          </a:p>
        </p:txBody>
      </p:sp>
    </p:spTree>
    <p:extLst>
      <p:ext uri="{BB962C8B-B14F-4D97-AF65-F5344CB8AC3E}">
        <p14:creationId xmlns:p14="http://schemas.microsoft.com/office/powerpoint/2010/main" val="12615567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A6496-3C07-7108-81FF-E1ADA5D73F8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A662E3EE-9B12-58B0-0F0E-A7783E721FE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B57D5587-A21E-810B-B5B1-1B9D0CCCCAD2}"/>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241C14DE-C4FB-224D-1038-0E3C07D5AAA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4F3E3B9D-E5D3-E022-B54D-61E585133707}"/>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DA022093-5D0A-D419-AA22-BF84D7F21DBD}"/>
              </a:ext>
            </a:extLst>
          </p:cNvPr>
          <p:cNvSpPr>
            <a:spLocks noGrp="1"/>
          </p:cNvSpPr>
          <p:nvPr>
            <p:ph type="dt" sz="half" idx="10"/>
          </p:nvPr>
        </p:nvSpPr>
        <p:spPr/>
        <p:txBody>
          <a:bodyPr/>
          <a:lstStyle/>
          <a:p>
            <a:fld id="{BF3A89FD-7CCA-4189-ACE1-93E620A61345}" type="datetimeFigureOut">
              <a:rPr lang="en-US" smtClean="0"/>
              <a:t>6/2/2026</a:t>
            </a:fld>
            <a:endParaRPr lang="en-US"/>
          </a:p>
        </p:txBody>
      </p:sp>
      <p:sp>
        <p:nvSpPr>
          <p:cNvPr id="8" name="Footer Placeholder 7">
            <a:extLst>
              <a:ext uri="{FF2B5EF4-FFF2-40B4-BE49-F238E27FC236}">
                <a16:creationId xmlns:a16="http://schemas.microsoft.com/office/drawing/2014/main" id="{A29AAADF-2E82-9E18-8A15-14E1DBB78B1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988BCEF-027B-53BE-F92B-485F467CCDF0}"/>
              </a:ext>
            </a:extLst>
          </p:cNvPr>
          <p:cNvSpPr>
            <a:spLocks noGrp="1"/>
          </p:cNvSpPr>
          <p:nvPr>
            <p:ph type="sldNum" sz="quarter" idx="12"/>
          </p:nvPr>
        </p:nvSpPr>
        <p:spPr/>
        <p:txBody>
          <a:bodyPr/>
          <a:lstStyle/>
          <a:p>
            <a:fld id="{1F7EE9F6-3056-4046-B946-F6D4888DA941}" type="slidenum">
              <a:rPr lang="en-US" smtClean="0"/>
              <a:t>‹#›</a:t>
            </a:fld>
            <a:endParaRPr lang="en-US"/>
          </a:p>
        </p:txBody>
      </p:sp>
    </p:spTree>
    <p:extLst>
      <p:ext uri="{BB962C8B-B14F-4D97-AF65-F5344CB8AC3E}">
        <p14:creationId xmlns:p14="http://schemas.microsoft.com/office/powerpoint/2010/main" val="4617164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C3AFF-09A5-62FF-0477-4E8BC059AE20}"/>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F8D03F32-E9A4-3671-FCC3-CA24C5C56A13}"/>
              </a:ext>
            </a:extLst>
          </p:cNvPr>
          <p:cNvSpPr>
            <a:spLocks noGrp="1"/>
          </p:cNvSpPr>
          <p:nvPr>
            <p:ph type="dt" sz="half" idx="10"/>
          </p:nvPr>
        </p:nvSpPr>
        <p:spPr/>
        <p:txBody>
          <a:bodyPr/>
          <a:lstStyle/>
          <a:p>
            <a:fld id="{BF3A89FD-7CCA-4189-ACE1-93E620A61345}" type="datetimeFigureOut">
              <a:rPr lang="en-US" smtClean="0"/>
              <a:t>6/2/2026</a:t>
            </a:fld>
            <a:endParaRPr lang="en-US"/>
          </a:p>
        </p:txBody>
      </p:sp>
      <p:sp>
        <p:nvSpPr>
          <p:cNvPr id="4" name="Footer Placeholder 3">
            <a:extLst>
              <a:ext uri="{FF2B5EF4-FFF2-40B4-BE49-F238E27FC236}">
                <a16:creationId xmlns:a16="http://schemas.microsoft.com/office/drawing/2014/main" id="{46D64530-4627-F4C5-C361-D812D3FCF1C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CCA6EE5-155A-F942-98D1-92E3EAAC2D39}"/>
              </a:ext>
            </a:extLst>
          </p:cNvPr>
          <p:cNvSpPr>
            <a:spLocks noGrp="1"/>
          </p:cNvSpPr>
          <p:nvPr>
            <p:ph type="sldNum" sz="quarter" idx="12"/>
          </p:nvPr>
        </p:nvSpPr>
        <p:spPr/>
        <p:txBody>
          <a:bodyPr/>
          <a:lstStyle/>
          <a:p>
            <a:fld id="{1F7EE9F6-3056-4046-B946-F6D4888DA941}" type="slidenum">
              <a:rPr lang="en-US" smtClean="0"/>
              <a:t>‹#›</a:t>
            </a:fld>
            <a:endParaRPr lang="en-US"/>
          </a:p>
        </p:txBody>
      </p:sp>
    </p:spTree>
    <p:extLst>
      <p:ext uri="{BB962C8B-B14F-4D97-AF65-F5344CB8AC3E}">
        <p14:creationId xmlns:p14="http://schemas.microsoft.com/office/powerpoint/2010/main" val="3893078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65AC8C0-B190-C528-D783-A71C451B7241}"/>
              </a:ext>
            </a:extLst>
          </p:cNvPr>
          <p:cNvSpPr>
            <a:spLocks noGrp="1"/>
          </p:cNvSpPr>
          <p:nvPr>
            <p:ph type="dt" sz="half" idx="10"/>
          </p:nvPr>
        </p:nvSpPr>
        <p:spPr/>
        <p:txBody>
          <a:bodyPr/>
          <a:lstStyle/>
          <a:p>
            <a:fld id="{BF3A89FD-7CCA-4189-ACE1-93E620A61345}" type="datetimeFigureOut">
              <a:rPr lang="en-US" smtClean="0"/>
              <a:t>6/2/2026</a:t>
            </a:fld>
            <a:endParaRPr lang="en-US"/>
          </a:p>
        </p:txBody>
      </p:sp>
      <p:sp>
        <p:nvSpPr>
          <p:cNvPr id="3" name="Footer Placeholder 2">
            <a:extLst>
              <a:ext uri="{FF2B5EF4-FFF2-40B4-BE49-F238E27FC236}">
                <a16:creationId xmlns:a16="http://schemas.microsoft.com/office/drawing/2014/main" id="{9E532CCD-E2E6-B56D-FE91-6E8992E2E58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412FFA8-F4C1-6440-23D3-F61250BB3B83}"/>
              </a:ext>
            </a:extLst>
          </p:cNvPr>
          <p:cNvSpPr>
            <a:spLocks noGrp="1"/>
          </p:cNvSpPr>
          <p:nvPr>
            <p:ph type="sldNum" sz="quarter" idx="12"/>
          </p:nvPr>
        </p:nvSpPr>
        <p:spPr/>
        <p:txBody>
          <a:bodyPr/>
          <a:lstStyle/>
          <a:p>
            <a:fld id="{1F7EE9F6-3056-4046-B946-F6D4888DA941}" type="slidenum">
              <a:rPr lang="en-US" smtClean="0"/>
              <a:t>‹#›</a:t>
            </a:fld>
            <a:endParaRPr lang="en-US"/>
          </a:p>
        </p:txBody>
      </p:sp>
    </p:spTree>
    <p:extLst>
      <p:ext uri="{BB962C8B-B14F-4D97-AF65-F5344CB8AC3E}">
        <p14:creationId xmlns:p14="http://schemas.microsoft.com/office/powerpoint/2010/main" val="6690660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EB857-F21B-6A0B-5F15-FCFE34FAB0E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7A5C661A-9E09-6F2A-CCB2-CB88090456E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7A28A5CF-BC9F-3755-5A1C-1EC1AF02C8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DB47176-1CAD-3F09-F795-970655DE904A}"/>
              </a:ext>
            </a:extLst>
          </p:cNvPr>
          <p:cNvSpPr>
            <a:spLocks noGrp="1"/>
          </p:cNvSpPr>
          <p:nvPr>
            <p:ph type="dt" sz="half" idx="10"/>
          </p:nvPr>
        </p:nvSpPr>
        <p:spPr/>
        <p:txBody>
          <a:bodyPr/>
          <a:lstStyle/>
          <a:p>
            <a:fld id="{BF3A89FD-7CCA-4189-ACE1-93E620A61345}" type="datetimeFigureOut">
              <a:rPr lang="en-US" smtClean="0"/>
              <a:t>6/2/2026</a:t>
            </a:fld>
            <a:endParaRPr lang="en-US"/>
          </a:p>
        </p:txBody>
      </p:sp>
      <p:sp>
        <p:nvSpPr>
          <p:cNvPr id="6" name="Footer Placeholder 5">
            <a:extLst>
              <a:ext uri="{FF2B5EF4-FFF2-40B4-BE49-F238E27FC236}">
                <a16:creationId xmlns:a16="http://schemas.microsoft.com/office/drawing/2014/main" id="{DDCB9968-CC22-0042-D6D6-48932FD5102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BAE0F46-BDD6-8C24-42D3-CC2EE89BCA8F}"/>
              </a:ext>
            </a:extLst>
          </p:cNvPr>
          <p:cNvSpPr>
            <a:spLocks noGrp="1"/>
          </p:cNvSpPr>
          <p:nvPr>
            <p:ph type="sldNum" sz="quarter" idx="12"/>
          </p:nvPr>
        </p:nvSpPr>
        <p:spPr/>
        <p:txBody>
          <a:bodyPr/>
          <a:lstStyle/>
          <a:p>
            <a:fld id="{1F7EE9F6-3056-4046-B946-F6D4888DA941}" type="slidenum">
              <a:rPr lang="en-US" smtClean="0"/>
              <a:t>‹#›</a:t>
            </a:fld>
            <a:endParaRPr lang="en-US"/>
          </a:p>
        </p:txBody>
      </p:sp>
    </p:spTree>
    <p:extLst>
      <p:ext uri="{BB962C8B-B14F-4D97-AF65-F5344CB8AC3E}">
        <p14:creationId xmlns:p14="http://schemas.microsoft.com/office/powerpoint/2010/main" val="36387941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D9A62D-2FF0-FB85-4B17-3C5E152A371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6F210324-C3D3-D0E6-6E6F-92069A91BF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878A12F-0A60-A0FD-412E-2A0CD62965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161BCB9-3DF9-48BF-64D4-B1744B1618D0}"/>
              </a:ext>
            </a:extLst>
          </p:cNvPr>
          <p:cNvSpPr>
            <a:spLocks noGrp="1"/>
          </p:cNvSpPr>
          <p:nvPr>
            <p:ph type="dt" sz="half" idx="10"/>
          </p:nvPr>
        </p:nvSpPr>
        <p:spPr/>
        <p:txBody>
          <a:bodyPr/>
          <a:lstStyle/>
          <a:p>
            <a:fld id="{BF3A89FD-7CCA-4189-ACE1-93E620A61345}" type="datetimeFigureOut">
              <a:rPr lang="en-US" smtClean="0"/>
              <a:t>6/2/2026</a:t>
            </a:fld>
            <a:endParaRPr lang="en-US"/>
          </a:p>
        </p:txBody>
      </p:sp>
      <p:sp>
        <p:nvSpPr>
          <p:cNvPr id="6" name="Footer Placeholder 5">
            <a:extLst>
              <a:ext uri="{FF2B5EF4-FFF2-40B4-BE49-F238E27FC236}">
                <a16:creationId xmlns:a16="http://schemas.microsoft.com/office/drawing/2014/main" id="{B3601A31-A0E4-6313-F981-2757242B7AD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9BBAC12-2AB9-8858-FB78-06C1AC509EF2}"/>
              </a:ext>
            </a:extLst>
          </p:cNvPr>
          <p:cNvSpPr>
            <a:spLocks noGrp="1"/>
          </p:cNvSpPr>
          <p:nvPr>
            <p:ph type="sldNum" sz="quarter" idx="12"/>
          </p:nvPr>
        </p:nvSpPr>
        <p:spPr/>
        <p:txBody>
          <a:bodyPr/>
          <a:lstStyle/>
          <a:p>
            <a:fld id="{1F7EE9F6-3056-4046-B946-F6D4888DA941}" type="slidenum">
              <a:rPr lang="en-US" smtClean="0"/>
              <a:t>‹#›</a:t>
            </a:fld>
            <a:endParaRPr lang="en-US"/>
          </a:p>
        </p:txBody>
      </p:sp>
    </p:spTree>
    <p:extLst>
      <p:ext uri="{BB962C8B-B14F-4D97-AF65-F5344CB8AC3E}">
        <p14:creationId xmlns:p14="http://schemas.microsoft.com/office/powerpoint/2010/main" val="280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5E8264-84AC-8E7F-8804-8F641285F9F5}"/>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3DE425F-4CE9-8CFE-6E6E-7E0852306023}"/>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BD2AEE0-AE60-3207-BCCE-CDA3B12453F1}"/>
              </a:ext>
            </a:extLst>
          </p:cNvPr>
          <p:cNvSpPr>
            <a:spLocks noGrp="1"/>
          </p:cNvSpPr>
          <p:nvPr>
            <p:ph type="dt" sz="half" idx="10"/>
          </p:nvPr>
        </p:nvSpPr>
        <p:spPr/>
        <p:txBody>
          <a:bodyPr/>
          <a:lstStyle/>
          <a:p>
            <a:fld id="{BF3A89FD-7CCA-4189-ACE1-93E620A61345}" type="datetimeFigureOut">
              <a:rPr lang="en-US" smtClean="0"/>
              <a:t>6/2/2026</a:t>
            </a:fld>
            <a:endParaRPr lang="en-US"/>
          </a:p>
        </p:txBody>
      </p:sp>
      <p:sp>
        <p:nvSpPr>
          <p:cNvPr id="5" name="Footer Placeholder 4">
            <a:extLst>
              <a:ext uri="{FF2B5EF4-FFF2-40B4-BE49-F238E27FC236}">
                <a16:creationId xmlns:a16="http://schemas.microsoft.com/office/drawing/2014/main" id="{0742D213-2927-181E-5932-7F196D5247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A8388A-9D07-285E-C66B-2893E2150D75}"/>
              </a:ext>
            </a:extLst>
          </p:cNvPr>
          <p:cNvSpPr>
            <a:spLocks noGrp="1"/>
          </p:cNvSpPr>
          <p:nvPr>
            <p:ph type="sldNum" sz="quarter" idx="12"/>
          </p:nvPr>
        </p:nvSpPr>
        <p:spPr/>
        <p:txBody>
          <a:bodyPr/>
          <a:lstStyle/>
          <a:p>
            <a:fld id="{1F7EE9F6-3056-4046-B946-F6D4888DA941}" type="slidenum">
              <a:rPr lang="en-US" smtClean="0"/>
              <a:t>‹#›</a:t>
            </a:fld>
            <a:endParaRPr lang="en-US"/>
          </a:p>
        </p:txBody>
      </p:sp>
    </p:spTree>
    <p:extLst>
      <p:ext uri="{BB962C8B-B14F-4D97-AF65-F5344CB8AC3E}">
        <p14:creationId xmlns:p14="http://schemas.microsoft.com/office/powerpoint/2010/main" val="23856212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0337DF9-988B-4870-6E80-35AADD7DAD24}"/>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9D69158-E926-F300-C804-A25E9A17FCC9}"/>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BB17A5A-4852-B5FF-1FBA-6BBD7D84E680}"/>
              </a:ext>
            </a:extLst>
          </p:cNvPr>
          <p:cNvSpPr>
            <a:spLocks noGrp="1"/>
          </p:cNvSpPr>
          <p:nvPr>
            <p:ph type="dt" sz="half" idx="10"/>
          </p:nvPr>
        </p:nvSpPr>
        <p:spPr/>
        <p:txBody>
          <a:bodyPr/>
          <a:lstStyle/>
          <a:p>
            <a:fld id="{BF3A89FD-7CCA-4189-ACE1-93E620A61345}" type="datetimeFigureOut">
              <a:rPr lang="en-US" smtClean="0"/>
              <a:t>6/2/2026</a:t>
            </a:fld>
            <a:endParaRPr lang="en-US"/>
          </a:p>
        </p:txBody>
      </p:sp>
      <p:sp>
        <p:nvSpPr>
          <p:cNvPr id="5" name="Footer Placeholder 4">
            <a:extLst>
              <a:ext uri="{FF2B5EF4-FFF2-40B4-BE49-F238E27FC236}">
                <a16:creationId xmlns:a16="http://schemas.microsoft.com/office/drawing/2014/main" id="{2D700D54-198B-5368-95C3-FA93DD10EF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D5824B-BB92-95A3-CAF4-0768793BDA86}"/>
              </a:ext>
            </a:extLst>
          </p:cNvPr>
          <p:cNvSpPr>
            <a:spLocks noGrp="1"/>
          </p:cNvSpPr>
          <p:nvPr>
            <p:ph type="sldNum" sz="quarter" idx="12"/>
          </p:nvPr>
        </p:nvSpPr>
        <p:spPr/>
        <p:txBody>
          <a:bodyPr/>
          <a:lstStyle/>
          <a:p>
            <a:fld id="{1F7EE9F6-3056-4046-B946-F6D4888DA941}" type="slidenum">
              <a:rPr lang="en-US" smtClean="0"/>
              <a:t>‹#›</a:t>
            </a:fld>
            <a:endParaRPr lang="en-US"/>
          </a:p>
        </p:txBody>
      </p:sp>
    </p:spTree>
    <p:extLst>
      <p:ext uri="{BB962C8B-B14F-4D97-AF65-F5344CB8AC3E}">
        <p14:creationId xmlns:p14="http://schemas.microsoft.com/office/powerpoint/2010/main" val="14755515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DCD4212-2B42-AE42-18AF-7A55A32F1A8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8D35B0A9-0476-7FD0-4AC6-ADE9166DEB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3D04392-2EEC-A2E7-C29A-83844B563BE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F3A89FD-7CCA-4189-ACE1-93E620A61345}" type="datetimeFigureOut">
              <a:rPr lang="en-US" smtClean="0"/>
              <a:t>6/2/2026</a:t>
            </a:fld>
            <a:endParaRPr lang="en-US"/>
          </a:p>
        </p:txBody>
      </p:sp>
      <p:sp>
        <p:nvSpPr>
          <p:cNvPr id="5" name="Footer Placeholder 4">
            <a:extLst>
              <a:ext uri="{FF2B5EF4-FFF2-40B4-BE49-F238E27FC236}">
                <a16:creationId xmlns:a16="http://schemas.microsoft.com/office/drawing/2014/main" id="{5C475E8C-4D9A-CC29-10AE-58F5DB043B6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CC20B68-0174-B35F-40EF-B9E95D6BEAF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7EE9F6-3056-4046-B946-F6D4888DA941}" type="slidenum">
              <a:rPr lang="en-US" smtClean="0"/>
              <a:t>‹#›</a:t>
            </a:fld>
            <a:endParaRPr lang="en-US"/>
          </a:p>
        </p:txBody>
      </p:sp>
    </p:spTree>
    <p:extLst>
      <p:ext uri="{BB962C8B-B14F-4D97-AF65-F5344CB8AC3E}">
        <p14:creationId xmlns:p14="http://schemas.microsoft.com/office/powerpoint/2010/main" val="32081428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10" Type="http://schemas.openxmlformats.org/officeDocument/2006/relationships/image" Target="../media/image16.png"/><Relationship Id="rId4" Type="http://schemas.openxmlformats.org/officeDocument/2006/relationships/image" Target="../media/image8.png"/><Relationship Id="rId9" Type="http://schemas.openxmlformats.org/officeDocument/2006/relationships/image" Target="../media/image15.png"/></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0.png"/><Relationship Id="rId7"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11.png"/><Relationship Id="rId9" Type="http://schemas.openxmlformats.org/officeDocument/2006/relationships/image" Target="../media/image19.png"/></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2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2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image" Target="../media/image39.png"/><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3F2F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E98E0-A7C5-49FA-B9BC-EA19E62C6DB0}"/>
              </a:ext>
            </a:extLst>
          </p:cNvPr>
          <p:cNvSpPr>
            <a:spLocks noGrp="1"/>
          </p:cNvSpPr>
          <p:nvPr>
            <p:ph type="ctrTitle"/>
          </p:nvPr>
        </p:nvSpPr>
        <p:spPr/>
        <p:txBody>
          <a:bodyPr/>
          <a:lstStyle/>
          <a:p>
            <a:r>
              <a:rPr lang="en-IN" dirty="0"/>
              <a:t>Spring Boot + Microservices</a:t>
            </a:r>
            <a:endParaRPr lang="en-US" dirty="0"/>
          </a:p>
        </p:txBody>
      </p:sp>
      <p:sp>
        <p:nvSpPr>
          <p:cNvPr id="3" name="Subtitle 2">
            <a:extLst>
              <a:ext uri="{FF2B5EF4-FFF2-40B4-BE49-F238E27FC236}">
                <a16:creationId xmlns:a16="http://schemas.microsoft.com/office/drawing/2014/main" id="{2107330E-3058-DB04-EE0B-34DDB95052CE}"/>
              </a:ext>
            </a:extLst>
          </p:cNvPr>
          <p:cNvSpPr>
            <a:spLocks noGrp="1"/>
          </p:cNvSpPr>
          <p:nvPr>
            <p:ph type="subTitle" idx="1"/>
          </p:nvPr>
        </p:nvSpPr>
        <p:spPr/>
        <p:txBody>
          <a:bodyPr/>
          <a:lstStyle/>
          <a:p>
            <a:r>
              <a:rPr lang="en-IN" dirty="0"/>
              <a:t>Vivek Gohil</a:t>
            </a:r>
            <a:endParaRPr lang="en-US" dirty="0"/>
          </a:p>
        </p:txBody>
      </p:sp>
    </p:spTree>
    <p:extLst>
      <p:ext uri="{BB962C8B-B14F-4D97-AF65-F5344CB8AC3E}">
        <p14:creationId xmlns:p14="http://schemas.microsoft.com/office/powerpoint/2010/main" val="30427619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D3F2F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79D90-A309-4ABC-A050-E3FEE62F62EC}"/>
              </a:ext>
            </a:extLst>
          </p:cNvPr>
          <p:cNvSpPr>
            <a:spLocks noGrp="1"/>
          </p:cNvSpPr>
          <p:nvPr>
            <p:ph type="title"/>
          </p:nvPr>
        </p:nvSpPr>
        <p:spPr/>
        <p:txBody>
          <a:bodyPr/>
          <a:lstStyle/>
          <a:p>
            <a:r>
              <a:rPr lang="en-IN" dirty="0"/>
              <a:t>What are Microservices ?</a:t>
            </a:r>
            <a:endParaRPr lang="en-US" dirty="0"/>
          </a:p>
        </p:txBody>
      </p:sp>
      <p:sp>
        <p:nvSpPr>
          <p:cNvPr id="3" name="Content Placeholder 2">
            <a:extLst>
              <a:ext uri="{FF2B5EF4-FFF2-40B4-BE49-F238E27FC236}">
                <a16:creationId xmlns:a16="http://schemas.microsoft.com/office/drawing/2014/main" id="{8CAE16F0-F3E4-4AA9-FF15-63EC1EE82E42}"/>
              </a:ext>
            </a:extLst>
          </p:cNvPr>
          <p:cNvSpPr>
            <a:spLocks noGrp="1"/>
          </p:cNvSpPr>
          <p:nvPr>
            <p:ph idx="1"/>
          </p:nvPr>
        </p:nvSpPr>
        <p:spPr/>
        <p:txBody>
          <a:bodyPr/>
          <a:lstStyle/>
          <a:p>
            <a:r>
              <a:rPr lang="en-IN" dirty="0"/>
              <a:t>To understand microservices, lets imagine a bank called </a:t>
            </a:r>
            <a:r>
              <a:rPr lang="en-IN" dirty="0" err="1"/>
              <a:t>EazyBank</a:t>
            </a:r>
            <a:r>
              <a:rPr lang="en-IN" dirty="0"/>
              <a:t>.</a:t>
            </a:r>
          </a:p>
          <a:p>
            <a:r>
              <a:rPr lang="en-IN" dirty="0"/>
              <a:t>Typically, banks comprise various departments, including Accounts, Cards, Loans.</a:t>
            </a:r>
            <a:endParaRPr lang="en-US" dirty="0"/>
          </a:p>
        </p:txBody>
      </p:sp>
      <p:pic>
        <p:nvPicPr>
          <p:cNvPr id="5" name="Picture 4">
            <a:extLst>
              <a:ext uri="{FF2B5EF4-FFF2-40B4-BE49-F238E27FC236}">
                <a16:creationId xmlns:a16="http://schemas.microsoft.com/office/drawing/2014/main" id="{D3A216F4-49C6-0613-9530-9E6AC2537A12}"/>
              </a:ext>
            </a:extLst>
          </p:cNvPr>
          <p:cNvPicPr>
            <a:picLocks noChangeAspect="1"/>
          </p:cNvPicPr>
          <p:nvPr/>
        </p:nvPicPr>
        <p:blipFill>
          <a:blip r:embed="rId2"/>
          <a:stretch>
            <a:fillRect/>
          </a:stretch>
        </p:blipFill>
        <p:spPr>
          <a:xfrm>
            <a:off x="5125620" y="4345576"/>
            <a:ext cx="1940760" cy="1567448"/>
          </a:xfrm>
          <a:prstGeom prst="rect">
            <a:avLst/>
          </a:prstGeom>
        </p:spPr>
      </p:pic>
      <p:pic>
        <p:nvPicPr>
          <p:cNvPr id="7" name="Picture 6">
            <a:extLst>
              <a:ext uri="{FF2B5EF4-FFF2-40B4-BE49-F238E27FC236}">
                <a16:creationId xmlns:a16="http://schemas.microsoft.com/office/drawing/2014/main" id="{C2024726-AA5C-EE78-C16C-53DB86EA8F75}"/>
              </a:ext>
            </a:extLst>
          </p:cNvPr>
          <p:cNvPicPr>
            <a:picLocks noChangeAspect="1"/>
          </p:cNvPicPr>
          <p:nvPr/>
        </p:nvPicPr>
        <p:blipFill>
          <a:blip r:embed="rId3"/>
          <a:stretch>
            <a:fillRect/>
          </a:stretch>
        </p:blipFill>
        <p:spPr>
          <a:xfrm>
            <a:off x="5565695" y="3169918"/>
            <a:ext cx="1060610" cy="833915"/>
          </a:xfrm>
          <a:prstGeom prst="rect">
            <a:avLst/>
          </a:prstGeom>
        </p:spPr>
      </p:pic>
      <p:pic>
        <p:nvPicPr>
          <p:cNvPr id="9" name="Picture 8">
            <a:extLst>
              <a:ext uri="{FF2B5EF4-FFF2-40B4-BE49-F238E27FC236}">
                <a16:creationId xmlns:a16="http://schemas.microsoft.com/office/drawing/2014/main" id="{6A1FD96A-5FCB-B937-5DAF-FAD993DB8E35}"/>
              </a:ext>
            </a:extLst>
          </p:cNvPr>
          <p:cNvPicPr>
            <a:picLocks noChangeAspect="1"/>
          </p:cNvPicPr>
          <p:nvPr/>
        </p:nvPicPr>
        <p:blipFill>
          <a:blip r:embed="rId4"/>
          <a:stretch>
            <a:fillRect/>
          </a:stretch>
        </p:blipFill>
        <p:spPr>
          <a:xfrm>
            <a:off x="3722930" y="5540877"/>
            <a:ext cx="1172608" cy="1080581"/>
          </a:xfrm>
          <a:prstGeom prst="rect">
            <a:avLst/>
          </a:prstGeom>
        </p:spPr>
      </p:pic>
      <p:pic>
        <p:nvPicPr>
          <p:cNvPr id="11" name="Picture 10">
            <a:extLst>
              <a:ext uri="{FF2B5EF4-FFF2-40B4-BE49-F238E27FC236}">
                <a16:creationId xmlns:a16="http://schemas.microsoft.com/office/drawing/2014/main" id="{14531F8C-865E-CE8B-9676-1BF3F9946FF8}"/>
              </a:ext>
            </a:extLst>
          </p:cNvPr>
          <p:cNvPicPr>
            <a:picLocks noChangeAspect="1"/>
          </p:cNvPicPr>
          <p:nvPr/>
        </p:nvPicPr>
        <p:blipFill>
          <a:blip r:embed="rId5"/>
          <a:stretch>
            <a:fillRect/>
          </a:stretch>
        </p:blipFill>
        <p:spPr>
          <a:xfrm>
            <a:off x="7296463" y="5573310"/>
            <a:ext cx="1234483" cy="1015714"/>
          </a:xfrm>
          <a:prstGeom prst="rect">
            <a:avLst/>
          </a:prstGeom>
        </p:spPr>
      </p:pic>
    </p:spTree>
    <p:extLst>
      <p:ext uri="{BB962C8B-B14F-4D97-AF65-F5344CB8AC3E}">
        <p14:creationId xmlns:p14="http://schemas.microsoft.com/office/powerpoint/2010/main" val="4246798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D3F2F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49D5E-79B0-9D97-AC3A-0B87D9E12C73}"/>
              </a:ext>
            </a:extLst>
          </p:cNvPr>
          <p:cNvSpPr>
            <a:spLocks noGrp="1"/>
          </p:cNvSpPr>
          <p:nvPr>
            <p:ph type="title"/>
          </p:nvPr>
        </p:nvSpPr>
        <p:spPr/>
        <p:txBody>
          <a:bodyPr/>
          <a:lstStyle/>
          <a:p>
            <a:r>
              <a:rPr lang="en-IN" dirty="0"/>
              <a:t>The Monolith</a:t>
            </a:r>
            <a:endParaRPr lang="en-US" dirty="0"/>
          </a:p>
        </p:txBody>
      </p:sp>
      <p:sp>
        <p:nvSpPr>
          <p:cNvPr id="9" name="Text Placeholder 8">
            <a:extLst>
              <a:ext uri="{FF2B5EF4-FFF2-40B4-BE49-F238E27FC236}">
                <a16:creationId xmlns:a16="http://schemas.microsoft.com/office/drawing/2014/main" id="{0AF3576F-D02D-86A0-AFB4-512BAD782481}"/>
              </a:ext>
            </a:extLst>
          </p:cNvPr>
          <p:cNvSpPr>
            <a:spLocks noGrp="1"/>
          </p:cNvSpPr>
          <p:nvPr>
            <p:ph type="body" sz="half" idx="2"/>
          </p:nvPr>
        </p:nvSpPr>
        <p:spPr>
          <a:xfrm>
            <a:off x="839788" y="2057400"/>
            <a:ext cx="5983378" cy="3811588"/>
          </a:xfrm>
        </p:spPr>
        <p:txBody>
          <a:bodyPr/>
          <a:lstStyle/>
          <a:p>
            <a:pPr marL="285750" indent="-285750" algn="just">
              <a:buFont typeface="Arial" panose="020B0604020202020204" pitchFamily="34" charset="0"/>
              <a:buChar char="•"/>
            </a:pPr>
            <a:r>
              <a:rPr lang="en-IN" dirty="0"/>
              <a:t>Back a decade, all the applications used to be deployed as a single unit where all functionality deployed together inside a single server.</a:t>
            </a:r>
          </a:p>
          <a:p>
            <a:pPr marL="285750" indent="-285750" algn="just">
              <a:buFont typeface="Arial" panose="020B0604020202020204" pitchFamily="34" charset="0"/>
              <a:buChar char="•"/>
            </a:pPr>
            <a:r>
              <a:rPr lang="en-IN" dirty="0"/>
              <a:t>We call this architecture approach as Monolithic.</a:t>
            </a:r>
            <a:endParaRPr lang="en-US" dirty="0"/>
          </a:p>
          <a:p>
            <a:pPr algn="just"/>
            <a:endParaRPr lang="en-US" dirty="0"/>
          </a:p>
        </p:txBody>
      </p:sp>
      <p:pic>
        <p:nvPicPr>
          <p:cNvPr id="8" name="Picture 7">
            <a:extLst>
              <a:ext uri="{FF2B5EF4-FFF2-40B4-BE49-F238E27FC236}">
                <a16:creationId xmlns:a16="http://schemas.microsoft.com/office/drawing/2014/main" id="{463BBFED-6A4B-9518-8174-B1C4BBE51A05}"/>
              </a:ext>
            </a:extLst>
          </p:cNvPr>
          <p:cNvPicPr>
            <a:picLocks noChangeAspect="1"/>
          </p:cNvPicPr>
          <p:nvPr/>
        </p:nvPicPr>
        <p:blipFill>
          <a:blip r:embed="rId2"/>
          <a:stretch>
            <a:fillRect/>
          </a:stretch>
        </p:blipFill>
        <p:spPr>
          <a:xfrm>
            <a:off x="6753497" y="678859"/>
            <a:ext cx="3135086" cy="6008558"/>
          </a:xfrm>
          <a:prstGeom prst="rect">
            <a:avLst/>
          </a:prstGeom>
        </p:spPr>
      </p:pic>
    </p:spTree>
    <p:extLst>
      <p:ext uri="{BB962C8B-B14F-4D97-AF65-F5344CB8AC3E}">
        <p14:creationId xmlns:p14="http://schemas.microsoft.com/office/powerpoint/2010/main" val="3599086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D3F2F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D1DC8-BCFC-8C5E-6B55-864BA427AB1E}"/>
              </a:ext>
            </a:extLst>
          </p:cNvPr>
          <p:cNvSpPr>
            <a:spLocks noGrp="1"/>
          </p:cNvSpPr>
          <p:nvPr>
            <p:ph type="title"/>
          </p:nvPr>
        </p:nvSpPr>
        <p:spPr/>
        <p:txBody>
          <a:bodyPr/>
          <a:lstStyle/>
          <a:p>
            <a:r>
              <a:rPr lang="en-IN" dirty="0"/>
              <a:t>The Monolith</a:t>
            </a:r>
            <a:endParaRPr lang="en-US" dirty="0"/>
          </a:p>
        </p:txBody>
      </p:sp>
      <p:sp>
        <p:nvSpPr>
          <p:cNvPr id="3" name="Text Placeholder 2">
            <a:extLst>
              <a:ext uri="{FF2B5EF4-FFF2-40B4-BE49-F238E27FC236}">
                <a16:creationId xmlns:a16="http://schemas.microsoft.com/office/drawing/2014/main" id="{19B24EAE-41EA-F141-4F4F-2787B774F6F9}"/>
              </a:ext>
            </a:extLst>
          </p:cNvPr>
          <p:cNvSpPr>
            <a:spLocks noGrp="1"/>
          </p:cNvSpPr>
          <p:nvPr>
            <p:ph type="body" idx="1"/>
          </p:nvPr>
        </p:nvSpPr>
        <p:spPr/>
        <p:txBody>
          <a:bodyPr/>
          <a:lstStyle/>
          <a:p>
            <a:r>
              <a:rPr lang="en-IN" dirty="0"/>
              <a:t>Pros</a:t>
            </a:r>
            <a:endParaRPr lang="en-US" dirty="0"/>
          </a:p>
        </p:txBody>
      </p:sp>
      <p:sp>
        <p:nvSpPr>
          <p:cNvPr id="4" name="Content Placeholder 3">
            <a:extLst>
              <a:ext uri="{FF2B5EF4-FFF2-40B4-BE49-F238E27FC236}">
                <a16:creationId xmlns:a16="http://schemas.microsoft.com/office/drawing/2014/main" id="{C3E0ED71-EDFB-4BED-AC3A-BD376941266F}"/>
              </a:ext>
            </a:extLst>
          </p:cNvPr>
          <p:cNvSpPr>
            <a:spLocks noGrp="1"/>
          </p:cNvSpPr>
          <p:nvPr>
            <p:ph sz="half" idx="2"/>
          </p:nvPr>
        </p:nvSpPr>
        <p:spPr/>
        <p:txBody>
          <a:bodyPr>
            <a:normAutofit lnSpcReduction="10000"/>
          </a:bodyPr>
          <a:lstStyle/>
          <a:p>
            <a:r>
              <a:rPr lang="en-IN" dirty="0"/>
              <a:t>Simple development and deployment for smaller teams and applications</a:t>
            </a:r>
          </a:p>
          <a:p>
            <a:r>
              <a:rPr lang="en-IN" dirty="0"/>
              <a:t>Fewer cross-cutting concerns</a:t>
            </a:r>
          </a:p>
          <a:p>
            <a:r>
              <a:rPr lang="en-IN" dirty="0"/>
              <a:t>Better performance due to no network latency</a:t>
            </a:r>
            <a:endParaRPr lang="en-US" dirty="0"/>
          </a:p>
        </p:txBody>
      </p:sp>
      <p:sp>
        <p:nvSpPr>
          <p:cNvPr id="5" name="Text Placeholder 4">
            <a:extLst>
              <a:ext uri="{FF2B5EF4-FFF2-40B4-BE49-F238E27FC236}">
                <a16:creationId xmlns:a16="http://schemas.microsoft.com/office/drawing/2014/main" id="{DE590143-7EA3-1B66-268D-BC6A1F38C0F0}"/>
              </a:ext>
            </a:extLst>
          </p:cNvPr>
          <p:cNvSpPr>
            <a:spLocks noGrp="1"/>
          </p:cNvSpPr>
          <p:nvPr>
            <p:ph type="body" sz="quarter" idx="3"/>
          </p:nvPr>
        </p:nvSpPr>
        <p:spPr/>
        <p:txBody>
          <a:bodyPr/>
          <a:lstStyle/>
          <a:p>
            <a:r>
              <a:rPr lang="en-IN" dirty="0"/>
              <a:t>Cons</a:t>
            </a:r>
            <a:endParaRPr lang="en-US" dirty="0"/>
          </a:p>
        </p:txBody>
      </p:sp>
      <p:sp>
        <p:nvSpPr>
          <p:cNvPr id="6" name="Content Placeholder 5">
            <a:extLst>
              <a:ext uri="{FF2B5EF4-FFF2-40B4-BE49-F238E27FC236}">
                <a16:creationId xmlns:a16="http://schemas.microsoft.com/office/drawing/2014/main" id="{67AAB7EE-5803-56CC-AF63-022B80AED964}"/>
              </a:ext>
            </a:extLst>
          </p:cNvPr>
          <p:cNvSpPr>
            <a:spLocks noGrp="1"/>
          </p:cNvSpPr>
          <p:nvPr>
            <p:ph sz="quarter" idx="4"/>
          </p:nvPr>
        </p:nvSpPr>
        <p:spPr/>
        <p:txBody>
          <a:bodyPr>
            <a:normAutofit lnSpcReduction="10000"/>
          </a:bodyPr>
          <a:lstStyle/>
          <a:p>
            <a:r>
              <a:rPr lang="en-IN" dirty="0"/>
              <a:t>Difficult to adopt new technologies</a:t>
            </a:r>
          </a:p>
          <a:p>
            <a:r>
              <a:rPr lang="en-IN" dirty="0"/>
              <a:t>Limited agility</a:t>
            </a:r>
          </a:p>
          <a:p>
            <a:r>
              <a:rPr lang="en-IN" dirty="0"/>
              <a:t>Single code base and difficult to maintain</a:t>
            </a:r>
          </a:p>
          <a:p>
            <a:r>
              <a:rPr lang="en-IN" dirty="0"/>
              <a:t>No fault tolerance</a:t>
            </a:r>
          </a:p>
          <a:p>
            <a:r>
              <a:rPr lang="en-IN" dirty="0"/>
              <a:t>Tiny update and feature development always need full deployment</a:t>
            </a:r>
            <a:endParaRPr lang="en-US" dirty="0"/>
          </a:p>
        </p:txBody>
      </p:sp>
    </p:spTree>
    <p:extLst>
      <p:ext uri="{BB962C8B-B14F-4D97-AF65-F5344CB8AC3E}">
        <p14:creationId xmlns:p14="http://schemas.microsoft.com/office/powerpoint/2010/main" val="21589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0" end="0"/>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uiExpand="1" build="p"/>
      <p:bldP spid="5" grpId="0" build="p"/>
      <p:bldP spid="6"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D3F2F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E219D-CD50-C932-F8B4-069442E461C6}"/>
              </a:ext>
            </a:extLst>
          </p:cNvPr>
          <p:cNvSpPr>
            <a:spLocks noGrp="1"/>
          </p:cNvSpPr>
          <p:nvPr>
            <p:ph type="title"/>
          </p:nvPr>
        </p:nvSpPr>
        <p:spPr/>
        <p:txBody>
          <a:bodyPr/>
          <a:lstStyle/>
          <a:p>
            <a:r>
              <a:rPr lang="en-IN" dirty="0"/>
              <a:t>The Monolith</a:t>
            </a:r>
            <a:endParaRPr lang="en-US" dirty="0"/>
          </a:p>
        </p:txBody>
      </p:sp>
      <p:pic>
        <p:nvPicPr>
          <p:cNvPr id="5" name="Picture 4">
            <a:extLst>
              <a:ext uri="{FF2B5EF4-FFF2-40B4-BE49-F238E27FC236}">
                <a16:creationId xmlns:a16="http://schemas.microsoft.com/office/drawing/2014/main" id="{F8A51D85-DC31-D099-FCE3-011F5FB95BA1}"/>
              </a:ext>
            </a:extLst>
          </p:cNvPr>
          <p:cNvPicPr>
            <a:picLocks noChangeAspect="1"/>
          </p:cNvPicPr>
          <p:nvPr/>
        </p:nvPicPr>
        <p:blipFill>
          <a:blip r:embed="rId2"/>
          <a:stretch>
            <a:fillRect/>
          </a:stretch>
        </p:blipFill>
        <p:spPr>
          <a:xfrm>
            <a:off x="77757" y="1438139"/>
            <a:ext cx="1520886" cy="954975"/>
          </a:xfrm>
          <a:prstGeom prst="rect">
            <a:avLst/>
          </a:prstGeom>
        </p:spPr>
      </p:pic>
      <p:pic>
        <p:nvPicPr>
          <p:cNvPr id="7" name="Picture 6">
            <a:extLst>
              <a:ext uri="{FF2B5EF4-FFF2-40B4-BE49-F238E27FC236}">
                <a16:creationId xmlns:a16="http://schemas.microsoft.com/office/drawing/2014/main" id="{790215E4-9BD5-84DD-4E47-64BEBDCEB115}"/>
              </a:ext>
            </a:extLst>
          </p:cNvPr>
          <p:cNvPicPr>
            <a:picLocks noChangeAspect="1"/>
          </p:cNvPicPr>
          <p:nvPr/>
        </p:nvPicPr>
        <p:blipFill>
          <a:blip r:embed="rId3"/>
          <a:stretch>
            <a:fillRect/>
          </a:stretch>
        </p:blipFill>
        <p:spPr>
          <a:xfrm>
            <a:off x="292413" y="2716300"/>
            <a:ext cx="1287512" cy="954976"/>
          </a:xfrm>
          <a:prstGeom prst="rect">
            <a:avLst/>
          </a:prstGeom>
        </p:spPr>
      </p:pic>
      <p:pic>
        <p:nvPicPr>
          <p:cNvPr id="9" name="Picture 8">
            <a:extLst>
              <a:ext uri="{FF2B5EF4-FFF2-40B4-BE49-F238E27FC236}">
                <a16:creationId xmlns:a16="http://schemas.microsoft.com/office/drawing/2014/main" id="{CC96E626-C38F-77D5-EE3F-20EF28650771}"/>
              </a:ext>
            </a:extLst>
          </p:cNvPr>
          <p:cNvPicPr>
            <a:picLocks noChangeAspect="1"/>
          </p:cNvPicPr>
          <p:nvPr/>
        </p:nvPicPr>
        <p:blipFill>
          <a:blip r:embed="rId4"/>
          <a:stretch>
            <a:fillRect/>
          </a:stretch>
        </p:blipFill>
        <p:spPr>
          <a:xfrm>
            <a:off x="344476" y="4016958"/>
            <a:ext cx="1183385" cy="1003402"/>
          </a:xfrm>
          <a:prstGeom prst="rect">
            <a:avLst/>
          </a:prstGeom>
        </p:spPr>
      </p:pic>
      <p:pic>
        <p:nvPicPr>
          <p:cNvPr id="11" name="Picture 10">
            <a:extLst>
              <a:ext uri="{FF2B5EF4-FFF2-40B4-BE49-F238E27FC236}">
                <a16:creationId xmlns:a16="http://schemas.microsoft.com/office/drawing/2014/main" id="{FF53D017-3020-1ACC-CFCC-E29AF9EEAAD4}"/>
              </a:ext>
            </a:extLst>
          </p:cNvPr>
          <p:cNvPicPr>
            <a:picLocks noChangeAspect="1"/>
          </p:cNvPicPr>
          <p:nvPr/>
        </p:nvPicPr>
        <p:blipFill>
          <a:blip r:embed="rId5"/>
          <a:stretch>
            <a:fillRect/>
          </a:stretch>
        </p:blipFill>
        <p:spPr>
          <a:xfrm>
            <a:off x="210453" y="5391988"/>
            <a:ext cx="1451429" cy="1113363"/>
          </a:xfrm>
          <a:prstGeom prst="rect">
            <a:avLst/>
          </a:prstGeom>
        </p:spPr>
      </p:pic>
      <p:sp>
        <p:nvSpPr>
          <p:cNvPr id="12" name="TextBox 11">
            <a:extLst>
              <a:ext uri="{FF2B5EF4-FFF2-40B4-BE49-F238E27FC236}">
                <a16:creationId xmlns:a16="http://schemas.microsoft.com/office/drawing/2014/main" id="{46D4FC1E-4B64-0EFF-D6D5-79ECDEBB4C6A}"/>
              </a:ext>
            </a:extLst>
          </p:cNvPr>
          <p:cNvSpPr txBox="1"/>
          <p:nvPr/>
        </p:nvSpPr>
        <p:spPr>
          <a:xfrm>
            <a:off x="-10162" y="2259785"/>
            <a:ext cx="2010422" cy="369332"/>
          </a:xfrm>
          <a:prstGeom prst="rect">
            <a:avLst/>
          </a:prstGeom>
          <a:noFill/>
        </p:spPr>
        <p:txBody>
          <a:bodyPr wrap="none" rtlCol="0">
            <a:spAutoFit/>
          </a:bodyPr>
          <a:lstStyle/>
          <a:p>
            <a:r>
              <a:rPr lang="en-IN" dirty="0"/>
              <a:t>Accounts Dev Team</a:t>
            </a:r>
            <a:endParaRPr lang="en-US" dirty="0"/>
          </a:p>
        </p:txBody>
      </p:sp>
      <p:sp>
        <p:nvSpPr>
          <p:cNvPr id="13" name="TextBox 12">
            <a:extLst>
              <a:ext uri="{FF2B5EF4-FFF2-40B4-BE49-F238E27FC236}">
                <a16:creationId xmlns:a16="http://schemas.microsoft.com/office/drawing/2014/main" id="{F9D5936C-F756-24EA-2B53-70B5F0EACFDD}"/>
              </a:ext>
            </a:extLst>
          </p:cNvPr>
          <p:cNvSpPr txBox="1"/>
          <p:nvPr/>
        </p:nvSpPr>
        <p:spPr>
          <a:xfrm>
            <a:off x="0" y="3573793"/>
            <a:ext cx="1695464" cy="369332"/>
          </a:xfrm>
          <a:prstGeom prst="rect">
            <a:avLst/>
          </a:prstGeom>
          <a:noFill/>
        </p:spPr>
        <p:txBody>
          <a:bodyPr wrap="none" rtlCol="0">
            <a:spAutoFit/>
          </a:bodyPr>
          <a:lstStyle/>
          <a:p>
            <a:r>
              <a:rPr lang="en-IN" dirty="0"/>
              <a:t>Loans Dev Team</a:t>
            </a:r>
            <a:endParaRPr lang="en-US" dirty="0"/>
          </a:p>
        </p:txBody>
      </p:sp>
      <p:sp>
        <p:nvSpPr>
          <p:cNvPr id="14" name="TextBox 13">
            <a:extLst>
              <a:ext uri="{FF2B5EF4-FFF2-40B4-BE49-F238E27FC236}">
                <a16:creationId xmlns:a16="http://schemas.microsoft.com/office/drawing/2014/main" id="{F59413C1-A264-3AEC-CE67-DC2564AF029A}"/>
              </a:ext>
            </a:extLst>
          </p:cNvPr>
          <p:cNvSpPr txBox="1"/>
          <p:nvPr/>
        </p:nvSpPr>
        <p:spPr>
          <a:xfrm>
            <a:off x="-10162" y="5007010"/>
            <a:ext cx="1676293" cy="369332"/>
          </a:xfrm>
          <a:prstGeom prst="rect">
            <a:avLst/>
          </a:prstGeom>
          <a:noFill/>
        </p:spPr>
        <p:txBody>
          <a:bodyPr wrap="none" rtlCol="0">
            <a:spAutoFit/>
          </a:bodyPr>
          <a:lstStyle/>
          <a:p>
            <a:r>
              <a:rPr lang="en-IN" dirty="0"/>
              <a:t>Cards Dev Team</a:t>
            </a:r>
            <a:endParaRPr lang="en-US" dirty="0"/>
          </a:p>
        </p:txBody>
      </p:sp>
      <p:sp>
        <p:nvSpPr>
          <p:cNvPr id="15" name="TextBox 14">
            <a:extLst>
              <a:ext uri="{FF2B5EF4-FFF2-40B4-BE49-F238E27FC236}">
                <a16:creationId xmlns:a16="http://schemas.microsoft.com/office/drawing/2014/main" id="{EE40BFF6-3966-D728-8B99-1C6005C81E4A}"/>
              </a:ext>
            </a:extLst>
          </p:cNvPr>
          <p:cNvSpPr txBox="1"/>
          <p:nvPr/>
        </p:nvSpPr>
        <p:spPr>
          <a:xfrm>
            <a:off x="-10162" y="6440227"/>
            <a:ext cx="1716304" cy="369332"/>
          </a:xfrm>
          <a:prstGeom prst="rect">
            <a:avLst/>
          </a:prstGeom>
          <a:noFill/>
        </p:spPr>
        <p:txBody>
          <a:bodyPr wrap="none" rtlCol="0">
            <a:spAutoFit/>
          </a:bodyPr>
          <a:lstStyle/>
          <a:p>
            <a:r>
              <a:rPr lang="en-IN" dirty="0"/>
              <a:t>UI/UX Dev Team</a:t>
            </a:r>
            <a:endParaRPr lang="en-US" dirty="0"/>
          </a:p>
        </p:txBody>
      </p:sp>
      <p:pic>
        <p:nvPicPr>
          <p:cNvPr id="17" name="Picture 16">
            <a:extLst>
              <a:ext uri="{FF2B5EF4-FFF2-40B4-BE49-F238E27FC236}">
                <a16:creationId xmlns:a16="http://schemas.microsoft.com/office/drawing/2014/main" id="{C34971B0-8694-7C29-E044-3F63A991F194}"/>
              </a:ext>
            </a:extLst>
          </p:cNvPr>
          <p:cNvPicPr>
            <a:picLocks noChangeAspect="1"/>
          </p:cNvPicPr>
          <p:nvPr/>
        </p:nvPicPr>
        <p:blipFill>
          <a:blip r:embed="rId6"/>
          <a:stretch>
            <a:fillRect/>
          </a:stretch>
        </p:blipFill>
        <p:spPr>
          <a:xfrm>
            <a:off x="3040830" y="3512839"/>
            <a:ext cx="1648735" cy="689471"/>
          </a:xfrm>
          <a:prstGeom prst="rect">
            <a:avLst/>
          </a:prstGeom>
        </p:spPr>
      </p:pic>
      <p:pic>
        <p:nvPicPr>
          <p:cNvPr id="19" name="Picture 18">
            <a:extLst>
              <a:ext uri="{FF2B5EF4-FFF2-40B4-BE49-F238E27FC236}">
                <a16:creationId xmlns:a16="http://schemas.microsoft.com/office/drawing/2014/main" id="{F6D9B58D-5BA7-63EC-017A-A138401C177F}"/>
              </a:ext>
            </a:extLst>
          </p:cNvPr>
          <p:cNvPicPr>
            <a:picLocks noChangeAspect="1"/>
          </p:cNvPicPr>
          <p:nvPr/>
        </p:nvPicPr>
        <p:blipFill>
          <a:blip r:embed="rId7"/>
          <a:stretch>
            <a:fillRect/>
          </a:stretch>
        </p:blipFill>
        <p:spPr>
          <a:xfrm>
            <a:off x="6163864" y="3328512"/>
            <a:ext cx="954168" cy="1058124"/>
          </a:xfrm>
          <a:prstGeom prst="rect">
            <a:avLst/>
          </a:prstGeom>
        </p:spPr>
      </p:pic>
      <p:pic>
        <p:nvPicPr>
          <p:cNvPr id="21" name="Picture 20">
            <a:extLst>
              <a:ext uri="{FF2B5EF4-FFF2-40B4-BE49-F238E27FC236}">
                <a16:creationId xmlns:a16="http://schemas.microsoft.com/office/drawing/2014/main" id="{0F531BC0-2B4A-F665-CE67-4675A4C06C40}"/>
              </a:ext>
            </a:extLst>
          </p:cNvPr>
          <p:cNvPicPr>
            <a:picLocks noChangeAspect="1"/>
          </p:cNvPicPr>
          <p:nvPr/>
        </p:nvPicPr>
        <p:blipFill>
          <a:blip r:embed="rId8"/>
          <a:stretch>
            <a:fillRect/>
          </a:stretch>
        </p:blipFill>
        <p:spPr>
          <a:xfrm>
            <a:off x="8786675" y="2393114"/>
            <a:ext cx="2242181" cy="3640183"/>
          </a:xfrm>
          <a:prstGeom prst="rect">
            <a:avLst/>
          </a:prstGeom>
        </p:spPr>
      </p:pic>
      <p:sp>
        <p:nvSpPr>
          <p:cNvPr id="22" name="TextBox 21">
            <a:extLst>
              <a:ext uri="{FF2B5EF4-FFF2-40B4-BE49-F238E27FC236}">
                <a16:creationId xmlns:a16="http://schemas.microsoft.com/office/drawing/2014/main" id="{36A1E3AA-FF9E-37B7-B0F4-A7AC1AD3CC84}"/>
              </a:ext>
            </a:extLst>
          </p:cNvPr>
          <p:cNvSpPr txBox="1"/>
          <p:nvPr/>
        </p:nvSpPr>
        <p:spPr>
          <a:xfrm>
            <a:off x="3054224" y="3009122"/>
            <a:ext cx="1810880" cy="369332"/>
          </a:xfrm>
          <a:prstGeom prst="rect">
            <a:avLst/>
          </a:prstGeom>
          <a:noFill/>
        </p:spPr>
        <p:txBody>
          <a:bodyPr wrap="none" rtlCol="0">
            <a:spAutoFit/>
          </a:bodyPr>
          <a:lstStyle/>
          <a:p>
            <a:r>
              <a:rPr lang="en-IN" dirty="0"/>
              <a:t>Single Code Repo</a:t>
            </a:r>
            <a:endParaRPr lang="en-US" dirty="0"/>
          </a:p>
        </p:txBody>
      </p:sp>
      <p:sp>
        <p:nvSpPr>
          <p:cNvPr id="23" name="TextBox 22">
            <a:extLst>
              <a:ext uri="{FF2B5EF4-FFF2-40B4-BE49-F238E27FC236}">
                <a16:creationId xmlns:a16="http://schemas.microsoft.com/office/drawing/2014/main" id="{17813827-FBEC-9104-75FA-129A71ED32A4}"/>
              </a:ext>
            </a:extLst>
          </p:cNvPr>
          <p:cNvSpPr txBox="1"/>
          <p:nvPr/>
        </p:nvSpPr>
        <p:spPr>
          <a:xfrm>
            <a:off x="6266718" y="3009122"/>
            <a:ext cx="721672" cy="369332"/>
          </a:xfrm>
          <a:prstGeom prst="rect">
            <a:avLst/>
          </a:prstGeom>
          <a:noFill/>
        </p:spPr>
        <p:txBody>
          <a:bodyPr wrap="none" rtlCol="0">
            <a:spAutoFit/>
          </a:bodyPr>
          <a:lstStyle/>
          <a:p>
            <a:r>
              <a:rPr lang="en-IN" dirty="0"/>
              <a:t>CI/CD</a:t>
            </a:r>
            <a:endParaRPr lang="en-US" dirty="0"/>
          </a:p>
        </p:txBody>
      </p:sp>
      <p:cxnSp>
        <p:nvCxnSpPr>
          <p:cNvPr id="32" name="Connector: Elbow 31">
            <a:extLst>
              <a:ext uri="{FF2B5EF4-FFF2-40B4-BE49-F238E27FC236}">
                <a16:creationId xmlns:a16="http://schemas.microsoft.com/office/drawing/2014/main" id="{64F7B62E-3AC3-4071-51BC-07FA75B1F3AF}"/>
              </a:ext>
            </a:extLst>
          </p:cNvPr>
          <p:cNvCxnSpPr>
            <a:stCxn id="5" idx="3"/>
            <a:endCxn id="17" idx="1"/>
          </p:cNvCxnSpPr>
          <p:nvPr/>
        </p:nvCxnSpPr>
        <p:spPr>
          <a:xfrm>
            <a:off x="1598643" y="1915627"/>
            <a:ext cx="1442187" cy="1941948"/>
          </a:xfrm>
          <a:prstGeom prst="bentConnector3">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34" name="Connector: Elbow 33">
            <a:extLst>
              <a:ext uri="{FF2B5EF4-FFF2-40B4-BE49-F238E27FC236}">
                <a16:creationId xmlns:a16="http://schemas.microsoft.com/office/drawing/2014/main" id="{0B6DD653-5EAE-F77F-6061-61F1F81B29F2}"/>
              </a:ext>
            </a:extLst>
          </p:cNvPr>
          <p:cNvCxnSpPr>
            <a:stCxn id="11" idx="3"/>
            <a:endCxn id="17" idx="1"/>
          </p:cNvCxnSpPr>
          <p:nvPr/>
        </p:nvCxnSpPr>
        <p:spPr>
          <a:xfrm flipV="1">
            <a:off x="1661882" y="3857575"/>
            <a:ext cx="1378948" cy="2091095"/>
          </a:xfrm>
          <a:prstGeom prst="bentConnector3">
            <a:avLst>
              <a:gd name="adj1" fmla="val 47474"/>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58111B98-C731-4F06-9838-8D6D6CEBD6AA}"/>
              </a:ext>
            </a:extLst>
          </p:cNvPr>
          <p:cNvCxnSpPr>
            <a:stCxn id="7" idx="3"/>
          </p:cNvCxnSpPr>
          <p:nvPr/>
        </p:nvCxnSpPr>
        <p:spPr>
          <a:xfrm>
            <a:off x="1579925" y="3193788"/>
            <a:ext cx="739811"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92DBB698-1CE6-5F35-0A08-8718D72F21A0}"/>
              </a:ext>
            </a:extLst>
          </p:cNvPr>
          <p:cNvCxnSpPr>
            <a:stCxn id="9" idx="3"/>
          </p:cNvCxnSpPr>
          <p:nvPr/>
        </p:nvCxnSpPr>
        <p:spPr>
          <a:xfrm>
            <a:off x="1527861" y="4518659"/>
            <a:ext cx="791875"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482C0793-5169-CE5D-60A7-E361E954FC90}"/>
              </a:ext>
            </a:extLst>
          </p:cNvPr>
          <p:cNvCxnSpPr>
            <a:stCxn id="17" idx="3"/>
            <a:endCxn id="19" idx="1"/>
          </p:cNvCxnSpPr>
          <p:nvPr/>
        </p:nvCxnSpPr>
        <p:spPr>
          <a:xfrm flipV="1">
            <a:off x="4689565" y="3857574"/>
            <a:ext cx="1474299" cy="1"/>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8CA63162-1D61-15B0-1805-DE9664FC4B6C}"/>
              </a:ext>
            </a:extLst>
          </p:cNvPr>
          <p:cNvCxnSpPr>
            <a:stCxn id="19" idx="3"/>
          </p:cNvCxnSpPr>
          <p:nvPr/>
        </p:nvCxnSpPr>
        <p:spPr>
          <a:xfrm>
            <a:off x="7118032" y="3857574"/>
            <a:ext cx="1586185"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5900CFF3-35C7-26D7-C19B-9E1E11C2A0ED}"/>
              </a:ext>
            </a:extLst>
          </p:cNvPr>
          <p:cNvSpPr txBox="1"/>
          <p:nvPr/>
        </p:nvSpPr>
        <p:spPr>
          <a:xfrm>
            <a:off x="2845267" y="4377089"/>
            <a:ext cx="5682606" cy="1077218"/>
          </a:xfrm>
          <a:prstGeom prst="rect">
            <a:avLst/>
          </a:prstGeom>
          <a:noFill/>
          <a:ln>
            <a:solidFill>
              <a:srgbClr val="0070C0"/>
            </a:solidFill>
          </a:ln>
        </p:spPr>
        <p:txBody>
          <a:bodyPr wrap="square" rtlCol="0">
            <a:spAutoFit/>
          </a:bodyPr>
          <a:lstStyle/>
          <a:p>
            <a:pPr algn="just"/>
            <a:r>
              <a:rPr lang="en-IN" sz="1600" dirty="0"/>
              <a:t>In a monolithic approach, developers work with single code base which is then packed as unified unit, such as an EAR/WAR file and deployed into a single web/application server. Additionally the entire application is supported by a single database.</a:t>
            </a:r>
            <a:endParaRPr lang="en-US" sz="1600" dirty="0"/>
          </a:p>
        </p:txBody>
      </p:sp>
    </p:spTree>
    <p:extLst>
      <p:ext uri="{BB962C8B-B14F-4D97-AF65-F5344CB8AC3E}">
        <p14:creationId xmlns:p14="http://schemas.microsoft.com/office/powerpoint/2010/main" val="2640390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7"/>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4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3"/>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9"/>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48"/>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21"/>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5" grpId="0"/>
      <p:bldP spid="22" grpId="0"/>
      <p:bldP spid="23" grpId="0"/>
      <p:bldP spid="4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D3F2F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6E946-370A-F22F-ACCB-86A958D1EFFB}"/>
              </a:ext>
            </a:extLst>
          </p:cNvPr>
          <p:cNvSpPr>
            <a:spLocks noGrp="1"/>
          </p:cNvSpPr>
          <p:nvPr>
            <p:ph type="title"/>
          </p:nvPr>
        </p:nvSpPr>
        <p:spPr>
          <a:xfrm>
            <a:off x="839788" y="457200"/>
            <a:ext cx="6854235" cy="1600200"/>
          </a:xfrm>
        </p:spPr>
        <p:txBody>
          <a:bodyPr/>
          <a:lstStyle/>
          <a:p>
            <a:r>
              <a:rPr lang="en-IN" dirty="0"/>
              <a:t>The SOA (Service-Oriented Architecture)</a:t>
            </a:r>
            <a:endParaRPr lang="en-US" dirty="0"/>
          </a:p>
        </p:txBody>
      </p:sp>
      <p:sp>
        <p:nvSpPr>
          <p:cNvPr id="4" name="Text Placeholder 3">
            <a:extLst>
              <a:ext uri="{FF2B5EF4-FFF2-40B4-BE49-F238E27FC236}">
                <a16:creationId xmlns:a16="http://schemas.microsoft.com/office/drawing/2014/main" id="{9B11AA7A-D478-9F14-4C72-37D2C0049535}"/>
              </a:ext>
            </a:extLst>
          </p:cNvPr>
          <p:cNvSpPr>
            <a:spLocks noGrp="1"/>
          </p:cNvSpPr>
          <p:nvPr>
            <p:ph type="body" sz="half" idx="2"/>
          </p:nvPr>
        </p:nvSpPr>
        <p:spPr>
          <a:xfrm>
            <a:off x="839788" y="2057400"/>
            <a:ext cx="7463835" cy="3811588"/>
          </a:xfrm>
        </p:spPr>
        <p:txBody>
          <a:bodyPr/>
          <a:lstStyle/>
          <a:p>
            <a:pPr marL="285750" indent="-285750">
              <a:buFont typeface="Arial" panose="020B0604020202020204" pitchFamily="34" charset="0"/>
              <a:buChar char="•"/>
            </a:pPr>
            <a:r>
              <a:rPr lang="en-IN" dirty="0"/>
              <a:t>SOA emerged as an approach to combat the challenges of large, monolithic applications.</a:t>
            </a:r>
          </a:p>
          <a:p>
            <a:pPr marL="285750" indent="-285750">
              <a:buFont typeface="Arial" panose="020B0604020202020204" pitchFamily="34" charset="0"/>
              <a:buChar char="•"/>
            </a:pPr>
            <a:r>
              <a:rPr lang="en-IN" dirty="0"/>
              <a:t>It is an architectural style that focuses on organizing software systems as a collection of loosely coupled, interoperable services.</a:t>
            </a:r>
            <a:r>
              <a:rPr lang="en-US" dirty="0"/>
              <a:t> </a:t>
            </a:r>
          </a:p>
          <a:p>
            <a:pPr marL="285750" indent="-285750">
              <a:buFont typeface="Arial" panose="020B0604020202020204" pitchFamily="34" charset="0"/>
              <a:buChar char="•"/>
            </a:pPr>
            <a:r>
              <a:rPr lang="en-US" dirty="0"/>
              <a:t>It provides a way to design and develop large-scale applications by decomposing them into smaller, modular services that can be independently developed, deployed and managed.</a:t>
            </a:r>
            <a:endParaRPr lang="en-IN" dirty="0"/>
          </a:p>
        </p:txBody>
      </p:sp>
      <p:pic>
        <p:nvPicPr>
          <p:cNvPr id="6" name="Picture 5">
            <a:extLst>
              <a:ext uri="{FF2B5EF4-FFF2-40B4-BE49-F238E27FC236}">
                <a16:creationId xmlns:a16="http://schemas.microsoft.com/office/drawing/2014/main" id="{7AC612C7-4CAC-6FEB-7353-2EAE01672274}"/>
              </a:ext>
            </a:extLst>
          </p:cNvPr>
          <p:cNvPicPr>
            <a:picLocks noChangeAspect="1"/>
          </p:cNvPicPr>
          <p:nvPr/>
        </p:nvPicPr>
        <p:blipFill>
          <a:blip r:embed="rId2"/>
          <a:stretch>
            <a:fillRect/>
          </a:stretch>
        </p:blipFill>
        <p:spPr>
          <a:xfrm>
            <a:off x="8678026" y="801607"/>
            <a:ext cx="2839060" cy="4924417"/>
          </a:xfrm>
          <a:prstGeom prst="rect">
            <a:avLst/>
          </a:prstGeom>
        </p:spPr>
      </p:pic>
    </p:spTree>
    <p:extLst>
      <p:ext uri="{BB962C8B-B14F-4D97-AF65-F5344CB8AC3E}">
        <p14:creationId xmlns:p14="http://schemas.microsoft.com/office/powerpoint/2010/main" val="4129565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D3F2F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3B9F2-B54B-7D4A-441E-0ECB303BFA9C}"/>
              </a:ext>
            </a:extLst>
          </p:cNvPr>
          <p:cNvSpPr>
            <a:spLocks noGrp="1"/>
          </p:cNvSpPr>
          <p:nvPr>
            <p:ph type="title"/>
          </p:nvPr>
        </p:nvSpPr>
        <p:spPr/>
        <p:txBody>
          <a:bodyPr/>
          <a:lstStyle/>
          <a:p>
            <a:r>
              <a:rPr lang="en-IN" dirty="0"/>
              <a:t>The SOA (Service Oriented Architecture)</a:t>
            </a:r>
            <a:endParaRPr lang="en-US" dirty="0"/>
          </a:p>
        </p:txBody>
      </p:sp>
      <p:sp>
        <p:nvSpPr>
          <p:cNvPr id="3" name="Text Placeholder 2">
            <a:extLst>
              <a:ext uri="{FF2B5EF4-FFF2-40B4-BE49-F238E27FC236}">
                <a16:creationId xmlns:a16="http://schemas.microsoft.com/office/drawing/2014/main" id="{1D7D0A59-8534-A48E-2493-9D5DE879669C}"/>
              </a:ext>
            </a:extLst>
          </p:cNvPr>
          <p:cNvSpPr>
            <a:spLocks noGrp="1"/>
          </p:cNvSpPr>
          <p:nvPr>
            <p:ph type="body" idx="1"/>
          </p:nvPr>
        </p:nvSpPr>
        <p:spPr/>
        <p:txBody>
          <a:bodyPr/>
          <a:lstStyle/>
          <a:p>
            <a:r>
              <a:rPr lang="en-IN" dirty="0"/>
              <a:t>Pros</a:t>
            </a:r>
            <a:endParaRPr lang="en-US" dirty="0"/>
          </a:p>
        </p:txBody>
      </p:sp>
      <p:sp>
        <p:nvSpPr>
          <p:cNvPr id="4" name="Content Placeholder 3">
            <a:extLst>
              <a:ext uri="{FF2B5EF4-FFF2-40B4-BE49-F238E27FC236}">
                <a16:creationId xmlns:a16="http://schemas.microsoft.com/office/drawing/2014/main" id="{9B8264FF-3375-A6FC-365D-ACE4E8331FE0}"/>
              </a:ext>
            </a:extLst>
          </p:cNvPr>
          <p:cNvSpPr>
            <a:spLocks noGrp="1"/>
          </p:cNvSpPr>
          <p:nvPr>
            <p:ph sz="half" idx="2"/>
          </p:nvPr>
        </p:nvSpPr>
        <p:spPr/>
        <p:txBody>
          <a:bodyPr/>
          <a:lstStyle/>
          <a:p>
            <a:r>
              <a:rPr lang="en-IN" dirty="0"/>
              <a:t>Reusability of services</a:t>
            </a:r>
          </a:p>
          <a:p>
            <a:r>
              <a:rPr lang="en-IN" dirty="0"/>
              <a:t>Better maintainability</a:t>
            </a:r>
          </a:p>
          <a:p>
            <a:r>
              <a:rPr lang="en-IN" dirty="0"/>
              <a:t>Higher reliability</a:t>
            </a:r>
          </a:p>
          <a:p>
            <a:r>
              <a:rPr lang="en-IN" dirty="0"/>
              <a:t>Parallel development</a:t>
            </a:r>
            <a:endParaRPr lang="en-US" dirty="0"/>
          </a:p>
        </p:txBody>
      </p:sp>
      <p:sp>
        <p:nvSpPr>
          <p:cNvPr id="5" name="Text Placeholder 4">
            <a:extLst>
              <a:ext uri="{FF2B5EF4-FFF2-40B4-BE49-F238E27FC236}">
                <a16:creationId xmlns:a16="http://schemas.microsoft.com/office/drawing/2014/main" id="{21BB6643-3A18-D05D-7CDA-FC062D70C897}"/>
              </a:ext>
            </a:extLst>
          </p:cNvPr>
          <p:cNvSpPr>
            <a:spLocks noGrp="1"/>
          </p:cNvSpPr>
          <p:nvPr>
            <p:ph type="body" sz="quarter" idx="3"/>
          </p:nvPr>
        </p:nvSpPr>
        <p:spPr/>
        <p:txBody>
          <a:bodyPr/>
          <a:lstStyle/>
          <a:p>
            <a:r>
              <a:rPr lang="en-IN" dirty="0"/>
              <a:t>Cons</a:t>
            </a:r>
            <a:endParaRPr lang="en-US" dirty="0"/>
          </a:p>
        </p:txBody>
      </p:sp>
      <p:sp>
        <p:nvSpPr>
          <p:cNvPr id="6" name="Content Placeholder 5">
            <a:extLst>
              <a:ext uri="{FF2B5EF4-FFF2-40B4-BE49-F238E27FC236}">
                <a16:creationId xmlns:a16="http://schemas.microsoft.com/office/drawing/2014/main" id="{4B7C4C42-BA53-D779-9E91-46386F033533}"/>
              </a:ext>
            </a:extLst>
          </p:cNvPr>
          <p:cNvSpPr>
            <a:spLocks noGrp="1"/>
          </p:cNvSpPr>
          <p:nvPr>
            <p:ph sz="quarter" idx="4"/>
          </p:nvPr>
        </p:nvSpPr>
        <p:spPr/>
        <p:txBody>
          <a:bodyPr/>
          <a:lstStyle/>
          <a:p>
            <a:r>
              <a:rPr lang="en-IN" dirty="0"/>
              <a:t>Complex management due to communication protocols(SOAP).</a:t>
            </a:r>
          </a:p>
          <a:p>
            <a:r>
              <a:rPr lang="en-IN" dirty="0"/>
              <a:t>High investment costs due to vendor in middleware </a:t>
            </a:r>
          </a:p>
          <a:p>
            <a:r>
              <a:rPr lang="en-IN" dirty="0"/>
              <a:t>Extra overload</a:t>
            </a:r>
            <a:endParaRPr lang="en-US" dirty="0"/>
          </a:p>
        </p:txBody>
      </p:sp>
    </p:spTree>
    <p:extLst>
      <p:ext uri="{BB962C8B-B14F-4D97-AF65-F5344CB8AC3E}">
        <p14:creationId xmlns:p14="http://schemas.microsoft.com/office/powerpoint/2010/main" val="3255799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uiExpand="1" build="p"/>
      <p:bldP spid="5" grpId="0" build="p"/>
      <p:bldP spid="6"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D3F2FB"/>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765D92F3-5775-92F8-C2BC-28A312989EB6}"/>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The SOA (Service Oriented Architecture)</a:t>
            </a:r>
            <a:endParaRPr lang="en-US" dirty="0"/>
          </a:p>
        </p:txBody>
      </p:sp>
      <p:pic>
        <p:nvPicPr>
          <p:cNvPr id="16" name="Picture 15">
            <a:extLst>
              <a:ext uri="{FF2B5EF4-FFF2-40B4-BE49-F238E27FC236}">
                <a16:creationId xmlns:a16="http://schemas.microsoft.com/office/drawing/2014/main" id="{C20A4C63-CB63-3CB1-02C1-160F45C93463}"/>
              </a:ext>
            </a:extLst>
          </p:cNvPr>
          <p:cNvPicPr>
            <a:picLocks noChangeAspect="1"/>
          </p:cNvPicPr>
          <p:nvPr/>
        </p:nvPicPr>
        <p:blipFill>
          <a:blip r:embed="rId2"/>
          <a:stretch>
            <a:fillRect/>
          </a:stretch>
        </p:blipFill>
        <p:spPr>
          <a:xfrm>
            <a:off x="77757" y="1438139"/>
            <a:ext cx="1520886" cy="954975"/>
          </a:xfrm>
          <a:prstGeom prst="rect">
            <a:avLst/>
          </a:prstGeom>
        </p:spPr>
      </p:pic>
      <p:pic>
        <p:nvPicPr>
          <p:cNvPr id="17" name="Picture 16">
            <a:extLst>
              <a:ext uri="{FF2B5EF4-FFF2-40B4-BE49-F238E27FC236}">
                <a16:creationId xmlns:a16="http://schemas.microsoft.com/office/drawing/2014/main" id="{EBF4DF97-1B37-6798-D38B-D92D94AF6B78}"/>
              </a:ext>
            </a:extLst>
          </p:cNvPr>
          <p:cNvPicPr>
            <a:picLocks noChangeAspect="1"/>
          </p:cNvPicPr>
          <p:nvPr/>
        </p:nvPicPr>
        <p:blipFill>
          <a:blip r:embed="rId3"/>
          <a:stretch>
            <a:fillRect/>
          </a:stretch>
        </p:blipFill>
        <p:spPr>
          <a:xfrm>
            <a:off x="292413" y="2716300"/>
            <a:ext cx="1287512" cy="954976"/>
          </a:xfrm>
          <a:prstGeom prst="rect">
            <a:avLst/>
          </a:prstGeom>
        </p:spPr>
      </p:pic>
      <p:pic>
        <p:nvPicPr>
          <p:cNvPr id="18" name="Picture 17">
            <a:extLst>
              <a:ext uri="{FF2B5EF4-FFF2-40B4-BE49-F238E27FC236}">
                <a16:creationId xmlns:a16="http://schemas.microsoft.com/office/drawing/2014/main" id="{C34E5C17-FB5C-D5F3-9723-943DABF38A9A}"/>
              </a:ext>
            </a:extLst>
          </p:cNvPr>
          <p:cNvPicPr>
            <a:picLocks noChangeAspect="1"/>
          </p:cNvPicPr>
          <p:nvPr/>
        </p:nvPicPr>
        <p:blipFill>
          <a:blip r:embed="rId4"/>
          <a:stretch>
            <a:fillRect/>
          </a:stretch>
        </p:blipFill>
        <p:spPr>
          <a:xfrm>
            <a:off x="344476" y="4016958"/>
            <a:ext cx="1183385" cy="1003402"/>
          </a:xfrm>
          <a:prstGeom prst="rect">
            <a:avLst/>
          </a:prstGeom>
        </p:spPr>
      </p:pic>
      <p:pic>
        <p:nvPicPr>
          <p:cNvPr id="19" name="Picture 18">
            <a:extLst>
              <a:ext uri="{FF2B5EF4-FFF2-40B4-BE49-F238E27FC236}">
                <a16:creationId xmlns:a16="http://schemas.microsoft.com/office/drawing/2014/main" id="{D973F79D-EC7B-5B96-F2EC-AF2FBC89F0BE}"/>
              </a:ext>
            </a:extLst>
          </p:cNvPr>
          <p:cNvPicPr>
            <a:picLocks noChangeAspect="1"/>
          </p:cNvPicPr>
          <p:nvPr/>
        </p:nvPicPr>
        <p:blipFill>
          <a:blip r:embed="rId5"/>
          <a:stretch>
            <a:fillRect/>
          </a:stretch>
        </p:blipFill>
        <p:spPr>
          <a:xfrm>
            <a:off x="210453" y="5391988"/>
            <a:ext cx="1451429" cy="1113363"/>
          </a:xfrm>
          <a:prstGeom prst="rect">
            <a:avLst/>
          </a:prstGeom>
        </p:spPr>
      </p:pic>
      <p:pic>
        <p:nvPicPr>
          <p:cNvPr id="20" name="Picture 19">
            <a:extLst>
              <a:ext uri="{FF2B5EF4-FFF2-40B4-BE49-F238E27FC236}">
                <a16:creationId xmlns:a16="http://schemas.microsoft.com/office/drawing/2014/main" id="{C602216A-97EA-B5EE-200F-88686D40A503}"/>
              </a:ext>
            </a:extLst>
          </p:cNvPr>
          <p:cNvPicPr>
            <a:picLocks noChangeAspect="1"/>
          </p:cNvPicPr>
          <p:nvPr/>
        </p:nvPicPr>
        <p:blipFill>
          <a:blip r:embed="rId6"/>
          <a:stretch>
            <a:fillRect/>
          </a:stretch>
        </p:blipFill>
        <p:spPr>
          <a:xfrm>
            <a:off x="3676368" y="4252904"/>
            <a:ext cx="1648735" cy="689471"/>
          </a:xfrm>
          <a:prstGeom prst="rect">
            <a:avLst/>
          </a:prstGeom>
        </p:spPr>
      </p:pic>
      <p:pic>
        <p:nvPicPr>
          <p:cNvPr id="21" name="Picture 20">
            <a:extLst>
              <a:ext uri="{FF2B5EF4-FFF2-40B4-BE49-F238E27FC236}">
                <a16:creationId xmlns:a16="http://schemas.microsoft.com/office/drawing/2014/main" id="{D58B14E2-9789-A504-B3FE-3B5FBA5B415F}"/>
              </a:ext>
            </a:extLst>
          </p:cNvPr>
          <p:cNvPicPr>
            <a:picLocks noChangeAspect="1"/>
          </p:cNvPicPr>
          <p:nvPr/>
        </p:nvPicPr>
        <p:blipFill>
          <a:blip r:embed="rId7"/>
          <a:stretch>
            <a:fillRect/>
          </a:stretch>
        </p:blipFill>
        <p:spPr>
          <a:xfrm>
            <a:off x="6747338" y="4068577"/>
            <a:ext cx="954168" cy="1058124"/>
          </a:xfrm>
          <a:prstGeom prst="rect">
            <a:avLst/>
          </a:prstGeom>
        </p:spPr>
      </p:pic>
      <p:pic>
        <p:nvPicPr>
          <p:cNvPr id="35" name="Picture 34">
            <a:extLst>
              <a:ext uri="{FF2B5EF4-FFF2-40B4-BE49-F238E27FC236}">
                <a16:creationId xmlns:a16="http://schemas.microsoft.com/office/drawing/2014/main" id="{BAEEE3B3-F28F-E551-020C-E2D8B90617C8}"/>
              </a:ext>
            </a:extLst>
          </p:cNvPr>
          <p:cNvPicPr>
            <a:picLocks noChangeAspect="1"/>
          </p:cNvPicPr>
          <p:nvPr/>
        </p:nvPicPr>
        <p:blipFill>
          <a:blip r:embed="rId6"/>
          <a:stretch>
            <a:fillRect/>
          </a:stretch>
        </p:blipFill>
        <p:spPr>
          <a:xfrm>
            <a:off x="3580761" y="1570890"/>
            <a:ext cx="1648735" cy="689471"/>
          </a:xfrm>
          <a:prstGeom prst="rect">
            <a:avLst/>
          </a:prstGeom>
        </p:spPr>
      </p:pic>
      <p:pic>
        <p:nvPicPr>
          <p:cNvPr id="38" name="Picture 37">
            <a:extLst>
              <a:ext uri="{FF2B5EF4-FFF2-40B4-BE49-F238E27FC236}">
                <a16:creationId xmlns:a16="http://schemas.microsoft.com/office/drawing/2014/main" id="{5A46DBE4-96CF-C9EE-6D87-E28252C5B620}"/>
              </a:ext>
            </a:extLst>
          </p:cNvPr>
          <p:cNvPicPr>
            <a:picLocks noChangeAspect="1"/>
          </p:cNvPicPr>
          <p:nvPr/>
        </p:nvPicPr>
        <p:blipFill>
          <a:blip r:embed="rId7"/>
          <a:stretch>
            <a:fillRect/>
          </a:stretch>
        </p:blipFill>
        <p:spPr>
          <a:xfrm>
            <a:off x="6747338" y="1386564"/>
            <a:ext cx="954168" cy="1058124"/>
          </a:xfrm>
          <a:prstGeom prst="rect">
            <a:avLst/>
          </a:prstGeom>
        </p:spPr>
      </p:pic>
      <p:cxnSp>
        <p:nvCxnSpPr>
          <p:cNvPr id="40" name="Connector: Elbow 39">
            <a:extLst>
              <a:ext uri="{FF2B5EF4-FFF2-40B4-BE49-F238E27FC236}">
                <a16:creationId xmlns:a16="http://schemas.microsoft.com/office/drawing/2014/main" id="{F7124CCC-8E8C-48F6-9A6B-B1A7015CF949}"/>
              </a:ext>
            </a:extLst>
          </p:cNvPr>
          <p:cNvCxnSpPr>
            <a:cxnSpLocks/>
          </p:cNvCxnSpPr>
          <p:nvPr/>
        </p:nvCxnSpPr>
        <p:spPr>
          <a:xfrm>
            <a:off x="1579925" y="3338504"/>
            <a:ext cx="2000836" cy="1259136"/>
          </a:xfrm>
          <a:prstGeom prst="bentConnector3">
            <a:avLst>
              <a:gd name="adj1" fmla="val 5261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43" name="Connector: Elbow 42">
            <a:extLst>
              <a:ext uri="{FF2B5EF4-FFF2-40B4-BE49-F238E27FC236}">
                <a16:creationId xmlns:a16="http://schemas.microsoft.com/office/drawing/2014/main" id="{CE6139EC-238A-4948-9CE1-A69B2DFC12FE}"/>
              </a:ext>
            </a:extLst>
          </p:cNvPr>
          <p:cNvCxnSpPr>
            <a:stCxn id="19" idx="3"/>
          </p:cNvCxnSpPr>
          <p:nvPr/>
        </p:nvCxnSpPr>
        <p:spPr>
          <a:xfrm flipV="1">
            <a:off x="1661882" y="4597640"/>
            <a:ext cx="1918879" cy="1351030"/>
          </a:xfrm>
          <a:prstGeom prst="bentConnector3">
            <a:avLst>
              <a:gd name="adj1" fmla="val 50454"/>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684F806E-C3AA-A5F6-73F8-50E5B3F0D40E}"/>
              </a:ext>
            </a:extLst>
          </p:cNvPr>
          <p:cNvCxnSpPr>
            <a:cxnSpLocks/>
          </p:cNvCxnSpPr>
          <p:nvPr/>
        </p:nvCxnSpPr>
        <p:spPr>
          <a:xfrm flipH="1">
            <a:off x="1624151" y="4597640"/>
            <a:ext cx="1895465"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A847FF7B-739D-9FD3-EAE0-15D0DD66B47F}"/>
              </a:ext>
            </a:extLst>
          </p:cNvPr>
          <p:cNvCxnSpPr>
            <a:stCxn id="16" idx="3"/>
            <a:endCxn id="35" idx="1"/>
          </p:cNvCxnSpPr>
          <p:nvPr/>
        </p:nvCxnSpPr>
        <p:spPr>
          <a:xfrm flipV="1">
            <a:off x="1598643" y="1915626"/>
            <a:ext cx="1982118" cy="1"/>
          </a:xfrm>
          <a:prstGeom prst="straightConnector1">
            <a:avLst/>
          </a:prstGeom>
          <a:ln w="127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D48FF522-27D0-800C-F7F7-C02080894394}"/>
              </a:ext>
            </a:extLst>
          </p:cNvPr>
          <p:cNvCxnSpPr>
            <a:stCxn id="35" idx="3"/>
            <a:endCxn id="38" idx="1"/>
          </p:cNvCxnSpPr>
          <p:nvPr/>
        </p:nvCxnSpPr>
        <p:spPr>
          <a:xfrm>
            <a:off x="5229496" y="1915626"/>
            <a:ext cx="1517842" cy="0"/>
          </a:xfrm>
          <a:prstGeom prst="straightConnector1">
            <a:avLst/>
          </a:prstGeom>
          <a:ln w="12700">
            <a:solidFill>
              <a:srgbClr val="0070C0"/>
            </a:solidFill>
            <a:tailEnd type="triangle"/>
          </a:ln>
        </p:spPr>
        <p:style>
          <a:lnRef idx="1">
            <a:schemeClr val="accent1"/>
          </a:lnRef>
          <a:fillRef idx="0">
            <a:schemeClr val="accent1"/>
          </a:fillRef>
          <a:effectRef idx="0">
            <a:schemeClr val="accent1"/>
          </a:effectRef>
          <a:fontRef idx="minor">
            <a:schemeClr val="tx1"/>
          </a:fontRef>
        </p:style>
      </p:cxnSp>
      <p:pic>
        <p:nvPicPr>
          <p:cNvPr id="57" name="Picture 56">
            <a:extLst>
              <a:ext uri="{FF2B5EF4-FFF2-40B4-BE49-F238E27FC236}">
                <a16:creationId xmlns:a16="http://schemas.microsoft.com/office/drawing/2014/main" id="{08944AD0-4420-287C-0E8C-B3303C660D82}"/>
              </a:ext>
            </a:extLst>
          </p:cNvPr>
          <p:cNvPicPr>
            <a:picLocks noChangeAspect="1"/>
          </p:cNvPicPr>
          <p:nvPr/>
        </p:nvPicPr>
        <p:blipFill>
          <a:blip r:embed="rId8"/>
          <a:stretch>
            <a:fillRect/>
          </a:stretch>
        </p:blipFill>
        <p:spPr>
          <a:xfrm>
            <a:off x="9360599" y="1518498"/>
            <a:ext cx="1834748" cy="794253"/>
          </a:xfrm>
          <a:prstGeom prst="rect">
            <a:avLst/>
          </a:prstGeom>
        </p:spPr>
      </p:pic>
      <p:pic>
        <p:nvPicPr>
          <p:cNvPr id="59" name="Picture 58">
            <a:extLst>
              <a:ext uri="{FF2B5EF4-FFF2-40B4-BE49-F238E27FC236}">
                <a16:creationId xmlns:a16="http://schemas.microsoft.com/office/drawing/2014/main" id="{00A96B05-C0BD-C87D-5605-A58279572322}"/>
              </a:ext>
            </a:extLst>
          </p:cNvPr>
          <p:cNvPicPr>
            <a:picLocks noChangeAspect="1"/>
          </p:cNvPicPr>
          <p:nvPr/>
        </p:nvPicPr>
        <p:blipFill>
          <a:blip r:embed="rId9"/>
          <a:stretch>
            <a:fillRect/>
          </a:stretch>
        </p:blipFill>
        <p:spPr>
          <a:xfrm>
            <a:off x="9373168" y="4079458"/>
            <a:ext cx="1809610" cy="1881803"/>
          </a:xfrm>
          <a:prstGeom prst="rect">
            <a:avLst/>
          </a:prstGeom>
        </p:spPr>
      </p:pic>
      <p:cxnSp>
        <p:nvCxnSpPr>
          <p:cNvPr id="61" name="Straight Arrow Connector 60">
            <a:extLst>
              <a:ext uri="{FF2B5EF4-FFF2-40B4-BE49-F238E27FC236}">
                <a16:creationId xmlns:a16="http://schemas.microsoft.com/office/drawing/2014/main" id="{57D14CE9-9DDE-6BE3-3A36-45F5D8E98E58}"/>
              </a:ext>
            </a:extLst>
          </p:cNvPr>
          <p:cNvCxnSpPr>
            <a:stCxn id="20" idx="3"/>
            <a:endCxn id="21" idx="1"/>
          </p:cNvCxnSpPr>
          <p:nvPr/>
        </p:nvCxnSpPr>
        <p:spPr>
          <a:xfrm flipV="1">
            <a:off x="5325103" y="4597639"/>
            <a:ext cx="1422235" cy="1"/>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57290ED8-82E0-0A52-B2DC-CF06A278A9B1}"/>
              </a:ext>
            </a:extLst>
          </p:cNvPr>
          <p:cNvCxnSpPr>
            <a:stCxn id="38" idx="3"/>
            <a:endCxn id="57" idx="1"/>
          </p:cNvCxnSpPr>
          <p:nvPr/>
        </p:nvCxnSpPr>
        <p:spPr>
          <a:xfrm flipV="1">
            <a:off x="7701506" y="1915625"/>
            <a:ext cx="1659093" cy="1"/>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669072E6-4941-5A45-8F52-50C9D1BF8894}"/>
              </a:ext>
            </a:extLst>
          </p:cNvPr>
          <p:cNvCxnSpPr>
            <a:stCxn id="21" idx="3"/>
          </p:cNvCxnSpPr>
          <p:nvPr/>
        </p:nvCxnSpPr>
        <p:spPr>
          <a:xfrm>
            <a:off x="7701506" y="4597639"/>
            <a:ext cx="1634083"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pic>
        <p:nvPicPr>
          <p:cNvPr id="70" name="Picture 69">
            <a:extLst>
              <a:ext uri="{FF2B5EF4-FFF2-40B4-BE49-F238E27FC236}">
                <a16:creationId xmlns:a16="http://schemas.microsoft.com/office/drawing/2014/main" id="{1C45BEF9-BF9F-8F54-97A6-839947C3F6A7}"/>
              </a:ext>
            </a:extLst>
          </p:cNvPr>
          <p:cNvPicPr>
            <a:picLocks noChangeAspect="1"/>
          </p:cNvPicPr>
          <p:nvPr/>
        </p:nvPicPr>
        <p:blipFill>
          <a:blip r:embed="rId10"/>
          <a:stretch>
            <a:fillRect/>
          </a:stretch>
        </p:blipFill>
        <p:spPr>
          <a:xfrm>
            <a:off x="9407589" y="2917375"/>
            <a:ext cx="1740768" cy="621958"/>
          </a:xfrm>
          <a:prstGeom prst="rect">
            <a:avLst/>
          </a:prstGeom>
        </p:spPr>
      </p:pic>
      <p:cxnSp>
        <p:nvCxnSpPr>
          <p:cNvPr id="72" name="Straight Arrow Connector 71">
            <a:extLst>
              <a:ext uri="{FF2B5EF4-FFF2-40B4-BE49-F238E27FC236}">
                <a16:creationId xmlns:a16="http://schemas.microsoft.com/office/drawing/2014/main" id="{B63FCC56-1327-50A7-3197-23CDC1BA9D5B}"/>
              </a:ext>
            </a:extLst>
          </p:cNvPr>
          <p:cNvCxnSpPr>
            <a:stCxn id="57" idx="2"/>
            <a:endCxn id="70" idx="0"/>
          </p:cNvCxnSpPr>
          <p:nvPr/>
        </p:nvCxnSpPr>
        <p:spPr>
          <a:xfrm>
            <a:off x="10277973" y="2312751"/>
            <a:ext cx="0" cy="604624"/>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86B594F7-A1F3-1503-1699-73676587FA79}"/>
              </a:ext>
            </a:extLst>
          </p:cNvPr>
          <p:cNvCxnSpPr>
            <a:stCxn id="70" idx="2"/>
            <a:endCxn id="59" idx="0"/>
          </p:cNvCxnSpPr>
          <p:nvPr/>
        </p:nvCxnSpPr>
        <p:spPr>
          <a:xfrm>
            <a:off x="10277973" y="3539333"/>
            <a:ext cx="0" cy="54012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79" name="TextBox 78">
            <a:extLst>
              <a:ext uri="{FF2B5EF4-FFF2-40B4-BE49-F238E27FC236}">
                <a16:creationId xmlns:a16="http://schemas.microsoft.com/office/drawing/2014/main" id="{0824BA9B-F56E-810B-ED29-1D1E8DEAF0C7}"/>
              </a:ext>
            </a:extLst>
          </p:cNvPr>
          <p:cNvSpPr txBox="1"/>
          <p:nvPr/>
        </p:nvSpPr>
        <p:spPr>
          <a:xfrm>
            <a:off x="3807340" y="2208448"/>
            <a:ext cx="1116972" cy="307777"/>
          </a:xfrm>
          <a:prstGeom prst="rect">
            <a:avLst/>
          </a:prstGeom>
          <a:noFill/>
        </p:spPr>
        <p:txBody>
          <a:bodyPr wrap="none" rtlCol="0">
            <a:spAutoFit/>
          </a:bodyPr>
          <a:lstStyle/>
          <a:p>
            <a:r>
              <a:rPr lang="en-IN" sz="1400" dirty="0"/>
              <a:t>UI code repo</a:t>
            </a:r>
            <a:endParaRPr lang="en-US" sz="1400" dirty="0"/>
          </a:p>
        </p:txBody>
      </p:sp>
      <p:sp>
        <p:nvSpPr>
          <p:cNvPr id="80" name="TextBox 79">
            <a:extLst>
              <a:ext uri="{FF2B5EF4-FFF2-40B4-BE49-F238E27FC236}">
                <a16:creationId xmlns:a16="http://schemas.microsoft.com/office/drawing/2014/main" id="{32BA5D23-7E9E-3123-5F6E-61840CAE6DA0}"/>
              </a:ext>
            </a:extLst>
          </p:cNvPr>
          <p:cNvSpPr txBox="1"/>
          <p:nvPr/>
        </p:nvSpPr>
        <p:spPr>
          <a:xfrm>
            <a:off x="3594108" y="4899128"/>
            <a:ext cx="1813253" cy="307777"/>
          </a:xfrm>
          <a:prstGeom prst="rect">
            <a:avLst/>
          </a:prstGeom>
          <a:noFill/>
        </p:spPr>
        <p:txBody>
          <a:bodyPr wrap="none" rtlCol="0">
            <a:spAutoFit/>
          </a:bodyPr>
          <a:lstStyle/>
          <a:p>
            <a:r>
              <a:rPr lang="en-IN" sz="1400" dirty="0"/>
              <a:t>Backend Services repo</a:t>
            </a:r>
            <a:endParaRPr lang="en-US" sz="1400" dirty="0"/>
          </a:p>
        </p:txBody>
      </p:sp>
      <p:sp>
        <p:nvSpPr>
          <p:cNvPr id="81" name="TextBox 80">
            <a:extLst>
              <a:ext uri="{FF2B5EF4-FFF2-40B4-BE49-F238E27FC236}">
                <a16:creationId xmlns:a16="http://schemas.microsoft.com/office/drawing/2014/main" id="{9BFD9152-9BB5-F5C9-FD1D-9C70E84BEE5C}"/>
              </a:ext>
            </a:extLst>
          </p:cNvPr>
          <p:cNvSpPr txBox="1"/>
          <p:nvPr/>
        </p:nvSpPr>
        <p:spPr>
          <a:xfrm>
            <a:off x="3424644" y="5243863"/>
            <a:ext cx="5342712" cy="954107"/>
          </a:xfrm>
          <a:prstGeom prst="rect">
            <a:avLst/>
          </a:prstGeom>
          <a:noFill/>
          <a:ln>
            <a:solidFill>
              <a:srgbClr val="0070C0"/>
            </a:solidFill>
          </a:ln>
        </p:spPr>
        <p:txBody>
          <a:bodyPr wrap="square" rtlCol="0">
            <a:spAutoFit/>
          </a:bodyPr>
          <a:lstStyle>
            <a:defPPr>
              <a:defRPr lang="en-US"/>
            </a:defPPr>
            <a:lvl1pPr algn="just">
              <a:defRPr sz="1600"/>
            </a:lvl1pPr>
          </a:lstStyle>
          <a:p>
            <a:r>
              <a:rPr lang="en-IN" dirty="0"/>
              <a:t>SOA teams aimed to create smaller services, yet they remained tightly coupled to a shared database and required deploying everything as cohesive unit. While they followed a service oriented approach, it cannot be classified as microservices.</a:t>
            </a:r>
            <a:endParaRPr lang="en-US" dirty="0"/>
          </a:p>
        </p:txBody>
      </p:sp>
      <p:sp>
        <p:nvSpPr>
          <p:cNvPr id="82" name="TextBox 81">
            <a:extLst>
              <a:ext uri="{FF2B5EF4-FFF2-40B4-BE49-F238E27FC236}">
                <a16:creationId xmlns:a16="http://schemas.microsoft.com/office/drawing/2014/main" id="{C811F4DD-FA0D-1F33-AA47-0552E61301E7}"/>
              </a:ext>
            </a:extLst>
          </p:cNvPr>
          <p:cNvSpPr txBox="1"/>
          <p:nvPr/>
        </p:nvSpPr>
        <p:spPr>
          <a:xfrm>
            <a:off x="-10162" y="2259785"/>
            <a:ext cx="2010422" cy="369332"/>
          </a:xfrm>
          <a:prstGeom prst="rect">
            <a:avLst/>
          </a:prstGeom>
          <a:noFill/>
        </p:spPr>
        <p:txBody>
          <a:bodyPr wrap="none" rtlCol="0">
            <a:spAutoFit/>
          </a:bodyPr>
          <a:lstStyle/>
          <a:p>
            <a:r>
              <a:rPr lang="en-IN" dirty="0"/>
              <a:t>Accounts Dev Team</a:t>
            </a:r>
            <a:endParaRPr lang="en-US" dirty="0"/>
          </a:p>
        </p:txBody>
      </p:sp>
      <p:sp>
        <p:nvSpPr>
          <p:cNvPr id="83" name="TextBox 82">
            <a:extLst>
              <a:ext uri="{FF2B5EF4-FFF2-40B4-BE49-F238E27FC236}">
                <a16:creationId xmlns:a16="http://schemas.microsoft.com/office/drawing/2014/main" id="{8222A731-286C-A32A-1BEE-07F16EFD7E65}"/>
              </a:ext>
            </a:extLst>
          </p:cNvPr>
          <p:cNvSpPr txBox="1"/>
          <p:nvPr/>
        </p:nvSpPr>
        <p:spPr>
          <a:xfrm>
            <a:off x="0" y="3573793"/>
            <a:ext cx="1695464" cy="369332"/>
          </a:xfrm>
          <a:prstGeom prst="rect">
            <a:avLst/>
          </a:prstGeom>
          <a:noFill/>
        </p:spPr>
        <p:txBody>
          <a:bodyPr wrap="none" rtlCol="0">
            <a:spAutoFit/>
          </a:bodyPr>
          <a:lstStyle/>
          <a:p>
            <a:r>
              <a:rPr lang="en-IN" dirty="0"/>
              <a:t>Loans Dev Team</a:t>
            </a:r>
            <a:endParaRPr lang="en-US" dirty="0"/>
          </a:p>
        </p:txBody>
      </p:sp>
      <p:sp>
        <p:nvSpPr>
          <p:cNvPr id="84" name="TextBox 83">
            <a:extLst>
              <a:ext uri="{FF2B5EF4-FFF2-40B4-BE49-F238E27FC236}">
                <a16:creationId xmlns:a16="http://schemas.microsoft.com/office/drawing/2014/main" id="{D54992F8-0595-B346-D109-2A886BBCE605}"/>
              </a:ext>
            </a:extLst>
          </p:cNvPr>
          <p:cNvSpPr txBox="1"/>
          <p:nvPr/>
        </p:nvSpPr>
        <p:spPr>
          <a:xfrm>
            <a:off x="-10162" y="5007010"/>
            <a:ext cx="1676293" cy="369332"/>
          </a:xfrm>
          <a:prstGeom prst="rect">
            <a:avLst/>
          </a:prstGeom>
          <a:noFill/>
        </p:spPr>
        <p:txBody>
          <a:bodyPr wrap="none" rtlCol="0">
            <a:spAutoFit/>
          </a:bodyPr>
          <a:lstStyle/>
          <a:p>
            <a:r>
              <a:rPr lang="en-IN" dirty="0"/>
              <a:t>Cards Dev Team</a:t>
            </a:r>
            <a:endParaRPr lang="en-US" dirty="0"/>
          </a:p>
        </p:txBody>
      </p:sp>
      <p:sp>
        <p:nvSpPr>
          <p:cNvPr id="85" name="TextBox 84">
            <a:extLst>
              <a:ext uri="{FF2B5EF4-FFF2-40B4-BE49-F238E27FC236}">
                <a16:creationId xmlns:a16="http://schemas.microsoft.com/office/drawing/2014/main" id="{9636803E-DF80-5E60-578A-BB88C22CB004}"/>
              </a:ext>
            </a:extLst>
          </p:cNvPr>
          <p:cNvSpPr txBox="1"/>
          <p:nvPr/>
        </p:nvSpPr>
        <p:spPr>
          <a:xfrm>
            <a:off x="-10162" y="6440227"/>
            <a:ext cx="1716304" cy="369332"/>
          </a:xfrm>
          <a:prstGeom prst="rect">
            <a:avLst/>
          </a:prstGeom>
          <a:noFill/>
        </p:spPr>
        <p:txBody>
          <a:bodyPr wrap="none" rtlCol="0">
            <a:spAutoFit/>
          </a:bodyPr>
          <a:lstStyle/>
          <a:p>
            <a:r>
              <a:rPr lang="en-IN" dirty="0"/>
              <a:t>UI/UX Dev Team</a:t>
            </a:r>
            <a:endParaRPr lang="en-US" dirty="0"/>
          </a:p>
        </p:txBody>
      </p:sp>
    </p:spTree>
    <p:extLst>
      <p:ext uri="{BB962C8B-B14F-4D97-AF65-F5344CB8AC3E}">
        <p14:creationId xmlns:p14="http://schemas.microsoft.com/office/powerpoint/2010/main" val="4122523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8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8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9"/>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85"/>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40"/>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50"/>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43"/>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20"/>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80"/>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61"/>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21"/>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67"/>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59"/>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72"/>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70"/>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74"/>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 grpId="0"/>
      <p:bldP spid="80" grpId="0"/>
      <p:bldP spid="81" grpId="0" animBg="1"/>
      <p:bldP spid="82" grpId="0"/>
      <p:bldP spid="83" grpId="0"/>
      <p:bldP spid="84" grpId="0"/>
      <p:bldP spid="85"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D3F2F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09C9E4-5019-DCD2-329A-AB0E94C4C456}"/>
              </a:ext>
            </a:extLst>
          </p:cNvPr>
          <p:cNvSpPr>
            <a:spLocks noGrp="1"/>
          </p:cNvSpPr>
          <p:nvPr>
            <p:ph type="title"/>
          </p:nvPr>
        </p:nvSpPr>
        <p:spPr>
          <a:xfrm>
            <a:off x="839788" y="457200"/>
            <a:ext cx="4973183" cy="1600200"/>
          </a:xfrm>
        </p:spPr>
        <p:txBody>
          <a:bodyPr/>
          <a:lstStyle/>
          <a:p>
            <a:r>
              <a:rPr lang="en-IN" dirty="0"/>
              <a:t>The Great Microservices</a:t>
            </a:r>
            <a:endParaRPr lang="en-US" dirty="0"/>
          </a:p>
        </p:txBody>
      </p:sp>
      <p:sp>
        <p:nvSpPr>
          <p:cNvPr id="4" name="Text Placeholder 3">
            <a:extLst>
              <a:ext uri="{FF2B5EF4-FFF2-40B4-BE49-F238E27FC236}">
                <a16:creationId xmlns:a16="http://schemas.microsoft.com/office/drawing/2014/main" id="{7AAB9F6E-A05A-0446-0227-D02EB17BE807}"/>
              </a:ext>
            </a:extLst>
          </p:cNvPr>
          <p:cNvSpPr>
            <a:spLocks noGrp="1"/>
          </p:cNvSpPr>
          <p:nvPr>
            <p:ph type="body" sz="half" idx="2"/>
          </p:nvPr>
        </p:nvSpPr>
        <p:spPr>
          <a:xfrm>
            <a:off x="839788" y="2057400"/>
            <a:ext cx="7019698" cy="3811588"/>
          </a:xfrm>
        </p:spPr>
        <p:txBody>
          <a:bodyPr/>
          <a:lstStyle/>
          <a:p>
            <a:pPr marL="285750" indent="-285750">
              <a:buFont typeface="Arial" panose="020B0604020202020204" pitchFamily="34" charset="0"/>
              <a:buChar char="•"/>
            </a:pPr>
            <a:r>
              <a:rPr lang="en-IN" dirty="0"/>
              <a:t>Microservices are independently releasable services that are modelled around business domain.</a:t>
            </a:r>
          </a:p>
          <a:p>
            <a:pPr marL="285750" indent="-285750">
              <a:buFont typeface="Arial" panose="020B0604020202020204" pitchFamily="34" charset="0"/>
              <a:buChar char="•"/>
            </a:pPr>
            <a:r>
              <a:rPr lang="en-IN" dirty="0"/>
              <a:t>A service encapsulates functionality and makes it accessible to other services via networks – you construct more complex systems from these building blocks.</a:t>
            </a:r>
          </a:p>
          <a:p>
            <a:pPr marL="285750" indent="-285750">
              <a:buFont typeface="Arial" panose="020B0604020202020204" pitchFamily="34" charset="0"/>
              <a:buChar char="•"/>
            </a:pPr>
            <a:r>
              <a:rPr lang="en-IN" dirty="0"/>
              <a:t>One microservice might represents Accounts, another Cards and yet another Loans, but together they might constitute an entire bank system.</a:t>
            </a:r>
            <a:endParaRPr lang="en-US" dirty="0"/>
          </a:p>
        </p:txBody>
      </p:sp>
      <p:pic>
        <p:nvPicPr>
          <p:cNvPr id="6" name="Picture 5">
            <a:extLst>
              <a:ext uri="{FF2B5EF4-FFF2-40B4-BE49-F238E27FC236}">
                <a16:creationId xmlns:a16="http://schemas.microsoft.com/office/drawing/2014/main" id="{E2BE2D37-FA3A-FF97-0042-37020F0DF149}"/>
              </a:ext>
            </a:extLst>
          </p:cNvPr>
          <p:cNvPicPr>
            <a:picLocks noChangeAspect="1"/>
          </p:cNvPicPr>
          <p:nvPr/>
        </p:nvPicPr>
        <p:blipFill>
          <a:blip r:embed="rId2"/>
          <a:stretch>
            <a:fillRect/>
          </a:stretch>
        </p:blipFill>
        <p:spPr>
          <a:xfrm>
            <a:off x="8145363" y="1027611"/>
            <a:ext cx="2878535" cy="4902926"/>
          </a:xfrm>
          <a:prstGeom prst="rect">
            <a:avLst/>
          </a:prstGeom>
        </p:spPr>
      </p:pic>
    </p:spTree>
    <p:extLst>
      <p:ext uri="{BB962C8B-B14F-4D97-AF65-F5344CB8AC3E}">
        <p14:creationId xmlns:p14="http://schemas.microsoft.com/office/powerpoint/2010/main" val="948631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D3F2F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B0990-95FE-E6D1-CBEE-0BFE25E3438D}"/>
              </a:ext>
            </a:extLst>
          </p:cNvPr>
          <p:cNvSpPr>
            <a:spLocks noGrp="1"/>
          </p:cNvSpPr>
          <p:nvPr>
            <p:ph type="title"/>
          </p:nvPr>
        </p:nvSpPr>
        <p:spPr/>
        <p:txBody>
          <a:bodyPr/>
          <a:lstStyle/>
          <a:p>
            <a:r>
              <a:rPr lang="en-IN" dirty="0"/>
              <a:t>The Great Microservices</a:t>
            </a:r>
            <a:endParaRPr lang="en-US" dirty="0"/>
          </a:p>
        </p:txBody>
      </p:sp>
      <p:sp>
        <p:nvSpPr>
          <p:cNvPr id="5" name="Text Placeholder 4">
            <a:extLst>
              <a:ext uri="{FF2B5EF4-FFF2-40B4-BE49-F238E27FC236}">
                <a16:creationId xmlns:a16="http://schemas.microsoft.com/office/drawing/2014/main" id="{DCBE84E7-1E0A-1306-502B-658BF8754D9B}"/>
              </a:ext>
            </a:extLst>
          </p:cNvPr>
          <p:cNvSpPr>
            <a:spLocks noGrp="1"/>
          </p:cNvSpPr>
          <p:nvPr>
            <p:ph type="body" idx="1"/>
          </p:nvPr>
        </p:nvSpPr>
        <p:spPr/>
        <p:txBody>
          <a:bodyPr/>
          <a:lstStyle/>
          <a:p>
            <a:r>
              <a:rPr lang="en-IN" dirty="0"/>
              <a:t>Pros</a:t>
            </a:r>
            <a:endParaRPr lang="en-US" dirty="0"/>
          </a:p>
        </p:txBody>
      </p:sp>
      <p:sp>
        <p:nvSpPr>
          <p:cNvPr id="6" name="Content Placeholder 5">
            <a:extLst>
              <a:ext uri="{FF2B5EF4-FFF2-40B4-BE49-F238E27FC236}">
                <a16:creationId xmlns:a16="http://schemas.microsoft.com/office/drawing/2014/main" id="{F7025044-5A67-FAE3-618C-D5F15B92A2E2}"/>
              </a:ext>
            </a:extLst>
          </p:cNvPr>
          <p:cNvSpPr>
            <a:spLocks noGrp="1"/>
          </p:cNvSpPr>
          <p:nvPr>
            <p:ph sz="half" idx="2"/>
          </p:nvPr>
        </p:nvSpPr>
        <p:spPr/>
        <p:txBody>
          <a:bodyPr/>
          <a:lstStyle/>
          <a:p>
            <a:r>
              <a:rPr lang="en-IN" dirty="0"/>
              <a:t>Easy to develop, test and deploy</a:t>
            </a:r>
          </a:p>
          <a:p>
            <a:r>
              <a:rPr lang="en-IN" dirty="0"/>
              <a:t>Increased agility</a:t>
            </a:r>
          </a:p>
          <a:p>
            <a:r>
              <a:rPr lang="en-IN" dirty="0"/>
              <a:t>Ability to scale horizontally</a:t>
            </a:r>
          </a:p>
          <a:p>
            <a:r>
              <a:rPr lang="en-IN" dirty="0"/>
              <a:t>Parallel development</a:t>
            </a:r>
          </a:p>
          <a:p>
            <a:r>
              <a:rPr lang="en-IN" dirty="0"/>
              <a:t>Modelled around a business domain </a:t>
            </a:r>
            <a:endParaRPr lang="en-US" dirty="0"/>
          </a:p>
        </p:txBody>
      </p:sp>
      <p:sp>
        <p:nvSpPr>
          <p:cNvPr id="7" name="Text Placeholder 6">
            <a:extLst>
              <a:ext uri="{FF2B5EF4-FFF2-40B4-BE49-F238E27FC236}">
                <a16:creationId xmlns:a16="http://schemas.microsoft.com/office/drawing/2014/main" id="{7690F284-6BA4-0D5B-DA3B-B4C4F72CF087}"/>
              </a:ext>
            </a:extLst>
          </p:cNvPr>
          <p:cNvSpPr>
            <a:spLocks noGrp="1"/>
          </p:cNvSpPr>
          <p:nvPr>
            <p:ph type="body" sz="quarter" idx="3"/>
          </p:nvPr>
        </p:nvSpPr>
        <p:spPr/>
        <p:txBody>
          <a:bodyPr/>
          <a:lstStyle/>
          <a:p>
            <a:r>
              <a:rPr lang="en-IN" dirty="0"/>
              <a:t>Cons</a:t>
            </a:r>
            <a:endParaRPr lang="en-US" dirty="0"/>
          </a:p>
        </p:txBody>
      </p:sp>
      <p:sp>
        <p:nvSpPr>
          <p:cNvPr id="8" name="Content Placeholder 7">
            <a:extLst>
              <a:ext uri="{FF2B5EF4-FFF2-40B4-BE49-F238E27FC236}">
                <a16:creationId xmlns:a16="http://schemas.microsoft.com/office/drawing/2014/main" id="{C5195359-ADBA-7F9B-73DF-361816668A0D}"/>
              </a:ext>
            </a:extLst>
          </p:cNvPr>
          <p:cNvSpPr>
            <a:spLocks noGrp="1"/>
          </p:cNvSpPr>
          <p:nvPr>
            <p:ph sz="quarter" idx="4"/>
          </p:nvPr>
        </p:nvSpPr>
        <p:spPr/>
        <p:txBody>
          <a:bodyPr/>
          <a:lstStyle/>
          <a:p>
            <a:r>
              <a:rPr lang="en-IN" dirty="0"/>
              <a:t>Complexity</a:t>
            </a:r>
          </a:p>
          <a:p>
            <a:r>
              <a:rPr lang="en-IN" dirty="0"/>
              <a:t>Infrastructure overhead</a:t>
            </a:r>
          </a:p>
          <a:p>
            <a:r>
              <a:rPr lang="en-IN" dirty="0"/>
              <a:t>Security concerns</a:t>
            </a:r>
            <a:endParaRPr lang="en-US" dirty="0"/>
          </a:p>
        </p:txBody>
      </p:sp>
    </p:spTree>
    <p:extLst>
      <p:ext uri="{BB962C8B-B14F-4D97-AF65-F5344CB8AC3E}">
        <p14:creationId xmlns:p14="http://schemas.microsoft.com/office/powerpoint/2010/main" val="1972982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uiExpand="1" build="p"/>
      <p:bldP spid="7" grpId="0" build="p"/>
      <p:bldP spid="8"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D3F2F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58DDA-9963-FB49-FD3F-C73D7C89D7D2}"/>
              </a:ext>
            </a:extLst>
          </p:cNvPr>
          <p:cNvSpPr>
            <a:spLocks noGrp="1"/>
          </p:cNvSpPr>
          <p:nvPr>
            <p:ph type="title"/>
          </p:nvPr>
        </p:nvSpPr>
        <p:spPr/>
        <p:txBody>
          <a:bodyPr/>
          <a:lstStyle/>
          <a:p>
            <a:r>
              <a:rPr lang="en-IN" dirty="0"/>
              <a:t>The Great Microservices</a:t>
            </a:r>
            <a:endParaRPr lang="en-US" dirty="0"/>
          </a:p>
        </p:txBody>
      </p:sp>
      <p:pic>
        <p:nvPicPr>
          <p:cNvPr id="4" name="Picture 3">
            <a:extLst>
              <a:ext uri="{FF2B5EF4-FFF2-40B4-BE49-F238E27FC236}">
                <a16:creationId xmlns:a16="http://schemas.microsoft.com/office/drawing/2014/main" id="{4E62306F-8031-341B-5177-EBBE7DAAA0C5}"/>
              </a:ext>
            </a:extLst>
          </p:cNvPr>
          <p:cNvPicPr>
            <a:picLocks noChangeAspect="1"/>
          </p:cNvPicPr>
          <p:nvPr/>
        </p:nvPicPr>
        <p:blipFill>
          <a:blip r:embed="rId2"/>
          <a:stretch>
            <a:fillRect/>
          </a:stretch>
        </p:blipFill>
        <p:spPr>
          <a:xfrm>
            <a:off x="67541" y="5402624"/>
            <a:ext cx="1520886" cy="954975"/>
          </a:xfrm>
          <a:prstGeom prst="rect">
            <a:avLst/>
          </a:prstGeom>
        </p:spPr>
      </p:pic>
      <p:pic>
        <p:nvPicPr>
          <p:cNvPr id="5" name="Picture 4">
            <a:extLst>
              <a:ext uri="{FF2B5EF4-FFF2-40B4-BE49-F238E27FC236}">
                <a16:creationId xmlns:a16="http://schemas.microsoft.com/office/drawing/2014/main" id="{55022540-42CA-636D-A402-7B923CA13274}"/>
              </a:ext>
            </a:extLst>
          </p:cNvPr>
          <p:cNvPicPr>
            <a:picLocks noChangeAspect="1"/>
          </p:cNvPicPr>
          <p:nvPr/>
        </p:nvPicPr>
        <p:blipFill>
          <a:blip r:embed="rId3"/>
          <a:stretch>
            <a:fillRect/>
          </a:stretch>
        </p:blipFill>
        <p:spPr>
          <a:xfrm>
            <a:off x="3580761" y="1570890"/>
            <a:ext cx="1648735" cy="689471"/>
          </a:xfrm>
          <a:prstGeom prst="rect">
            <a:avLst/>
          </a:prstGeom>
        </p:spPr>
      </p:pic>
      <p:pic>
        <p:nvPicPr>
          <p:cNvPr id="6" name="Picture 5">
            <a:extLst>
              <a:ext uri="{FF2B5EF4-FFF2-40B4-BE49-F238E27FC236}">
                <a16:creationId xmlns:a16="http://schemas.microsoft.com/office/drawing/2014/main" id="{0CA33942-082B-EB3F-29E8-47F70BD17D1F}"/>
              </a:ext>
            </a:extLst>
          </p:cNvPr>
          <p:cNvPicPr>
            <a:picLocks noChangeAspect="1"/>
          </p:cNvPicPr>
          <p:nvPr/>
        </p:nvPicPr>
        <p:blipFill>
          <a:blip r:embed="rId4"/>
          <a:stretch>
            <a:fillRect/>
          </a:stretch>
        </p:blipFill>
        <p:spPr>
          <a:xfrm>
            <a:off x="6747338" y="1386564"/>
            <a:ext cx="954168" cy="1058124"/>
          </a:xfrm>
          <a:prstGeom prst="rect">
            <a:avLst/>
          </a:prstGeom>
        </p:spPr>
      </p:pic>
      <p:cxnSp>
        <p:nvCxnSpPr>
          <p:cNvPr id="8" name="Straight Arrow Connector 7">
            <a:extLst>
              <a:ext uri="{FF2B5EF4-FFF2-40B4-BE49-F238E27FC236}">
                <a16:creationId xmlns:a16="http://schemas.microsoft.com/office/drawing/2014/main" id="{8E60CE97-60FB-183C-C88E-9F35F43D72D9}"/>
              </a:ext>
            </a:extLst>
          </p:cNvPr>
          <p:cNvCxnSpPr>
            <a:cxnSpLocks/>
            <a:stCxn id="5" idx="3"/>
            <a:endCxn id="6" idx="1"/>
          </p:cNvCxnSpPr>
          <p:nvPr/>
        </p:nvCxnSpPr>
        <p:spPr>
          <a:xfrm>
            <a:off x="5229496" y="1915626"/>
            <a:ext cx="1517842" cy="0"/>
          </a:xfrm>
          <a:prstGeom prst="straightConnector1">
            <a:avLst/>
          </a:prstGeom>
          <a:ln w="127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83B9D51D-8CAB-0C44-26D2-E9A7A64D53DC}"/>
              </a:ext>
            </a:extLst>
          </p:cNvPr>
          <p:cNvCxnSpPr>
            <a:cxnSpLocks/>
            <a:stCxn id="6" idx="3"/>
          </p:cNvCxnSpPr>
          <p:nvPr/>
        </p:nvCxnSpPr>
        <p:spPr>
          <a:xfrm flipV="1">
            <a:off x="7701506" y="1915625"/>
            <a:ext cx="1659093" cy="1"/>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B9FED83B-D940-D3B7-1D9F-62FD04D8317E}"/>
              </a:ext>
            </a:extLst>
          </p:cNvPr>
          <p:cNvPicPr>
            <a:picLocks noChangeAspect="1"/>
          </p:cNvPicPr>
          <p:nvPr/>
        </p:nvPicPr>
        <p:blipFill>
          <a:blip r:embed="rId5"/>
          <a:stretch>
            <a:fillRect/>
          </a:stretch>
        </p:blipFill>
        <p:spPr>
          <a:xfrm>
            <a:off x="292413" y="2716300"/>
            <a:ext cx="1287512" cy="954976"/>
          </a:xfrm>
          <a:prstGeom prst="rect">
            <a:avLst/>
          </a:prstGeom>
        </p:spPr>
      </p:pic>
      <p:pic>
        <p:nvPicPr>
          <p:cNvPr id="12" name="Picture 11">
            <a:extLst>
              <a:ext uri="{FF2B5EF4-FFF2-40B4-BE49-F238E27FC236}">
                <a16:creationId xmlns:a16="http://schemas.microsoft.com/office/drawing/2014/main" id="{814AE01F-C73E-0062-86C0-E40E86F0EE4A}"/>
              </a:ext>
            </a:extLst>
          </p:cNvPr>
          <p:cNvPicPr>
            <a:picLocks noChangeAspect="1"/>
          </p:cNvPicPr>
          <p:nvPr/>
        </p:nvPicPr>
        <p:blipFill>
          <a:blip r:embed="rId6"/>
          <a:stretch>
            <a:fillRect/>
          </a:stretch>
        </p:blipFill>
        <p:spPr>
          <a:xfrm>
            <a:off x="344476" y="4016958"/>
            <a:ext cx="1183385" cy="1003402"/>
          </a:xfrm>
          <a:prstGeom prst="rect">
            <a:avLst/>
          </a:prstGeom>
        </p:spPr>
      </p:pic>
      <p:pic>
        <p:nvPicPr>
          <p:cNvPr id="13" name="Picture 12">
            <a:extLst>
              <a:ext uri="{FF2B5EF4-FFF2-40B4-BE49-F238E27FC236}">
                <a16:creationId xmlns:a16="http://schemas.microsoft.com/office/drawing/2014/main" id="{EA8D4579-7598-CF26-64E6-3DF3163ECC60}"/>
              </a:ext>
            </a:extLst>
          </p:cNvPr>
          <p:cNvPicPr>
            <a:picLocks noChangeAspect="1"/>
          </p:cNvPicPr>
          <p:nvPr/>
        </p:nvPicPr>
        <p:blipFill>
          <a:blip r:embed="rId7"/>
          <a:stretch>
            <a:fillRect/>
          </a:stretch>
        </p:blipFill>
        <p:spPr>
          <a:xfrm>
            <a:off x="210453" y="1366673"/>
            <a:ext cx="1451429" cy="1113363"/>
          </a:xfrm>
          <a:prstGeom prst="rect">
            <a:avLst/>
          </a:prstGeom>
        </p:spPr>
      </p:pic>
      <p:pic>
        <p:nvPicPr>
          <p:cNvPr id="14" name="Picture 13">
            <a:extLst>
              <a:ext uri="{FF2B5EF4-FFF2-40B4-BE49-F238E27FC236}">
                <a16:creationId xmlns:a16="http://schemas.microsoft.com/office/drawing/2014/main" id="{6CD67422-03A9-7C80-DB25-E18625DAB95C}"/>
              </a:ext>
            </a:extLst>
          </p:cNvPr>
          <p:cNvPicPr>
            <a:picLocks noChangeAspect="1"/>
          </p:cNvPicPr>
          <p:nvPr/>
        </p:nvPicPr>
        <p:blipFill>
          <a:blip r:embed="rId3"/>
          <a:stretch>
            <a:fillRect/>
          </a:stretch>
        </p:blipFill>
        <p:spPr>
          <a:xfrm>
            <a:off x="3644000" y="2964261"/>
            <a:ext cx="1648735" cy="689471"/>
          </a:xfrm>
          <a:prstGeom prst="rect">
            <a:avLst/>
          </a:prstGeom>
        </p:spPr>
      </p:pic>
      <p:pic>
        <p:nvPicPr>
          <p:cNvPr id="15" name="Picture 14">
            <a:extLst>
              <a:ext uri="{FF2B5EF4-FFF2-40B4-BE49-F238E27FC236}">
                <a16:creationId xmlns:a16="http://schemas.microsoft.com/office/drawing/2014/main" id="{F6950DE1-1BB4-51DD-2E8E-73F2CCFA29CA}"/>
              </a:ext>
            </a:extLst>
          </p:cNvPr>
          <p:cNvPicPr>
            <a:picLocks noChangeAspect="1"/>
          </p:cNvPicPr>
          <p:nvPr/>
        </p:nvPicPr>
        <p:blipFill>
          <a:blip r:embed="rId4"/>
          <a:stretch>
            <a:fillRect/>
          </a:stretch>
        </p:blipFill>
        <p:spPr>
          <a:xfrm>
            <a:off x="6810577" y="2779935"/>
            <a:ext cx="954168" cy="1058124"/>
          </a:xfrm>
          <a:prstGeom prst="rect">
            <a:avLst/>
          </a:prstGeom>
        </p:spPr>
      </p:pic>
      <p:cxnSp>
        <p:nvCxnSpPr>
          <p:cNvPr id="16" name="Straight Arrow Connector 15">
            <a:extLst>
              <a:ext uri="{FF2B5EF4-FFF2-40B4-BE49-F238E27FC236}">
                <a16:creationId xmlns:a16="http://schemas.microsoft.com/office/drawing/2014/main" id="{F6E73D82-D40C-5155-BCE9-37ADC3B923AD}"/>
              </a:ext>
            </a:extLst>
          </p:cNvPr>
          <p:cNvCxnSpPr>
            <a:cxnSpLocks/>
            <a:endCxn id="14" idx="1"/>
          </p:cNvCxnSpPr>
          <p:nvPr/>
        </p:nvCxnSpPr>
        <p:spPr>
          <a:xfrm flipV="1">
            <a:off x="1661882" y="3308997"/>
            <a:ext cx="1982118" cy="1"/>
          </a:xfrm>
          <a:prstGeom prst="straightConnector1">
            <a:avLst/>
          </a:prstGeom>
          <a:ln w="127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A1B19938-42B5-B968-09E0-9BBEEE214EEE}"/>
              </a:ext>
            </a:extLst>
          </p:cNvPr>
          <p:cNvCxnSpPr>
            <a:cxnSpLocks/>
            <a:stCxn id="14" idx="3"/>
            <a:endCxn id="15" idx="1"/>
          </p:cNvCxnSpPr>
          <p:nvPr/>
        </p:nvCxnSpPr>
        <p:spPr>
          <a:xfrm>
            <a:off x="5292735" y="3308997"/>
            <a:ext cx="1517842" cy="0"/>
          </a:xfrm>
          <a:prstGeom prst="straightConnector1">
            <a:avLst/>
          </a:prstGeom>
          <a:ln w="127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8EC43466-CFFC-B17A-EF47-D6C814945D13}"/>
              </a:ext>
            </a:extLst>
          </p:cNvPr>
          <p:cNvCxnSpPr>
            <a:cxnSpLocks/>
            <a:stCxn id="15" idx="3"/>
          </p:cNvCxnSpPr>
          <p:nvPr/>
        </p:nvCxnSpPr>
        <p:spPr>
          <a:xfrm flipV="1">
            <a:off x="7764745" y="3308996"/>
            <a:ext cx="1659093" cy="1"/>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pic>
        <p:nvPicPr>
          <p:cNvPr id="19" name="Picture 18">
            <a:extLst>
              <a:ext uri="{FF2B5EF4-FFF2-40B4-BE49-F238E27FC236}">
                <a16:creationId xmlns:a16="http://schemas.microsoft.com/office/drawing/2014/main" id="{C1080153-4CC8-4AE8-BC7F-8E87BC05AF8B}"/>
              </a:ext>
            </a:extLst>
          </p:cNvPr>
          <p:cNvPicPr>
            <a:picLocks noChangeAspect="1"/>
          </p:cNvPicPr>
          <p:nvPr/>
        </p:nvPicPr>
        <p:blipFill>
          <a:blip r:embed="rId3"/>
          <a:stretch>
            <a:fillRect/>
          </a:stretch>
        </p:blipFill>
        <p:spPr>
          <a:xfrm>
            <a:off x="3580761" y="4182942"/>
            <a:ext cx="1648735" cy="689471"/>
          </a:xfrm>
          <a:prstGeom prst="rect">
            <a:avLst/>
          </a:prstGeom>
        </p:spPr>
      </p:pic>
      <p:pic>
        <p:nvPicPr>
          <p:cNvPr id="20" name="Picture 19">
            <a:extLst>
              <a:ext uri="{FF2B5EF4-FFF2-40B4-BE49-F238E27FC236}">
                <a16:creationId xmlns:a16="http://schemas.microsoft.com/office/drawing/2014/main" id="{C778DDB5-10F1-5FB8-F5C5-C88B0A7D4FE2}"/>
              </a:ext>
            </a:extLst>
          </p:cNvPr>
          <p:cNvPicPr>
            <a:picLocks noChangeAspect="1"/>
          </p:cNvPicPr>
          <p:nvPr/>
        </p:nvPicPr>
        <p:blipFill>
          <a:blip r:embed="rId4"/>
          <a:stretch>
            <a:fillRect/>
          </a:stretch>
        </p:blipFill>
        <p:spPr>
          <a:xfrm>
            <a:off x="6747338" y="3998616"/>
            <a:ext cx="954168" cy="1058124"/>
          </a:xfrm>
          <a:prstGeom prst="rect">
            <a:avLst/>
          </a:prstGeom>
        </p:spPr>
      </p:pic>
      <p:cxnSp>
        <p:nvCxnSpPr>
          <p:cNvPr id="21" name="Straight Arrow Connector 20">
            <a:extLst>
              <a:ext uri="{FF2B5EF4-FFF2-40B4-BE49-F238E27FC236}">
                <a16:creationId xmlns:a16="http://schemas.microsoft.com/office/drawing/2014/main" id="{64F85A9A-0595-A758-C995-7222E012EE64}"/>
              </a:ext>
            </a:extLst>
          </p:cNvPr>
          <p:cNvCxnSpPr>
            <a:cxnSpLocks/>
            <a:endCxn id="19" idx="1"/>
          </p:cNvCxnSpPr>
          <p:nvPr/>
        </p:nvCxnSpPr>
        <p:spPr>
          <a:xfrm flipV="1">
            <a:off x="1598643" y="4527678"/>
            <a:ext cx="1982118" cy="1"/>
          </a:xfrm>
          <a:prstGeom prst="straightConnector1">
            <a:avLst/>
          </a:prstGeom>
          <a:ln w="127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599A4344-1F77-CFFF-E3FF-310DFDFAFEFD}"/>
              </a:ext>
            </a:extLst>
          </p:cNvPr>
          <p:cNvCxnSpPr>
            <a:cxnSpLocks/>
            <a:stCxn id="19" idx="3"/>
            <a:endCxn id="20" idx="1"/>
          </p:cNvCxnSpPr>
          <p:nvPr/>
        </p:nvCxnSpPr>
        <p:spPr>
          <a:xfrm>
            <a:off x="5229496" y="4527678"/>
            <a:ext cx="1517842" cy="0"/>
          </a:xfrm>
          <a:prstGeom prst="straightConnector1">
            <a:avLst/>
          </a:prstGeom>
          <a:ln w="127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02CB966E-18F7-ACDC-20A5-B7C8313B775F}"/>
              </a:ext>
            </a:extLst>
          </p:cNvPr>
          <p:cNvCxnSpPr>
            <a:cxnSpLocks/>
            <a:stCxn id="20" idx="3"/>
          </p:cNvCxnSpPr>
          <p:nvPr/>
        </p:nvCxnSpPr>
        <p:spPr>
          <a:xfrm flipV="1">
            <a:off x="7701506" y="4527677"/>
            <a:ext cx="1659093" cy="1"/>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pic>
        <p:nvPicPr>
          <p:cNvPr id="24" name="Picture 23">
            <a:extLst>
              <a:ext uri="{FF2B5EF4-FFF2-40B4-BE49-F238E27FC236}">
                <a16:creationId xmlns:a16="http://schemas.microsoft.com/office/drawing/2014/main" id="{7A835747-5127-FB46-299B-96DEA4345082}"/>
              </a:ext>
            </a:extLst>
          </p:cNvPr>
          <p:cNvPicPr>
            <a:picLocks noChangeAspect="1"/>
          </p:cNvPicPr>
          <p:nvPr/>
        </p:nvPicPr>
        <p:blipFill>
          <a:blip r:embed="rId3"/>
          <a:stretch>
            <a:fillRect/>
          </a:stretch>
        </p:blipFill>
        <p:spPr>
          <a:xfrm>
            <a:off x="3580761" y="5525030"/>
            <a:ext cx="1648735" cy="689471"/>
          </a:xfrm>
          <a:prstGeom prst="rect">
            <a:avLst/>
          </a:prstGeom>
        </p:spPr>
      </p:pic>
      <p:pic>
        <p:nvPicPr>
          <p:cNvPr id="25" name="Picture 24">
            <a:extLst>
              <a:ext uri="{FF2B5EF4-FFF2-40B4-BE49-F238E27FC236}">
                <a16:creationId xmlns:a16="http://schemas.microsoft.com/office/drawing/2014/main" id="{291A895A-E923-DEC7-32C1-8160AC8A9F18}"/>
              </a:ext>
            </a:extLst>
          </p:cNvPr>
          <p:cNvPicPr>
            <a:picLocks noChangeAspect="1"/>
          </p:cNvPicPr>
          <p:nvPr/>
        </p:nvPicPr>
        <p:blipFill>
          <a:blip r:embed="rId4"/>
          <a:stretch>
            <a:fillRect/>
          </a:stretch>
        </p:blipFill>
        <p:spPr>
          <a:xfrm>
            <a:off x="6747338" y="5340704"/>
            <a:ext cx="954168" cy="1058124"/>
          </a:xfrm>
          <a:prstGeom prst="rect">
            <a:avLst/>
          </a:prstGeom>
        </p:spPr>
      </p:pic>
      <p:cxnSp>
        <p:nvCxnSpPr>
          <p:cNvPr id="27" name="Straight Arrow Connector 26">
            <a:extLst>
              <a:ext uri="{FF2B5EF4-FFF2-40B4-BE49-F238E27FC236}">
                <a16:creationId xmlns:a16="http://schemas.microsoft.com/office/drawing/2014/main" id="{A417EF33-322F-FCE4-68F7-91750F455079}"/>
              </a:ext>
            </a:extLst>
          </p:cNvPr>
          <p:cNvCxnSpPr>
            <a:cxnSpLocks/>
            <a:stCxn id="24" idx="3"/>
            <a:endCxn id="25" idx="1"/>
          </p:cNvCxnSpPr>
          <p:nvPr/>
        </p:nvCxnSpPr>
        <p:spPr>
          <a:xfrm>
            <a:off x="5229496" y="5869766"/>
            <a:ext cx="1517842" cy="0"/>
          </a:xfrm>
          <a:prstGeom prst="straightConnector1">
            <a:avLst/>
          </a:prstGeom>
          <a:ln w="127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C8F079BA-FD74-B2AC-8212-543BD664D9D9}"/>
              </a:ext>
            </a:extLst>
          </p:cNvPr>
          <p:cNvCxnSpPr>
            <a:cxnSpLocks/>
            <a:stCxn id="25" idx="3"/>
          </p:cNvCxnSpPr>
          <p:nvPr/>
        </p:nvCxnSpPr>
        <p:spPr>
          <a:xfrm flipV="1">
            <a:off x="7701506" y="5869765"/>
            <a:ext cx="1659093" cy="1"/>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pic>
        <p:nvPicPr>
          <p:cNvPr id="35" name="Picture 34">
            <a:extLst>
              <a:ext uri="{FF2B5EF4-FFF2-40B4-BE49-F238E27FC236}">
                <a16:creationId xmlns:a16="http://schemas.microsoft.com/office/drawing/2014/main" id="{06782F58-F98C-49B7-8C55-39489F88341D}"/>
              </a:ext>
            </a:extLst>
          </p:cNvPr>
          <p:cNvPicPr>
            <a:picLocks noChangeAspect="1"/>
          </p:cNvPicPr>
          <p:nvPr/>
        </p:nvPicPr>
        <p:blipFill>
          <a:blip r:embed="rId8"/>
          <a:stretch>
            <a:fillRect/>
          </a:stretch>
        </p:blipFill>
        <p:spPr>
          <a:xfrm>
            <a:off x="9616369" y="2950972"/>
            <a:ext cx="1009345" cy="682669"/>
          </a:xfrm>
          <a:prstGeom prst="rect">
            <a:avLst/>
          </a:prstGeom>
        </p:spPr>
      </p:pic>
      <p:sp>
        <p:nvSpPr>
          <p:cNvPr id="38" name="Rectangle: Rounded Corners 37">
            <a:extLst>
              <a:ext uri="{FF2B5EF4-FFF2-40B4-BE49-F238E27FC236}">
                <a16:creationId xmlns:a16="http://schemas.microsoft.com/office/drawing/2014/main" id="{4667D31E-25C5-51F0-0FF9-A87BC5305A46}"/>
              </a:ext>
            </a:extLst>
          </p:cNvPr>
          <p:cNvSpPr/>
          <p:nvPr/>
        </p:nvSpPr>
        <p:spPr>
          <a:xfrm>
            <a:off x="9663842" y="1614356"/>
            <a:ext cx="914400" cy="45333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UI APP</a:t>
            </a:r>
            <a:endParaRPr lang="en-US" dirty="0"/>
          </a:p>
        </p:txBody>
      </p:sp>
      <p:pic>
        <p:nvPicPr>
          <p:cNvPr id="40" name="Picture 39">
            <a:extLst>
              <a:ext uri="{FF2B5EF4-FFF2-40B4-BE49-F238E27FC236}">
                <a16:creationId xmlns:a16="http://schemas.microsoft.com/office/drawing/2014/main" id="{8AD93E66-B664-B3E8-792E-F397CF16EC2E}"/>
              </a:ext>
            </a:extLst>
          </p:cNvPr>
          <p:cNvPicPr>
            <a:picLocks noChangeAspect="1"/>
          </p:cNvPicPr>
          <p:nvPr/>
        </p:nvPicPr>
        <p:blipFill>
          <a:blip r:embed="rId9"/>
          <a:stretch>
            <a:fillRect/>
          </a:stretch>
        </p:blipFill>
        <p:spPr>
          <a:xfrm>
            <a:off x="11275462" y="2821763"/>
            <a:ext cx="685177" cy="941086"/>
          </a:xfrm>
          <a:prstGeom prst="rect">
            <a:avLst/>
          </a:prstGeom>
        </p:spPr>
      </p:pic>
      <p:cxnSp>
        <p:nvCxnSpPr>
          <p:cNvPr id="44" name="Straight Arrow Connector 43">
            <a:extLst>
              <a:ext uri="{FF2B5EF4-FFF2-40B4-BE49-F238E27FC236}">
                <a16:creationId xmlns:a16="http://schemas.microsoft.com/office/drawing/2014/main" id="{0A76CD99-7AAF-AA87-928D-9BAB24A20D7A}"/>
              </a:ext>
            </a:extLst>
          </p:cNvPr>
          <p:cNvCxnSpPr>
            <a:stCxn id="35" idx="3"/>
            <a:endCxn id="40" idx="1"/>
          </p:cNvCxnSpPr>
          <p:nvPr/>
        </p:nvCxnSpPr>
        <p:spPr>
          <a:xfrm flipV="1">
            <a:off x="10625714" y="3292306"/>
            <a:ext cx="649748" cy="1"/>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pic>
        <p:nvPicPr>
          <p:cNvPr id="52" name="Picture 51">
            <a:extLst>
              <a:ext uri="{FF2B5EF4-FFF2-40B4-BE49-F238E27FC236}">
                <a16:creationId xmlns:a16="http://schemas.microsoft.com/office/drawing/2014/main" id="{5F089248-DEB9-A2A8-0661-3FC75CEECD24}"/>
              </a:ext>
            </a:extLst>
          </p:cNvPr>
          <p:cNvPicPr>
            <a:picLocks noChangeAspect="1"/>
          </p:cNvPicPr>
          <p:nvPr/>
        </p:nvPicPr>
        <p:blipFill>
          <a:blip r:embed="rId8"/>
          <a:stretch>
            <a:fillRect/>
          </a:stretch>
        </p:blipFill>
        <p:spPr>
          <a:xfrm>
            <a:off x="9616369" y="4186343"/>
            <a:ext cx="1009345" cy="682669"/>
          </a:xfrm>
          <a:prstGeom prst="rect">
            <a:avLst/>
          </a:prstGeom>
        </p:spPr>
      </p:pic>
      <p:pic>
        <p:nvPicPr>
          <p:cNvPr id="53" name="Picture 52">
            <a:extLst>
              <a:ext uri="{FF2B5EF4-FFF2-40B4-BE49-F238E27FC236}">
                <a16:creationId xmlns:a16="http://schemas.microsoft.com/office/drawing/2014/main" id="{80250BAD-4E29-8299-5D06-3C7459F07BDF}"/>
              </a:ext>
            </a:extLst>
          </p:cNvPr>
          <p:cNvPicPr>
            <a:picLocks noChangeAspect="1"/>
          </p:cNvPicPr>
          <p:nvPr/>
        </p:nvPicPr>
        <p:blipFill>
          <a:blip r:embed="rId9"/>
          <a:stretch>
            <a:fillRect/>
          </a:stretch>
        </p:blipFill>
        <p:spPr>
          <a:xfrm>
            <a:off x="11275462" y="4057134"/>
            <a:ext cx="685177" cy="941086"/>
          </a:xfrm>
          <a:prstGeom prst="rect">
            <a:avLst/>
          </a:prstGeom>
        </p:spPr>
      </p:pic>
      <p:cxnSp>
        <p:nvCxnSpPr>
          <p:cNvPr id="54" name="Straight Arrow Connector 53">
            <a:extLst>
              <a:ext uri="{FF2B5EF4-FFF2-40B4-BE49-F238E27FC236}">
                <a16:creationId xmlns:a16="http://schemas.microsoft.com/office/drawing/2014/main" id="{EFE20A70-AE58-709D-6EFE-EC8BEEA0876D}"/>
              </a:ext>
            </a:extLst>
          </p:cNvPr>
          <p:cNvCxnSpPr>
            <a:stCxn id="52" idx="3"/>
            <a:endCxn id="53" idx="1"/>
          </p:cNvCxnSpPr>
          <p:nvPr/>
        </p:nvCxnSpPr>
        <p:spPr>
          <a:xfrm flipV="1">
            <a:off x="10625714" y="4527677"/>
            <a:ext cx="649748" cy="1"/>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pic>
        <p:nvPicPr>
          <p:cNvPr id="55" name="Picture 54">
            <a:extLst>
              <a:ext uri="{FF2B5EF4-FFF2-40B4-BE49-F238E27FC236}">
                <a16:creationId xmlns:a16="http://schemas.microsoft.com/office/drawing/2014/main" id="{1FD141E9-865A-18A1-77AE-25C141C9AE17}"/>
              </a:ext>
            </a:extLst>
          </p:cNvPr>
          <p:cNvPicPr>
            <a:picLocks noChangeAspect="1"/>
          </p:cNvPicPr>
          <p:nvPr/>
        </p:nvPicPr>
        <p:blipFill>
          <a:blip r:embed="rId8"/>
          <a:stretch>
            <a:fillRect/>
          </a:stretch>
        </p:blipFill>
        <p:spPr>
          <a:xfrm>
            <a:off x="9616369" y="5402624"/>
            <a:ext cx="1009345" cy="682669"/>
          </a:xfrm>
          <a:prstGeom prst="rect">
            <a:avLst/>
          </a:prstGeom>
        </p:spPr>
      </p:pic>
      <p:pic>
        <p:nvPicPr>
          <p:cNvPr id="56" name="Picture 55">
            <a:extLst>
              <a:ext uri="{FF2B5EF4-FFF2-40B4-BE49-F238E27FC236}">
                <a16:creationId xmlns:a16="http://schemas.microsoft.com/office/drawing/2014/main" id="{7CD95738-AF24-2DC3-C5F0-8F241F2ACEF1}"/>
              </a:ext>
            </a:extLst>
          </p:cNvPr>
          <p:cNvPicPr>
            <a:picLocks noChangeAspect="1"/>
          </p:cNvPicPr>
          <p:nvPr/>
        </p:nvPicPr>
        <p:blipFill>
          <a:blip r:embed="rId9"/>
          <a:stretch>
            <a:fillRect/>
          </a:stretch>
        </p:blipFill>
        <p:spPr>
          <a:xfrm>
            <a:off x="11275462" y="5273415"/>
            <a:ext cx="685177" cy="941086"/>
          </a:xfrm>
          <a:prstGeom prst="rect">
            <a:avLst/>
          </a:prstGeom>
        </p:spPr>
      </p:pic>
      <p:cxnSp>
        <p:nvCxnSpPr>
          <p:cNvPr id="57" name="Straight Arrow Connector 56">
            <a:extLst>
              <a:ext uri="{FF2B5EF4-FFF2-40B4-BE49-F238E27FC236}">
                <a16:creationId xmlns:a16="http://schemas.microsoft.com/office/drawing/2014/main" id="{437E560D-F6DF-9AD0-5C58-BDD5A696439F}"/>
              </a:ext>
            </a:extLst>
          </p:cNvPr>
          <p:cNvCxnSpPr>
            <a:stCxn id="55" idx="3"/>
            <a:endCxn id="56" idx="1"/>
          </p:cNvCxnSpPr>
          <p:nvPr/>
        </p:nvCxnSpPr>
        <p:spPr>
          <a:xfrm flipV="1">
            <a:off x="10625714" y="5743958"/>
            <a:ext cx="649748" cy="1"/>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DCABE7E8-A7D7-4EAF-D07D-DB86EA471171}"/>
              </a:ext>
            </a:extLst>
          </p:cNvPr>
          <p:cNvSpPr txBox="1"/>
          <p:nvPr/>
        </p:nvSpPr>
        <p:spPr>
          <a:xfrm>
            <a:off x="-20378" y="6224270"/>
            <a:ext cx="2010422" cy="369332"/>
          </a:xfrm>
          <a:prstGeom prst="rect">
            <a:avLst/>
          </a:prstGeom>
          <a:noFill/>
        </p:spPr>
        <p:txBody>
          <a:bodyPr wrap="none" rtlCol="0">
            <a:spAutoFit/>
          </a:bodyPr>
          <a:lstStyle/>
          <a:p>
            <a:r>
              <a:rPr lang="en-IN" dirty="0"/>
              <a:t>Accounts Dev Team</a:t>
            </a:r>
            <a:endParaRPr lang="en-US" dirty="0"/>
          </a:p>
        </p:txBody>
      </p:sp>
      <p:sp>
        <p:nvSpPr>
          <p:cNvPr id="59" name="TextBox 58">
            <a:extLst>
              <a:ext uri="{FF2B5EF4-FFF2-40B4-BE49-F238E27FC236}">
                <a16:creationId xmlns:a16="http://schemas.microsoft.com/office/drawing/2014/main" id="{C13EBCE5-2E59-D747-954A-99A7986D63E0}"/>
              </a:ext>
            </a:extLst>
          </p:cNvPr>
          <p:cNvSpPr txBox="1"/>
          <p:nvPr/>
        </p:nvSpPr>
        <p:spPr>
          <a:xfrm>
            <a:off x="0" y="3573793"/>
            <a:ext cx="1695464" cy="369332"/>
          </a:xfrm>
          <a:prstGeom prst="rect">
            <a:avLst/>
          </a:prstGeom>
          <a:noFill/>
        </p:spPr>
        <p:txBody>
          <a:bodyPr wrap="none" rtlCol="0">
            <a:spAutoFit/>
          </a:bodyPr>
          <a:lstStyle/>
          <a:p>
            <a:r>
              <a:rPr lang="en-IN" dirty="0"/>
              <a:t>Loans Dev Team</a:t>
            </a:r>
            <a:endParaRPr lang="en-US" dirty="0"/>
          </a:p>
        </p:txBody>
      </p:sp>
      <p:sp>
        <p:nvSpPr>
          <p:cNvPr id="60" name="TextBox 59">
            <a:extLst>
              <a:ext uri="{FF2B5EF4-FFF2-40B4-BE49-F238E27FC236}">
                <a16:creationId xmlns:a16="http://schemas.microsoft.com/office/drawing/2014/main" id="{2720F290-68E9-7E35-A5AA-30985D9B04AB}"/>
              </a:ext>
            </a:extLst>
          </p:cNvPr>
          <p:cNvSpPr txBox="1"/>
          <p:nvPr/>
        </p:nvSpPr>
        <p:spPr>
          <a:xfrm>
            <a:off x="-10162" y="5007010"/>
            <a:ext cx="1676293" cy="369332"/>
          </a:xfrm>
          <a:prstGeom prst="rect">
            <a:avLst/>
          </a:prstGeom>
          <a:noFill/>
        </p:spPr>
        <p:txBody>
          <a:bodyPr wrap="none" rtlCol="0">
            <a:spAutoFit/>
          </a:bodyPr>
          <a:lstStyle/>
          <a:p>
            <a:r>
              <a:rPr lang="en-IN" dirty="0"/>
              <a:t>Cards Dev Team</a:t>
            </a:r>
            <a:endParaRPr lang="en-US" dirty="0"/>
          </a:p>
        </p:txBody>
      </p:sp>
      <p:sp>
        <p:nvSpPr>
          <p:cNvPr id="61" name="TextBox 60">
            <a:extLst>
              <a:ext uri="{FF2B5EF4-FFF2-40B4-BE49-F238E27FC236}">
                <a16:creationId xmlns:a16="http://schemas.microsoft.com/office/drawing/2014/main" id="{8A2A0AC6-DBA5-0E64-4B17-8F6A601C353F}"/>
              </a:ext>
            </a:extLst>
          </p:cNvPr>
          <p:cNvSpPr txBox="1"/>
          <p:nvPr/>
        </p:nvSpPr>
        <p:spPr>
          <a:xfrm>
            <a:off x="-10162" y="2355246"/>
            <a:ext cx="1716304" cy="369332"/>
          </a:xfrm>
          <a:prstGeom prst="rect">
            <a:avLst/>
          </a:prstGeom>
          <a:noFill/>
        </p:spPr>
        <p:txBody>
          <a:bodyPr wrap="none" rtlCol="0">
            <a:spAutoFit/>
          </a:bodyPr>
          <a:lstStyle/>
          <a:p>
            <a:r>
              <a:rPr lang="en-IN" dirty="0"/>
              <a:t>UI/UX Dev Team</a:t>
            </a:r>
            <a:endParaRPr lang="en-US" dirty="0"/>
          </a:p>
        </p:txBody>
      </p:sp>
      <p:cxnSp>
        <p:nvCxnSpPr>
          <p:cNvPr id="64" name="Straight Arrow Connector 63">
            <a:extLst>
              <a:ext uri="{FF2B5EF4-FFF2-40B4-BE49-F238E27FC236}">
                <a16:creationId xmlns:a16="http://schemas.microsoft.com/office/drawing/2014/main" id="{C2D627A0-B792-DAEC-1733-7F1DA0E59993}"/>
              </a:ext>
            </a:extLst>
          </p:cNvPr>
          <p:cNvCxnSpPr>
            <a:stCxn id="13" idx="3"/>
            <a:endCxn id="5" idx="1"/>
          </p:cNvCxnSpPr>
          <p:nvPr/>
        </p:nvCxnSpPr>
        <p:spPr>
          <a:xfrm flipV="1">
            <a:off x="1661882" y="1915626"/>
            <a:ext cx="1918879" cy="7729"/>
          </a:xfrm>
          <a:prstGeom prst="straightConnector1">
            <a:avLst/>
          </a:prstGeom>
          <a:ln w="127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245D6D04-C475-702A-735A-29448EDBF71B}"/>
              </a:ext>
            </a:extLst>
          </p:cNvPr>
          <p:cNvCxnSpPr>
            <a:stCxn id="4" idx="3"/>
            <a:endCxn id="24" idx="1"/>
          </p:cNvCxnSpPr>
          <p:nvPr/>
        </p:nvCxnSpPr>
        <p:spPr>
          <a:xfrm flipV="1">
            <a:off x="1588427" y="5869766"/>
            <a:ext cx="1992334" cy="10346"/>
          </a:xfrm>
          <a:prstGeom prst="straightConnector1">
            <a:avLst/>
          </a:prstGeom>
          <a:ln w="127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C6CE7171-D3A4-C034-8153-A9F7BC0FAD3F}"/>
              </a:ext>
            </a:extLst>
          </p:cNvPr>
          <p:cNvSpPr txBox="1"/>
          <p:nvPr/>
        </p:nvSpPr>
        <p:spPr>
          <a:xfrm>
            <a:off x="11197516" y="3628539"/>
            <a:ext cx="854721" cy="307777"/>
          </a:xfrm>
          <a:prstGeom prst="rect">
            <a:avLst/>
          </a:prstGeom>
          <a:noFill/>
        </p:spPr>
        <p:txBody>
          <a:bodyPr wrap="none" rtlCol="0">
            <a:spAutoFit/>
          </a:bodyPr>
          <a:lstStyle/>
          <a:p>
            <a:r>
              <a:rPr lang="en-IN" sz="1400" dirty="0"/>
              <a:t>Loans DB</a:t>
            </a:r>
            <a:endParaRPr lang="en-US" sz="1400" dirty="0"/>
          </a:p>
        </p:txBody>
      </p:sp>
      <p:sp>
        <p:nvSpPr>
          <p:cNvPr id="70" name="TextBox 69">
            <a:extLst>
              <a:ext uri="{FF2B5EF4-FFF2-40B4-BE49-F238E27FC236}">
                <a16:creationId xmlns:a16="http://schemas.microsoft.com/office/drawing/2014/main" id="{38AA57D9-AFB4-9C3C-7108-302DC973F6C1}"/>
              </a:ext>
            </a:extLst>
          </p:cNvPr>
          <p:cNvSpPr txBox="1"/>
          <p:nvPr/>
        </p:nvSpPr>
        <p:spPr>
          <a:xfrm>
            <a:off x="11197516" y="4920657"/>
            <a:ext cx="841064" cy="307777"/>
          </a:xfrm>
          <a:prstGeom prst="rect">
            <a:avLst/>
          </a:prstGeom>
          <a:noFill/>
        </p:spPr>
        <p:txBody>
          <a:bodyPr wrap="none" rtlCol="0">
            <a:spAutoFit/>
          </a:bodyPr>
          <a:lstStyle/>
          <a:p>
            <a:r>
              <a:rPr lang="en-IN" sz="1400" dirty="0"/>
              <a:t>Cards DB</a:t>
            </a:r>
            <a:endParaRPr lang="en-US" sz="1400" dirty="0"/>
          </a:p>
        </p:txBody>
      </p:sp>
      <p:sp>
        <p:nvSpPr>
          <p:cNvPr id="71" name="TextBox 70">
            <a:extLst>
              <a:ext uri="{FF2B5EF4-FFF2-40B4-BE49-F238E27FC236}">
                <a16:creationId xmlns:a16="http://schemas.microsoft.com/office/drawing/2014/main" id="{C56D2BC1-62AE-1C98-82C1-6E6F5281D4E6}"/>
              </a:ext>
            </a:extLst>
          </p:cNvPr>
          <p:cNvSpPr txBox="1"/>
          <p:nvPr/>
        </p:nvSpPr>
        <p:spPr>
          <a:xfrm>
            <a:off x="11074853" y="6141994"/>
            <a:ext cx="1100045" cy="307777"/>
          </a:xfrm>
          <a:prstGeom prst="rect">
            <a:avLst/>
          </a:prstGeom>
          <a:noFill/>
        </p:spPr>
        <p:txBody>
          <a:bodyPr wrap="none" rtlCol="0">
            <a:spAutoFit/>
          </a:bodyPr>
          <a:lstStyle/>
          <a:p>
            <a:r>
              <a:rPr lang="en-IN" sz="1400" dirty="0"/>
              <a:t>Accounts DB</a:t>
            </a:r>
            <a:endParaRPr lang="en-US" sz="1400" dirty="0"/>
          </a:p>
        </p:txBody>
      </p:sp>
      <p:cxnSp>
        <p:nvCxnSpPr>
          <p:cNvPr id="75" name="Connector: Elbow 74">
            <a:extLst>
              <a:ext uri="{FF2B5EF4-FFF2-40B4-BE49-F238E27FC236}">
                <a16:creationId xmlns:a16="http://schemas.microsoft.com/office/drawing/2014/main" id="{F945A0F6-3AB1-4445-1F0D-732CE764C0E7}"/>
              </a:ext>
            </a:extLst>
          </p:cNvPr>
          <p:cNvCxnSpPr>
            <a:cxnSpLocks/>
            <a:endCxn id="38" idx="3"/>
          </p:cNvCxnSpPr>
          <p:nvPr/>
        </p:nvCxnSpPr>
        <p:spPr>
          <a:xfrm rot="16200000" flipV="1">
            <a:off x="8802132" y="3617132"/>
            <a:ext cx="3902936" cy="350715"/>
          </a:xfrm>
          <a:prstGeom prst="bentConnector2">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82" name="TextBox 81">
            <a:extLst>
              <a:ext uri="{FF2B5EF4-FFF2-40B4-BE49-F238E27FC236}">
                <a16:creationId xmlns:a16="http://schemas.microsoft.com/office/drawing/2014/main" id="{C9236313-7552-D06E-0C13-FA036850A028}"/>
              </a:ext>
            </a:extLst>
          </p:cNvPr>
          <p:cNvSpPr txBox="1"/>
          <p:nvPr/>
        </p:nvSpPr>
        <p:spPr>
          <a:xfrm>
            <a:off x="9046126" y="1060039"/>
            <a:ext cx="2966029" cy="523220"/>
          </a:xfrm>
          <a:prstGeom prst="rect">
            <a:avLst/>
          </a:prstGeom>
          <a:noFill/>
        </p:spPr>
        <p:txBody>
          <a:bodyPr wrap="square" rtlCol="0">
            <a:spAutoFit/>
          </a:bodyPr>
          <a:lstStyle/>
          <a:p>
            <a:r>
              <a:rPr lang="en-IN" sz="1400" dirty="0"/>
              <a:t>Invokes all the backend logic through REST API calls</a:t>
            </a:r>
            <a:endParaRPr lang="en-US" sz="1400" dirty="0"/>
          </a:p>
        </p:txBody>
      </p:sp>
    </p:spTree>
    <p:extLst>
      <p:ext uri="{BB962C8B-B14F-4D97-AF65-F5344CB8AC3E}">
        <p14:creationId xmlns:p14="http://schemas.microsoft.com/office/powerpoint/2010/main" val="4164709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5"/>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8"/>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5"/>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44"/>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40"/>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69"/>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12"/>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60"/>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21"/>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19"/>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22"/>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20"/>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23"/>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52"/>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54"/>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53"/>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70"/>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nodeType="clickEffect">
                                  <p:stCondLst>
                                    <p:cond delay="0"/>
                                  </p:stCondLst>
                                  <p:childTnLst>
                                    <p:set>
                                      <p:cBhvr>
                                        <p:cTn id="126" dur="1" fill="hold">
                                          <p:stCondLst>
                                            <p:cond delay="0"/>
                                          </p:stCondLst>
                                        </p:cTn>
                                        <p:tgtEl>
                                          <p:spTgt spid="4"/>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58"/>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nodeType="clickEffect">
                                  <p:stCondLst>
                                    <p:cond delay="0"/>
                                  </p:stCondLst>
                                  <p:childTnLst>
                                    <p:set>
                                      <p:cBhvr>
                                        <p:cTn id="134" dur="1" fill="hold">
                                          <p:stCondLst>
                                            <p:cond delay="0"/>
                                          </p:stCondLst>
                                        </p:cTn>
                                        <p:tgtEl>
                                          <p:spTgt spid="67"/>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nodeType="clickEffect">
                                  <p:stCondLst>
                                    <p:cond delay="0"/>
                                  </p:stCondLst>
                                  <p:childTnLst>
                                    <p:set>
                                      <p:cBhvr>
                                        <p:cTn id="138" dur="1" fill="hold">
                                          <p:stCondLst>
                                            <p:cond delay="0"/>
                                          </p:stCondLst>
                                        </p:cTn>
                                        <p:tgtEl>
                                          <p:spTgt spid="24"/>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nodeType="clickEffect">
                                  <p:stCondLst>
                                    <p:cond delay="0"/>
                                  </p:stCondLst>
                                  <p:childTnLst>
                                    <p:set>
                                      <p:cBhvr>
                                        <p:cTn id="142" dur="1" fill="hold">
                                          <p:stCondLst>
                                            <p:cond delay="0"/>
                                          </p:stCondLst>
                                        </p:cTn>
                                        <p:tgtEl>
                                          <p:spTgt spid="27"/>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nodeType="clickEffect">
                                  <p:stCondLst>
                                    <p:cond delay="0"/>
                                  </p:stCondLst>
                                  <p:childTnLst>
                                    <p:set>
                                      <p:cBhvr>
                                        <p:cTn id="146" dur="1" fill="hold">
                                          <p:stCondLst>
                                            <p:cond delay="0"/>
                                          </p:stCondLst>
                                        </p:cTn>
                                        <p:tgtEl>
                                          <p:spTgt spid="25"/>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nodeType="clickEffect">
                                  <p:stCondLst>
                                    <p:cond delay="0"/>
                                  </p:stCondLst>
                                  <p:childTnLst>
                                    <p:set>
                                      <p:cBhvr>
                                        <p:cTn id="150" dur="1" fill="hold">
                                          <p:stCondLst>
                                            <p:cond delay="0"/>
                                          </p:stCondLst>
                                        </p:cTn>
                                        <p:tgtEl>
                                          <p:spTgt spid="28"/>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nodeType="clickEffect">
                                  <p:stCondLst>
                                    <p:cond delay="0"/>
                                  </p:stCondLst>
                                  <p:childTnLst>
                                    <p:set>
                                      <p:cBhvr>
                                        <p:cTn id="154" dur="1" fill="hold">
                                          <p:stCondLst>
                                            <p:cond delay="0"/>
                                          </p:stCondLst>
                                        </p:cTn>
                                        <p:tgtEl>
                                          <p:spTgt spid="55"/>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nodeType="clickEffect">
                                  <p:stCondLst>
                                    <p:cond delay="0"/>
                                  </p:stCondLst>
                                  <p:childTnLst>
                                    <p:set>
                                      <p:cBhvr>
                                        <p:cTn id="158" dur="1" fill="hold">
                                          <p:stCondLst>
                                            <p:cond delay="0"/>
                                          </p:stCondLst>
                                        </p:cTn>
                                        <p:tgtEl>
                                          <p:spTgt spid="57"/>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nodeType="clickEffect">
                                  <p:stCondLst>
                                    <p:cond delay="0"/>
                                  </p:stCondLst>
                                  <p:childTnLst>
                                    <p:set>
                                      <p:cBhvr>
                                        <p:cTn id="162" dur="1" fill="hold">
                                          <p:stCondLst>
                                            <p:cond delay="0"/>
                                          </p:stCondLst>
                                        </p:cTn>
                                        <p:tgtEl>
                                          <p:spTgt spid="56"/>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grpId="0" nodeType="clickEffect">
                                  <p:stCondLst>
                                    <p:cond delay="0"/>
                                  </p:stCondLst>
                                  <p:childTnLst>
                                    <p:set>
                                      <p:cBhvr>
                                        <p:cTn id="166" dur="1" fill="hold">
                                          <p:stCondLst>
                                            <p:cond delay="0"/>
                                          </p:stCondLst>
                                        </p:cTn>
                                        <p:tgtEl>
                                          <p:spTgt spid="71"/>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grpId="0" nodeType="clickEffect">
                                  <p:stCondLst>
                                    <p:cond delay="0"/>
                                  </p:stCondLst>
                                  <p:childTnLst>
                                    <p:set>
                                      <p:cBhvr>
                                        <p:cTn id="170" dur="1" fill="hold">
                                          <p:stCondLst>
                                            <p:cond delay="0"/>
                                          </p:stCondLst>
                                        </p:cTn>
                                        <p:tgtEl>
                                          <p:spTgt spid="82"/>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nodeType="clickEffect">
                                  <p:stCondLst>
                                    <p:cond delay="0"/>
                                  </p:stCondLst>
                                  <p:childTnLst>
                                    <p:set>
                                      <p:cBhvr>
                                        <p:cTn id="174" dur="1" fill="hold">
                                          <p:stCondLst>
                                            <p:cond delay="0"/>
                                          </p:stCondLst>
                                        </p:cTn>
                                        <p:tgtEl>
                                          <p:spTgt spid="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58" grpId="0"/>
      <p:bldP spid="59" grpId="0"/>
      <p:bldP spid="60" grpId="0"/>
      <p:bldP spid="61" grpId="0"/>
      <p:bldP spid="69" grpId="0"/>
      <p:bldP spid="70" grpId="0"/>
      <p:bldP spid="71" grpId="0"/>
      <p:bldP spid="82"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D3F2F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D9E79D-CDB8-9AF4-C2E6-62DA8BF229E5}"/>
              </a:ext>
            </a:extLst>
          </p:cNvPr>
          <p:cNvSpPr>
            <a:spLocks noGrp="1"/>
          </p:cNvSpPr>
          <p:nvPr>
            <p:ph type="title"/>
          </p:nvPr>
        </p:nvSpPr>
        <p:spPr/>
        <p:txBody>
          <a:bodyPr/>
          <a:lstStyle/>
          <a:p>
            <a:r>
              <a:rPr lang="en-IN" dirty="0"/>
              <a:t>Monolithic vs SOA vs Microservices</a:t>
            </a:r>
            <a:endParaRPr lang="en-US" dirty="0"/>
          </a:p>
        </p:txBody>
      </p:sp>
      <p:pic>
        <p:nvPicPr>
          <p:cNvPr id="5" name="Picture 4">
            <a:extLst>
              <a:ext uri="{FF2B5EF4-FFF2-40B4-BE49-F238E27FC236}">
                <a16:creationId xmlns:a16="http://schemas.microsoft.com/office/drawing/2014/main" id="{8F1C0B02-C71A-325F-B640-039C1DF338B4}"/>
              </a:ext>
            </a:extLst>
          </p:cNvPr>
          <p:cNvPicPr>
            <a:picLocks noChangeAspect="1"/>
          </p:cNvPicPr>
          <p:nvPr/>
        </p:nvPicPr>
        <p:blipFill>
          <a:blip r:embed="rId2"/>
          <a:stretch>
            <a:fillRect/>
          </a:stretch>
        </p:blipFill>
        <p:spPr>
          <a:xfrm>
            <a:off x="1384663" y="1762932"/>
            <a:ext cx="9422674" cy="4534068"/>
          </a:xfrm>
          <a:prstGeom prst="rect">
            <a:avLst/>
          </a:prstGeom>
        </p:spPr>
      </p:pic>
    </p:spTree>
    <p:extLst>
      <p:ext uri="{BB962C8B-B14F-4D97-AF65-F5344CB8AC3E}">
        <p14:creationId xmlns:p14="http://schemas.microsoft.com/office/powerpoint/2010/main" val="3106327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D3F2F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2F75C2-9A2F-99EE-8103-79AC8223DC4B}"/>
              </a:ext>
            </a:extLst>
          </p:cNvPr>
          <p:cNvSpPr>
            <a:spLocks noGrp="1"/>
          </p:cNvSpPr>
          <p:nvPr>
            <p:ph type="title"/>
          </p:nvPr>
        </p:nvSpPr>
        <p:spPr/>
        <p:txBody>
          <a:bodyPr/>
          <a:lstStyle/>
          <a:p>
            <a:r>
              <a:rPr lang="en-IN" dirty="0"/>
              <a:t>Monolithic vs SOA vs Microservices</a:t>
            </a:r>
            <a:endParaRPr lang="en-US" dirty="0"/>
          </a:p>
        </p:txBody>
      </p:sp>
      <p:pic>
        <p:nvPicPr>
          <p:cNvPr id="5" name="Picture 4">
            <a:extLst>
              <a:ext uri="{FF2B5EF4-FFF2-40B4-BE49-F238E27FC236}">
                <a16:creationId xmlns:a16="http://schemas.microsoft.com/office/drawing/2014/main" id="{B308B2B6-BAB1-440D-C82A-C04892295492}"/>
              </a:ext>
            </a:extLst>
          </p:cNvPr>
          <p:cNvPicPr>
            <a:picLocks noChangeAspect="1"/>
          </p:cNvPicPr>
          <p:nvPr/>
        </p:nvPicPr>
        <p:blipFill>
          <a:blip r:embed="rId2"/>
          <a:stretch>
            <a:fillRect/>
          </a:stretch>
        </p:blipFill>
        <p:spPr>
          <a:xfrm>
            <a:off x="2546719" y="2124367"/>
            <a:ext cx="7098562" cy="4041301"/>
          </a:xfrm>
          <a:prstGeom prst="rect">
            <a:avLst/>
          </a:prstGeom>
        </p:spPr>
      </p:pic>
    </p:spTree>
    <p:extLst>
      <p:ext uri="{BB962C8B-B14F-4D97-AF65-F5344CB8AC3E}">
        <p14:creationId xmlns:p14="http://schemas.microsoft.com/office/powerpoint/2010/main" val="1521809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D3F2F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6144A-E59A-47C9-3CE3-83CD9984AED7}"/>
              </a:ext>
            </a:extLst>
          </p:cNvPr>
          <p:cNvSpPr>
            <a:spLocks noGrp="1"/>
          </p:cNvSpPr>
          <p:nvPr>
            <p:ph type="title"/>
          </p:nvPr>
        </p:nvSpPr>
        <p:spPr/>
        <p:txBody>
          <a:bodyPr/>
          <a:lstStyle/>
          <a:p>
            <a:r>
              <a:rPr lang="en-IN" dirty="0"/>
              <a:t>Definition of Microservices ?</a:t>
            </a:r>
            <a:endParaRPr lang="en-US" dirty="0"/>
          </a:p>
        </p:txBody>
      </p:sp>
      <p:sp>
        <p:nvSpPr>
          <p:cNvPr id="3" name="Content Placeholder 2">
            <a:extLst>
              <a:ext uri="{FF2B5EF4-FFF2-40B4-BE49-F238E27FC236}">
                <a16:creationId xmlns:a16="http://schemas.microsoft.com/office/drawing/2014/main" id="{AA070AD1-AE87-7761-72BA-A28BF6C03A39}"/>
              </a:ext>
            </a:extLst>
          </p:cNvPr>
          <p:cNvSpPr>
            <a:spLocks noGrp="1"/>
          </p:cNvSpPr>
          <p:nvPr>
            <p:ph idx="1"/>
          </p:nvPr>
        </p:nvSpPr>
        <p:spPr>
          <a:xfrm>
            <a:off x="838200" y="1825625"/>
            <a:ext cx="7448006" cy="4351338"/>
          </a:xfrm>
        </p:spPr>
        <p:txBody>
          <a:bodyPr/>
          <a:lstStyle/>
          <a:p>
            <a:pPr algn="just"/>
            <a:r>
              <a:rPr lang="en-IN" dirty="0"/>
              <a:t>“Microservices is an approach to developing a single application as a suite of small services, each running in its own process and communicating with lightweight mechanisms, built around business capabilities and independently deployable by fully automated deployment machinery.” – From Article by James Lewis and Martin Fowler’s </a:t>
            </a:r>
            <a:endParaRPr lang="en-US" dirty="0"/>
          </a:p>
        </p:txBody>
      </p:sp>
      <p:pic>
        <p:nvPicPr>
          <p:cNvPr id="5" name="Picture 4">
            <a:extLst>
              <a:ext uri="{FF2B5EF4-FFF2-40B4-BE49-F238E27FC236}">
                <a16:creationId xmlns:a16="http://schemas.microsoft.com/office/drawing/2014/main" id="{3C948C2E-C524-B9F1-35F6-7B301568824E}"/>
              </a:ext>
            </a:extLst>
          </p:cNvPr>
          <p:cNvPicPr>
            <a:picLocks noChangeAspect="1"/>
          </p:cNvPicPr>
          <p:nvPr/>
        </p:nvPicPr>
        <p:blipFill>
          <a:blip r:embed="rId2"/>
          <a:stretch>
            <a:fillRect/>
          </a:stretch>
        </p:blipFill>
        <p:spPr>
          <a:xfrm>
            <a:off x="8446055" y="1245325"/>
            <a:ext cx="3146102" cy="4445726"/>
          </a:xfrm>
          <a:prstGeom prst="rect">
            <a:avLst/>
          </a:prstGeom>
        </p:spPr>
      </p:pic>
    </p:spTree>
    <p:extLst>
      <p:ext uri="{BB962C8B-B14F-4D97-AF65-F5344CB8AC3E}">
        <p14:creationId xmlns:p14="http://schemas.microsoft.com/office/powerpoint/2010/main" val="1028109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D3F2F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82157-221A-C2A6-BD82-A618AF01A29D}"/>
              </a:ext>
            </a:extLst>
          </p:cNvPr>
          <p:cNvSpPr>
            <a:spLocks noGrp="1"/>
          </p:cNvSpPr>
          <p:nvPr>
            <p:ph type="title"/>
          </p:nvPr>
        </p:nvSpPr>
        <p:spPr/>
        <p:txBody>
          <a:bodyPr/>
          <a:lstStyle/>
          <a:p>
            <a:r>
              <a:rPr lang="en-IN" dirty="0"/>
              <a:t>How to build Microservices ?</a:t>
            </a:r>
            <a:endParaRPr lang="en-US" dirty="0"/>
          </a:p>
        </p:txBody>
      </p:sp>
      <p:sp>
        <p:nvSpPr>
          <p:cNvPr id="3" name="Content Placeholder 2">
            <a:extLst>
              <a:ext uri="{FF2B5EF4-FFF2-40B4-BE49-F238E27FC236}">
                <a16:creationId xmlns:a16="http://schemas.microsoft.com/office/drawing/2014/main" id="{E521F2B1-6E1D-822D-5720-E09D8786F322}"/>
              </a:ext>
            </a:extLst>
          </p:cNvPr>
          <p:cNvSpPr>
            <a:spLocks noGrp="1"/>
          </p:cNvSpPr>
          <p:nvPr>
            <p:ph sz="half" idx="1"/>
          </p:nvPr>
        </p:nvSpPr>
        <p:spPr/>
        <p:txBody>
          <a:bodyPr>
            <a:normAutofit fontScale="92500"/>
          </a:bodyPr>
          <a:lstStyle/>
          <a:p>
            <a:r>
              <a:rPr lang="en-IN" dirty="0"/>
              <a:t>When considering a web application, the traditional approach involves packaging it as WAR or EAR file.</a:t>
            </a:r>
          </a:p>
          <a:p>
            <a:r>
              <a:rPr lang="en-IN" dirty="0"/>
              <a:t>These archive formats are commonly used to build Java applications, which are then deployed to web servers like Tomcat.</a:t>
            </a:r>
          </a:p>
          <a:p>
            <a:r>
              <a:rPr lang="en-IN" dirty="0"/>
              <a:t>Do you think the same approach works for building microservices ?</a:t>
            </a:r>
            <a:endParaRPr lang="en-US" dirty="0"/>
          </a:p>
        </p:txBody>
      </p:sp>
      <p:pic>
        <p:nvPicPr>
          <p:cNvPr id="13" name="Content Placeholder 12">
            <a:extLst>
              <a:ext uri="{FF2B5EF4-FFF2-40B4-BE49-F238E27FC236}">
                <a16:creationId xmlns:a16="http://schemas.microsoft.com/office/drawing/2014/main" id="{1047556A-6E89-71E8-83EC-F8F9A6D24247}"/>
              </a:ext>
            </a:extLst>
          </p:cNvPr>
          <p:cNvPicPr>
            <a:picLocks noGrp="1" noChangeAspect="1"/>
          </p:cNvPicPr>
          <p:nvPr>
            <p:ph sz="half" idx="2"/>
          </p:nvPr>
        </p:nvPicPr>
        <p:blipFill>
          <a:blip r:embed="rId2"/>
          <a:stretch>
            <a:fillRect/>
          </a:stretch>
        </p:blipFill>
        <p:spPr>
          <a:xfrm>
            <a:off x="6807611" y="1825625"/>
            <a:ext cx="3910777" cy="4351338"/>
          </a:xfrm>
          <a:prstGeom prst="rect">
            <a:avLst/>
          </a:prstGeom>
        </p:spPr>
      </p:pic>
    </p:spTree>
    <p:extLst>
      <p:ext uri="{BB962C8B-B14F-4D97-AF65-F5344CB8AC3E}">
        <p14:creationId xmlns:p14="http://schemas.microsoft.com/office/powerpoint/2010/main" val="2838769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D3F2F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73758-33C1-F85B-380D-6DD9CED0BE71}"/>
              </a:ext>
            </a:extLst>
          </p:cNvPr>
          <p:cNvSpPr>
            <a:spLocks noGrp="1"/>
          </p:cNvSpPr>
          <p:nvPr>
            <p:ph type="title"/>
          </p:nvPr>
        </p:nvSpPr>
        <p:spPr/>
        <p:txBody>
          <a:bodyPr/>
          <a:lstStyle/>
          <a:p>
            <a:r>
              <a:rPr lang="en-IN" dirty="0"/>
              <a:t>How to build Microservices ?</a:t>
            </a:r>
            <a:endParaRPr lang="en-US" dirty="0"/>
          </a:p>
        </p:txBody>
      </p:sp>
      <p:pic>
        <p:nvPicPr>
          <p:cNvPr id="6" name="Content Placeholder 5">
            <a:extLst>
              <a:ext uri="{FF2B5EF4-FFF2-40B4-BE49-F238E27FC236}">
                <a16:creationId xmlns:a16="http://schemas.microsoft.com/office/drawing/2014/main" id="{B305421F-E72F-0C3B-6B62-7DB06EDFD967}"/>
              </a:ext>
            </a:extLst>
          </p:cNvPr>
          <p:cNvPicPr>
            <a:picLocks noGrp="1" noChangeAspect="1"/>
          </p:cNvPicPr>
          <p:nvPr>
            <p:ph sz="half" idx="1"/>
          </p:nvPr>
        </p:nvPicPr>
        <p:blipFill>
          <a:blip r:embed="rId3"/>
          <a:stretch>
            <a:fillRect/>
          </a:stretch>
        </p:blipFill>
        <p:spPr>
          <a:xfrm>
            <a:off x="7698376" y="3492053"/>
            <a:ext cx="2520190" cy="2819847"/>
          </a:xfrm>
          <a:prstGeom prst="rect">
            <a:avLst/>
          </a:prstGeom>
        </p:spPr>
      </p:pic>
      <p:sp>
        <p:nvSpPr>
          <p:cNvPr id="4" name="Content Placeholder 3">
            <a:extLst>
              <a:ext uri="{FF2B5EF4-FFF2-40B4-BE49-F238E27FC236}">
                <a16:creationId xmlns:a16="http://schemas.microsoft.com/office/drawing/2014/main" id="{0B3EAA5C-24FC-D1D8-8362-8B80200D9E97}"/>
              </a:ext>
            </a:extLst>
          </p:cNvPr>
          <p:cNvSpPr>
            <a:spLocks noGrp="1"/>
          </p:cNvSpPr>
          <p:nvPr>
            <p:ph sz="half" idx="2"/>
          </p:nvPr>
        </p:nvSpPr>
        <p:spPr>
          <a:xfrm>
            <a:off x="944880" y="1825625"/>
            <a:ext cx="10408920" cy="4351338"/>
          </a:xfrm>
        </p:spPr>
        <p:txBody>
          <a:bodyPr/>
          <a:lstStyle/>
          <a:p>
            <a:r>
              <a:rPr lang="en-IN" dirty="0"/>
              <a:t>Off course not, because organizations may need to build 100s of microservices. Building, packaging and deploying all the microservices using traditional methods can be an extremely challenging and practically impossible task.</a:t>
            </a:r>
          </a:p>
          <a:p>
            <a:r>
              <a:rPr lang="en-IN" dirty="0"/>
              <a:t>How to overcome this challenge ?</a:t>
            </a:r>
          </a:p>
          <a:p>
            <a:r>
              <a:rPr lang="en-IN" dirty="0"/>
              <a:t>The clue is Spring Boot</a:t>
            </a:r>
            <a:endParaRPr lang="en-US" dirty="0"/>
          </a:p>
        </p:txBody>
      </p:sp>
    </p:spTree>
    <p:extLst>
      <p:ext uri="{BB962C8B-B14F-4D97-AF65-F5344CB8AC3E}">
        <p14:creationId xmlns:p14="http://schemas.microsoft.com/office/powerpoint/2010/main" val="25030554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D3F2F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27E25-3A1F-22A8-D4D9-FA07DA357461}"/>
              </a:ext>
            </a:extLst>
          </p:cNvPr>
          <p:cNvSpPr>
            <a:spLocks noGrp="1"/>
          </p:cNvSpPr>
          <p:nvPr>
            <p:ph type="title"/>
          </p:nvPr>
        </p:nvSpPr>
        <p:spPr/>
        <p:txBody>
          <a:bodyPr/>
          <a:lstStyle/>
          <a:p>
            <a:r>
              <a:rPr lang="en-IN" dirty="0"/>
              <a:t>Why Spring Boot for Microservices ?</a:t>
            </a:r>
            <a:endParaRPr lang="en-US" dirty="0"/>
          </a:p>
        </p:txBody>
      </p:sp>
      <p:sp>
        <p:nvSpPr>
          <p:cNvPr id="3" name="Content Placeholder 2">
            <a:extLst>
              <a:ext uri="{FF2B5EF4-FFF2-40B4-BE49-F238E27FC236}">
                <a16:creationId xmlns:a16="http://schemas.microsoft.com/office/drawing/2014/main" id="{047788AB-EED9-9854-75DC-B52AD30C17DE}"/>
              </a:ext>
            </a:extLst>
          </p:cNvPr>
          <p:cNvSpPr>
            <a:spLocks noGrp="1"/>
          </p:cNvSpPr>
          <p:nvPr>
            <p:ph idx="1"/>
          </p:nvPr>
        </p:nvSpPr>
        <p:spPr/>
        <p:txBody>
          <a:bodyPr/>
          <a:lstStyle/>
          <a:p>
            <a:r>
              <a:rPr lang="en-IN" dirty="0"/>
              <a:t>Spring Boot is a framework that simplifies the development and deployment of Java/Spring applications, including microservices.</a:t>
            </a:r>
          </a:p>
          <a:p>
            <a:r>
              <a:rPr lang="en-IN" dirty="0"/>
              <a:t>With Spring Boot, you can build self-contained, executable JAR files instead of traditional WAR or EAR files.</a:t>
            </a:r>
          </a:p>
          <a:p>
            <a:r>
              <a:rPr lang="en-IN" dirty="0"/>
              <a:t>Theses JAR files contains all the dependencies and configurations required to the microservices.</a:t>
            </a:r>
          </a:p>
          <a:p>
            <a:r>
              <a:rPr lang="en-IN" dirty="0"/>
              <a:t>This approach eliminates the need for external web servers.</a:t>
            </a:r>
            <a:endParaRPr lang="en-US" dirty="0"/>
          </a:p>
        </p:txBody>
      </p:sp>
    </p:spTree>
    <p:extLst>
      <p:ext uri="{BB962C8B-B14F-4D97-AF65-F5344CB8AC3E}">
        <p14:creationId xmlns:p14="http://schemas.microsoft.com/office/powerpoint/2010/main" val="2368519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D3F2F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4263D-6949-79CB-53B7-9C29B4E00E03}"/>
              </a:ext>
            </a:extLst>
          </p:cNvPr>
          <p:cNvSpPr>
            <a:spLocks noGrp="1"/>
          </p:cNvSpPr>
          <p:nvPr>
            <p:ph type="title"/>
          </p:nvPr>
        </p:nvSpPr>
        <p:spPr/>
        <p:txBody>
          <a:bodyPr/>
          <a:lstStyle/>
          <a:p>
            <a:r>
              <a:rPr lang="en-IN" dirty="0"/>
              <a:t>Why Spring Boot for Microservices ?</a:t>
            </a:r>
            <a:endParaRPr lang="en-US" dirty="0"/>
          </a:p>
        </p:txBody>
      </p:sp>
      <p:pic>
        <p:nvPicPr>
          <p:cNvPr id="7" name="Picture 6">
            <a:extLst>
              <a:ext uri="{FF2B5EF4-FFF2-40B4-BE49-F238E27FC236}">
                <a16:creationId xmlns:a16="http://schemas.microsoft.com/office/drawing/2014/main" id="{B4764DF0-A527-D201-7D43-1D2E3915681D}"/>
              </a:ext>
            </a:extLst>
          </p:cNvPr>
          <p:cNvPicPr>
            <a:picLocks noChangeAspect="1"/>
          </p:cNvPicPr>
          <p:nvPr/>
        </p:nvPicPr>
        <p:blipFill>
          <a:blip r:embed="rId2"/>
          <a:stretch>
            <a:fillRect/>
          </a:stretch>
        </p:blipFill>
        <p:spPr>
          <a:xfrm>
            <a:off x="930076" y="2416628"/>
            <a:ext cx="1998164" cy="4306389"/>
          </a:xfrm>
          <a:prstGeom prst="rect">
            <a:avLst/>
          </a:prstGeom>
        </p:spPr>
      </p:pic>
      <p:pic>
        <p:nvPicPr>
          <p:cNvPr id="9" name="Picture 8">
            <a:extLst>
              <a:ext uri="{FF2B5EF4-FFF2-40B4-BE49-F238E27FC236}">
                <a16:creationId xmlns:a16="http://schemas.microsoft.com/office/drawing/2014/main" id="{CBC4384E-C4E3-6505-D45F-ACB47A7FAD17}"/>
              </a:ext>
            </a:extLst>
          </p:cNvPr>
          <p:cNvPicPr>
            <a:picLocks noChangeAspect="1"/>
          </p:cNvPicPr>
          <p:nvPr/>
        </p:nvPicPr>
        <p:blipFill>
          <a:blip r:embed="rId3"/>
          <a:stretch>
            <a:fillRect/>
          </a:stretch>
        </p:blipFill>
        <p:spPr>
          <a:xfrm>
            <a:off x="2994644" y="2416628"/>
            <a:ext cx="1964887" cy="4269256"/>
          </a:xfrm>
          <a:prstGeom prst="rect">
            <a:avLst/>
          </a:prstGeom>
        </p:spPr>
      </p:pic>
      <p:pic>
        <p:nvPicPr>
          <p:cNvPr id="11" name="Picture 10">
            <a:extLst>
              <a:ext uri="{FF2B5EF4-FFF2-40B4-BE49-F238E27FC236}">
                <a16:creationId xmlns:a16="http://schemas.microsoft.com/office/drawing/2014/main" id="{005B8DBB-B9DC-FE18-9FAE-E8E225B1C944}"/>
              </a:ext>
            </a:extLst>
          </p:cNvPr>
          <p:cNvPicPr>
            <a:picLocks noChangeAspect="1"/>
          </p:cNvPicPr>
          <p:nvPr/>
        </p:nvPicPr>
        <p:blipFill>
          <a:blip r:embed="rId4"/>
          <a:stretch>
            <a:fillRect/>
          </a:stretch>
        </p:blipFill>
        <p:spPr>
          <a:xfrm>
            <a:off x="5124884" y="2479644"/>
            <a:ext cx="1906965" cy="4206240"/>
          </a:xfrm>
          <a:prstGeom prst="rect">
            <a:avLst/>
          </a:prstGeom>
        </p:spPr>
      </p:pic>
      <p:pic>
        <p:nvPicPr>
          <p:cNvPr id="13" name="Picture 12">
            <a:extLst>
              <a:ext uri="{FF2B5EF4-FFF2-40B4-BE49-F238E27FC236}">
                <a16:creationId xmlns:a16="http://schemas.microsoft.com/office/drawing/2014/main" id="{0E7B8DC0-7CAD-12FC-02C8-969CD02ABB25}"/>
              </a:ext>
            </a:extLst>
          </p:cNvPr>
          <p:cNvPicPr>
            <a:picLocks noChangeAspect="1"/>
          </p:cNvPicPr>
          <p:nvPr/>
        </p:nvPicPr>
        <p:blipFill>
          <a:blip r:embed="rId5"/>
          <a:stretch>
            <a:fillRect/>
          </a:stretch>
        </p:blipFill>
        <p:spPr>
          <a:xfrm>
            <a:off x="7197202" y="2479644"/>
            <a:ext cx="1876996" cy="4206240"/>
          </a:xfrm>
          <a:prstGeom prst="rect">
            <a:avLst/>
          </a:prstGeom>
        </p:spPr>
      </p:pic>
      <p:pic>
        <p:nvPicPr>
          <p:cNvPr id="15" name="Picture 14">
            <a:extLst>
              <a:ext uri="{FF2B5EF4-FFF2-40B4-BE49-F238E27FC236}">
                <a16:creationId xmlns:a16="http://schemas.microsoft.com/office/drawing/2014/main" id="{8AAFE9F4-03A5-C385-5FAE-9FFE17282FBA}"/>
              </a:ext>
            </a:extLst>
          </p:cNvPr>
          <p:cNvPicPr>
            <a:picLocks noChangeAspect="1"/>
          </p:cNvPicPr>
          <p:nvPr/>
        </p:nvPicPr>
        <p:blipFill>
          <a:blip r:embed="rId6"/>
          <a:stretch>
            <a:fillRect/>
          </a:stretch>
        </p:blipFill>
        <p:spPr>
          <a:xfrm>
            <a:off x="9324213" y="2449164"/>
            <a:ext cx="1870141" cy="4236720"/>
          </a:xfrm>
          <a:prstGeom prst="rect">
            <a:avLst/>
          </a:prstGeom>
        </p:spPr>
      </p:pic>
    </p:spTree>
    <p:extLst>
      <p:ext uri="{BB962C8B-B14F-4D97-AF65-F5344CB8AC3E}">
        <p14:creationId xmlns:p14="http://schemas.microsoft.com/office/powerpoint/2010/main" val="803917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D3F2F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6BA12-D32D-36B8-C984-D29094CE0AA3}"/>
              </a:ext>
            </a:extLst>
          </p:cNvPr>
          <p:cNvSpPr>
            <a:spLocks noGrp="1"/>
          </p:cNvSpPr>
          <p:nvPr>
            <p:ph type="title"/>
          </p:nvPr>
        </p:nvSpPr>
        <p:spPr/>
        <p:txBody>
          <a:bodyPr/>
          <a:lstStyle/>
          <a:p>
            <a:r>
              <a:rPr lang="en-IN" dirty="0"/>
              <a:t>Why Spring Boot for Microservices ?</a:t>
            </a:r>
            <a:endParaRPr lang="en-US" dirty="0"/>
          </a:p>
        </p:txBody>
      </p:sp>
      <p:sp>
        <p:nvSpPr>
          <p:cNvPr id="3" name="Content Placeholder 2">
            <a:extLst>
              <a:ext uri="{FF2B5EF4-FFF2-40B4-BE49-F238E27FC236}">
                <a16:creationId xmlns:a16="http://schemas.microsoft.com/office/drawing/2014/main" id="{D4B811E8-C6BB-0778-1282-5A08B52C86E5}"/>
              </a:ext>
            </a:extLst>
          </p:cNvPr>
          <p:cNvSpPr>
            <a:spLocks noGrp="1"/>
          </p:cNvSpPr>
          <p:nvPr>
            <p:ph idx="1"/>
          </p:nvPr>
        </p:nvSpPr>
        <p:spPr/>
        <p:txBody>
          <a:bodyPr>
            <a:normAutofit/>
          </a:bodyPr>
          <a:lstStyle/>
          <a:p>
            <a:r>
              <a:rPr lang="en-IN" sz="2400" dirty="0"/>
              <a:t>In the traditional approach, applications are typically packed as WARs and rely on the presence of a server in the execution environment for running. However, in the microservices paradigm, applications are packed as self-contained JARs, also called fat-JAR, since they contain the application itself, the dependencies and the embedded server</a:t>
            </a:r>
            <a:endParaRPr lang="en-US" sz="2400" dirty="0"/>
          </a:p>
        </p:txBody>
      </p:sp>
      <p:pic>
        <p:nvPicPr>
          <p:cNvPr id="5" name="Picture 4">
            <a:extLst>
              <a:ext uri="{FF2B5EF4-FFF2-40B4-BE49-F238E27FC236}">
                <a16:creationId xmlns:a16="http://schemas.microsoft.com/office/drawing/2014/main" id="{9911FFE6-5275-B8FE-056F-88CEA71776A5}"/>
              </a:ext>
            </a:extLst>
          </p:cNvPr>
          <p:cNvPicPr>
            <a:picLocks noChangeAspect="1"/>
          </p:cNvPicPr>
          <p:nvPr/>
        </p:nvPicPr>
        <p:blipFill>
          <a:blip r:embed="rId2"/>
          <a:stretch>
            <a:fillRect/>
          </a:stretch>
        </p:blipFill>
        <p:spPr>
          <a:xfrm>
            <a:off x="1558367" y="3661725"/>
            <a:ext cx="3348914" cy="3196274"/>
          </a:xfrm>
          <a:prstGeom prst="rect">
            <a:avLst/>
          </a:prstGeom>
        </p:spPr>
      </p:pic>
      <p:pic>
        <p:nvPicPr>
          <p:cNvPr id="7" name="Picture 6">
            <a:extLst>
              <a:ext uri="{FF2B5EF4-FFF2-40B4-BE49-F238E27FC236}">
                <a16:creationId xmlns:a16="http://schemas.microsoft.com/office/drawing/2014/main" id="{E9FBBB55-3580-0E1C-DCD1-DBC9B02D214C}"/>
              </a:ext>
            </a:extLst>
          </p:cNvPr>
          <p:cNvPicPr>
            <a:picLocks noChangeAspect="1"/>
          </p:cNvPicPr>
          <p:nvPr/>
        </p:nvPicPr>
        <p:blipFill>
          <a:blip r:embed="rId3"/>
          <a:stretch>
            <a:fillRect/>
          </a:stretch>
        </p:blipFill>
        <p:spPr>
          <a:xfrm>
            <a:off x="7436717" y="3661725"/>
            <a:ext cx="3308266" cy="3196275"/>
          </a:xfrm>
          <a:prstGeom prst="rect">
            <a:avLst/>
          </a:prstGeom>
        </p:spPr>
      </p:pic>
    </p:spTree>
    <p:extLst>
      <p:ext uri="{BB962C8B-B14F-4D97-AF65-F5344CB8AC3E}">
        <p14:creationId xmlns:p14="http://schemas.microsoft.com/office/powerpoint/2010/main" val="3361317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D3F2F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3160B-7C58-8CC9-B533-03C15F2ABAF2}"/>
              </a:ext>
            </a:extLst>
          </p:cNvPr>
          <p:cNvSpPr>
            <a:spLocks noGrp="1"/>
          </p:cNvSpPr>
          <p:nvPr>
            <p:ph type="title"/>
          </p:nvPr>
        </p:nvSpPr>
        <p:spPr/>
        <p:txBody>
          <a:bodyPr/>
          <a:lstStyle/>
          <a:p>
            <a:r>
              <a:rPr lang="en-IN" dirty="0"/>
              <a:t>Implementing REST Services</a:t>
            </a:r>
            <a:endParaRPr lang="en-US" dirty="0"/>
          </a:p>
        </p:txBody>
      </p:sp>
      <p:sp>
        <p:nvSpPr>
          <p:cNvPr id="3" name="Content Placeholder 2">
            <a:extLst>
              <a:ext uri="{FF2B5EF4-FFF2-40B4-BE49-F238E27FC236}">
                <a16:creationId xmlns:a16="http://schemas.microsoft.com/office/drawing/2014/main" id="{996ADDE9-A053-1394-C633-984FC259FD00}"/>
              </a:ext>
            </a:extLst>
          </p:cNvPr>
          <p:cNvSpPr>
            <a:spLocks noGrp="1"/>
          </p:cNvSpPr>
          <p:nvPr>
            <p:ph idx="1"/>
          </p:nvPr>
        </p:nvSpPr>
        <p:spPr/>
        <p:txBody>
          <a:bodyPr/>
          <a:lstStyle/>
          <a:p>
            <a:r>
              <a:rPr lang="en-IN" dirty="0"/>
              <a:t>REST (Representational State Transfer) services are one of the most often encountered ways to implement communication between two web apps.</a:t>
            </a:r>
          </a:p>
          <a:p>
            <a:r>
              <a:rPr lang="en-IN" dirty="0"/>
              <a:t>REST offers access to functionality the server exposes through endpoints a client can call.</a:t>
            </a:r>
          </a:p>
          <a:p>
            <a:pPr marL="0" indent="0">
              <a:buNone/>
            </a:pPr>
            <a:endParaRPr lang="en-US" dirty="0"/>
          </a:p>
        </p:txBody>
      </p:sp>
    </p:spTree>
    <p:extLst>
      <p:ext uri="{BB962C8B-B14F-4D97-AF65-F5344CB8AC3E}">
        <p14:creationId xmlns:p14="http://schemas.microsoft.com/office/powerpoint/2010/main" val="23747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D3F2F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F70D4-8384-FF05-FA4E-33470BB9A738}"/>
              </a:ext>
            </a:extLst>
          </p:cNvPr>
          <p:cNvSpPr>
            <a:spLocks noGrp="1"/>
          </p:cNvSpPr>
          <p:nvPr>
            <p:ph type="title"/>
          </p:nvPr>
        </p:nvSpPr>
        <p:spPr/>
        <p:txBody>
          <a:bodyPr/>
          <a:lstStyle/>
          <a:p>
            <a:r>
              <a:rPr lang="en-IN" dirty="0"/>
              <a:t>Implementing REST Service</a:t>
            </a:r>
            <a:endParaRPr lang="en-US" dirty="0"/>
          </a:p>
        </p:txBody>
      </p:sp>
      <p:sp>
        <p:nvSpPr>
          <p:cNvPr id="3" name="Content Placeholder 2">
            <a:extLst>
              <a:ext uri="{FF2B5EF4-FFF2-40B4-BE49-F238E27FC236}">
                <a16:creationId xmlns:a16="http://schemas.microsoft.com/office/drawing/2014/main" id="{55E7D2BE-2A72-9A42-A9D4-4FF118E45725}"/>
              </a:ext>
            </a:extLst>
          </p:cNvPr>
          <p:cNvSpPr>
            <a:spLocks noGrp="1"/>
          </p:cNvSpPr>
          <p:nvPr>
            <p:ph idx="1"/>
          </p:nvPr>
        </p:nvSpPr>
        <p:spPr/>
        <p:txBody>
          <a:bodyPr/>
          <a:lstStyle/>
          <a:p>
            <a:r>
              <a:rPr lang="en-IN" dirty="0"/>
              <a:t>Below are the different use cases where REST services are being used most frequently these days.</a:t>
            </a:r>
            <a:endParaRPr lang="en-US" dirty="0"/>
          </a:p>
        </p:txBody>
      </p:sp>
      <p:pic>
        <p:nvPicPr>
          <p:cNvPr id="5" name="Picture 4">
            <a:extLst>
              <a:ext uri="{FF2B5EF4-FFF2-40B4-BE49-F238E27FC236}">
                <a16:creationId xmlns:a16="http://schemas.microsoft.com/office/drawing/2014/main" id="{1632F693-CD68-E945-CF13-5A0A43CF9794}"/>
              </a:ext>
            </a:extLst>
          </p:cNvPr>
          <p:cNvPicPr>
            <a:picLocks noChangeAspect="1"/>
          </p:cNvPicPr>
          <p:nvPr/>
        </p:nvPicPr>
        <p:blipFill>
          <a:blip r:embed="rId2"/>
          <a:stretch>
            <a:fillRect/>
          </a:stretch>
        </p:blipFill>
        <p:spPr>
          <a:xfrm>
            <a:off x="352697" y="3003977"/>
            <a:ext cx="4014651" cy="1431081"/>
          </a:xfrm>
          <a:prstGeom prst="rect">
            <a:avLst/>
          </a:prstGeom>
        </p:spPr>
      </p:pic>
      <p:pic>
        <p:nvPicPr>
          <p:cNvPr id="7" name="Picture 6">
            <a:extLst>
              <a:ext uri="{FF2B5EF4-FFF2-40B4-BE49-F238E27FC236}">
                <a16:creationId xmlns:a16="http://schemas.microsoft.com/office/drawing/2014/main" id="{9A80DC2A-E2CF-FAB3-B658-50FCFBD6DE48}"/>
              </a:ext>
            </a:extLst>
          </p:cNvPr>
          <p:cNvPicPr>
            <a:picLocks noChangeAspect="1"/>
          </p:cNvPicPr>
          <p:nvPr/>
        </p:nvPicPr>
        <p:blipFill>
          <a:blip r:embed="rId3"/>
          <a:stretch>
            <a:fillRect/>
          </a:stretch>
        </p:blipFill>
        <p:spPr>
          <a:xfrm>
            <a:off x="7376160" y="3003977"/>
            <a:ext cx="4044968" cy="1474334"/>
          </a:xfrm>
          <a:prstGeom prst="rect">
            <a:avLst/>
          </a:prstGeom>
        </p:spPr>
      </p:pic>
      <p:pic>
        <p:nvPicPr>
          <p:cNvPr id="9" name="Picture 8">
            <a:extLst>
              <a:ext uri="{FF2B5EF4-FFF2-40B4-BE49-F238E27FC236}">
                <a16:creationId xmlns:a16="http://schemas.microsoft.com/office/drawing/2014/main" id="{819941DD-05F9-5E66-9FAB-F23A021D4872}"/>
              </a:ext>
            </a:extLst>
          </p:cNvPr>
          <p:cNvPicPr>
            <a:picLocks noChangeAspect="1"/>
          </p:cNvPicPr>
          <p:nvPr/>
        </p:nvPicPr>
        <p:blipFill>
          <a:blip r:embed="rId4"/>
          <a:stretch>
            <a:fillRect/>
          </a:stretch>
        </p:blipFill>
        <p:spPr>
          <a:xfrm>
            <a:off x="3897085" y="4943251"/>
            <a:ext cx="3888377" cy="1610191"/>
          </a:xfrm>
          <a:prstGeom prst="rect">
            <a:avLst/>
          </a:prstGeom>
        </p:spPr>
      </p:pic>
    </p:spTree>
    <p:extLst>
      <p:ext uri="{BB962C8B-B14F-4D97-AF65-F5344CB8AC3E}">
        <p14:creationId xmlns:p14="http://schemas.microsoft.com/office/powerpoint/2010/main" val="2208251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D3F2F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AF40C-B6DB-EC0F-C730-12DBD2A81E47}"/>
              </a:ext>
            </a:extLst>
          </p:cNvPr>
          <p:cNvSpPr>
            <a:spLocks noGrp="1"/>
          </p:cNvSpPr>
          <p:nvPr>
            <p:ph type="title"/>
          </p:nvPr>
        </p:nvSpPr>
        <p:spPr/>
        <p:txBody>
          <a:bodyPr/>
          <a:lstStyle/>
          <a:p>
            <a:r>
              <a:rPr lang="en-IN" dirty="0"/>
              <a:t>Implementing REST Service</a:t>
            </a:r>
            <a:endParaRPr lang="en-US" dirty="0"/>
          </a:p>
        </p:txBody>
      </p:sp>
      <p:sp>
        <p:nvSpPr>
          <p:cNvPr id="3" name="Content Placeholder 2">
            <a:extLst>
              <a:ext uri="{FF2B5EF4-FFF2-40B4-BE49-F238E27FC236}">
                <a16:creationId xmlns:a16="http://schemas.microsoft.com/office/drawing/2014/main" id="{225A32BB-351F-0CF2-6C10-69A4F2077A59}"/>
              </a:ext>
            </a:extLst>
          </p:cNvPr>
          <p:cNvSpPr>
            <a:spLocks noGrp="1"/>
          </p:cNvSpPr>
          <p:nvPr>
            <p:ph idx="1"/>
          </p:nvPr>
        </p:nvSpPr>
        <p:spPr/>
        <p:txBody>
          <a:bodyPr/>
          <a:lstStyle/>
          <a:p>
            <a:r>
              <a:rPr lang="en-IN" dirty="0"/>
              <a:t>Typically REST services are built to expose the business functionality and support CRUD operations on the storage system.</a:t>
            </a:r>
          </a:p>
          <a:p>
            <a:r>
              <a:rPr lang="en-IN" dirty="0"/>
              <a:t>Attached are the standards that we need to follow while build REST services.</a:t>
            </a:r>
            <a:endParaRPr lang="en-US" dirty="0"/>
          </a:p>
        </p:txBody>
      </p:sp>
      <p:pic>
        <p:nvPicPr>
          <p:cNvPr id="5" name="Picture 4">
            <a:extLst>
              <a:ext uri="{FF2B5EF4-FFF2-40B4-BE49-F238E27FC236}">
                <a16:creationId xmlns:a16="http://schemas.microsoft.com/office/drawing/2014/main" id="{2A8F497D-DF80-355D-76D4-DA11CB7811F7}"/>
              </a:ext>
            </a:extLst>
          </p:cNvPr>
          <p:cNvPicPr>
            <a:picLocks noChangeAspect="1"/>
          </p:cNvPicPr>
          <p:nvPr/>
        </p:nvPicPr>
        <p:blipFill>
          <a:blip r:embed="rId2"/>
          <a:stretch>
            <a:fillRect/>
          </a:stretch>
        </p:blipFill>
        <p:spPr>
          <a:xfrm>
            <a:off x="156754" y="4001294"/>
            <a:ext cx="3892731" cy="1756476"/>
          </a:xfrm>
          <a:prstGeom prst="rect">
            <a:avLst/>
          </a:prstGeom>
        </p:spPr>
      </p:pic>
      <p:pic>
        <p:nvPicPr>
          <p:cNvPr id="7" name="Picture 6">
            <a:extLst>
              <a:ext uri="{FF2B5EF4-FFF2-40B4-BE49-F238E27FC236}">
                <a16:creationId xmlns:a16="http://schemas.microsoft.com/office/drawing/2014/main" id="{1CF89696-8635-8625-9B10-0340226645B1}"/>
              </a:ext>
            </a:extLst>
          </p:cNvPr>
          <p:cNvPicPr>
            <a:picLocks noChangeAspect="1"/>
          </p:cNvPicPr>
          <p:nvPr/>
        </p:nvPicPr>
        <p:blipFill>
          <a:blip r:embed="rId3"/>
          <a:stretch>
            <a:fillRect/>
          </a:stretch>
        </p:blipFill>
        <p:spPr>
          <a:xfrm>
            <a:off x="4062547" y="4001294"/>
            <a:ext cx="3997408" cy="1756476"/>
          </a:xfrm>
          <a:prstGeom prst="rect">
            <a:avLst/>
          </a:prstGeom>
        </p:spPr>
      </p:pic>
      <p:pic>
        <p:nvPicPr>
          <p:cNvPr id="9" name="Picture 8">
            <a:extLst>
              <a:ext uri="{FF2B5EF4-FFF2-40B4-BE49-F238E27FC236}">
                <a16:creationId xmlns:a16="http://schemas.microsoft.com/office/drawing/2014/main" id="{CEC5CDEC-5CA2-588D-CC69-9444F981C674}"/>
              </a:ext>
            </a:extLst>
          </p:cNvPr>
          <p:cNvPicPr>
            <a:picLocks noChangeAspect="1"/>
          </p:cNvPicPr>
          <p:nvPr/>
        </p:nvPicPr>
        <p:blipFill>
          <a:blip r:embed="rId4"/>
          <a:stretch>
            <a:fillRect/>
          </a:stretch>
        </p:blipFill>
        <p:spPr>
          <a:xfrm>
            <a:off x="8112037" y="4001294"/>
            <a:ext cx="4049485" cy="1757074"/>
          </a:xfrm>
          <a:prstGeom prst="rect">
            <a:avLst/>
          </a:prstGeom>
        </p:spPr>
      </p:pic>
    </p:spTree>
    <p:extLst>
      <p:ext uri="{BB962C8B-B14F-4D97-AF65-F5344CB8AC3E}">
        <p14:creationId xmlns:p14="http://schemas.microsoft.com/office/powerpoint/2010/main" val="4118385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D3F2F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4D68-00FF-BBBE-70A6-C3F129A42A83}"/>
              </a:ext>
            </a:extLst>
          </p:cNvPr>
          <p:cNvSpPr>
            <a:spLocks noGrp="1"/>
          </p:cNvSpPr>
          <p:nvPr>
            <p:ph type="title"/>
          </p:nvPr>
        </p:nvSpPr>
        <p:spPr/>
        <p:txBody>
          <a:bodyPr/>
          <a:lstStyle/>
          <a:p>
            <a:r>
              <a:rPr lang="en-IN" dirty="0"/>
              <a:t>DTO (Data Transfer Object) Pattern</a:t>
            </a:r>
            <a:endParaRPr lang="en-US" dirty="0"/>
          </a:p>
        </p:txBody>
      </p:sp>
      <p:sp>
        <p:nvSpPr>
          <p:cNvPr id="3" name="Content Placeholder 2">
            <a:extLst>
              <a:ext uri="{FF2B5EF4-FFF2-40B4-BE49-F238E27FC236}">
                <a16:creationId xmlns:a16="http://schemas.microsoft.com/office/drawing/2014/main" id="{DE31CB42-ED8B-C6BD-2CCD-1CC061FBF666}"/>
              </a:ext>
            </a:extLst>
          </p:cNvPr>
          <p:cNvSpPr>
            <a:spLocks noGrp="1"/>
          </p:cNvSpPr>
          <p:nvPr>
            <p:ph idx="1"/>
          </p:nvPr>
        </p:nvSpPr>
        <p:spPr/>
        <p:txBody>
          <a:bodyPr>
            <a:normAutofit/>
          </a:bodyPr>
          <a:lstStyle/>
          <a:p>
            <a:r>
              <a:rPr lang="en-IN" sz="2400" dirty="0"/>
              <a:t>The Data Transfer Object(DTO) pattern is a design pattern that allows you to transfer data between different parts of your application.</a:t>
            </a:r>
          </a:p>
          <a:p>
            <a:r>
              <a:rPr lang="en-IN" sz="2400" dirty="0"/>
              <a:t>DTOs are simple objects that contain only data, and they do not contain any business logic. </a:t>
            </a:r>
          </a:p>
          <a:p>
            <a:r>
              <a:rPr lang="en-IN" sz="2400" dirty="0"/>
              <a:t>This makes them ideal for transferring data between layers of your application, such as the presentation layer and data access layer.</a:t>
            </a:r>
            <a:endParaRPr lang="en-US" sz="2400" dirty="0"/>
          </a:p>
        </p:txBody>
      </p:sp>
      <p:pic>
        <p:nvPicPr>
          <p:cNvPr id="5" name="Picture 4">
            <a:extLst>
              <a:ext uri="{FF2B5EF4-FFF2-40B4-BE49-F238E27FC236}">
                <a16:creationId xmlns:a16="http://schemas.microsoft.com/office/drawing/2014/main" id="{FE644C2C-F38E-FB2A-61D5-E0B168390C1F}"/>
              </a:ext>
            </a:extLst>
          </p:cNvPr>
          <p:cNvPicPr>
            <a:picLocks noChangeAspect="1"/>
          </p:cNvPicPr>
          <p:nvPr/>
        </p:nvPicPr>
        <p:blipFill>
          <a:blip r:embed="rId2"/>
          <a:stretch>
            <a:fillRect/>
          </a:stretch>
        </p:blipFill>
        <p:spPr>
          <a:xfrm>
            <a:off x="1204810" y="4071256"/>
            <a:ext cx="9782379" cy="2751909"/>
          </a:xfrm>
          <a:prstGeom prst="rect">
            <a:avLst/>
          </a:prstGeom>
        </p:spPr>
      </p:pic>
    </p:spTree>
    <p:extLst>
      <p:ext uri="{BB962C8B-B14F-4D97-AF65-F5344CB8AC3E}">
        <p14:creationId xmlns:p14="http://schemas.microsoft.com/office/powerpoint/2010/main" val="3764141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D3F2F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5D37A-5D76-BB9D-CB33-3A02A9151B71}"/>
              </a:ext>
            </a:extLst>
          </p:cNvPr>
          <p:cNvSpPr>
            <a:spLocks noGrp="1"/>
          </p:cNvSpPr>
          <p:nvPr>
            <p:ph type="title"/>
          </p:nvPr>
        </p:nvSpPr>
        <p:spPr/>
        <p:txBody>
          <a:bodyPr/>
          <a:lstStyle/>
          <a:p>
            <a:r>
              <a:rPr lang="en-IN" dirty="0"/>
              <a:t>Different Annotations &amp; Classes that supports building REST Services</a:t>
            </a:r>
            <a:endParaRPr lang="en-US" dirty="0"/>
          </a:p>
        </p:txBody>
      </p:sp>
      <p:pic>
        <p:nvPicPr>
          <p:cNvPr id="5" name="Picture 4">
            <a:extLst>
              <a:ext uri="{FF2B5EF4-FFF2-40B4-BE49-F238E27FC236}">
                <a16:creationId xmlns:a16="http://schemas.microsoft.com/office/drawing/2014/main" id="{AD7B0D0E-40D2-0766-AF49-9E4BF9B9AF56}"/>
              </a:ext>
            </a:extLst>
          </p:cNvPr>
          <p:cNvPicPr>
            <a:picLocks noChangeAspect="1"/>
          </p:cNvPicPr>
          <p:nvPr/>
        </p:nvPicPr>
        <p:blipFill>
          <a:blip r:embed="rId2"/>
          <a:stretch>
            <a:fillRect/>
          </a:stretch>
        </p:blipFill>
        <p:spPr>
          <a:xfrm>
            <a:off x="962297" y="2106291"/>
            <a:ext cx="4383511" cy="1325563"/>
          </a:xfrm>
          <a:prstGeom prst="rect">
            <a:avLst/>
          </a:prstGeom>
        </p:spPr>
      </p:pic>
      <p:pic>
        <p:nvPicPr>
          <p:cNvPr id="7" name="Picture 6">
            <a:extLst>
              <a:ext uri="{FF2B5EF4-FFF2-40B4-BE49-F238E27FC236}">
                <a16:creationId xmlns:a16="http://schemas.microsoft.com/office/drawing/2014/main" id="{D8EB6475-9A59-4682-9DE2-EE5DBDE7732B}"/>
              </a:ext>
            </a:extLst>
          </p:cNvPr>
          <p:cNvPicPr>
            <a:picLocks noChangeAspect="1"/>
          </p:cNvPicPr>
          <p:nvPr/>
        </p:nvPicPr>
        <p:blipFill>
          <a:blip r:embed="rId3"/>
          <a:stretch>
            <a:fillRect/>
          </a:stretch>
        </p:blipFill>
        <p:spPr>
          <a:xfrm>
            <a:off x="931817" y="3657066"/>
            <a:ext cx="4444940" cy="1325563"/>
          </a:xfrm>
          <a:prstGeom prst="rect">
            <a:avLst/>
          </a:prstGeom>
        </p:spPr>
      </p:pic>
      <p:pic>
        <p:nvPicPr>
          <p:cNvPr id="9" name="Picture 8">
            <a:extLst>
              <a:ext uri="{FF2B5EF4-FFF2-40B4-BE49-F238E27FC236}">
                <a16:creationId xmlns:a16="http://schemas.microsoft.com/office/drawing/2014/main" id="{AA85F70E-06F4-2ECA-5B75-FFB85BA20941}"/>
              </a:ext>
            </a:extLst>
          </p:cNvPr>
          <p:cNvPicPr>
            <a:picLocks noChangeAspect="1"/>
          </p:cNvPicPr>
          <p:nvPr/>
        </p:nvPicPr>
        <p:blipFill>
          <a:blip r:embed="rId4"/>
          <a:stretch>
            <a:fillRect/>
          </a:stretch>
        </p:blipFill>
        <p:spPr>
          <a:xfrm>
            <a:off x="986548" y="5207841"/>
            <a:ext cx="4359260" cy="1325564"/>
          </a:xfrm>
          <a:prstGeom prst="rect">
            <a:avLst/>
          </a:prstGeom>
        </p:spPr>
      </p:pic>
      <p:pic>
        <p:nvPicPr>
          <p:cNvPr id="11" name="Picture 10">
            <a:extLst>
              <a:ext uri="{FF2B5EF4-FFF2-40B4-BE49-F238E27FC236}">
                <a16:creationId xmlns:a16="http://schemas.microsoft.com/office/drawing/2014/main" id="{D4553397-488B-B801-86C7-006878493162}"/>
              </a:ext>
            </a:extLst>
          </p:cNvPr>
          <p:cNvPicPr>
            <a:picLocks noChangeAspect="1"/>
          </p:cNvPicPr>
          <p:nvPr/>
        </p:nvPicPr>
        <p:blipFill>
          <a:blip r:embed="rId5"/>
          <a:stretch>
            <a:fillRect/>
          </a:stretch>
        </p:blipFill>
        <p:spPr>
          <a:xfrm>
            <a:off x="7394834" y="2103435"/>
            <a:ext cx="4374703" cy="1325565"/>
          </a:xfrm>
          <a:prstGeom prst="rect">
            <a:avLst/>
          </a:prstGeom>
        </p:spPr>
      </p:pic>
      <p:pic>
        <p:nvPicPr>
          <p:cNvPr id="13" name="Picture 12">
            <a:extLst>
              <a:ext uri="{FF2B5EF4-FFF2-40B4-BE49-F238E27FC236}">
                <a16:creationId xmlns:a16="http://schemas.microsoft.com/office/drawing/2014/main" id="{3D1A7FE2-4A1B-C815-149A-C26793F3E038}"/>
              </a:ext>
            </a:extLst>
          </p:cNvPr>
          <p:cNvPicPr>
            <a:picLocks noChangeAspect="1"/>
          </p:cNvPicPr>
          <p:nvPr/>
        </p:nvPicPr>
        <p:blipFill>
          <a:blip r:embed="rId6"/>
          <a:stretch>
            <a:fillRect/>
          </a:stretch>
        </p:blipFill>
        <p:spPr>
          <a:xfrm>
            <a:off x="7363885" y="3654209"/>
            <a:ext cx="4366960" cy="1325564"/>
          </a:xfrm>
          <a:prstGeom prst="rect">
            <a:avLst/>
          </a:prstGeom>
        </p:spPr>
      </p:pic>
      <p:pic>
        <p:nvPicPr>
          <p:cNvPr id="15" name="Picture 14">
            <a:extLst>
              <a:ext uri="{FF2B5EF4-FFF2-40B4-BE49-F238E27FC236}">
                <a16:creationId xmlns:a16="http://schemas.microsoft.com/office/drawing/2014/main" id="{CF217790-0094-7AD7-03D6-286D01933792}"/>
              </a:ext>
            </a:extLst>
          </p:cNvPr>
          <p:cNvPicPr>
            <a:picLocks noChangeAspect="1"/>
          </p:cNvPicPr>
          <p:nvPr/>
        </p:nvPicPr>
        <p:blipFill>
          <a:blip r:embed="rId7"/>
          <a:stretch>
            <a:fillRect/>
          </a:stretch>
        </p:blipFill>
        <p:spPr>
          <a:xfrm>
            <a:off x="7363885" y="5207841"/>
            <a:ext cx="4366960" cy="1319852"/>
          </a:xfrm>
          <a:prstGeom prst="rect">
            <a:avLst/>
          </a:prstGeom>
        </p:spPr>
      </p:pic>
    </p:spTree>
    <p:extLst>
      <p:ext uri="{BB962C8B-B14F-4D97-AF65-F5344CB8AC3E}">
        <p14:creationId xmlns:p14="http://schemas.microsoft.com/office/powerpoint/2010/main" val="1343694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203</TotalTime>
  <Words>978</Words>
  <Application>Microsoft Office PowerPoint</Application>
  <PresentationFormat>Widescreen</PresentationFormat>
  <Paragraphs>108</Paragraphs>
  <Slides>24</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Calibri</vt:lpstr>
      <vt:lpstr>Calibri Light</vt:lpstr>
      <vt:lpstr>Office Theme</vt:lpstr>
      <vt:lpstr>Spring Boot + Microservices</vt:lpstr>
      <vt:lpstr>What are Microservices ?</vt:lpstr>
      <vt:lpstr>The Monolith</vt:lpstr>
      <vt:lpstr>The Monolith</vt:lpstr>
      <vt:lpstr>The Monolith</vt:lpstr>
      <vt:lpstr>The SOA (Service-Oriented Architecture)</vt:lpstr>
      <vt:lpstr>The SOA (Service Oriented Architecture)</vt:lpstr>
      <vt:lpstr>PowerPoint Presentation</vt:lpstr>
      <vt:lpstr>The Great Microservices</vt:lpstr>
      <vt:lpstr>The Great Microservices</vt:lpstr>
      <vt:lpstr>The Great Microservices</vt:lpstr>
      <vt:lpstr>Monolithic vs SOA vs Microservices</vt:lpstr>
      <vt:lpstr>Monolithic vs SOA vs Microservices</vt:lpstr>
      <vt:lpstr>Definition of Microservices ?</vt:lpstr>
      <vt:lpstr>How to build Microservices ?</vt:lpstr>
      <vt:lpstr>How to build Microservices ?</vt:lpstr>
      <vt:lpstr>Why Spring Boot for Microservices ?</vt:lpstr>
      <vt:lpstr>Why Spring Boot for Microservices ?</vt:lpstr>
      <vt:lpstr>Why Spring Boot for Microservices ?</vt:lpstr>
      <vt:lpstr>Implementing REST Services</vt:lpstr>
      <vt:lpstr>Implementing REST Service</vt:lpstr>
      <vt:lpstr>Implementing REST Service</vt:lpstr>
      <vt:lpstr>DTO (Data Transfer Object) Pattern</vt:lpstr>
      <vt:lpstr>Different Annotations &amp; Classes that supports building REST Services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Vivek Gohil</dc:creator>
  <cp:lastModifiedBy>student5</cp:lastModifiedBy>
  <cp:revision>3</cp:revision>
  <dcterms:created xsi:type="dcterms:W3CDTF">2026-03-11T15:50:43Z</dcterms:created>
  <dcterms:modified xsi:type="dcterms:W3CDTF">2026-06-02T03:46:23Z</dcterms:modified>
</cp:coreProperties>
</file>