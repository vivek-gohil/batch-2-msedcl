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1" r:id="rId27"/>
    <p:sldId id="282" r:id="rId28"/>
    <p:sldId id="283" r:id="rId29"/>
    <p:sldId id="284" r:id="rId30"/>
    <p:sldId id="285" r:id="rId31"/>
    <p:sldId id="286" r:id="rId32"/>
    <p:sldId id="288" r:id="rId33"/>
    <p:sldId id="287"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3C5"/>
    <a:srgbClr val="E8FFE6"/>
    <a:srgbClr val="D3F2F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57C2C5-59BB-401F-AF8D-CEE860D4E2C4}" v="1" dt="2026-06-11T16:00:48.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0" autoAdjust="0"/>
    <p:restoredTop sz="94660"/>
  </p:normalViewPr>
  <p:slideViewPr>
    <p:cSldViewPr snapToGrid="0">
      <p:cViewPr varScale="1">
        <p:scale>
          <a:sx n="59" d="100"/>
          <a:sy n="59" d="100"/>
        </p:scale>
        <p:origin x="24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FD696D-4582-428B-9BBA-910E7E3CEA52}" type="doc">
      <dgm:prSet loTypeId="urn:microsoft.com/office/officeart/2005/8/layout/lProcess1" loCatId="process" qsTypeId="urn:microsoft.com/office/officeart/2005/8/quickstyle/simple1" qsCatId="simple" csTypeId="urn:microsoft.com/office/officeart/2005/8/colors/accent2_2" csCatId="accent2" phldr="1"/>
      <dgm:spPr/>
      <dgm:t>
        <a:bodyPr/>
        <a:lstStyle/>
        <a:p>
          <a:endParaRPr lang="en-US"/>
        </a:p>
      </dgm:t>
    </dgm:pt>
    <dgm:pt modelId="{1B0E7103-F187-4EA4-88C1-0BD4DF9AF5D8}">
      <dgm:prSet phldrT="[Text]" phldr="0"/>
      <dgm:spPr/>
      <dgm:t>
        <a:bodyPr/>
        <a:lstStyle/>
        <a:p>
          <a:r>
            <a:rPr lang="en-GB"/>
            <a:t>@Value</a:t>
          </a:r>
          <a:endParaRPr lang="en-US" dirty="0"/>
        </a:p>
      </dgm:t>
    </dgm:pt>
    <dgm:pt modelId="{3B8E8DBB-C5FD-447A-8C60-9AB87068AFCD}" type="parTrans" cxnId="{AE447CC4-7BB0-4E8C-8AEA-F0B3CB1F6ABB}">
      <dgm:prSet/>
      <dgm:spPr/>
      <dgm:t>
        <a:bodyPr/>
        <a:lstStyle/>
        <a:p>
          <a:endParaRPr lang="en-US"/>
        </a:p>
      </dgm:t>
    </dgm:pt>
    <dgm:pt modelId="{59BAE109-A5DD-4486-A00B-F86D5A49ABDE}" type="sibTrans" cxnId="{AE447CC4-7BB0-4E8C-8AEA-F0B3CB1F6ABB}">
      <dgm:prSet/>
      <dgm:spPr/>
      <dgm:t>
        <a:bodyPr/>
        <a:lstStyle/>
        <a:p>
          <a:endParaRPr lang="en-US"/>
        </a:p>
      </dgm:t>
    </dgm:pt>
    <dgm:pt modelId="{A6B27859-BD54-45D3-91D9-3C71B7A1C78B}">
      <dgm:prSet phldrT="[Text]" phldr="0"/>
      <dgm:spPr/>
      <dgm:t>
        <a:bodyPr/>
        <a:lstStyle/>
        <a:p>
          <a:r>
            <a:rPr lang="en-GB" dirty="0"/>
            <a:t>You can use @Value annotation to directly inject properties into beans.</a:t>
          </a:r>
          <a:endParaRPr lang="en-US" dirty="0"/>
        </a:p>
      </dgm:t>
    </dgm:pt>
    <dgm:pt modelId="{8B395A1C-C3B8-4A37-ABDA-F7C3256F5D9F}" type="parTrans" cxnId="{4835F9C7-386D-41C2-9858-8580155BDADA}">
      <dgm:prSet/>
      <dgm:spPr/>
      <dgm:t>
        <a:bodyPr/>
        <a:lstStyle/>
        <a:p>
          <a:endParaRPr lang="en-US"/>
        </a:p>
      </dgm:t>
    </dgm:pt>
    <dgm:pt modelId="{474B348F-4E4D-45A8-A3B8-9A67C160AF3D}" type="sibTrans" cxnId="{4835F9C7-386D-41C2-9858-8580155BDADA}">
      <dgm:prSet/>
      <dgm:spPr/>
      <dgm:t>
        <a:bodyPr/>
        <a:lstStyle/>
        <a:p>
          <a:endParaRPr lang="en-US"/>
        </a:p>
      </dgm:t>
    </dgm:pt>
    <dgm:pt modelId="{904D1389-1833-47D2-8F40-D1B3800F7453}">
      <dgm:prSet phldrT="[Text]" phldr="0"/>
      <dgm:spPr/>
      <dgm:t>
        <a:bodyPr/>
        <a:lstStyle/>
        <a:p>
          <a:r>
            <a:rPr lang="en-GB" dirty="0"/>
            <a:t>This approach is suitable for injecting individual properties into specific fields.</a:t>
          </a:r>
          <a:endParaRPr lang="en-US" dirty="0"/>
        </a:p>
      </dgm:t>
    </dgm:pt>
    <dgm:pt modelId="{9F909386-09F7-4C61-87DD-551B5412D412}" type="parTrans" cxnId="{99BD6921-6F0C-4DFB-AFFF-00966BB55211}">
      <dgm:prSet/>
      <dgm:spPr/>
      <dgm:t>
        <a:bodyPr/>
        <a:lstStyle/>
        <a:p>
          <a:endParaRPr lang="en-US"/>
        </a:p>
      </dgm:t>
    </dgm:pt>
    <dgm:pt modelId="{6568DD85-2EC2-4E12-B5F7-B1FA0D7E0F3F}" type="sibTrans" cxnId="{99BD6921-6F0C-4DFB-AFFF-00966BB55211}">
      <dgm:prSet/>
      <dgm:spPr/>
      <dgm:t>
        <a:bodyPr/>
        <a:lstStyle/>
        <a:p>
          <a:endParaRPr lang="en-US"/>
        </a:p>
      </dgm:t>
    </dgm:pt>
    <dgm:pt modelId="{4315C73A-32E3-4E2A-9795-4409E4696FE3}">
      <dgm:prSet phldrT="[Text]" phldr="0"/>
      <dgm:spPr/>
      <dgm:t>
        <a:bodyPr/>
        <a:lstStyle/>
        <a:p>
          <a:r>
            <a:rPr lang="en-GB"/>
            <a:t>Environment</a:t>
          </a:r>
          <a:endParaRPr lang="en-US" dirty="0"/>
        </a:p>
      </dgm:t>
    </dgm:pt>
    <dgm:pt modelId="{F4F4F8C6-3C1C-4757-A3F9-915EF8FE8B63}" type="parTrans" cxnId="{E155370E-B097-412B-AEE4-AD770FD0223B}">
      <dgm:prSet/>
      <dgm:spPr/>
      <dgm:t>
        <a:bodyPr/>
        <a:lstStyle/>
        <a:p>
          <a:endParaRPr lang="en-US"/>
        </a:p>
      </dgm:t>
    </dgm:pt>
    <dgm:pt modelId="{028AFADB-8D09-4946-BCE5-7EC63710EF58}" type="sibTrans" cxnId="{E155370E-B097-412B-AEE4-AD770FD0223B}">
      <dgm:prSet/>
      <dgm:spPr/>
      <dgm:t>
        <a:bodyPr/>
        <a:lstStyle/>
        <a:p>
          <a:endParaRPr lang="en-US"/>
        </a:p>
      </dgm:t>
    </dgm:pt>
    <dgm:pt modelId="{FDFF8556-442F-46BD-9EC3-EE79F504C8D9}">
      <dgm:prSet phldrT="[Text]" phldr="0"/>
      <dgm:spPr/>
      <dgm:t>
        <a:bodyPr/>
        <a:lstStyle/>
        <a:p>
          <a:r>
            <a:rPr lang="en-GB" dirty="0"/>
            <a:t>The environment interface provides methods to access properties from the applications environment.</a:t>
          </a:r>
          <a:endParaRPr lang="en-US" dirty="0"/>
        </a:p>
      </dgm:t>
    </dgm:pt>
    <dgm:pt modelId="{C2C9CD0E-1606-476D-AA83-1DA1C6E6DD9C}" type="parTrans" cxnId="{1804D4BB-4898-4320-A585-FEA623FDF4C4}">
      <dgm:prSet/>
      <dgm:spPr/>
      <dgm:t>
        <a:bodyPr/>
        <a:lstStyle/>
        <a:p>
          <a:endParaRPr lang="en-US"/>
        </a:p>
      </dgm:t>
    </dgm:pt>
    <dgm:pt modelId="{1366151F-B822-49D1-BDF2-2C833F468EA0}" type="sibTrans" cxnId="{1804D4BB-4898-4320-A585-FEA623FDF4C4}">
      <dgm:prSet/>
      <dgm:spPr/>
      <dgm:t>
        <a:bodyPr/>
        <a:lstStyle/>
        <a:p>
          <a:endParaRPr lang="en-US"/>
        </a:p>
      </dgm:t>
    </dgm:pt>
    <dgm:pt modelId="{504EC0A4-D167-4257-B59B-0D63B59E6B31}">
      <dgm:prSet phldrT="[Text]" phldr="0"/>
      <dgm:spPr/>
      <dgm:t>
        <a:bodyPr/>
        <a:lstStyle/>
        <a:p>
          <a:r>
            <a:rPr lang="en-GB" dirty="0"/>
            <a:t>You can </a:t>
          </a:r>
          <a:r>
            <a:rPr lang="en-GB" dirty="0" err="1"/>
            <a:t>autowire</a:t>
          </a:r>
          <a:r>
            <a:rPr lang="en-GB" dirty="0"/>
            <a:t> the Environment bean and use its method to retrieve property values.</a:t>
          </a:r>
          <a:endParaRPr lang="en-US" dirty="0"/>
        </a:p>
      </dgm:t>
    </dgm:pt>
    <dgm:pt modelId="{51298CA5-8FC8-4DD3-82EB-3A44EC488E47}" type="parTrans" cxnId="{92C04DAA-0F1E-421F-97BE-C6C7ACFE039E}">
      <dgm:prSet/>
      <dgm:spPr/>
      <dgm:t>
        <a:bodyPr/>
        <a:lstStyle/>
        <a:p>
          <a:endParaRPr lang="en-US"/>
        </a:p>
      </dgm:t>
    </dgm:pt>
    <dgm:pt modelId="{FB8E8B21-02B4-4327-B880-D3B06BD058C1}" type="sibTrans" cxnId="{92C04DAA-0F1E-421F-97BE-C6C7ACFE039E}">
      <dgm:prSet/>
      <dgm:spPr/>
      <dgm:t>
        <a:bodyPr/>
        <a:lstStyle/>
        <a:p>
          <a:endParaRPr lang="en-US"/>
        </a:p>
      </dgm:t>
    </dgm:pt>
    <dgm:pt modelId="{C78751FD-2D23-49FB-9CDE-52C616726E3E}">
      <dgm:prSet phldrT="[Text]" phldr="0"/>
      <dgm:spPr/>
      <dgm:t>
        <a:bodyPr/>
        <a:lstStyle/>
        <a:p>
          <a:r>
            <a:rPr lang="en-GB"/>
            <a:t>@ConfigurationProperties</a:t>
          </a:r>
          <a:endParaRPr lang="en-US" dirty="0"/>
        </a:p>
      </dgm:t>
    </dgm:pt>
    <dgm:pt modelId="{F8FBF2EC-0B49-4DAE-8DAA-68098D5F53B8}" type="parTrans" cxnId="{3A79E9E2-5A7E-49A5-BA19-09D11D04F93A}">
      <dgm:prSet/>
      <dgm:spPr/>
      <dgm:t>
        <a:bodyPr/>
        <a:lstStyle/>
        <a:p>
          <a:endParaRPr lang="en-US"/>
        </a:p>
      </dgm:t>
    </dgm:pt>
    <dgm:pt modelId="{9259CFA5-2F85-4F5C-ADF6-13081BEDFCAF}" type="sibTrans" cxnId="{3A79E9E2-5A7E-49A5-BA19-09D11D04F93A}">
      <dgm:prSet/>
      <dgm:spPr/>
      <dgm:t>
        <a:bodyPr/>
        <a:lstStyle/>
        <a:p>
          <a:endParaRPr lang="en-US"/>
        </a:p>
      </dgm:t>
    </dgm:pt>
    <dgm:pt modelId="{04A062EC-D289-4D91-8974-1DD0EAD66737}">
      <dgm:prSet phldrT="[Text]" phldr="0"/>
      <dgm:spPr/>
      <dgm:t>
        <a:bodyPr/>
        <a:lstStyle/>
        <a:p>
          <a:r>
            <a:rPr lang="en-GB" dirty="0"/>
            <a:t>@ConfigurationProperties annotation enables binding of entire groups of properties to bean.</a:t>
          </a:r>
          <a:endParaRPr lang="en-US" dirty="0"/>
        </a:p>
      </dgm:t>
    </dgm:pt>
    <dgm:pt modelId="{7302DB45-47D2-4C05-A725-13D950DC5E67}" type="parTrans" cxnId="{CB0C2F20-B5F7-4728-BBFE-548D0CA1B8B6}">
      <dgm:prSet/>
      <dgm:spPr/>
      <dgm:t>
        <a:bodyPr/>
        <a:lstStyle/>
        <a:p>
          <a:endParaRPr lang="en-US"/>
        </a:p>
      </dgm:t>
    </dgm:pt>
    <dgm:pt modelId="{09F623A0-1067-45CD-9909-1B3C1D651DDA}" type="sibTrans" cxnId="{CB0C2F20-B5F7-4728-BBFE-548D0CA1B8B6}">
      <dgm:prSet/>
      <dgm:spPr/>
      <dgm:t>
        <a:bodyPr/>
        <a:lstStyle/>
        <a:p>
          <a:endParaRPr lang="en-US"/>
        </a:p>
      </dgm:t>
    </dgm:pt>
    <dgm:pt modelId="{5A2C591B-64B6-4598-A892-93A041ED4EC6}">
      <dgm:prSet phldrT="[Text]" phldr="0"/>
      <dgm:spPr/>
      <dgm:t>
        <a:bodyPr/>
        <a:lstStyle/>
        <a:p>
          <a:r>
            <a:rPr lang="en-GB" dirty="0"/>
            <a:t>You define configuration class with annotated fields matching properties and Spring Boot automatically maps properties to field.</a:t>
          </a:r>
          <a:endParaRPr lang="en-US" dirty="0"/>
        </a:p>
      </dgm:t>
    </dgm:pt>
    <dgm:pt modelId="{8D418464-0DB9-41E4-9794-C8F8E020A72C}" type="parTrans" cxnId="{79E5D248-8BA5-4EB6-A1AD-D4AFD6D01E60}">
      <dgm:prSet/>
      <dgm:spPr/>
      <dgm:t>
        <a:bodyPr/>
        <a:lstStyle/>
        <a:p>
          <a:endParaRPr lang="en-US"/>
        </a:p>
      </dgm:t>
    </dgm:pt>
    <dgm:pt modelId="{77D63214-EC0E-4DF9-B71B-2074FBDD4A77}" type="sibTrans" cxnId="{79E5D248-8BA5-4EB6-A1AD-D4AFD6D01E60}">
      <dgm:prSet/>
      <dgm:spPr/>
      <dgm:t>
        <a:bodyPr/>
        <a:lstStyle/>
        <a:p>
          <a:endParaRPr lang="en-US"/>
        </a:p>
      </dgm:t>
    </dgm:pt>
    <dgm:pt modelId="{A3A67721-C199-4E19-B1BE-A8272FEE0D56}" type="pres">
      <dgm:prSet presAssocID="{9AFD696D-4582-428B-9BBA-910E7E3CEA52}" presName="Name0" presStyleCnt="0">
        <dgm:presLayoutVars>
          <dgm:dir/>
          <dgm:animLvl val="lvl"/>
          <dgm:resizeHandles val="exact"/>
        </dgm:presLayoutVars>
      </dgm:prSet>
      <dgm:spPr/>
    </dgm:pt>
    <dgm:pt modelId="{A3E5F1F8-341D-48A5-9E8A-7BEEF454DCF7}" type="pres">
      <dgm:prSet presAssocID="{1B0E7103-F187-4EA4-88C1-0BD4DF9AF5D8}" presName="vertFlow" presStyleCnt="0"/>
      <dgm:spPr/>
    </dgm:pt>
    <dgm:pt modelId="{F82A3580-11AB-4FD8-8594-28880C077182}" type="pres">
      <dgm:prSet presAssocID="{1B0E7103-F187-4EA4-88C1-0BD4DF9AF5D8}" presName="header" presStyleLbl="node1" presStyleIdx="0" presStyleCnt="3"/>
      <dgm:spPr/>
    </dgm:pt>
    <dgm:pt modelId="{72DCED6A-50DE-4874-81E3-6930C51107AD}" type="pres">
      <dgm:prSet presAssocID="{8B395A1C-C3B8-4A37-ABDA-F7C3256F5D9F}" presName="parTrans" presStyleLbl="sibTrans2D1" presStyleIdx="0" presStyleCnt="6"/>
      <dgm:spPr/>
    </dgm:pt>
    <dgm:pt modelId="{4CEABA4A-B234-4035-9871-CA4DBFF10C60}" type="pres">
      <dgm:prSet presAssocID="{A6B27859-BD54-45D3-91D9-3C71B7A1C78B}" presName="child" presStyleLbl="alignAccFollowNode1" presStyleIdx="0" presStyleCnt="6">
        <dgm:presLayoutVars>
          <dgm:chMax val="0"/>
          <dgm:bulletEnabled val="1"/>
        </dgm:presLayoutVars>
      </dgm:prSet>
      <dgm:spPr/>
    </dgm:pt>
    <dgm:pt modelId="{8E7F2383-7094-4B8D-807F-ECF29933A2F3}" type="pres">
      <dgm:prSet presAssocID="{474B348F-4E4D-45A8-A3B8-9A67C160AF3D}" presName="sibTrans" presStyleLbl="sibTrans2D1" presStyleIdx="1" presStyleCnt="6"/>
      <dgm:spPr/>
    </dgm:pt>
    <dgm:pt modelId="{B0090EF5-5CB6-4C6A-B700-517FDCE1AAC2}" type="pres">
      <dgm:prSet presAssocID="{904D1389-1833-47D2-8F40-D1B3800F7453}" presName="child" presStyleLbl="alignAccFollowNode1" presStyleIdx="1" presStyleCnt="6">
        <dgm:presLayoutVars>
          <dgm:chMax val="0"/>
          <dgm:bulletEnabled val="1"/>
        </dgm:presLayoutVars>
      </dgm:prSet>
      <dgm:spPr/>
    </dgm:pt>
    <dgm:pt modelId="{C4C0428B-240A-4BA7-A51C-99812054B0DB}" type="pres">
      <dgm:prSet presAssocID="{1B0E7103-F187-4EA4-88C1-0BD4DF9AF5D8}" presName="hSp" presStyleCnt="0"/>
      <dgm:spPr/>
    </dgm:pt>
    <dgm:pt modelId="{FEC09C8B-9E37-4985-A995-647DEBF7E4B4}" type="pres">
      <dgm:prSet presAssocID="{4315C73A-32E3-4E2A-9795-4409E4696FE3}" presName="vertFlow" presStyleCnt="0"/>
      <dgm:spPr/>
    </dgm:pt>
    <dgm:pt modelId="{89C586F1-7169-40C4-8345-D68F81D1D537}" type="pres">
      <dgm:prSet presAssocID="{4315C73A-32E3-4E2A-9795-4409E4696FE3}" presName="header" presStyleLbl="node1" presStyleIdx="1" presStyleCnt="3"/>
      <dgm:spPr/>
    </dgm:pt>
    <dgm:pt modelId="{DA206C3F-281C-437F-A94F-F90F0C5CC238}" type="pres">
      <dgm:prSet presAssocID="{C2C9CD0E-1606-476D-AA83-1DA1C6E6DD9C}" presName="parTrans" presStyleLbl="sibTrans2D1" presStyleIdx="2" presStyleCnt="6"/>
      <dgm:spPr/>
    </dgm:pt>
    <dgm:pt modelId="{4466E1C3-F38F-4D25-873E-BCE5BC1ED180}" type="pres">
      <dgm:prSet presAssocID="{FDFF8556-442F-46BD-9EC3-EE79F504C8D9}" presName="child" presStyleLbl="alignAccFollowNode1" presStyleIdx="2" presStyleCnt="6">
        <dgm:presLayoutVars>
          <dgm:chMax val="0"/>
          <dgm:bulletEnabled val="1"/>
        </dgm:presLayoutVars>
      </dgm:prSet>
      <dgm:spPr/>
    </dgm:pt>
    <dgm:pt modelId="{71F80934-71BB-49D2-B308-32BBEAE4E08A}" type="pres">
      <dgm:prSet presAssocID="{1366151F-B822-49D1-BDF2-2C833F468EA0}" presName="sibTrans" presStyleLbl="sibTrans2D1" presStyleIdx="3" presStyleCnt="6"/>
      <dgm:spPr/>
    </dgm:pt>
    <dgm:pt modelId="{BB94B453-6742-4915-8B9B-3A17B2761262}" type="pres">
      <dgm:prSet presAssocID="{504EC0A4-D167-4257-B59B-0D63B59E6B31}" presName="child" presStyleLbl="alignAccFollowNode1" presStyleIdx="3" presStyleCnt="6">
        <dgm:presLayoutVars>
          <dgm:chMax val="0"/>
          <dgm:bulletEnabled val="1"/>
        </dgm:presLayoutVars>
      </dgm:prSet>
      <dgm:spPr/>
    </dgm:pt>
    <dgm:pt modelId="{CA87A25C-4012-47C9-AD18-E09DE6F73C12}" type="pres">
      <dgm:prSet presAssocID="{4315C73A-32E3-4E2A-9795-4409E4696FE3}" presName="hSp" presStyleCnt="0"/>
      <dgm:spPr/>
    </dgm:pt>
    <dgm:pt modelId="{4A034CC8-6DB0-4454-AC97-A82BC4905F73}" type="pres">
      <dgm:prSet presAssocID="{C78751FD-2D23-49FB-9CDE-52C616726E3E}" presName="vertFlow" presStyleCnt="0"/>
      <dgm:spPr/>
    </dgm:pt>
    <dgm:pt modelId="{FC84C604-833C-4442-821B-23CA8E83D58F}" type="pres">
      <dgm:prSet presAssocID="{C78751FD-2D23-49FB-9CDE-52C616726E3E}" presName="header" presStyleLbl="node1" presStyleIdx="2" presStyleCnt="3"/>
      <dgm:spPr/>
    </dgm:pt>
    <dgm:pt modelId="{FF4CFF82-2CE9-4C49-8F48-DAE228A14F89}" type="pres">
      <dgm:prSet presAssocID="{7302DB45-47D2-4C05-A725-13D950DC5E67}" presName="parTrans" presStyleLbl="sibTrans2D1" presStyleIdx="4" presStyleCnt="6"/>
      <dgm:spPr/>
    </dgm:pt>
    <dgm:pt modelId="{C952E34B-1604-477A-8D96-0094C25A51D9}" type="pres">
      <dgm:prSet presAssocID="{04A062EC-D289-4D91-8974-1DD0EAD66737}" presName="child" presStyleLbl="alignAccFollowNode1" presStyleIdx="4" presStyleCnt="6">
        <dgm:presLayoutVars>
          <dgm:chMax val="0"/>
          <dgm:bulletEnabled val="1"/>
        </dgm:presLayoutVars>
      </dgm:prSet>
      <dgm:spPr/>
    </dgm:pt>
    <dgm:pt modelId="{10D82837-3952-450F-9707-7FB890BECE05}" type="pres">
      <dgm:prSet presAssocID="{09F623A0-1067-45CD-9909-1B3C1D651DDA}" presName="sibTrans" presStyleLbl="sibTrans2D1" presStyleIdx="5" presStyleCnt="6"/>
      <dgm:spPr/>
    </dgm:pt>
    <dgm:pt modelId="{FDB65DEE-1B9D-4D93-8C1D-0839DAD3CCFC}" type="pres">
      <dgm:prSet presAssocID="{5A2C591B-64B6-4598-A892-93A041ED4EC6}" presName="child" presStyleLbl="alignAccFollowNode1" presStyleIdx="5" presStyleCnt="6">
        <dgm:presLayoutVars>
          <dgm:chMax val="0"/>
          <dgm:bulletEnabled val="1"/>
        </dgm:presLayoutVars>
      </dgm:prSet>
      <dgm:spPr/>
    </dgm:pt>
  </dgm:ptLst>
  <dgm:cxnLst>
    <dgm:cxn modelId="{33749007-7C73-467C-8319-A259B8DCA1FE}" type="presOf" srcId="{1B0E7103-F187-4EA4-88C1-0BD4DF9AF5D8}" destId="{F82A3580-11AB-4FD8-8594-28880C077182}" srcOrd="0" destOrd="0" presId="urn:microsoft.com/office/officeart/2005/8/layout/lProcess1"/>
    <dgm:cxn modelId="{E155370E-B097-412B-AEE4-AD770FD0223B}" srcId="{9AFD696D-4582-428B-9BBA-910E7E3CEA52}" destId="{4315C73A-32E3-4E2A-9795-4409E4696FE3}" srcOrd="1" destOrd="0" parTransId="{F4F4F8C6-3C1C-4757-A3F9-915EF8FE8B63}" sibTransId="{028AFADB-8D09-4946-BCE5-7EC63710EF58}"/>
    <dgm:cxn modelId="{CB0C2F20-B5F7-4728-BBFE-548D0CA1B8B6}" srcId="{C78751FD-2D23-49FB-9CDE-52C616726E3E}" destId="{04A062EC-D289-4D91-8974-1DD0EAD66737}" srcOrd="0" destOrd="0" parTransId="{7302DB45-47D2-4C05-A725-13D950DC5E67}" sibTransId="{09F623A0-1067-45CD-9909-1B3C1D651DDA}"/>
    <dgm:cxn modelId="{99BD6921-6F0C-4DFB-AFFF-00966BB55211}" srcId="{1B0E7103-F187-4EA4-88C1-0BD4DF9AF5D8}" destId="{904D1389-1833-47D2-8F40-D1B3800F7453}" srcOrd="1" destOrd="0" parTransId="{9F909386-09F7-4C61-87DD-551B5412D412}" sibTransId="{6568DD85-2EC2-4E12-B5F7-B1FA0D7E0F3F}"/>
    <dgm:cxn modelId="{C42D1A24-07A7-42B9-83C4-69FA28E6DA18}" type="presOf" srcId="{904D1389-1833-47D2-8F40-D1B3800F7453}" destId="{B0090EF5-5CB6-4C6A-B700-517FDCE1AAC2}" srcOrd="0" destOrd="0" presId="urn:microsoft.com/office/officeart/2005/8/layout/lProcess1"/>
    <dgm:cxn modelId="{869E1B66-92ED-41AE-94E7-8E5E33D24FBB}" type="presOf" srcId="{474B348F-4E4D-45A8-A3B8-9A67C160AF3D}" destId="{8E7F2383-7094-4B8D-807F-ECF29933A2F3}" srcOrd="0" destOrd="0" presId="urn:microsoft.com/office/officeart/2005/8/layout/lProcess1"/>
    <dgm:cxn modelId="{79E5D248-8BA5-4EB6-A1AD-D4AFD6D01E60}" srcId="{C78751FD-2D23-49FB-9CDE-52C616726E3E}" destId="{5A2C591B-64B6-4598-A892-93A041ED4EC6}" srcOrd="1" destOrd="0" parTransId="{8D418464-0DB9-41E4-9794-C8F8E020A72C}" sibTransId="{77D63214-EC0E-4DF9-B71B-2074FBDD4A77}"/>
    <dgm:cxn modelId="{7A1B5249-9ECB-4627-8826-51334CD9D6AB}" type="presOf" srcId="{09F623A0-1067-45CD-9909-1B3C1D651DDA}" destId="{10D82837-3952-450F-9707-7FB890BECE05}" srcOrd="0" destOrd="0" presId="urn:microsoft.com/office/officeart/2005/8/layout/lProcess1"/>
    <dgm:cxn modelId="{0389496B-63C1-4DEF-9DCA-162692C52FE0}" type="presOf" srcId="{1366151F-B822-49D1-BDF2-2C833F468EA0}" destId="{71F80934-71BB-49D2-B308-32BBEAE4E08A}" srcOrd="0" destOrd="0" presId="urn:microsoft.com/office/officeart/2005/8/layout/lProcess1"/>
    <dgm:cxn modelId="{0559A675-25B3-44F3-99EC-64C5C2A24238}" type="presOf" srcId="{504EC0A4-D167-4257-B59B-0D63B59E6B31}" destId="{BB94B453-6742-4915-8B9B-3A17B2761262}" srcOrd="0" destOrd="0" presId="urn:microsoft.com/office/officeart/2005/8/layout/lProcess1"/>
    <dgm:cxn modelId="{66F45857-C8E4-452C-A84C-A1080A9751E0}" type="presOf" srcId="{7302DB45-47D2-4C05-A725-13D950DC5E67}" destId="{FF4CFF82-2CE9-4C49-8F48-DAE228A14F89}" srcOrd="0" destOrd="0" presId="urn:microsoft.com/office/officeart/2005/8/layout/lProcess1"/>
    <dgm:cxn modelId="{12DA3C5A-6B98-44D3-88A7-70432BF59F38}" type="presOf" srcId="{5A2C591B-64B6-4598-A892-93A041ED4EC6}" destId="{FDB65DEE-1B9D-4D93-8C1D-0839DAD3CCFC}" srcOrd="0" destOrd="0" presId="urn:microsoft.com/office/officeart/2005/8/layout/lProcess1"/>
    <dgm:cxn modelId="{DB035880-611F-4BF3-A27D-3525087CFE08}" type="presOf" srcId="{C2C9CD0E-1606-476D-AA83-1DA1C6E6DD9C}" destId="{DA206C3F-281C-437F-A94F-F90F0C5CC238}" srcOrd="0" destOrd="0" presId="urn:microsoft.com/office/officeart/2005/8/layout/lProcess1"/>
    <dgm:cxn modelId="{FE326295-0018-4BF9-88EC-91105149DDE8}" type="presOf" srcId="{04A062EC-D289-4D91-8974-1DD0EAD66737}" destId="{C952E34B-1604-477A-8D96-0094C25A51D9}" srcOrd="0" destOrd="0" presId="urn:microsoft.com/office/officeart/2005/8/layout/lProcess1"/>
    <dgm:cxn modelId="{92C04DAA-0F1E-421F-97BE-C6C7ACFE039E}" srcId="{4315C73A-32E3-4E2A-9795-4409E4696FE3}" destId="{504EC0A4-D167-4257-B59B-0D63B59E6B31}" srcOrd="1" destOrd="0" parTransId="{51298CA5-8FC8-4DD3-82EB-3A44EC488E47}" sibTransId="{FB8E8B21-02B4-4327-B880-D3B06BD058C1}"/>
    <dgm:cxn modelId="{8E7F4DAC-5F93-47E1-930C-00BF3B5672D8}" type="presOf" srcId="{FDFF8556-442F-46BD-9EC3-EE79F504C8D9}" destId="{4466E1C3-F38F-4D25-873E-BCE5BC1ED180}" srcOrd="0" destOrd="0" presId="urn:microsoft.com/office/officeart/2005/8/layout/lProcess1"/>
    <dgm:cxn modelId="{F5E546B4-0AE5-4CB2-B0DC-110BB3334711}" type="presOf" srcId="{A6B27859-BD54-45D3-91D9-3C71B7A1C78B}" destId="{4CEABA4A-B234-4035-9871-CA4DBFF10C60}" srcOrd="0" destOrd="0" presId="urn:microsoft.com/office/officeart/2005/8/layout/lProcess1"/>
    <dgm:cxn modelId="{1804D4BB-4898-4320-A585-FEA623FDF4C4}" srcId="{4315C73A-32E3-4E2A-9795-4409E4696FE3}" destId="{FDFF8556-442F-46BD-9EC3-EE79F504C8D9}" srcOrd="0" destOrd="0" parTransId="{C2C9CD0E-1606-476D-AA83-1DA1C6E6DD9C}" sibTransId="{1366151F-B822-49D1-BDF2-2C833F468EA0}"/>
    <dgm:cxn modelId="{A2573DC1-6181-4C7A-A16A-8D15715CBD58}" type="presOf" srcId="{9AFD696D-4582-428B-9BBA-910E7E3CEA52}" destId="{A3A67721-C199-4E19-B1BE-A8272FEE0D56}" srcOrd="0" destOrd="0" presId="urn:microsoft.com/office/officeart/2005/8/layout/lProcess1"/>
    <dgm:cxn modelId="{AE447CC4-7BB0-4E8C-8AEA-F0B3CB1F6ABB}" srcId="{9AFD696D-4582-428B-9BBA-910E7E3CEA52}" destId="{1B0E7103-F187-4EA4-88C1-0BD4DF9AF5D8}" srcOrd="0" destOrd="0" parTransId="{3B8E8DBB-C5FD-447A-8C60-9AB87068AFCD}" sibTransId="{59BAE109-A5DD-4486-A00B-F86D5A49ABDE}"/>
    <dgm:cxn modelId="{4835F9C7-386D-41C2-9858-8580155BDADA}" srcId="{1B0E7103-F187-4EA4-88C1-0BD4DF9AF5D8}" destId="{A6B27859-BD54-45D3-91D9-3C71B7A1C78B}" srcOrd="0" destOrd="0" parTransId="{8B395A1C-C3B8-4A37-ABDA-F7C3256F5D9F}" sibTransId="{474B348F-4E4D-45A8-A3B8-9A67C160AF3D}"/>
    <dgm:cxn modelId="{233625D7-799C-45F2-9B49-9FCFCECEC21C}" type="presOf" srcId="{4315C73A-32E3-4E2A-9795-4409E4696FE3}" destId="{89C586F1-7169-40C4-8345-D68F81D1D537}" srcOrd="0" destOrd="0" presId="urn:microsoft.com/office/officeart/2005/8/layout/lProcess1"/>
    <dgm:cxn modelId="{3A79E9E2-5A7E-49A5-BA19-09D11D04F93A}" srcId="{9AFD696D-4582-428B-9BBA-910E7E3CEA52}" destId="{C78751FD-2D23-49FB-9CDE-52C616726E3E}" srcOrd="2" destOrd="0" parTransId="{F8FBF2EC-0B49-4DAE-8DAA-68098D5F53B8}" sibTransId="{9259CFA5-2F85-4F5C-ADF6-13081BEDFCAF}"/>
    <dgm:cxn modelId="{996EE2E7-A0E9-4337-A766-A420E3AA642C}" type="presOf" srcId="{C78751FD-2D23-49FB-9CDE-52C616726E3E}" destId="{FC84C604-833C-4442-821B-23CA8E83D58F}" srcOrd="0" destOrd="0" presId="urn:microsoft.com/office/officeart/2005/8/layout/lProcess1"/>
    <dgm:cxn modelId="{0DE839E8-CE84-48B8-8FB9-4B2D2E683FA1}" type="presOf" srcId="{8B395A1C-C3B8-4A37-ABDA-F7C3256F5D9F}" destId="{72DCED6A-50DE-4874-81E3-6930C51107AD}" srcOrd="0" destOrd="0" presId="urn:microsoft.com/office/officeart/2005/8/layout/lProcess1"/>
    <dgm:cxn modelId="{3F22975E-DF80-495B-B06A-9E85F9D6478F}" type="presParOf" srcId="{A3A67721-C199-4E19-B1BE-A8272FEE0D56}" destId="{A3E5F1F8-341D-48A5-9E8A-7BEEF454DCF7}" srcOrd="0" destOrd="0" presId="urn:microsoft.com/office/officeart/2005/8/layout/lProcess1"/>
    <dgm:cxn modelId="{FE5D897F-751A-4A14-B86D-B7A9349F4883}" type="presParOf" srcId="{A3E5F1F8-341D-48A5-9E8A-7BEEF454DCF7}" destId="{F82A3580-11AB-4FD8-8594-28880C077182}" srcOrd="0" destOrd="0" presId="urn:microsoft.com/office/officeart/2005/8/layout/lProcess1"/>
    <dgm:cxn modelId="{85CB6AE2-214E-4149-B946-B8BA83591228}" type="presParOf" srcId="{A3E5F1F8-341D-48A5-9E8A-7BEEF454DCF7}" destId="{72DCED6A-50DE-4874-81E3-6930C51107AD}" srcOrd="1" destOrd="0" presId="urn:microsoft.com/office/officeart/2005/8/layout/lProcess1"/>
    <dgm:cxn modelId="{D79A6213-1825-4B1E-A6D7-5BB94236799B}" type="presParOf" srcId="{A3E5F1F8-341D-48A5-9E8A-7BEEF454DCF7}" destId="{4CEABA4A-B234-4035-9871-CA4DBFF10C60}" srcOrd="2" destOrd="0" presId="urn:microsoft.com/office/officeart/2005/8/layout/lProcess1"/>
    <dgm:cxn modelId="{9B58A35C-4927-4788-A231-1B6952FA2931}" type="presParOf" srcId="{A3E5F1F8-341D-48A5-9E8A-7BEEF454DCF7}" destId="{8E7F2383-7094-4B8D-807F-ECF29933A2F3}" srcOrd="3" destOrd="0" presId="urn:microsoft.com/office/officeart/2005/8/layout/lProcess1"/>
    <dgm:cxn modelId="{90DD4362-E197-45C4-B815-6A7891097DE5}" type="presParOf" srcId="{A3E5F1F8-341D-48A5-9E8A-7BEEF454DCF7}" destId="{B0090EF5-5CB6-4C6A-B700-517FDCE1AAC2}" srcOrd="4" destOrd="0" presId="urn:microsoft.com/office/officeart/2005/8/layout/lProcess1"/>
    <dgm:cxn modelId="{E9779F2E-7369-4306-86C1-C05AEC5A92B7}" type="presParOf" srcId="{A3A67721-C199-4E19-B1BE-A8272FEE0D56}" destId="{C4C0428B-240A-4BA7-A51C-99812054B0DB}" srcOrd="1" destOrd="0" presId="urn:microsoft.com/office/officeart/2005/8/layout/lProcess1"/>
    <dgm:cxn modelId="{0F2DAD4C-D19D-4165-A76B-F6DA6F05303E}" type="presParOf" srcId="{A3A67721-C199-4E19-B1BE-A8272FEE0D56}" destId="{FEC09C8B-9E37-4985-A995-647DEBF7E4B4}" srcOrd="2" destOrd="0" presId="urn:microsoft.com/office/officeart/2005/8/layout/lProcess1"/>
    <dgm:cxn modelId="{41C4AC32-3D91-4F52-A1B2-17DFE29194D5}" type="presParOf" srcId="{FEC09C8B-9E37-4985-A995-647DEBF7E4B4}" destId="{89C586F1-7169-40C4-8345-D68F81D1D537}" srcOrd="0" destOrd="0" presId="urn:microsoft.com/office/officeart/2005/8/layout/lProcess1"/>
    <dgm:cxn modelId="{02B6DB26-59E7-4702-A6B5-6252DB310C41}" type="presParOf" srcId="{FEC09C8B-9E37-4985-A995-647DEBF7E4B4}" destId="{DA206C3F-281C-437F-A94F-F90F0C5CC238}" srcOrd="1" destOrd="0" presId="urn:microsoft.com/office/officeart/2005/8/layout/lProcess1"/>
    <dgm:cxn modelId="{AC2CABEA-4DE4-4209-BD64-A3ED36C7FCF6}" type="presParOf" srcId="{FEC09C8B-9E37-4985-A995-647DEBF7E4B4}" destId="{4466E1C3-F38F-4D25-873E-BCE5BC1ED180}" srcOrd="2" destOrd="0" presId="urn:microsoft.com/office/officeart/2005/8/layout/lProcess1"/>
    <dgm:cxn modelId="{47807D51-ED02-4FC7-BA66-83626B897811}" type="presParOf" srcId="{FEC09C8B-9E37-4985-A995-647DEBF7E4B4}" destId="{71F80934-71BB-49D2-B308-32BBEAE4E08A}" srcOrd="3" destOrd="0" presId="urn:microsoft.com/office/officeart/2005/8/layout/lProcess1"/>
    <dgm:cxn modelId="{C97CD75B-D918-4D3D-90F9-634659F49BE8}" type="presParOf" srcId="{FEC09C8B-9E37-4985-A995-647DEBF7E4B4}" destId="{BB94B453-6742-4915-8B9B-3A17B2761262}" srcOrd="4" destOrd="0" presId="urn:microsoft.com/office/officeart/2005/8/layout/lProcess1"/>
    <dgm:cxn modelId="{DFE2F9A6-F210-4121-B210-987248F41B33}" type="presParOf" srcId="{A3A67721-C199-4E19-B1BE-A8272FEE0D56}" destId="{CA87A25C-4012-47C9-AD18-E09DE6F73C12}" srcOrd="3" destOrd="0" presId="urn:microsoft.com/office/officeart/2005/8/layout/lProcess1"/>
    <dgm:cxn modelId="{B80B4E25-4EAF-4106-BABE-F3588D9943D7}" type="presParOf" srcId="{A3A67721-C199-4E19-B1BE-A8272FEE0D56}" destId="{4A034CC8-6DB0-4454-AC97-A82BC4905F73}" srcOrd="4" destOrd="0" presId="urn:microsoft.com/office/officeart/2005/8/layout/lProcess1"/>
    <dgm:cxn modelId="{11EA3C9A-3E9D-4D81-9231-3524CEEAA889}" type="presParOf" srcId="{4A034CC8-6DB0-4454-AC97-A82BC4905F73}" destId="{FC84C604-833C-4442-821B-23CA8E83D58F}" srcOrd="0" destOrd="0" presId="urn:microsoft.com/office/officeart/2005/8/layout/lProcess1"/>
    <dgm:cxn modelId="{031D6CE5-7398-41AD-BD89-CD5F355BFC96}" type="presParOf" srcId="{4A034CC8-6DB0-4454-AC97-A82BC4905F73}" destId="{FF4CFF82-2CE9-4C49-8F48-DAE228A14F89}" srcOrd="1" destOrd="0" presId="urn:microsoft.com/office/officeart/2005/8/layout/lProcess1"/>
    <dgm:cxn modelId="{B9CDC86D-EB80-47C1-BF02-487EE9E011E5}" type="presParOf" srcId="{4A034CC8-6DB0-4454-AC97-A82BC4905F73}" destId="{C952E34B-1604-477A-8D96-0094C25A51D9}" srcOrd="2" destOrd="0" presId="urn:microsoft.com/office/officeart/2005/8/layout/lProcess1"/>
    <dgm:cxn modelId="{F51D4753-92FB-4BA9-9390-30A4120A0B7E}" type="presParOf" srcId="{4A034CC8-6DB0-4454-AC97-A82BC4905F73}" destId="{10D82837-3952-450F-9707-7FB890BECE05}" srcOrd="3" destOrd="0" presId="urn:microsoft.com/office/officeart/2005/8/layout/lProcess1"/>
    <dgm:cxn modelId="{B634D816-E907-4F5E-B061-FA28C60269D3}" type="presParOf" srcId="{4A034CC8-6DB0-4454-AC97-A82BC4905F73}" destId="{FDB65DEE-1B9D-4D93-8C1D-0839DAD3CCFC}" srcOrd="4"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A3580-11AB-4FD8-8594-28880C077182}">
      <dsp:nvSpPr>
        <dsp:cNvPr id="0" name=""/>
        <dsp:cNvSpPr/>
      </dsp:nvSpPr>
      <dsp:spPr>
        <a:xfrm>
          <a:off x="3219" y="693813"/>
          <a:ext cx="3204012" cy="80100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a:t>@Value</a:t>
          </a:r>
          <a:endParaRPr lang="en-US" sz="2200" kern="1200" dirty="0"/>
        </a:p>
      </dsp:txBody>
      <dsp:txXfrm>
        <a:off x="26680" y="717274"/>
        <a:ext cx="3157090" cy="754081"/>
      </dsp:txXfrm>
    </dsp:sp>
    <dsp:sp modelId="{72DCED6A-50DE-4874-81E3-6930C51107AD}">
      <dsp:nvSpPr>
        <dsp:cNvPr id="0" name=""/>
        <dsp:cNvSpPr/>
      </dsp:nvSpPr>
      <dsp:spPr>
        <a:xfrm rot="5400000">
          <a:off x="1535137" y="1564904"/>
          <a:ext cx="140175" cy="14017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CEABA4A-B234-4035-9871-CA4DBFF10C60}">
      <dsp:nvSpPr>
        <dsp:cNvPr id="0" name=""/>
        <dsp:cNvSpPr/>
      </dsp:nvSpPr>
      <dsp:spPr>
        <a:xfrm>
          <a:off x="3219" y="1775167"/>
          <a:ext cx="3204012" cy="801003"/>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You can use @Value annotation to directly inject properties into beans.</a:t>
          </a:r>
          <a:endParaRPr lang="en-US" sz="1300" kern="1200" dirty="0"/>
        </a:p>
      </dsp:txBody>
      <dsp:txXfrm>
        <a:off x="26680" y="1798628"/>
        <a:ext cx="3157090" cy="754081"/>
      </dsp:txXfrm>
    </dsp:sp>
    <dsp:sp modelId="{8E7F2383-7094-4B8D-807F-ECF29933A2F3}">
      <dsp:nvSpPr>
        <dsp:cNvPr id="0" name=""/>
        <dsp:cNvSpPr/>
      </dsp:nvSpPr>
      <dsp:spPr>
        <a:xfrm rot="5400000">
          <a:off x="1535137" y="2646258"/>
          <a:ext cx="140175" cy="14017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090EF5-5CB6-4C6A-B700-517FDCE1AAC2}">
      <dsp:nvSpPr>
        <dsp:cNvPr id="0" name=""/>
        <dsp:cNvSpPr/>
      </dsp:nvSpPr>
      <dsp:spPr>
        <a:xfrm>
          <a:off x="3219" y="2856521"/>
          <a:ext cx="3204012" cy="801003"/>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This approach is suitable for injecting individual properties into specific fields.</a:t>
          </a:r>
          <a:endParaRPr lang="en-US" sz="1300" kern="1200" dirty="0"/>
        </a:p>
      </dsp:txBody>
      <dsp:txXfrm>
        <a:off x="26680" y="2879982"/>
        <a:ext cx="3157090" cy="754081"/>
      </dsp:txXfrm>
    </dsp:sp>
    <dsp:sp modelId="{89C586F1-7169-40C4-8345-D68F81D1D537}">
      <dsp:nvSpPr>
        <dsp:cNvPr id="0" name=""/>
        <dsp:cNvSpPr/>
      </dsp:nvSpPr>
      <dsp:spPr>
        <a:xfrm>
          <a:off x="3655793" y="693813"/>
          <a:ext cx="3204012" cy="80100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a:t>Environment</a:t>
          </a:r>
          <a:endParaRPr lang="en-US" sz="2200" kern="1200" dirty="0"/>
        </a:p>
      </dsp:txBody>
      <dsp:txXfrm>
        <a:off x="3679254" y="717274"/>
        <a:ext cx="3157090" cy="754081"/>
      </dsp:txXfrm>
    </dsp:sp>
    <dsp:sp modelId="{DA206C3F-281C-437F-A94F-F90F0C5CC238}">
      <dsp:nvSpPr>
        <dsp:cNvPr id="0" name=""/>
        <dsp:cNvSpPr/>
      </dsp:nvSpPr>
      <dsp:spPr>
        <a:xfrm rot="5400000">
          <a:off x="5187712" y="1564904"/>
          <a:ext cx="140175" cy="14017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66E1C3-F38F-4D25-873E-BCE5BC1ED180}">
      <dsp:nvSpPr>
        <dsp:cNvPr id="0" name=""/>
        <dsp:cNvSpPr/>
      </dsp:nvSpPr>
      <dsp:spPr>
        <a:xfrm>
          <a:off x="3655793" y="1775167"/>
          <a:ext cx="3204012" cy="801003"/>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The environment interface provides methods to access properties from the applications environment.</a:t>
          </a:r>
          <a:endParaRPr lang="en-US" sz="1300" kern="1200" dirty="0"/>
        </a:p>
      </dsp:txBody>
      <dsp:txXfrm>
        <a:off x="3679254" y="1798628"/>
        <a:ext cx="3157090" cy="754081"/>
      </dsp:txXfrm>
    </dsp:sp>
    <dsp:sp modelId="{71F80934-71BB-49D2-B308-32BBEAE4E08A}">
      <dsp:nvSpPr>
        <dsp:cNvPr id="0" name=""/>
        <dsp:cNvSpPr/>
      </dsp:nvSpPr>
      <dsp:spPr>
        <a:xfrm rot="5400000">
          <a:off x="5187712" y="2646258"/>
          <a:ext cx="140175" cy="14017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B94B453-6742-4915-8B9B-3A17B2761262}">
      <dsp:nvSpPr>
        <dsp:cNvPr id="0" name=""/>
        <dsp:cNvSpPr/>
      </dsp:nvSpPr>
      <dsp:spPr>
        <a:xfrm>
          <a:off x="3655793" y="2856521"/>
          <a:ext cx="3204012" cy="801003"/>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You can </a:t>
          </a:r>
          <a:r>
            <a:rPr lang="en-GB" sz="1300" kern="1200" dirty="0" err="1"/>
            <a:t>autowire</a:t>
          </a:r>
          <a:r>
            <a:rPr lang="en-GB" sz="1300" kern="1200" dirty="0"/>
            <a:t> the Environment bean and use its method to retrieve property values.</a:t>
          </a:r>
          <a:endParaRPr lang="en-US" sz="1300" kern="1200" dirty="0"/>
        </a:p>
      </dsp:txBody>
      <dsp:txXfrm>
        <a:off x="3679254" y="2879982"/>
        <a:ext cx="3157090" cy="754081"/>
      </dsp:txXfrm>
    </dsp:sp>
    <dsp:sp modelId="{FC84C604-833C-4442-821B-23CA8E83D58F}">
      <dsp:nvSpPr>
        <dsp:cNvPr id="0" name=""/>
        <dsp:cNvSpPr/>
      </dsp:nvSpPr>
      <dsp:spPr>
        <a:xfrm>
          <a:off x="7308368" y="693813"/>
          <a:ext cx="3204012" cy="80100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a:t>@ConfigurationProperties</a:t>
          </a:r>
          <a:endParaRPr lang="en-US" sz="2200" kern="1200" dirty="0"/>
        </a:p>
      </dsp:txBody>
      <dsp:txXfrm>
        <a:off x="7331829" y="717274"/>
        <a:ext cx="3157090" cy="754081"/>
      </dsp:txXfrm>
    </dsp:sp>
    <dsp:sp modelId="{FF4CFF82-2CE9-4C49-8F48-DAE228A14F89}">
      <dsp:nvSpPr>
        <dsp:cNvPr id="0" name=""/>
        <dsp:cNvSpPr/>
      </dsp:nvSpPr>
      <dsp:spPr>
        <a:xfrm rot="5400000">
          <a:off x="8840286" y="1564904"/>
          <a:ext cx="140175" cy="14017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52E34B-1604-477A-8D96-0094C25A51D9}">
      <dsp:nvSpPr>
        <dsp:cNvPr id="0" name=""/>
        <dsp:cNvSpPr/>
      </dsp:nvSpPr>
      <dsp:spPr>
        <a:xfrm>
          <a:off x="7308368" y="1775167"/>
          <a:ext cx="3204012" cy="801003"/>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@ConfigurationProperties annotation enables binding of entire groups of properties to bean.</a:t>
          </a:r>
          <a:endParaRPr lang="en-US" sz="1300" kern="1200" dirty="0"/>
        </a:p>
      </dsp:txBody>
      <dsp:txXfrm>
        <a:off x="7331829" y="1798628"/>
        <a:ext cx="3157090" cy="754081"/>
      </dsp:txXfrm>
    </dsp:sp>
    <dsp:sp modelId="{10D82837-3952-450F-9707-7FB890BECE05}">
      <dsp:nvSpPr>
        <dsp:cNvPr id="0" name=""/>
        <dsp:cNvSpPr/>
      </dsp:nvSpPr>
      <dsp:spPr>
        <a:xfrm rot="5400000">
          <a:off x="8840286" y="2646258"/>
          <a:ext cx="140175" cy="14017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DB65DEE-1B9D-4D93-8C1D-0839DAD3CCFC}">
      <dsp:nvSpPr>
        <dsp:cNvPr id="0" name=""/>
        <dsp:cNvSpPr/>
      </dsp:nvSpPr>
      <dsp:spPr>
        <a:xfrm>
          <a:off x="7308368" y="2856521"/>
          <a:ext cx="3204012" cy="801003"/>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You define configuration class with annotated fields matching properties and Spring Boot automatically maps properties to field.</a:t>
          </a:r>
          <a:endParaRPr lang="en-US" sz="1300" kern="1200" dirty="0"/>
        </a:p>
      </dsp:txBody>
      <dsp:txXfrm>
        <a:off x="7331829" y="2879982"/>
        <a:ext cx="3157090" cy="75408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FC970-9BD9-429F-B7F4-01CA0FBF6460}"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1FD358-4BD0-4C1F-A6BF-41A5F19D4189}" type="slidenum">
              <a:rPr lang="en-US" smtClean="0"/>
              <a:t>‹#›</a:t>
            </a:fld>
            <a:endParaRPr lang="en-US"/>
          </a:p>
        </p:txBody>
      </p:sp>
    </p:spTree>
    <p:extLst>
      <p:ext uri="{BB962C8B-B14F-4D97-AF65-F5344CB8AC3E}">
        <p14:creationId xmlns:p14="http://schemas.microsoft.com/office/powerpoint/2010/main" val="124129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1FD358-4BD0-4C1F-A6BF-41A5F19D4189}" type="slidenum">
              <a:rPr lang="en-US" smtClean="0"/>
              <a:t>16</a:t>
            </a:fld>
            <a:endParaRPr lang="en-US"/>
          </a:p>
        </p:txBody>
      </p:sp>
    </p:spTree>
    <p:extLst>
      <p:ext uri="{BB962C8B-B14F-4D97-AF65-F5344CB8AC3E}">
        <p14:creationId xmlns:p14="http://schemas.microsoft.com/office/powerpoint/2010/main" val="2924502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7CED-867A-CF06-4304-960B26986C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F62E844-8EAD-8170-3444-23ADFB262B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B5836B7-7B73-AECE-A26D-788878808522}"/>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5" name="Footer Placeholder 4">
            <a:extLst>
              <a:ext uri="{FF2B5EF4-FFF2-40B4-BE49-F238E27FC236}">
                <a16:creationId xmlns:a16="http://schemas.microsoft.com/office/drawing/2014/main" id="{C8BE6C81-91EC-CFB3-823B-A84BCB788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D82F27-65FD-D1CE-D519-B54BC646D0CF}"/>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924090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29B45-423A-2295-CFD9-55E0ED381B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647AD8-65F8-8088-90C6-C28A1DCF38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64D4B5-BC53-6117-E9DB-37F76AC89657}"/>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5" name="Footer Placeholder 4">
            <a:extLst>
              <a:ext uri="{FF2B5EF4-FFF2-40B4-BE49-F238E27FC236}">
                <a16:creationId xmlns:a16="http://schemas.microsoft.com/office/drawing/2014/main" id="{3ED31172-C9C1-8229-F5E7-D99A90C4C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AFE7E-0FE6-A173-6CBE-1B7CFCB5DD84}"/>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703478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23389-F1C1-11F0-6A3C-F2E45C0CB2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F13837-E773-3D97-821E-C16306BF4D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73F27B4-865D-5FE7-483A-F8DF41DFBEA9}"/>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5" name="Footer Placeholder 4">
            <a:extLst>
              <a:ext uri="{FF2B5EF4-FFF2-40B4-BE49-F238E27FC236}">
                <a16:creationId xmlns:a16="http://schemas.microsoft.com/office/drawing/2014/main" id="{3954DE5F-CDF4-15B8-5998-B3865442B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D7A570-80FB-FA3B-FBAB-4289858E6F7B}"/>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96377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9D34-2263-A8FA-3D72-51417E8B6E5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DF06F2-F9F6-25EB-CFFF-C19F11D34E5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523EFED-5632-80B4-52C4-DDC21B9E69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EC2C41E-710A-6FD3-982D-F01261CEA6CA}"/>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6" name="Footer Placeholder 5">
            <a:extLst>
              <a:ext uri="{FF2B5EF4-FFF2-40B4-BE49-F238E27FC236}">
                <a16:creationId xmlns:a16="http://schemas.microsoft.com/office/drawing/2014/main" id="{F710979E-0FF4-F260-A58E-CEBB59A8F5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C183D8-942A-D29B-DEC9-3238DEA004CD}"/>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26155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6496-3C07-7108-81FF-E1ADA5D73F8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662E3EE-9B12-58B0-0F0E-A7783E721F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57D5587-A21E-810B-B5B1-1B9D0CCCCA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41C14DE-C4FB-224D-1038-0E3C07D5AA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F3E3B9D-E5D3-E022-B54D-61E58513370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A022093-5D0A-D419-AA22-BF84D7F21DBD}"/>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8" name="Footer Placeholder 7">
            <a:extLst>
              <a:ext uri="{FF2B5EF4-FFF2-40B4-BE49-F238E27FC236}">
                <a16:creationId xmlns:a16="http://schemas.microsoft.com/office/drawing/2014/main" id="{A29AAADF-2E82-9E18-8A15-14E1DBB78B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88BCEF-027B-53BE-F92B-485F467CCDF0}"/>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46171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C3AFF-09A5-62FF-0477-4E8BC059AE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8D03F32-E9A4-3671-FCC3-CA24C5C56A13}"/>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4" name="Footer Placeholder 3">
            <a:extLst>
              <a:ext uri="{FF2B5EF4-FFF2-40B4-BE49-F238E27FC236}">
                <a16:creationId xmlns:a16="http://schemas.microsoft.com/office/drawing/2014/main" id="{46D64530-4627-F4C5-C361-D812D3FCF1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CA6EE5-155A-F942-98D1-92E3EAAC2D39}"/>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3893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5AC8C0-B190-C528-D783-A71C451B7241}"/>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3" name="Footer Placeholder 2">
            <a:extLst>
              <a:ext uri="{FF2B5EF4-FFF2-40B4-BE49-F238E27FC236}">
                <a16:creationId xmlns:a16="http://schemas.microsoft.com/office/drawing/2014/main" id="{9E532CCD-E2E6-B56D-FE91-6E8992E2E5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12FFA8-F4C1-6440-23D3-F61250BB3B83}"/>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66906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B857-F21B-6A0B-5F15-FCFE34FAB0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A5C661A-9E09-6F2A-CCB2-CB88090456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A28A5CF-BC9F-3755-5A1C-1EC1AF02C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B47176-1CAD-3F09-F795-970655DE904A}"/>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6" name="Footer Placeholder 5">
            <a:extLst>
              <a:ext uri="{FF2B5EF4-FFF2-40B4-BE49-F238E27FC236}">
                <a16:creationId xmlns:a16="http://schemas.microsoft.com/office/drawing/2014/main" id="{DDCB9968-CC22-0042-D6D6-48932FD510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AE0F46-BDD6-8C24-42D3-CC2EE89BCA8F}"/>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3638794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A62D-2FF0-FB85-4B17-3C5E152A37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F210324-C3D3-D0E6-6E6F-92069A91BF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78A12F-0A60-A0FD-412E-2A0CD6296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161BCB9-3DF9-48BF-64D4-B1744B1618D0}"/>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6" name="Footer Placeholder 5">
            <a:extLst>
              <a:ext uri="{FF2B5EF4-FFF2-40B4-BE49-F238E27FC236}">
                <a16:creationId xmlns:a16="http://schemas.microsoft.com/office/drawing/2014/main" id="{B3601A31-A0E4-6313-F981-2757242B7A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BBAC12-2AB9-8858-FB78-06C1AC509EF2}"/>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28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E8264-84AC-8E7F-8804-8F641285F9F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DE425F-4CE9-8CFE-6E6E-7E085230602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D2AEE0-AE60-3207-BCCE-CDA3B12453F1}"/>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5" name="Footer Placeholder 4">
            <a:extLst>
              <a:ext uri="{FF2B5EF4-FFF2-40B4-BE49-F238E27FC236}">
                <a16:creationId xmlns:a16="http://schemas.microsoft.com/office/drawing/2014/main" id="{0742D213-2927-181E-5932-7F196D524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8388A-9D07-285E-C66B-2893E2150D75}"/>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2385621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337DF9-988B-4870-6E80-35AADD7DAD2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9D69158-E926-F300-C804-A25E9A17FCC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B17A5A-4852-B5FF-1FBA-6BBD7D84E680}"/>
              </a:ext>
            </a:extLst>
          </p:cNvPr>
          <p:cNvSpPr>
            <a:spLocks noGrp="1"/>
          </p:cNvSpPr>
          <p:nvPr>
            <p:ph type="dt" sz="half" idx="10"/>
          </p:nvPr>
        </p:nvSpPr>
        <p:spPr/>
        <p:txBody>
          <a:bodyPr/>
          <a:lstStyle/>
          <a:p>
            <a:fld id="{BF3A89FD-7CCA-4189-ACE1-93E620A61345}" type="datetimeFigureOut">
              <a:rPr lang="en-US" smtClean="0"/>
              <a:t>6/11/2026</a:t>
            </a:fld>
            <a:endParaRPr lang="en-US"/>
          </a:p>
        </p:txBody>
      </p:sp>
      <p:sp>
        <p:nvSpPr>
          <p:cNvPr id="5" name="Footer Placeholder 4">
            <a:extLst>
              <a:ext uri="{FF2B5EF4-FFF2-40B4-BE49-F238E27FC236}">
                <a16:creationId xmlns:a16="http://schemas.microsoft.com/office/drawing/2014/main" id="{2D700D54-198B-5368-95C3-FA93DD10EF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5824B-BB92-95A3-CAF4-0768793BDA86}"/>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47555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CD4212-2B42-AE42-18AF-7A55A32F1A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35B0A9-0476-7FD0-4AC6-ADE9166DEB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D04392-2EEC-A2E7-C29A-83844B563B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3A89FD-7CCA-4189-ACE1-93E620A61345}" type="datetimeFigureOut">
              <a:rPr lang="en-US" smtClean="0"/>
              <a:t>6/11/2026</a:t>
            </a:fld>
            <a:endParaRPr lang="en-US"/>
          </a:p>
        </p:txBody>
      </p:sp>
      <p:sp>
        <p:nvSpPr>
          <p:cNvPr id="5" name="Footer Placeholder 4">
            <a:extLst>
              <a:ext uri="{FF2B5EF4-FFF2-40B4-BE49-F238E27FC236}">
                <a16:creationId xmlns:a16="http://schemas.microsoft.com/office/drawing/2014/main" id="{5C475E8C-4D9A-CC29-10AE-58F5DB043B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C20B68-0174-B35F-40EF-B9E95D6BE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7EE9F6-3056-4046-B946-F6D4888DA941}" type="slidenum">
              <a:rPr lang="en-US" smtClean="0"/>
              <a:t>‹#›</a:t>
            </a:fld>
            <a:endParaRPr lang="en-US"/>
          </a:p>
        </p:txBody>
      </p:sp>
    </p:spTree>
    <p:extLst>
      <p:ext uri="{BB962C8B-B14F-4D97-AF65-F5344CB8AC3E}">
        <p14:creationId xmlns:p14="http://schemas.microsoft.com/office/powerpoint/2010/main" val="3208142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98E0-A7C5-49FA-B9BC-EA19E62C6DB0}"/>
              </a:ext>
            </a:extLst>
          </p:cNvPr>
          <p:cNvSpPr>
            <a:spLocks noGrp="1"/>
          </p:cNvSpPr>
          <p:nvPr>
            <p:ph type="ctrTitle"/>
          </p:nvPr>
        </p:nvSpPr>
        <p:spPr/>
        <p:txBody>
          <a:bodyPr/>
          <a:lstStyle/>
          <a:p>
            <a:r>
              <a:rPr lang="en-IN" dirty="0"/>
              <a:t>Spring Boot + Microservices</a:t>
            </a:r>
            <a:endParaRPr lang="en-US" dirty="0"/>
          </a:p>
        </p:txBody>
      </p:sp>
      <p:sp>
        <p:nvSpPr>
          <p:cNvPr id="3" name="Subtitle 2">
            <a:extLst>
              <a:ext uri="{FF2B5EF4-FFF2-40B4-BE49-F238E27FC236}">
                <a16:creationId xmlns:a16="http://schemas.microsoft.com/office/drawing/2014/main" id="{2107330E-3058-DB04-EE0B-34DDB95052CE}"/>
              </a:ext>
            </a:extLst>
          </p:cNvPr>
          <p:cNvSpPr>
            <a:spLocks noGrp="1"/>
          </p:cNvSpPr>
          <p:nvPr>
            <p:ph type="subTitle" idx="1"/>
          </p:nvPr>
        </p:nvSpPr>
        <p:spPr/>
        <p:txBody>
          <a:bodyPr/>
          <a:lstStyle/>
          <a:p>
            <a:r>
              <a:rPr lang="en-IN" dirty="0"/>
              <a:t>Vivek Gohil</a:t>
            </a:r>
            <a:endParaRPr lang="en-US" dirty="0"/>
          </a:p>
        </p:txBody>
      </p:sp>
    </p:spTree>
    <p:extLst>
      <p:ext uri="{BB962C8B-B14F-4D97-AF65-F5344CB8AC3E}">
        <p14:creationId xmlns:p14="http://schemas.microsoft.com/office/powerpoint/2010/main" val="3042761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9D90-A309-4ABC-A050-E3FEE62F62EC}"/>
              </a:ext>
            </a:extLst>
          </p:cNvPr>
          <p:cNvSpPr>
            <a:spLocks noGrp="1"/>
          </p:cNvSpPr>
          <p:nvPr>
            <p:ph type="title"/>
          </p:nvPr>
        </p:nvSpPr>
        <p:spPr/>
        <p:txBody>
          <a:bodyPr/>
          <a:lstStyle/>
          <a:p>
            <a:r>
              <a:rPr lang="en-IN" dirty="0"/>
              <a:t>What are Microservices ?</a:t>
            </a:r>
            <a:endParaRPr lang="en-US" dirty="0"/>
          </a:p>
        </p:txBody>
      </p:sp>
      <p:sp>
        <p:nvSpPr>
          <p:cNvPr id="3" name="Content Placeholder 2">
            <a:extLst>
              <a:ext uri="{FF2B5EF4-FFF2-40B4-BE49-F238E27FC236}">
                <a16:creationId xmlns:a16="http://schemas.microsoft.com/office/drawing/2014/main" id="{8CAE16F0-F3E4-4AA9-FF15-63EC1EE82E42}"/>
              </a:ext>
            </a:extLst>
          </p:cNvPr>
          <p:cNvSpPr>
            <a:spLocks noGrp="1"/>
          </p:cNvSpPr>
          <p:nvPr>
            <p:ph idx="1"/>
          </p:nvPr>
        </p:nvSpPr>
        <p:spPr/>
        <p:txBody>
          <a:bodyPr/>
          <a:lstStyle/>
          <a:p>
            <a:r>
              <a:rPr lang="en-IN" dirty="0"/>
              <a:t>To understand microservices, lets imagine a bank called </a:t>
            </a:r>
            <a:r>
              <a:rPr lang="en-IN" dirty="0" err="1"/>
              <a:t>EazyBank</a:t>
            </a:r>
            <a:r>
              <a:rPr lang="en-IN" dirty="0"/>
              <a:t>.</a:t>
            </a:r>
          </a:p>
          <a:p>
            <a:r>
              <a:rPr lang="en-IN" dirty="0"/>
              <a:t>Typically, banks comprise various departments, including Accounts, Cards, Loans.</a:t>
            </a:r>
            <a:endParaRPr lang="en-US" dirty="0"/>
          </a:p>
        </p:txBody>
      </p:sp>
      <p:pic>
        <p:nvPicPr>
          <p:cNvPr id="5" name="Picture 4">
            <a:extLst>
              <a:ext uri="{FF2B5EF4-FFF2-40B4-BE49-F238E27FC236}">
                <a16:creationId xmlns:a16="http://schemas.microsoft.com/office/drawing/2014/main" id="{D3A216F4-49C6-0613-9530-9E6AC2537A12}"/>
              </a:ext>
            </a:extLst>
          </p:cNvPr>
          <p:cNvPicPr>
            <a:picLocks noChangeAspect="1"/>
          </p:cNvPicPr>
          <p:nvPr/>
        </p:nvPicPr>
        <p:blipFill>
          <a:blip r:embed="rId2"/>
          <a:stretch>
            <a:fillRect/>
          </a:stretch>
        </p:blipFill>
        <p:spPr>
          <a:xfrm>
            <a:off x="5125620" y="4345576"/>
            <a:ext cx="1940760" cy="1567448"/>
          </a:xfrm>
          <a:prstGeom prst="rect">
            <a:avLst/>
          </a:prstGeom>
        </p:spPr>
      </p:pic>
      <p:pic>
        <p:nvPicPr>
          <p:cNvPr id="7" name="Picture 6">
            <a:extLst>
              <a:ext uri="{FF2B5EF4-FFF2-40B4-BE49-F238E27FC236}">
                <a16:creationId xmlns:a16="http://schemas.microsoft.com/office/drawing/2014/main" id="{C2024726-AA5C-EE78-C16C-53DB86EA8F75}"/>
              </a:ext>
            </a:extLst>
          </p:cNvPr>
          <p:cNvPicPr>
            <a:picLocks noChangeAspect="1"/>
          </p:cNvPicPr>
          <p:nvPr/>
        </p:nvPicPr>
        <p:blipFill>
          <a:blip r:embed="rId3"/>
          <a:stretch>
            <a:fillRect/>
          </a:stretch>
        </p:blipFill>
        <p:spPr>
          <a:xfrm>
            <a:off x="5565695" y="3169918"/>
            <a:ext cx="1060610" cy="833915"/>
          </a:xfrm>
          <a:prstGeom prst="rect">
            <a:avLst/>
          </a:prstGeom>
        </p:spPr>
      </p:pic>
      <p:pic>
        <p:nvPicPr>
          <p:cNvPr id="9" name="Picture 8">
            <a:extLst>
              <a:ext uri="{FF2B5EF4-FFF2-40B4-BE49-F238E27FC236}">
                <a16:creationId xmlns:a16="http://schemas.microsoft.com/office/drawing/2014/main" id="{6A1FD96A-5FCB-B937-5DAF-FAD993DB8E35}"/>
              </a:ext>
            </a:extLst>
          </p:cNvPr>
          <p:cNvPicPr>
            <a:picLocks noChangeAspect="1"/>
          </p:cNvPicPr>
          <p:nvPr/>
        </p:nvPicPr>
        <p:blipFill>
          <a:blip r:embed="rId4"/>
          <a:stretch>
            <a:fillRect/>
          </a:stretch>
        </p:blipFill>
        <p:spPr>
          <a:xfrm>
            <a:off x="3722930" y="5540877"/>
            <a:ext cx="1172608" cy="1080581"/>
          </a:xfrm>
          <a:prstGeom prst="rect">
            <a:avLst/>
          </a:prstGeom>
        </p:spPr>
      </p:pic>
      <p:pic>
        <p:nvPicPr>
          <p:cNvPr id="11" name="Picture 10">
            <a:extLst>
              <a:ext uri="{FF2B5EF4-FFF2-40B4-BE49-F238E27FC236}">
                <a16:creationId xmlns:a16="http://schemas.microsoft.com/office/drawing/2014/main" id="{14531F8C-865E-CE8B-9676-1BF3F9946FF8}"/>
              </a:ext>
            </a:extLst>
          </p:cNvPr>
          <p:cNvPicPr>
            <a:picLocks noChangeAspect="1"/>
          </p:cNvPicPr>
          <p:nvPr/>
        </p:nvPicPr>
        <p:blipFill>
          <a:blip r:embed="rId5"/>
          <a:stretch>
            <a:fillRect/>
          </a:stretch>
        </p:blipFill>
        <p:spPr>
          <a:xfrm>
            <a:off x="7296463" y="5573310"/>
            <a:ext cx="1234483" cy="1015714"/>
          </a:xfrm>
          <a:prstGeom prst="rect">
            <a:avLst/>
          </a:prstGeom>
        </p:spPr>
      </p:pic>
    </p:spTree>
    <p:extLst>
      <p:ext uri="{BB962C8B-B14F-4D97-AF65-F5344CB8AC3E}">
        <p14:creationId xmlns:p14="http://schemas.microsoft.com/office/powerpoint/2010/main" val="424679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9D5E-79B0-9D97-AC3A-0B87D9E12C73}"/>
              </a:ext>
            </a:extLst>
          </p:cNvPr>
          <p:cNvSpPr>
            <a:spLocks noGrp="1"/>
          </p:cNvSpPr>
          <p:nvPr>
            <p:ph type="title"/>
          </p:nvPr>
        </p:nvSpPr>
        <p:spPr/>
        <p:txBody>
          <a:bodyPr/>
          <a:lstStyle/>
          <a:p>
            <a:r>
              <a:rPr lang="en-IN" dirty="0"/>
              <a:t>The Monolith</a:t>
            </a:r>
            <a:endParaRPr lang="en-US" dirty="0"/>
          </a:p>
        </p:txBody>
      </p:sp>
      <p:sp>
        <p:nvSpPr>
          <p:cNvPr id="9" name="Text Placeholder 8">
            <a:extLst>
              <a:ext uri="{FF2B5EF4-FFF2-40B4-BE49-F238E27FC236}">
                <a16:creationId xmlns:a16="http://schemas.microsoft.com/office/drawing/2014/main" id="{0AF3576F-D02D-86A0-AFB4-512BAD782481}"/>
              </a:ext>
            </a:extLst>
          </p:cNvPr>
          <p:cNvSpPr>
            <a:spLocks noGrp="1"/>
          </p:cNvSpPr>
          <p:nvPr>
            <p:ph type="body" sz="half" idx="2"/>
          </p:nvPr>
        </p:nvSpPr>
        <p:spPr>
          <a:xfrm>
            <a:off x="839788" y="2057400"/>
            <a:ext cx="5983378" cy="3811588"/>
          </a:xfrm>
        </p:spPr>
        <p:txBody>
          <a:bodyPr/>
          <a:lstStyle/>
          <a:p>
            <a:pPr marL="285750" indent="-285750" algn="just">
              <a:buFont typeface="Arial" panose="020B0604020202020204" pitchFamily="34" charset="0"/>
              <a:buChar char="•"/>
            </a:pPr>
            <a:r>
              <a:rPr lang="en-IN" dirty="0"/>
              <a:t>Back a decade, all the applications used to be deployed as a single unit where all functionality deployed together inside a single server.</a:t>
            </a:r>
          </a:p>
          <a:p>
            <a:pPr marL="285750" indent="-285750" algn="just">
              <a:buFont typeface="Arial" panose="020B0604020202020204" pitchFamily="34" charset="0"/>
              <a:buChar char="•"/>
            </a:pPr>
            <a:r>
              <a:rPr lang="en-IN" dirty="0"/>
              <a:t>We call this architecture approach as Monolithic.</a:t>
            </a:r>
            <a:endParaRPr lang="en-US" dirty="0"/>
          </a:p>
          <a:p>
            <a:pPr algn="just"/>
            <a:endParaRPr lang="en-US" dirty="0"/>
          </a:p>
        </p:txBody>
      </p:sp>
      <p:pic>
        <p:nvPicPr>
          <p:cNvPr id="8" name="Picture 7">
            <a:extLst>
              <a:ext uri="{FF2B5EF4-FFF2-40B4-BE49-F238E27FC236}">
                <a16:creationId xmlns:a16="http://schemas.microsoft.com/office/drawing/2014/main" id="{463BBFED-6A4B-9518-8174-B1C4BBE51A05}"/>
              </a:ext>
            </a:extLst>
          </p:cNvPr>
          <p:cNvPicPr>
            <a:picLocks noChangeAspect="1"/>
          </p:cNvPicPr>
          <p:nvPr/>
        </p:nvPicPr>
        <p:blipFill>
          <a:blip r:embed="rId2"/>
          <a:stretch>
            <a:fillRect/>
          </a:stretch>
        </p:blipFill>
        <p:spPr>
          <a:xfrm>
            <a:off x="6753497" y="678859"/>
            <a:ext cx="3135086" cy="6008558"/>
          </a:xfrm>
          <a:prstGeom prst="rect">
            <a:avLst/>
          </a:prstGeom>
        </p:spPr>
      </p:pic>
    </p:spTree>
    <p:extLst>
      <p:ext uri="{BB962C8B-B14F-4D97-AF65-F5344CB8AC3E}">
        <p14:creationId xmlns:p14="http://schemas.microsoft.com/office/powerpoint/2010/main" val="359908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1DC8-BCFC-8C5E-6B55-864BA427AB1E}"/>
              </a:ext>
            </a:extLst>
          </p:cNvPr>
          <p:cNvSpPr>
            <a:spLocks noGrp="1"/>
          </p:cNvSpPr>
          <p:nvPr>
            <p:ph type="title"/>
          </p:nvPr>
        </p:nvSpPr>
        <p:spPr/>
        <p:txBody>
          <a:bodyPr/>
          <a:lstStyle/>
          <a:p>
            <a:r>
              <a:rPr lang="en-IN" dirty="0"/>
              <a:t>The Monolith</a:t>
            </a:r>
            <a:endParaRPr lang="en-US" dirty="0"/>
          </a:p>
        </p:txBody>
      </p:sp>
      <p:sp>
        <p:nvSpPr>
          <p:cNvPr id="3" name="Text Placeholder 2">
            <a:extLst>
              <a:ext uri="{FF2B5EF4-FFF2-40B4-BE49-F238E27FC236}">
                <a16:creationId xmlns:a16="http://schemas.microsoft.com/office/drawing/2014/main" id="{19B24EAE-41EA-F141-4F4F-2787B774F6F9}"/>
              </a:ext>
            </a:extLst>
          </p:cNvPr>
          <p:cNvSpPr>
            <a:spLocks noGrp="1"/>
          </p:cNvSpPr>
          <p:nvPr>
            <p:ph type="body" idx="1"/>
          </p:nvPr>
        </p:nvSpPr>
        <p:spPr/>
        <p:txBody>
          <a:bodyPr/>
          <a:lstStyle/>
          <a:p>
            <a:r>
              <a:rPr lang="en-IN" dirty="0"/>
              <a:t>Pros</a:t>
            </a:r>
            <a:endParaRPr lang="en-US" dirty="0"/>
          </a:p>
        </p:txBody>
      </p:sp>
      <p:sp>
        <p:nvSpPr>
          <p:cNvPr id="4" name="Content Placeholder 3">
            <a:extLst>
              <a:ext uri="{FF2B5EF4-FFF2-40B4-BE49-F238E27FC236}">
                <a16:creationId xmlns:a16="http://schemas.microsoft.com/office/drawing/2014/main" id="{C3E0ED71-EDFB-4BED-AC3A-BD376941266F}"/>
              </a:ext>
            </a:extLst>
          </p:cNvPr>
          <p:cNvSpPr>
            <a:spLocks noGrp="1"/>
          </p:cNvSpPr>
          <p:nvPr>
            <p:ph sz="half" idx="2"/>
          </p:nvPr>
        </p:nvSpPr>
        <p:spPr/>
        <p:txBody>
          <a:bodyPr>
            <a:normAutofit lnSpcReduction="10000"/>
          </a:bodyPr>
          <a:lstStyle/>
          <a:p>
            <a:r>
              <a:rPr lang="en-IN" dirty="0"/>
              <a:t>Simple development and deployment for smaller teams and applications</a:t>
            </a:r>
          </a:p>
          <a:p>
            <a:r>
              <a:rPr lang="en-IN" dirty="0"/>
              <a:t>Fewer cross-cutting concerns</a:t>
            </a:r>
          </a:p>
          <a:p>
            <a:r>
              <a:rPr lang="en-IN" dirty="0"/>
              <a:t>Better performance due to no network latency</a:t>
            </a:r>
            <a:endParaRPr lang="en-US" dirty="0"/>
          </a:p>
        </p:txBody>
      </p:sp>
      <p:sp>
        <p:nvSpPr>
          <p:cNvPr id="5" name="Text Placeholder 4">
            <a:extLst>
              <a:ext uri="{FF2B5EF4-FFF2-40B4-BE49-F238E27FC236}">
                <a16:creationId xmlns:a16="http://schemas.microsoft.com/office/drawing/2014/main" id="{DE590143-7EA3-1B66-268D-BC6A1F38C0F0}"/>
              </a:ext>
            </a:extLst>
          </p:cNvPr>
          <p:cNvSpPr>
            <a:spLocks noGrp="1"/>
          </p:cNvSpPr>
          <p:nvPr>
            <p:ph type="body" sz="quarter" idx="3"/>
          </p:nvPr>
        </p:nvSpPr>
        <p:spPr/>
        <p:txBody>
          <a:bodyPr/>
          <a:lstStyle/>
          <a:p>
            <a:r>
              <a:rPr lang="en-IN" dirty="0"/>
              <a:t>Cons</a:t>
            </a:r>
            <a:endParaRPr lang="en-US" dirty="0"/>
          </a:p>
        </p:txBody>
      </p:sp>
      <p:sp>
        <p:nvSpPr>
          <p:cNvPr id="6" name="Content Placeholder 5">
            <a:extLst>
              <a:ext uri="{FF2B5EF4-FFF2-40B4-BE49-F238E27FC236}">
                <a16:creationId xmlns:a16="http://schemas.microsoft.com/office/drawing/2014/main" id="{67AAB7EE-5803-56CC-AF63-022B80AED964}"/>
              </a:ext>
            </a:extLst>
          </p:cNvPr>
          <p:cNvSpPr>
            <a:spLocks noGrp="1"/>
          </p:cNvSpPr>
          <p:nvPr>
            <p:ph sz="quarter" idx="4"/>
          </p:nvPr>
        </p:nvSpPr>
        <p:spPr/>
        <p:txBody>
          <a:bodyPr>
            <a:normAutofit lnSpcReduction="10000"/>
          </a:bodyPr>
          <a:lstStyle/>
          <a:p>
            <a:r>
              <a:rPr lang="en-IN" dirty="0"/>
              <a:t>Difficult to adopt new technologies</a:t>
            </a:r>
          </a:p>
          <a:p>
            <a:r>
              <a:rPr lang="en-IN" dirty="0"/>
              <a:t>Limited agility</a:t>
            </a:r>
          </a:p>
          <a:p>
            <a:r>
              <a:rPr lang="en-IN" dirty="0"/>
              <a:t>Single code base and difficult to maintain</a:t>
            </a:r>
          </a:p>
          <a:p>
            <a:r>
              <a:rPr lang="en-IN" dirty="0"/>
              <a:t>No fault tolerance</a:t>
            </a:r>
          </a:p>
          <a:p>
            <a:r>
              <a:rPr lang="en-IN" dirty="0"/>
              <a:t>Tiny update and feature development always need full deployment</a:t>
            </a:r>
            <a:endParaRPr lang="en-US" dirty="0"/>
          </a:p>
        </p:txBody>
      </p:sp>
    </p:spTree>
    <p:extLst>
      <p:ext uri="{BB962C8B-B14F-4D97-AF65-F5344CB8AC3E}">
        <p14:creationId xmlns:p14="http://schemas.microsoft.com/office/powerpoint/2010/main" val="2158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E219D-CD50-C932-F8B4-069442E461C6}"/>
              </a:ext>
            </a:extLst>
          </p:cNvPr>
          <p:cNvSpPr>
            <a:spLocks noGrp="1"/>
          </p:cNvSpPr>
          <p:nvPr>
            <p:ph type="title"/>
          </p:nvPr>
        </p:nvSpPr>
        <p:spPr/>
        <p:txBody>
          <a:bodyPr/>
          <a:lstStyle/>
          <a:p>
            <a:r>
              <a:rPr lang="en-IN" dirty="0"/>
              <a:t>The Monolith</a:t>
            </a:r>
            <a:endParaRPr lang="en-US" dirty="0"/>
          </a:p>
        </p:txBody>
      </p:sp>
      <p:pic>
        <p:nvPicPr>
          <p:cNvPr id="5" name="Picture 4">
            <a:extLst>
              <a:ext uri="{FF2B5EF4-FFF2-40B4-BE49-F238E27FC236}">
                <a16:creationId xmlns:a16="http://schemas.microsoft.com/office/drawing/2014/main" id="{F8A51D85-DC31-D099-FCE3-011F5FB95BA1}"/>
              </a:ext>
            </a:extLst>
          </p:cNvPr>
          <p:cNvPicPr>
            <a:picLocks noChangeAspect="1"/>
          </p:cNvPicPr>
          <p:nvPr/>
        </p:nvPicPr>
        <p:blipFill>
          <a:blip r:embed="rId2"/>
          <a:stretch>
            <a:fillRect/>
          </a:stretch>
        </p:blipFill>
        <p:spPr>
          <a:xfrm>
            <a:off x="77757" y="1438139"/>
            <a:ext cx="1520886" cy="954975"/>
          </a:xfrm>
          <a:prstGeom prst="rect">
            <a:avLst/>
          </a:prstGeom>
        </p:spPr>
      </p:pic>
      <p:pic>
        <p:nvPicPr>
          <p:cNvPr id="7" name="Picture 6">
            <a:extLst>
              <a:ext uri="{FF2B5EF4-FFF2-40B4-BE49-F238E27FC236}">
                <a16:creationId xmlns:a16="http://schemas.microsoft.com/office/drawing/2014/main" id="{790215E4-9BD5-84DD-4E47-64BEBDCEB115}"/>
              </a:ext>
            </a:extLst>
          </p:cNvPr>
          <p:cNvPicPr>
            <a:picLocks noChangeAspect="1"/>
          </p:cNvPicPr>
          <p:nvPr/>
        </p:nvPicPr>
        <p:blipFill>
          <a:blip r:embed="rId3"/>
          <a:stretch>
            <a:fillRect/>
          </a:stretch>
        </p:blipFill>
        <p:spPr>
          <a:xfrm>
            <a:off x="292413" y="2716300"/>
            <a:ext cx="1287512" cy="954976"/>
          </a:xfrm>
          <a:prstGeom prst="rect">
            <a:avLst/>
          </a:prstGeom>
        </p:spPr>
      </p:pic>
      <p:pic>
        <p:nvPicPr>
          <p:cNvPr id="9" name="Picture 8">
            <a:extLst>
              <a:ext uri="{FF2B5EF4-FFF2-40B4-BE49-F238E27FC236}">
                <a16:creationId xmlns:a16="http://schemas.microsoft.com/office/drawing/2014/main" id="{CC96E626-C38F-77D5-EE3F-20EF28650771}"/>
              </a:ext>
            </a:extLst>
          </p:cNvPr>
          <p:cNvPicPr>
            <a:picLocks noChangeAspect="1"/>
          </p:cNvPicPr>
          <p:nvPr/>
        </p:nvPicPr>
        <p:blipFill>
          <a:blip r:embed="rId4"/>
          <a:stretch>
            <a:fillRect/>
          </a:stretch>
        </p:blipFill>
        <p:spPr>
          <a:xfrm>
            <a:off x="344476" y="4016958"/>
            <a:ext cx="1183385" cy="1003402"/>
          </a:xfrm>
          <a:prstGeom prst="rect">
            <a:avLst/>
          </a:prstGeom>
        </p:spPr>
      </p:pic>
      <p:pic>
        <p:nvPicPr>
          <p:cNvPr id="11" name="Picture 10">
            <a:extLst>
              <a:ext uri="{FF2B5EF4-FFF2-40B4-BE49-F238E27FC236}">
                <a16:creationId xmlns:a16="http://schemas.microsoft.com/office/drawing/2014/main" id="{FF53D017-3020-1ACC-CFCC-E29AF9EEAAD4}"/>
              </a:ext>
            </a:extLst>
          </p:cNvPr>
          <p:cNvPicPr>
            <a:picLocks noChangeAspect="1"/>
          </p:cNvPicPr>
          <p:nvPr/>
        </p:nvPicPr>
        <p:blipFill>
          <a:blip r:embed="rId5"/>
          <a:stretch>
            <a:fillRect/>
          </a:stretch>
        </p:blipFill>
        <p:spPr>
          <a:xfrm>
            <a:off x="210453" y="5391988"/>
            <a:ext cx="1451429" cy="1113363"/>
          </a:xfrm>
          <a:prstGeom prst="rect">
            <a:avLst/>
          </a:prstGeom>
        </p:spPr>
      </p:pic>
      <p:sp>
        <p:nvSpPr>
          <p:cNvPr id="12" name="TextBox 11">
            <a:extLst>
              <a:ext uri="{FF2B5EF4-FFF2-40B4-BE49-F238E27FC236}">
                <a16:creationId xmlns:a16="http://schemas.microsoft.com/office/drawing/2014/main" id="{46D4FC1E-4B64-0EFF-D6D5-79ECDEBB4C6A}"/>
              </a:ext>
            </a:extLst>
          </p:cNvPr>
          <p:cNvSpPr txBox="1"/>
          <p:nvPr/>
        </p:nvSpPr>
        <p:spPr>
          <a:xfrm>
            <a:off x="-10162" y="2259785"/>
            <a:ext cx="2010422" cy="369332"/>
          </a:xfrm>
          <a:prstGeom prst="rect">
            <a:avLst/>
          </a:prstGeom>
          <a:noFill/>
        </p:spPr>
        <p:txBody>
          <a:bodyPr wrap="none" rtlCol="0">
            <a:spAutoFit/>
          </a:bodyPr>
          <a:lstStyle/>
          <a:p>
            <a:r>
              <a:rPr lang="en-IN" dirty="0"/>
              <a:t>Accounts Dev Team</a:t>
            </a:r>
            <a:endParaRPr lang="en-US" dirty="0"/>
          </a:p>
        </p:txBody>
      </p:sp>
      <p:sp>
        <p:nvSpPr>
          <p:cNvPr id="13" name="TextBox 12">
            <a:extLst>
              <a:ext uri="{FF2B5EF4-FFF2-40B4-BE49-F238E27FC236}">
                <a16:creationId xmlns:a16="http://schemas.microsoft.com/office/drawing/2014/main" id="{F9D5936C-F756-24EA-2B53-70B5F0EACFDD}"/>
              </a:ext>
            </a:extLst>
          </p:cNvPr>
          <p:cNvSpPr txBox="1"/>
          <p:nvPr/>
        </p:nvSpPr>
        <p:spPr>
          <a:xfrm>
            <a:off x="0" y="3573793"/>
            <a:ext cx="1695464" cy="369332"/>
          </a:xfrm>
          <a:prstGeom prst="rect">
            <a:avLst/>
          </a:prstGeom>
          <a:noFill/>
        </p:spPr>
        <p:txBody>
          <a:bodyPr wrap="none" rtlCol="0">
            <a:spAutoFit/>
          </a:bodyPr>
          <a:lstStyle/>
          <a:p>
            <a:r>
              <a:rPr lang="en-IN" dirty="0"/>
              <a:t>Loans Dev Team</a:t>
            </a:r>
            <a:endParaRPr lang="en-US" dirty="0"/>
          </a:p>
        </p:txBody>
      </p:sp>
      <p:sp>
        <p:nvSpPr>
          <p:cNvPr id="14" name="TextBox 13">
            <a:extLst>
              <a:ext uri="{FF2B5EF4-FFF2-40B4-BE49-F238E27FC236}">
                <a16:creationId xmlns:a16="http://schemas.microsoft.com/office/drawing/2014/main" id="{F59413C1-A264-3AEC-CE67-DC2564AF029A}"/>
              </a:ext>
            </a:extLst>
          </p:cNvPr>
          <p:cNvSpPr txBox="1"/>
          <p:nvPr/>
        </p:nvSpPr>
        <p:spPr>
          <a:xfrm>
            <a:off x="-10162" y="5007010"/>
            <a:ext cx="1676293" cy="369332"/>
          </a:xfrm>
          <a:prstGeom prst="rect">
            <a:avLst/>
          </a:prstGeom>
          <a:noFill/>
        </p:spPr>
        <p:txBody>
          <a:bodyPr wrap="none" rtlCol="0">
            <a:spAutoFit/>
          </a:bodyPr>
          <a:lstStyle/>
          <a:p>
            <a:r>
              <a:rPr lang="en-IN" dirty="0"/>
              <a:t>Cards Dev Team</a:t>
            </a:r>
            <a:endParaRPr lang="en-US" dirty="0"/>
          </a:p>
        </p:txBody>
      </p:sp>
      <p:sp>
        <p:nvSpPr>
          <p:cNvPr id="15" name="TextBox 14">
            <a:extLst>
              <a:ext uri="{FF2B5EF4-FFF2-40B4-BE49-F238E27FC236}">
                <a16:creationId xmlns:a16="http://schemas.microsoft.com/office/drawing/2014/main" id="{EE40BFF6-3966-D728-8B99-1C6005C81E4A}"/>
              </a:ext>
            </a:extLst>
          </p:cNvPr>
          <p:cNvSpPr txBox="1"/>
          <p:nvPr/>
        </p:nvSpPr>
        <p:spPr>
          <a:xfrm>
            <a:off x="-10162" y="6440227"/>
            <a:ext cx="1716304" cy="369332"/>
          </a:xfrm>
          <a:prstGeom prst="rect">
            <a:avLst/>
          </a:prstGeom>
          <a:noFill/>
        </p:spPr>
        <p:txBody>
          <a:bodyPr wrap="none" rtlCol="0">
            <a:spAutoFit/>
          </a:bodyPr>
          <a:lstStyle/>
          <a:p>
            <a:r>
              <a:rPr lang="en-IN" dirty="0"/>
              <a:t>UI/UX Dev Team</a:t>
            </a:r>
            <a:endParaRPr lang="en-US" dirty="0"/>
          </a:p>
        </p:txBody>
      </p:sp>
      <p:pic>
        <p:nvPicPr>
          <p:cNvPr id="17" name="Picture 16">
            <a:extLst>
              <a:ext uri="{FF2B5EF4-FFF2-40B4-BE49-F238E27FC236}">
                <a16:creationId xmlns:a16="http://schemas.microsoft.com/office/drawing/2014/main" id="{C34971B0-8694-7C29-E044-3F63A991F194}"/>
              </a:ext>
            </a:extLst>
          </p:cNvPr>
          <p:cNvPicPr>
            <a:picLocks noChangeAspect="1"/>
          </p:cNvPicPr>
          <p:nvPr/>
        </p:nvPicPr>
        <p:blipFill>
          <a:blip r:embed="rId6"/>
          <a:stretch>
            <a:fillRect/>
          </a:stretch>
        </p:blipFill>
        <p:spPr>
          <a:xfrm>
            <a:off x="3040830" y="3512839"/>
            <a:ext cx="1648735" cy="689471"/>
          </a:xfrm>
          <a:prstGeom prst="rect">
            <a:avLst/>
          </a:prstGeom>
        </p:spPr>
      </p:pic>
      <p:pic>
        <p:nvPicPr>
          <p:cNvPr id="19" name="Picture 18">
            <a:extLst>
              <a:ext uri="{FF2B5EF4-FFF2-40B4-BE49-F238E27FC236}">
                <a16:creationId xmlns:a16="http://schemas.microsoft.com/office/drawing/2014/main" id="{F6D9B58D-5BA7-63EC-017A-A138401C177F}"/>
              </a:ext>
            </a:extLst>
          </p:cNvPr>
          <p:cNvPicPr>
            <a:picLocks noChangeAspect="1"/>
          </p:cNvPicPr>
          <p:nvPr/>
        </p:nvPicPr>
        <p:blipFill>
          <a:blip r:embed="rId7"/>
          <a:stretch>
            <a:fillRect/>
          </a:stretch>
        </p:blipFill>
        <p:spPr>
          <a:xfrm>
            <a:off x="6163864" y="3328512"/>
            <a:ext cx="954168" cy="1058124"/>
          </a:xfrm>
          <a:prstGeom prst="rect">
            <a:avLst/>
          </a:prstGeom>
        </p:spPr>
      </p:pic>
      <p:pic>
        <p:nvPicPr>
          <p:cNvPr id="21" name="Picture 20">
            <a:extLst>
              <a:ext uri="{FF2B5EF4-FFF2-40B4-BE49-F238E27FC236}">
                <a16:creationId xmlns:a16="http://schemas.microsoft.com/office/drawing/2014/main" id="{0F531BC0-2B4A-F665-CE67-4675A4C06C40}"/>
              </a:ext>
            </a:extLst>
          </p:cNvPr>
          <p:cNvPicPr>
            <a:picLocks noChangeAspect="1"/>
          </p:cNvPicPr>
          <p:nvPr/>
        </p:nvPicPr>
        <p:blipFill>
          <a:blip r:embed="rId8"/>
          <a:stretch>
            <a:fillRect/>
          </a:stretch>
        </p:blipFill>
        <p:spPr>
          <a:xfrm>
            <a:off x="8786675" y="2393114"/>
            <a:ext cx="2242181" cy="3640183"/>
          </a:xfrm>
          <a:prstGeom prst="rect">
            <a:avLst/>
          </a:prstGeom>
        </p:spPr>
      </p:pic>
      <p:sp>
        <p:nvSpPr>
          <p:cNvPr id="22" name="TextBox 21">
            <a:extLst>
              <a:ext uri="{FF2B5EF4-FFF2-40B4-BE49-F238E27FC236}">
                <a16:creationId xmlns:a16="http://schemas.microsoft.com/office/drawing/2014/main" id="{36A1E3AA-FF9E-37B7-B0F4-A7AC1AD3CC84}"/>
              </a:ext>
            </a:extLst>
          </p:cNvPr>
          <p:cNvSpPr txBox="1"/>
          <p:nvPr/>
        </p:nvSpPr>
        <p:spPr>
          <a:xfrm>
            <a:off x="3054224" y="3009122"/>
            <a:ext cx="1810880" cy="369332"/>
          </a:xfrm>
          <a:prstGeom prst="rect">
            <a:avLst/>
          </a:prstGeom>
          <a:noFill/>
        </p:spPr>
        <p:txBody>
          <a:bodyPr wrap="none" rtlCol="0">
            <a:spAutoFit/>
          </a:bodyPr>
          <a:lstStyle/>
          <a:p>
            <a:r>
              <a:rPr lang="en-IN" dirty="0"/>
              <a:t>Single Code Repo</a:t>
            </a:r>
            <a:endParaRPr lang="en-US" dirty="0"/>
          </a:p>
        </p:txBody>
      </p:sp>
      <p:sp>
        <p:nvSpPr>
          <p:cNvPr id="23" name="TextBox 22">
            <a:extLst>
              <a:ext uri="{FF2B5EF4-FFF2-40B4-BE49-F238E27FC236}">
                <a16:creationId xmlns:a16="http://schemas.microsoft.com/office/drawing/2014/main" id="{17813827-FBEC-9104-75FA-129A71ED32A4}"/>
              </a:ext>
            </a:extLst>
          </p:cNvPr>
          <p:cNvSpPr txBox="1"/>
          <p:nvPr/>
        </p:nvSpPr>
        <p:spPr>
          <a:xfrm>
            <a:off x="6266718" y="3009122"/>
            <a:ext cx="721672" cy="369332"/>
          </a:xfrm>
          <a:prstGeom prst="rect">
            <a:avLst/>
          </a:prstGeom>
          <a:noFill/>
        </p:spPr>
        <p:txBody>
          <a:bodyPr wrap="none" rtlCol="0">
            <a:spAutoFit/>
          </a:bodyPr>
          <a:lstStyle/>
          <a:p>
            <a:r>
              <a:rPr lang="en-IN" dirty="0"/>
              <a:t>CI/CD</a:t>
            </a:r>
            <a:endParaRPr lang="en-US" dirty="0"/>
          </a:p>
        </p:txBody>
      </p:sp>
      <p:cxnSp>
        <p:nvCxnSpPr>
          <p:cNvPr id="32" name="Connector: Elbow 31">
            <a:extLst>
              <a:ext uri="{FF2B5EF4-FFF2-40B4-BE49-F238E27FC236}">
                <a16:creationId xmlns:a16="http://schemas.microsoft.com/office/drawing/2014/main" id="{64F7B62E-3AC3-4071-51BC-07FA75B1F3AF}"/>
              </a:ext>
            </a:extLst>
          </p:cNvPr>
          <p:cNvCxnSpPr>
            <a:stCxn id="5" idx="3"/>
            <a:endCxn id="17" idx="1"/>
          </p:cNvCxnSpPr>
          <p:nvPr/>
        </p:nvCxnSpPr>
        <p:spPr>
          <a:xfrm>
            <a:off x="1598643" y="1915627"/>
            <a:ext cx="1442187" cy="194194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0B6DD653-5EAE-F77F-6061-61F1F81B29F2}"/>
              </a:ext>
            </a:extLst>
          </p:cNvPr>
          <p:cNvCxnSpPr>
            <a:stCxn id="11" idx="3"/>
            <a:endCxn id="17" idx="1"/>
          </p:cNvCxnSpPr>
          <p:nvPr/>
        </p:nvCxnSpPr>
        <p:spPr>
          <a:xfrm flipV="1">
            <a:off x="1661882" y="3857575"/>
            <a:ext cx="1378948" cy="2091095"/>
          </a:xfrm>
          <a:prstGeom prst="bentConnector3">
            <a:avLst>
              <a:gd name="adj1" fmla="val 4747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8111B98-C731-4F06-9838-8D6D6CEBD6AA}"/>
              </a:ext>
            </a:extLst>
          </p:cNvPr>
          <p:cNvCxnSpPr>
            <a:stCxn id="7" idx="3"/>
          </p:cNvCxnSpPr>
          <p:nvPr/>
        </p:nvCxnSpPr>
        <p:spPr>
          <a:xfrm>
            <a:off x="1579925" y="3193788"/>
            <a:ext cx="739811"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2DBB698-1CE6-5F35-0A08-8718D72F21A0}"/>
              </a:ext>
            </a:extLst>
          </p:cNvPr>
          <p:cNvCxnSpPr>
            <a:stCxn id="9" idx="3"/>
          </p:cNvCxnSpPr>
          <p:nvPr/>
        </p:nvCxnSpPr>
        <p:spPr>
          <a:xfrm>
            <a:off x="1527861" y="4518659"/>
            <a:ext cx="79187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82C0793-5169-CE5D-60A7-E361E954FC90}"/>
              </a:ext>
            </a:extLst>
          </p:cNvPr>
          <p:cNvCxnSpPr>
            <a:stCxn id="17" idx="3"/>
            <a:endCxn id="19" idx="1"/>
          </p:cNvCxnSpPr>
          <p:nvPr/>
        </p:nvCxnSpPr>
        <p:spPr>
          <a:xfrm flipV="1">
            <a:off x="4689565" y="3857574"/>
            <a:ext cx="1474299"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CA63162-1D61-15B0-1805-DE9664FC4B6C}"/>
              </a:ext>
            </a:extLst>
          </p:cNvPr>
          <p:cNvCxnSpPr>
            <a:stCxn id="19" idx="3"/>
          </p:cNvCxnSpPr>
          <p:nvPr/>
        </p:nvCxnSpPr>
        <p:spPr>
          <a:xfrm>
            <a:off x="7118032" y="3857574"/>
            <a:ext cx="158618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900CFF3-35C7-26D7-C19B-9E1E11C2A0ED}"/>
              </a:ext>
            </a:extLst>
          </p:cNvPr>
          <p:cNvSpPr txBox="1"/>
          <p:nvPr/>
        </p:nvSpPr>
        <p:spPr>
          <a:xfrm>
            <a:off x="2845267" y="4377089"/>
            <a:ext cx="5682606" cy="1077218"/>
          </a:xfrm>
          <a:prstGeom prst="rect">
            <a:avLst/>
          </a:prstGeom>
          <a:noFill/>
          <a:ln>
            <a:solidFill>
              <a:srgbClr val="0070C0"/>
            </a:solidFill>
          </a:ln>
        </p:spPr>
        <p:txBody>
          <a:bodyPr wrap="square" rtlCol="0">
            <a:spAutoFit/>
          </a:bodyPr>
          <a:lstStyle/>
          <a:p>
            <a:pPr algn="just"/>
            <a:r>
              <a:rPr lang="en-IN" sz="1600" dirty="0"/>
              <a:t>In a monolithic approach, developers work with single code base which is then packed as unified unit, such as an EAR/WAR file and deployed into a single web/application server. Additionally the entire application is supported by a single database.</a:t>
            </a:r>
            <a:endParaRPr lang="en-US" sz="1600" dirty="0"/>
          </a:p>
        </p:txBody>
      </p:sp>
    </p:spTree>
    <p:extLst>
      <p:ext uri="{BB962C8B-B14F-4D97-AF65-F5344CB8AC3E}">
        <p14:creationId xmlns:p14="http://schemas.microsoft.com/office/powerpoint/2010/main" val="264039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22" grpId="0"/>
      <p:bldP spid="23" grpId="0"/>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6E946-370A-F22F-ACCB-86A958D1EFFB}"/>
              </a:ext>
            </a:extLst>
          </p:cNvPr>
          <p:cNvSpPr>
            <a:spLocks noGrp="1"/>
          </p:cNvSpPr>
          <p:nvPr>
            <p:ph type="title"/>
          </p:nvPr>
        </p:nvSpPr>
        <p:spPr>
          <a:xfrm>
            <a:off x="839788" y="457200"/>
            <a:ext cx="6854235" cy="1600200"/>
          </a:xfrm>
        </p:spPr>
        <p:txBody>
          <a:bodyPr/>
          <a:lstStyle/>
          <a:p>
            <a:r>
              <a:rPr lang="en-IN" dirty="0"/>
              <a:t>The SOA (Service-Oriented Architecture)</a:t>
            </a:r>
            <a:endParaRPr lang="en-US" dirty="0"/>
          </a:p>
        </p:txBody>
      </p:sp>
      <p:sp>
        <p:nvSpPr>
          <p:cNvPr id="4" name="Text Placeholder 3">
            <a:extLst>
              <a:ext uri="{FF2B5EF4-FFF2-40B4-BE49-F238E27FC236}">
                <a16:creationId xmlns:a16="http://schemas.microsoft.com/office/drawing/2014/main" id="{9B11AA7A-D478-9F14-4C72-37D2C0049535}"/>
              </a:ext>
            </a:extLst>
          </p:cNvPr>
          <p:cNvSpPr>
            <a:spLocks noGrp="1"/>
          </p:cNvSpPr>
          <p:nvPr>
            <p:ph type="body" sz="half" idx="2"/>
          </p:nvPr>
        </p:nvSpPr>
        <p:spPr>
          <a:xfrm>
            <a:off x="839788" y="2057400"/>
            <a:ext cx="7463835" cy="3811588"/>
          </a:xfrm>
        </p:spPr>
        <p:txBody>
          <a:bodyPr/>
          <a:lstStyle/>
          <a:p>
            <a:pPr marL="285750" indent="-285750">
              <a:buFont typeface="Arial" panose="020B0604020202020204" pitchFamily="34" charset="0"/>
              <a:buChar char="•"/>
            </a:pPr>
            <a:r>
              <a:rPr lang="en-IN" dirty="0"/>
              <a:t>SOA emerged as an approach to combat the challenges of large, monolithic applications.</a:t>
            </a:r>
          </a:p>
          <a:p>
            <a:pPr marL="285750" indent="-285750">
              <a:buFont typeface="Arial" panose="020B0604020202020204" pitchFamily="34" charset="0"/>
              <a:buChar char="•"/>
            </a:pPr>
            <a:r>
              <a:rPr lang="en-IN" dirty="0"/>
              <a:t>It is an architectural style that focuses on organizing software systems as a collection of loosely coupled, interoperable services.</a:t>
            </a:r>
            <a:r>
              <a:rPr lang="en-US" dirty="0"/>
              <a:t> </a:t>
            </a:r>
          </a:p>
          <a:p>
            <a:pPr marL="285750" indent="-285750">
              <a:buFont typeface="Arial" panose="020B0604020202020204" pitchFamily="34" charset="0"/>
              <a:buChar char="•"/>
            </a:pPr>
            <a:r>
              <a:rPr lang="en-US" dirty="0"/>
              <a:t>It provides a way to design and develop large-scale applications by decomposing them into smaller, modular services that can be independently developed, deployed and managed.</a:t>
            </a:r>
            <a:endParaRPr lang="en-IN" dirty="0"/>
          </a:p>
        </p:txBody>
      </p:sp>
      <p:pic>
        <p:nvPicPr>
          <p:cNvPr id="6" name="Picture 5">
            <a:extLst>
              <a:ext uri="{FF2B5EF4-FFF2-40B4-BE49-F238E27FC236}">
                <a16:creationId xmlns:a16="http://schemas.microsoft.com/office/drawing/2014/main" id="{7AC612C7-4CAC-6FEB-7353-2EAE01672274}"/>
              </a:ext>
            </a:extLst>
          </p:cNvPr>
          <p:cNvPicPr>
            <a:picLocks noChangeAspect="1"/>
          </p:cNvPicPr>
          <p:nvPr/>
        </p:nvPicPr>
        <p:blipFill>
          <a:blip r:embed="rId2"/>
          <a:stretch>
            <a:fillRect/>
          </a:stretch>
        </p:blipFill>
        <p:spPr>
          <a:xfrm>
            <a:off x="8678026" y="801607"/>
            <a:ext cx="2839060" cy="4924417"/>
          </a:xfrm>
          <a:prstGeom prst="rect">
            <a:avLst/>
          </a:prstGeom>
        </p:spPr>
      </p:pic>
    </p:spTree>
    <p:extLst>
      <p:ext uri="{BB962C8B-B14F-4D97-AF65-F5344CB8AC3E}">
        <p14:creationId xmlns:p14="http://schemas.microsoft.com/office/powerpoint/2010/main" val="412956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3B9F2-B54B-7D4A-441E-0ECB303BFA9C}"/>
              </a:ext>
            </a:extLst>
          </p:cNvPr>
          <p:cNvSpPr>
            <a:spLocks noGrp="1"/>
          </p:cNvSpPr>
          <p:nvPr>
            <p:ph type="title"/>
          </p:nvPr>
        </p:nvSpPr>
        <p:spPr/>
        <p:txBody>
          <a:bodyPr/>
          <a:lstStyle/>
          <a:p>
            <a:r>
              <a:rPr lang="en-IN" dirty="0"/>
              <a:t>The SOA (Service Oriented Architecture)</a:t>
            </a:r>
            <a:endParaRPr lang="en-US" dirty="0"/>
          </a:p>
        </p:txBody>
      </p:sp>
      <p:sp>
        <p:nvSpPr>
          <p:cNvPr id="3" name="Text Placeholder 2">
            <a:extLst>
              <a:ext uri="{FF2B5EF4-FFF2-40B4-BE49-F238E27FC236}">
                <a16:creationId xmlns:a16="http://schemas.microsoft.com/office/drawing/2014/main" id="{1D7D0A59-8534-A48E-2493-9D5DE879669C}"/>
              </a:ext>
            </a:extLst>
          </p:cNvPr>
          <p:cNvSpPr>
            <a:spLocks noGrp="1"/>
          </p:cNvSpPr>
          <p:nvPr>
            <p:ph type="body" idx="1"/>
          </p:nvPr>
        </p:nvSpPr>
        <p:spPr/>
        <p:txBody>
          <a:bodyPr/>
          <a:lstStyle/>
          <a:p>
            <a:r>
              <a:rPr lang="en-IN" dirty="0"/>
              <a:t>Pros</a:t>
            </a:r>
            <a:endParaRPr lang="en-US" dirty="0"/>
          </a:p>
        </p:txBody>
      </p:sp>
      <p:sp>
        <p:nvSpPr>
          <p:cNvPr id="4" name="Content Placeholder 3">
            <a:extLst>
              <a:ext uri="{FF2B5EF4-FFF2-40B4-BE49-F238E27FC236}">
                <a16:creationId xmlns:a16="http://schemas.microsoft.com/office/drawing/2014/main" id="{9B8264FF-3375-A6FC-365D-ACE4E8331FE0}"/>
              </a:ext>
            </a:extLst>
          </p:cNvPr>
          <p:cNvSpPr>
            <a:spLocks noGrp="1"/>
          </p:cNvSpPr>
          <p:nvPr>
            <p:ph sz="half" idx="2"/>
          </p:nvPr>
        </p:nvSpPr>
        <p:spPr/>
        <p:txBody>
          <a:bodyPr/>
          <a:lstStyle/>
          <a:p>
            <a:r>
              <a:rPr lang="en-IN" dirty="0"/>
              <a:t>Reusability of services</a:t>
            </a:r>
          </a:p>
          <a:p>
            <a:r>
              <a:rPr lang="en-IN" dirty="0"/>
              <a:t>Better maintainability</a:t>
            </a:r>
          </a:p>
          <a:p>
            <a:r>
              <a:rPr lang="en-IN" dirty="0"/>
              <a:t>Higher reliability</a:t>
            </a:r>
          </a:p>
          <a:p>
            <a:r>
              <a:rPr lang="en-IN" dirty="0"/>
              <a:t>Parallel development</a:t>
            </a:r>
            <a:endParaRPr lang="en-US" dirty="0"/>
          </a:p>
        </p:txBody>
      </p:sp>
      <p:sp>
        <p:nvSpPr>
          <p:cNvPr id="5" name="Text Placeholder 4">
            <a:extLst>
              <a:ext uri="{FF2B5EF4-FFF2-40B4-BE49-F238E27FC236}">
                <a16:creationId xmlns:a16="http://schemas.microsoft.com/office/drawing/2014/main" id="{21BB6643-3A18-D05D-7CDA-FC062D70C897}"/>
              </a:ext>
            </a:extLst>
          </p:cNvPr>
          <p:cNvSpPr>
            <a:spLocks noGrp="1"/>
          </p:cNvSpPr>
          <p:nvPr>
            <p:ph type="body" sz="quarter" idx="3"/>
          </p:nvPr>
        </p:nvSpPr>
        <p:spPr/>
        <p:txBody>
          <a:bodyPr/>
          <a:lstStyle/>
          <a:p>
            <a:r>
              <a:rPr lang="en-IN" dirty="0"/>
              <a:t>Cons</a:t>
            </a:r>
            <a:endParaRPr lang="en-US" dirty="0"/>
          </a:p>
        </p:txBody>
      </p:sp>
      <p:sp>
        <p:nvSpPr>
          <p:cNvPr id="6" name="Content Placeholder 5">
            <a:extLst>
              <a:ext uri="{FF2B5EF4-FFF2-40B4-BE49-F238E27FC236}">
                <a16:creationId xmlns:a16="http://schemas.microsoft.com/office/drawing/2014/main" id="{4B7C4C42-BA53-D779-9E91-46386F033533}"/>
              </a:ext>
            </a:extLst>
          </p:cNvPr>
          <p:cNvSpPr>
            <a:spLocks noGrp="1"/>
          </p:cNvSpPr>
          <p:nvPr>
            <p:ph sz="quarter" idx="4"/>
          </p:nvPr>
        </p:nvSpPr>
        <p:spPr/>
        <p:txBody>
          <a:bodyPr/>
          <a:lstStyle/>
          <a:p>
            <a:r>
              <a:rPr lang="en-IN" dirty="0"/>
              <a:t>Complex management due to communication protocols(SOAP).</a:t>
            </a:r>
          </a:p>
          <a:p>
            <a:r>
              <a:rPr lang="en-IN" dirty="0"/>
              <a:t>High investment costs due to vendor in middleware </a:t>
            </a:r>
          </a:p>
          <a:p>
            <a:r>
              <a:rPr lang="en-IN" dirty="0"/>
              <a:t>Extra overload</a:t>
            </a:r>
            <a:endParaRPr lang="en-US" dirty="0"/>
          </a:p>
        </p:txBody>
      </p:sp>
    </p:spTree>
    <p:extLst>
      <p:ext uri="{BB962C8B-B14F-4D97-AF65-F5344CB8AC3E}">
        <p14:creationId xmlns:p14="http://schemas.microsoft.com/office/powerpoint/2010/main" val="325579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65D92F3-5775-92F8-C2BC-28A312989EB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The SOA (Service Oriented Architecture)</a:t>
            </a:r>
            <a:endParaRPr lang="en-US" dirty="0"/>
          </a:p>
        </p:txBody>
      </p:sp>
      <p:pic>
        <p:nvPicPr>
          <p:cNvPr id="16" name="Picture 15">
            <a:extLst>
              <a:ext uri="{FF2B5EF4-FFF2-40B4-BE49-F238E27FC236}">
                <a16:creationId xmlns:a16="http://schemas.microsoft.com/office/drawing/2014/main" id="{C20A4C63-CB63-3CB1-02C1-160F45C93463}"/>
              </a:ext>
            </a:extLst>
          </p:cNvPr>
          <p:cNvPicPr>
            <a:picLocks noChangeAspect="1"/>
          </p:cNvPicPr>
          <p:nvPr/>
        </p:nvPicPr>
        <p:blipFill>
          <a:blip r:embed="rId2"/>
          <a:stretch>
            <a:fillRect/>
          </a:stretch>
        </p:blipFill>
        <p:spPr>
          <a:xfrm>
            <a:off x="77757" y="1438139"/>
            <a:ext cx="1520886" cy="954975"/>
          </a:xfrm>
          <a:prstGeom prst="rect">
            <a:avLst/>
          </a:prstGeom>
        </p:spPr>
      </p:pic>
      <p:pic>
        <p:nvPicPr>
          <p:cNvPr id="17" name="Picture 16">
            <a:extLst>
              <a:ext uri="{FF2B5EF4-FFF2-40B4-BE49-F238E27FC236}">
                <a16:creationId xmlns:a16="http://schemas.microsoft.com/office/drawing/2014/main" id="{EBF4DF97-1B37-6798-D38B-D92D94AF6B78}"/>
              </a:ext>
            </a:extLst>
          </p:cNvPr>
          <p:cNvPicPr>
            <a:picLocks noChangeAspect="1"/>
          </p:cNvPicPr>
          <p:nvPr/>
        </p:nvPicPr>
        <p:blipFill>
          <a:blip r:embed="rId3"/>
          <a:stretch>
            <a:fillRect/>
          </a:stretch>
        </p:blipFill>
        <p:spPr>
          <a:xfrm>
            <a:off x="292413" y="2716300"/>
            <a:ext cx="1287512" cy="954976"/>
          </a:xfrm>
          <a:prstGeom prst="rect">
            <a:avLst/>
          </a:prstGeom>
        </p:spPr>
      </p:pic>
      <p:pic>
        <p:nvPicPr>
          <p:cNvPr id="18" name="Picture 17">
            <a:extLst>
              <a:ext uri="{FF2B5EF4-FFF2-40B4-BE49-F238E27FC236}">
                <a16:creationId xmlns:a16="http://schemas.microsoft.com/office/drawing/2014/main" id="{C34E5C17-FB5C-D5F3-9723-943DABF38A9A}"/>
              </a:ext>
            </a:extLst>
          </p:cNvPr>
          <p:cNvPicPr>
            <a:picLocks noChangeAspect="1"/>
          </p:cNvPicPr>
          <p:nvPr/>
        </p:nvPicPr>
        <p:blipFill>
          <a:blip r:embed="rId4"/>
          <a:stretch>
            <a:fillRect/>
          </a:stretch>
        </p:blipFill>
        <p:spPr>
          <a:xfrm>
            <a:off x="344476" y="4016958"/>
            <a:ext cx="1183385" cy="1003402"/>
          </a:xfrm>
          <a:prstGeom prst="rect">
            <a:avLst/>
          </a:prstGeom>
        </p:spPr>
      </p:pic>
      <p:pic>
        <p:nvPicPr>
          <p:cNvPr id="19" name="Picture 18">
            <a:extLst>
              <a:ext uri="{FF2B5EF4-FFF2-40B4-BE49-F238E27FC236}">
                <a16:creationId xmlns:a16="http://schemas.microsoft.com/office/drawing/2014/main" id="{D973F79D-EC7B-5B96-F2EC-AF2FBC89F0BE}"/>
              </a:ext>
            </a:extLst>
          </p:cNvPr>
          <p:cNvPicPr>
            <a:picLocks noChangeAspect="1"/>
          </p:cNvPicPr>
          <p:nvPr/>
        </p:nvPicPr>
        <p:blipFill>
          <a:blip r:embed="rId5"/>
          <a:stretch>
            <a:fillRect/>
          </a:stretch>
        </p:blipFill>
        <p:spPr>
          <a:xfrm>
            <a:off x="210453" y="5391988"/>
            <a:ext cx="1451429" cy="1113363"/>
          </a:xfrm>
          <a:prstGeom prst="rect">
            <a:avLst/>
          </a:prstGeom>
        </p:spPr>
      </p:pic>
      <p:pic>
        <p:nvPicPr>
          <p:cNvPr id="20" name="Picture 19">
            <a:extLst>
              <a:ext uri="{FF2B5EF4-FFF2-40B4-BE49-F238E27FC236}">
                <a16:creationId xmlns:a16="http://schemas.microsoft.com/office/drawing/2014/main" id="{C602216A-97EA-B5EE-200F-88686D40A503}"/>
              </a:ext>
            </a:extLst>
          </p:cNvPr>
          <p:cNvPicPr>
            <a:picLocks noChangeAspect="1"/>
          </p:cNvPicPr>
          <p:nvPr/>
        </p:nvPicPr>
        <p:blipFill>
          <a:blip r:embed="rId6"/>
          <a:stretch>
            <a:fillRect/>
          </a:stretch>
        </p:blipFill>
        <p:spPr>
          <a:xfrm>
            <a:off x="3676368" y="4252904"/>
            <a:ext cx="1648735" cy="689471"/>
          </a:xfrm>
          <a:prstGeom prst="rect">
            <a:avLst/>
          </a:prstGeom>
        </p:spPr>
      </p:pic>
      <p:pic>
        <p:nvPicPr>
          <p:cNvPr id="21" name="Picture 20">
            <a:extLst>
              <a:ext uri="{FF2B5EF4-FFF2-40B4-BE49-F238E27FC236}">
                <a16:creationId xmlns:a16="http://schemas.microsoft.com/office/drawing/2014/main" id="{D58B14E2-9789-A504-B3FE-3B5FBA5B415F}"/>
              </a:ext>
            </a:extLst>
          </p:cNvPr>
          <p:cNvPicPr>
            <a:picLocks noChangeAspect="1"/>
          </p:cNvPicPr>
          <p:nvPr/>
        </p:nvPicPr>
        <p:blipFill>
          <a:blip r:embed="rId7"/>
          <a:stretch>
            <a:fillRect/>
          </a:stretch>
        </p:blipFill>
        <p:spPr>
          <a:xfrm>
            <a:off x="6747338" y="4068577"/>
            <a:ext cx="954168" cy="1058124"/>
          </a:xfrm>
          <a:prstGeom prst="rect">
            <a:avLst/>
          </a:prstGeom>
        </p:spPr>
      </p:pic>
      <p:pic>
        <p:nvPicPr>
          <p:cNvPr id="35" name="Picture 34">
            <a:extLst>
              <a:ext uri="{FF2B5EF4-FFF2-40B4-BE49-F238E27FC236}">
                <a16:creationId xmlns:a16="http://schemas.microsoft.com/office/drawing/2014/main" id="{BAEEE3B3-F28F-E551-020C-E2D8B90617C8}"/>
              </a:ext>
            </a:extLst>
          </p:cNvPr>
          <p:cNvPicPr>
            <a:picLocks noChangeAspect="1"/>
          </p:cNvPicPr>
          <p:nvPr/>
        </p:nvPicPr>
        <p:blipFill>
          <a:blip r:embed="rId6"/>
          <a:stretch>
            <a:fillRect/>
          </a:stretch>
        </p:blipFill>
        <p:spPr>
          <a:xfrm>
            <a:off x="3580761" y="1570890"/>
            <a:ext cx="1648735" cy="689471"/>
          </a:xfrm>
          <a:prstGeom prst="rect">
            <a:avLst/>
          </a:prstGeom>
        </p:spPr>
      </p:pic>
      <p:pic>
        <p:nvPicPr>
          <p:cNvPr id="38" name="Picture 37">
            <a:extLst>
              <a:ext uri="{FF2B5EF4-FFF2-40B4-BE49-F238E27FC236}">
                <a16:creationId xmlns:a16="http://schemas.microsoft.com/office/drawing/2014/main" id="{5A46DBE4-96CF-C9EE-6D87-E28252C5B620}"/>
              </a:ext>
            </a:extLst>
          </p:cNvPr>
          <p:cNvPicPr>
            <a:picLocks noChangeAspect="1"/>
          </p:cNvPicPr>
          <p:nvPr/>
        </p:nvPicPr>
        <p:blipFill>
          <a:blip r:embed="rId7"/>
          <a:stretch>
            <a:fillRect/>
          </a:stretch>
        </p:blipFill>
        <p:spPr>
          <a:xfrm>
            <a:off x="6747338" y="1386564"/>
            <a:ext cx="954168" cy="1058124"/>
          </a:xfrm>
          <a:prstGeom prst="rect">
            <a:avLst/>
          </a:prstGeom>
        </p:spPr>
      </p:pic>
      <p:cxnSp>
        <p:nvCxnSpPr>
          <p:cNvPr id="40" name="Connector: Elbow 39">
            <a:extLst>
              <a:ext uri="{FF2B5EF4-FFF2-40B4-BE49-F238E27FC236}">
                <a16:creationId xmlns:a16="http://schemas.microsoft.com/office/drawing/2014/main" id="{F7124CCC-8E8C-48F6-9A6B-B1A7015CF949}"/>
              </a:ext>
            </a:extLst>
          </p:cNvPr>
          <p:cNvCxnSpPr>
            <a:cxnSpLocks/>
          </p:cNvCxnSpPr>
          <p:nvPr/>
        </p:nvCxnSpPr>
        <p:spPr>
          <a:xfrm>
            <a:off x="1579925" y="3338504"/>
            <a:ext cx="2000836" cy="1259136"/>
          </a:xfrm>
          <a:prstGeom prst="bentConnector3">
            <a:avLst>
              <a:gd name="adj1" fmla="val 5261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E6139EC-238A-4948-9CE1-A69B2DFC12FE}"/>
              </a:ext>
            </a:extLst>
          </p:cNvPr>
          <p:cNvCxnSpPr>
            <a:stCxn id="19" idx="3"/>
          </p:cNvCxnSpPr>
          <p:nvPr/>
        </p:nvCxnSpPr>
        <p:spPr>
          <a:xfrm flipV="1">
            <a:off x="1661882" y="4597640"/>
            <a:ext cx="1918879" cy="1351030"/>
          </a:xfrm>
          <a:prstGeom prst="bentConnector3">
            <a:avLst>
              <a:gd name="adj1" fmla="val 5045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84F806E-C3AA-A5F6-73F8-50E5B3F0D40E}"/>
              </a:ext>
            </a:extLst>
          </p:cNvPr>
          <p:cNvCxnSpPr>
            <a:cxnSpLocks/>
          </p:cNvCxnSpPr>
          <p:nvPr/>
        </p:nvCxnSpPr>
        <p:spPr>
          <a:xfrm flipH="1">
            <a:off x="1624151" y="4597640"/>
            <a:ext cx="18954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847FF7B-739D-9FD3-EAE0-15D0DD66B47F}"/>
              </a:ext>
            </a:extLst>
          </p:cNvPr>
          <p:cNvCxnSpPr>
            <a:stCxn id="16" idx="3"/>
            <a:endCxn id="35" idx="1"/>
          </p:cNvCxnSpPr>
          <p:nvPr/>
        </p:nvCxnSpPr>
        <p:spPr>
          <a:xfrm flipV="1">
            <a:off x="1598643" y="1915626"/>
            <a:ext cx="1982118" cy="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48FF522-27D0-800C-F7F7-C02080894394}"/>
              </a:ext>
            </a:extLst>
          </p:cNvPr>
          <p:cNvCxnSpPr>
            <a:stCxn id="35" idx="3"/>
            <a:endCxn id="38" idx="1"/>
          </p:cNvCxnSpPr>
          <p:nvPr/>
        </p:nvCxnSpPr>
        <p:spPr>
          <a:xfrm>
            <a:off x="5229496" y="1915626"/>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08944AD0-4420-287C-0E8C-B3303C660D82}"/>
              </a:ext>
            </a:extLst>
          </p:cNvPr>
          <p:cNvPicPr>
            <a:picLocks noChangeAspect="1"/>
          </p:cNvPicPr>
          <p:nvPr/>
        </p:nvPicPr>
        <p:blipFill>
          <a:blip r:embed="rId8"/>
          <a:stretch>
            <a:fillRect/>
          </a:stretch>
        </p:blipFill>
        <p:spPr>
          <a:xfrm>
            <a:off x="9360599" y="1518498"/>
            <a:ext cx="1834748" cy="794253"/>
          </a:xfrm>
          <a:prstGeom prst="rect">
            <a:avLst/>
          </a:prstGeom>
        </p:spPr>
      </p:pic>
      <p:pic>
        <p:nvPicPr>
          <p:cNvPr id="59" name="Picture 58">
            <a:extLst>
              <a:ext uri="{FF2B5EF4-FFF2-40B4-BE49-F238E27FC236}">
                <a16:creationId xmlns:a16="http://schemas.microsoft.com/office/drawing/2014/main" id="{00A96B05-C0BD-C87D-5605-A58279572322}"/>
              </a:ext>
            </a:extLst>
          </p:cNvPr>
          <p:cNvPicPr>
            <a:picLocks noChangeAspect="1"/>
          </p:cNvPicPr>
          <p:nvPr/>
        </p:nvPicPr>
        <p:blipFill>
          <a:blip r:embed="rId9"/>
          <a:stretch>
            <a:fillRect/>
          </a:stretch>
        </p:blipFill>
        <p:spPr>
          <a:xfrm>
            <a:off x="9373168" y="4079458"/>
            <a:ext cx="1809610" cy="1881803"/>
          </a:xfrm>
          <a:prstGeom prst="rect">
            <a:avLst/>
          </a:prstGeom>
        </p:spPr>
      </p:pic>
      <p:cxnSp>
        <p:nvCxnSpPr>
          <p:cNvPr id="61" name="Straight Arrow Connector 60">
            <a:extLst>
              <a:ext uri="{FF2B5EF4-FFF2-40B4-BE49-F238E27FC236}">
                <a16:creationId xmlns:a16="http://schemas.microsoft.com/office/drawing/2014/main" id="{57D14CE9-9DDE-6BE3-3A36-45F5D8E98E58}"/>
              </a:ext>
            </a:extLst>
          </p:cNvPr>
          <p:cNvCxnSpPr>
            <a:stCxn id="20" idx="3"/>
            <a:endCxn id="21" idx="1"/>
          </p:cNvCxnSpPr>
          <p:nvPr/>
        </p:nvCxnSpPr>
        <p:spPr>
          <a:xfrm flipV="1">
            <a:off x="5325103" y="4597639"/>
            <a:ext cx="1422235"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7290ED8-82E0-0A52-B2DC-CF06A278A9B1}"/>
              </a:ext>
            </a:extLst>
          </p:cNvPr>
          <p:cNvCxnSpPr>
            <a:stCxn id="38" idx="3"/>
            <a:endCxn id="57" idx="1"/>
          </p:cNvCxnSpPr>
          <p:nvPr/>
        </p:nvCxnSpPr>
        <p:spPr>
          <a:xfrm flipV="1">
            <a:off x="7701506" y="1915625"/>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69072E6-4941-5A45-8F52-50C9D1BF8894}"/>
              </a:ext>
            </a:extLst>
          </p:cNvPr>
          <p:cNvCxnSpPr>
            <a:stCxn id="21" idx="3"/>
          </p:cNvCxnSpPr>
          <p:nvPr/>
        </p:nvCxnSpPr>
        <p:spPr>
          <a:xfrm>
            <a:off x="7701506" y="4597639"/>
            <a:ext cx="1634083"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70" name="Picture 69">
            <a:extLst>
              <a:ext uri="{FF2B5EF4-FFF2-40B4-BE49-F238E27FC236}">
                <a16:creationId xmlns:a16="http://schemas.microsoft.com/office/drawing/2014/main" id="{1C45BEF9-BF9F-8F54-97A6-839947C3F6A7}"/>
              </a:ext>
            </a:extLst>
          </p:cNvPr>
          <p:cNvPicPr>
            <a:picLocks noChangeAspect="1"/>
          </p:cNvPicPr>
          <p:nvPr/>
        </p:nvPicPr>
        <p:blipFill>
          <a:blip r:embed="rId10"/>
          <a:stretch>
            <a:fillRect/>
          </a:stretch>
        </p:blipFill>
        <p:spPr>
          <a:xfrm>
            <a:off x="9407589" y="2917375"/>
            <a:ext cx="1740768" cy="621958"/>
          </a:xfrm>
          <a:prstGeom prst="rect">
            <a:avLst/>
          </a:prstGeom>
        </p:spPr>
      </p:pic>
      <p:cxnSp>
        <p:nvCxnSpPr>
          <p:cNvPr id="72" name="Straight Arrow Connector 71">
            <a:extLst>
              <a:ext uri="{FF2B5EF4-FFF2-40B4-BE49-F238E27FC236}">
                <a16:creationId xmlns:a16="http://schemas.microsoft.com/office/drawing/2014/main" id="{B63FCC56-1327-50A7-3197-23CDC1BA9D5B}"/>
              </a:ext>
            </a:extLst>
          </p:cNvPr>
          <p:cNvCxnSpPr>
            <a:stCxn id="57" idx="2"/>
            <a:endCxn id="70" idx="0"/>
          </p:cNvCxnSpPr>
          <p:nvPr/>
        </p:nvCxnSpPr>
        <p:spPr>
          <a:xfrm>
            <a:off x="10277973" y="2312751"/>
            <a:ext cx="0" cy="60462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6B594F7-A1F3-1503-1699-73676587FA79}"/>
              </a:ext>
            </a:extLst>
          </p:cNvPr>
          <p:cNvCxnSpPr>
            <a:stCxn id="70" idx="2"/>
            <a:endCxn id="59" idx="0"/>
          </p:cNvCxnSpPr>
          <p:nvPr/>
        </p:nvCxnSpPr>
        <p:spPr>
          <a:xfrm>
            <a:off x="10277973" y="3539333"/>
            <a:ext cx="0" cy="5401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0824BA9B-F56E-810B-ED29-1D1E8DEAF0C7}"/>
              </a:ext>
            </a:extLst>
          </p:cNvPr>
          <p:cNvSpPr txBox="1"/>
          <p:nvPr/>
        </p:nvSpPr>
        <p:spPr>
          <a:xfrm>
            <a:off x="3807340" y="2208448"/>
            <a:ext cx="1116972" cy="307777"/>
          </a:xfrm>
          <a:prstGeom prst="rect">
            <a:avLst/>
          </a:prstGeom>
          <a:noFill/>
        </p:spPr>
        <p:txBody>
          <a:bodyPr wrap="none" rtlCol="0">
            <a:spAutoFit/>
          </a:bodyPr>
          <a:lstStyle/>
          <a:p>
            <a:r>
              <a:rPr lang="en-IN" sz="1400" dirty="0"/>
              <a:t>UI code repo</a:t>
            </a:r>
            <a:endParaRPr lang="en-US" sz="1400" dirty="0"/>
          </a:p>
        </p:txBody>
      </p:sp>
      <p:sp>
        <p:nvSpPr>
          <p:cNvPr id="80" name="TextBox 79">
            <a:extLst>
              <a:ext uri="{FF2B5EF4-FFF2-40B4-BE49-F238E27FC236}">
                <a16:creationId xmlns:a16="http://schemas.microsoft.com/office/drawing/2014/main" id="{32BA5D23-7E9E-3123-5F6E-61840CAE6DA0}"/>
              </a:ext>
            </a:extLst>
          </p:cNvPr>
          <p:cNvSpPr txBox="1"/>
          <p:nvPr/>
        </p:nvSpPr>
        <p:spPr>
          <a:xfrm>
            <a:off x="3594108" y="4899128"/>
            <a:ext cx="1813253" cy="307777"/>
          </a:xfrm>
          <a:prstGeom prst="rect">
            <a:avLst/>
          </a:prstGeom>
          <a:noFill/>
        </p:spPr>
        <p:txBody>
          <a:bodyPr wrap="none" rtlCol="0">
            <a:spAutoFit/>
          </a:bodyPr>
          <a:lstStyle/>
          <a:p>
            <a:r>
              <a:rPr lang="en-IN" sz="1400" dirty="0"/>
              <a:t>Backend Services repo</a:t>
            </a:r>
            <a:endParaRPr lang="en-US" sz="1400" dirty="0"/>
          </a:p>
        </p:txBody>
      </p:sp>
      <p:sp>
        <p:nvSpPr>
          <p:cNvPr id="81" name="TextBox 80">
            <a:extLst>
              <a:ext uri="{FF2B5EF4-FFF2-40B4-BE49-F238E27FC236}">
                <a16:creationId xmlns:a16="http://schemas.microsoft.com/office/drawing/2014/main" id="{9BFD9152-9BB5-F5C9-FD1D-9C70E84BEE5C}"/>
              </a:ext>
            </a:extLst>
          </p:cNvPr>
          <p:cNvSpPr txBox="1"/>
          <p:nvPr/>
        </p:nvSpPr>
        <p:spPr>
          <a:xfrm>
            <a:off x="3424644" y="5243863"/>
            <a:ext cx="5342712" cy="954107"/>
          </a:xfrm>
          <a:prstGeom prst="rect">
            <a:avLst/>
          </a:prstGeom>
          <a:noFill/>
          <a:ln>
            <a:solidFill>
              <a:srgbClr val="0070C0"/>
            </a:solidFill>
          </a:ln>
        </p:spPr>
        <p:txBody>
          <a:bodyPr wrap="square" rtlCol="0">
            <a:spAutoFit/>
          </a:bodyPr>
          <a:lstStyle>
            <a:defPPr>
              <a:defRPr lang="en-US"/>
            </a:defPPr>
            <a:lvl1pPr algn="just">
              <a:defRPr sz="1600"/>
            </a:lvl1pPr>
          </a:lstStyle>
          <a:p>
            <a:r>
              <a:rPr lang="en-IN" dirty="0"/>
              <a:t>SOA teams aimed to create smaller services, yet they remained tightly coupled to a shared database and required deploying everything as cohesive unit. While they followed a service oriented approach, it cannot be classified as microservices.</a:t>
            </a:r>
            <a:endParaRPr lang="en-US" dirty="0"/>
          </a:p>
        </p:txBody>
      </p:sp>
      <p:sp>
        <p:nvSpPr>
          <p:cNvPr id="82" name="TextBox 81">
            <a:extLst>
              <a:ext uri="{FF2B5EF4-FFF2-40B4-BE49-F238E27FC236}">
                <a16:creationId xmlns:a16="http://schemas.microsoft.com/office/drawing/2014/main" id="{C811F4DD-FA0D-1F33-AA47-0552E61301E7}"/>
              </a:ext>
            </a:extLst>
          </p:cNvPr>
          <p:cNvSpPr txBox="1"/>
          <p:nvPr/>
        </p:nvSpPr>
        <p:spPr>
          <a:xfrm>
            <a:off x="31027" y="6422592"/>
            <a:ext cx="2010422" cy="369332"/>
          </a:xfrm>
          <a:prstGeom prst="rect">
            <a:avLst/>
          </a:prstGeom>
          <a:noFill/>
        </p:spPr>
        <p:txBody>
          <a:bodyPr wrap="none" rtlCol="0">
            <a:spAutoFit/>
          </a:bodyPr>
          <a:lstStyle/>
          <a:p>
            <a:r>
              <a:rPr lang="en-IN" dirty="0"/>
              <a:t>Accounts Dev Team</a:t>
            </a:r>
            <a:endParaRPr lang="en-US" dirty="0"/>
          </a:p>
        </p:txBody>
      </p:sp>
      <p:sp>
        <p:nvSpPr>
          <p:cNvPr id="83" name="TextBox 82">
            <a:extLst>
              <a:ext uri="{FF2B5EF4-FFF2-40B4-BE49-F238E27FC236}">
                <a16:creationId xmlns:a16="http://schemas.microsoft.com/office/drawing/2014/main" id="{8222A731-286C-A32A-1BEE-07F16EFD7E65}"/>
              </a:ext>
            </a:extLst>
          </p:cNvPr>
          <p:cNvSpPr txBox="1"/>
          <p:nvPr/>
        </p:nvSpPr>
        <p:spPr>
          <a:xfrm>
            <a:off x="0" y="3573793"/>
            <a:ext cx="1695464" cy="369332"/>
          </a:xfrm>
          <a:prstGeom prst="rect">
            <a:avLst/>
          </a:prstGeom>
          <a:noFill/>
        </p:spPr>
        <p:txBody>
          <a:bodyPr wrap="none" rtlCol="0">
            <a:spAutoFit/>
          </a:bodyPr>
          <a:lstStyle/>
          <a:p>
            <a:r>
              <a:rPr lang="en-IN" dirty="0"/>
              <a:t>Loans Dev Team</a:t>
            </a:r>
            <a:endParaRPr lang="en-US" dirty="0"/>
          </a:p>
        </p:txBody>
      </p:sp>
      <p:sp>
        <p:nvSpPr>
          <p:cNvPr id="84" name="TextBox 83">
            <a:extLst>
              <a:ext uri="{FF2B5EF4-FFF2-40B4-BE49-F238E27FC236}">
                <a16:creationId xmlns:a16="http://schemas.microsoft.com/office/drawing/2014/main" id="{D54992F8-0595-B346-D109-2A886BBCE605}"/>
              </a:ext>
            </a:extLst>
          </p:cNvPr>
          <p:cNvSpPr txBox="1"/>
          <p:nvPr/>
        </p:nvSpPr>
        <p:spPr>
          <a:xfrm>
            <a:off x="-10162" y="5007010"/>
            <a:ext cx="1676293" cy="369332"/>
          </a:xfrm>
          <a:prstGeom prst="rect">
            <a:avLst/>
          </a:prstGeom>
          <a:noFill/>
        </p:spPr>
        <p:txBody>
          <a:bodyPr wrap="none" rtlCol="0">
            <a:spAutoFit/>
          </a:bodyPr>
          <a:lstStyle/>
          <a:p>
            <a:r>
              <a:rPr lang="en-IN" dirty="0"/>
              <a:t>Cards Dev Team</a:t>
            </a:r>
            <a:endParaRPr lang="en-US" dirty="0"/>
          </a:p>
        </p:txBody>
      </p:sp>
      <p:sp>
        <p:nvSpPr>
          <p:cNvPr id="85" name="TextBox 84">
            <a:extLst>
              <a:ext uri="{FF2B5EF4-FFF2-40B4-BE49-F238E27FC236}">
                <a16:creationId xmlns:a16="http://schemas.microsoft.com/office/drawing/2014/main" id="{9636803E-DF80-5E60-578A-BB88C22CB004}"/>
              </a:ext>
            </a:extLst>
          </p:cNvPr>
          <p:cNvSpPr txBox="1"/>
          <p:nvPr/>
        </p:nvSpPr>
        <p:spPr>
          <a:xfrm>
            <a:off x="128535" y="2228466"/>
            <a:ext cx="1716304" cy="369332"/>
          </a:xfrm>
          <a:prstGeom prst="rect">
            <a:avLst/>
          </a:prstGeom>
          <a:noFill/>
        </p:spPr>
        <p:txBody>
          <a:bodyPr wrap="none" rtlCol="0">
            <a:spAutoFit/>
          </a:bodyPr>
          <a:lstStyle/>
          <a:p>
            <a:r>
              <a:rPr lang="en-IN" dirty="0"/>
              <a:t>UI/UX Dev Team</a:t>
            </a:r>
            <a:endParaRPr lang="en-US" dirty="0"/>
          </a:p>
        </p:txBody>
      </p:sp>
    </p:spTree>
    <p:extLst>
      <p:ext uri="{BB962C8B-B14F-4D97-AF65-F5344CB8AC3E}">
        <p14:creationId xmlns:p14="http://schemas.microsoft.com/office/powerpoint/2010/main" val="412252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animBg="1"/>
      <p:bldP spid="82" grpId="0"/>
      <p:bldP spid="83" grpId="0"/>
      <p:bldP spid="84" grpId="0"/>
      <p:bldP spid="8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C9E4-5019-DCD2-329A-AB0E94C4C456}"/>
              </a:ext>
            </a:extLst>
          </p:cNvPr>
          <p:cNvSpPr>
            <a:spLocks noGrp="1"/>
          </p:cNvSpPr>
          <p:nvPr>
            <p:ph type="title"/>
          </p:nvPr>
        </p:nvSpPr>
        <p:spPr>
          <a:xfrm>
            <a:off x="839788" y="457200"/>
            <a:ext cx="4973183" cy="1600200"/>
          </a:xfrm>
        </p:spPr>
        <p:txBody>
          <a:bodyPr/>
          <a:lstStyle/>
          <a:p>
            <a:r>
              <a:rPr lang="en-IN" dirty="0"/>
              <a:t>The Great Microservices</a:t>
            </a:r>
            <a:endParaRPr lang="en-US" dirty="0"/>
          </a:p>
        </p:txBody>
      </p:sp>
      <p:sp>
        <p:nvSpPr>
          <p:cNvPr id="4" name="Text Placeholder 3">
            <a:extLst>
              <a:ext uri="{FF2B5EF4-FFF2-40B4-BE49-F238E27FC236}">
                <a16:creationId xmlns:a16="http://schemas.microsoft.com/office/drawing/2014/main" id="{7AAB9F6E-A05A-0446-0227-D02EB17BE807}"/>
              </a:ext>
            </a:extLst>
          </p:cNvPr>
          <p:cNvSpPr>
            <a:spLocks noGrp="1"/>
          </p:cNvSpPr>
          <p:nvPr>
            <p:ph type="body" sz="half" idx="2"/>
          </p:nvPr>
        </p:nvSpPr>
        <p:spPr>
          <a:xfrm>
            <a:off x="839788" y="2057400"/>
            <a:ext cx="7019698" cy="3811588"/>
          </a:xfrm>
        </p:spPr>
        <p:txBody>
          <a:bodyPr/>
          <a:lstStyle/>
          <a:p>
            <a:pPr marL="285750" indent="-285750">
              <a:buFont typeface="Arial" panose="020B0604020202020204" pitchFamily="34" charset="0"/>
              <a:buChar char="•"/>
            </a:pPr>
            <a:r>
              <a:rPr lang="en-IN" dirty="0"/>
              <a:t>Microservices are independently releasable services that are modelled around business domain.</a:t>
            </a:r>
          </a:p>
          <a:p>
            <a:pPr marL="285750" indent="-285750">
              <a:buFont typeface="Arial" panose="020B0604020202020204" pitchFamily="34" charset="0"/>
              <a:buChar char="•"/>
            </a:pPr>
            <a:r>
              <a:rPr lang="en-IN" dirty="0"/>
              <a:t>A service encapsulates functionality and makes it accessible to other services via networks – you construct more complex systems from these building blocks.</a:t>
            </a:r>
          </a:p>
          <a:p>
            <a:pPr marL="285750" indent="-285750">
              <a:buFont typeface="Arial" panose="020B0604020202020204" pitchFamily="34" charset="0"/>
              <a:buChar char="•"/>
            </a:pPr>
            <a:r>
              <a:rPr lang="en-IN" dirty="0"/>
              <a:t>One microservice might represents Accounts, another Cards and yet another Loans, but together they might constitute an entire bank system.</a:t>
            </a:r>
            <a:endParaRPr lang="en-US" dirty="0"/>
          </a:p>
        </p:txBody>
      </p:sp>
      <p:pic>
        <p:nvPicPr>
          <p:cNvPr id="6" name="Picture 5">
            <a:extLst>
              <a:ext uri="{FF2B5EF4-FFF2-40B4-BE49-F238E27FC236}">
                <a16:creationId xmlns:a16="http://schemas.microsoft.com/office/drawing/2014/main" id="{E2BE2D37-FA3A-FF97-0042-37020F0DF149}"/>
              </a:ext>
            </a:extLst>
          </p:cNvPr>
          <p:cNvPicPr>
            <a:picLocks noChangeAspect="1"/>
          </p:cNvPicPr>
          <p:nvPr/>
        </p:nvPicPr>
        <p:blipFill>
          <a:blip r:embed="rId2"/>
          <a:stretch>
            <a:fillRect/>
          </a:stretch>
        </p:blipFill>
        <p:spPr>
          <a:xfrm>
            <a:off x="8145363" y="1027611"/>
            <a:ext cx="2878535" cy="4902926"/>
          </a:xfrm>
          <a:prstGeom prst="rect">
            <a:avLst/>
          </a:prstGeom>
        </p:spPr>
      </p:pic>
    </p:spTree>
    <p:extLst>
      <p:ext uri="{BB962C8B-B14F-4D97-AF65-F5344CB8AC3E}">
        <p14:creationId xmlns:p14="http://schemas.microsoft.com/office/powerpoint/2010/main" val="94863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0990-95FE-E6D1-CBEE-0BFE25E3438D}"/>
              </a:ext>
            </a:extLst>
          </p:cNvPr>
          <p:cNvSpPr>
            <a:spLocks noGrp="1"/>
          </p:cNvSpPr>
          <p:nvPr>
            <p:ph type="title"/>
          </p:nvPr>
        </p:nvSpPr>
        <p:spPr/>
        <p:txBody>
          <a:bodyPr/>
          <a:lstStyle/>
          <a:p>
            <a:r>
              <a:rPr lang="en-IN" dirty="0"/>
              <a:t>The Great Microservices</a:t>
            </a:r>
            <a:endParaRPr lang="en-US" dirty="0"/>
          </a:p>
        </p:txBody>
      </p:sp>
      <p:sp>
        <p:nvSpPr>
          <p:cNvPr id="5" name="Text Placeholder 4">
            <a:extLst>
              <a:ext uri="{FF2B5EF4-FFF2-40B4-BE49-F238E27FC236}">
                <a16:creationId xmlns:a16="http://schemas.microsoft.com/office/drawing/2014/main" id="{DCBE84E7-1E0A-1306-502B-658BF8754D9B}"/>
              </a:ext>
            </a:extLst>
          </p:cNvPr>
          <p:cNvSpPr>
            <a:spLocks noGrp="1"/>
          </p:cNvSpPr>
          <p:nvPr>
            <p:ph type="body" idx="1"/>
          </p:nvPr>
        </p:nvSpPr>
        <p:spPr/>
        <p:txBody>
          <a:bodyPr/>
          <a:lstStyle/>
          <a:p>
            <a:r>
              <a:rPr lang="en-IN" dirty="0"/>
              <a:t>Pros</a:t>
            </a:r>
            <a:endParaRPr lang="en-US" dirty="0"/>
          </a:p>
        </p:txBody>
      </p:sp>
      <p:sp>
        <p:nvSpPr>
          <p:cNvPr id="6" name="Content Placeholder 5">
            <a:extLst>
              <a:ext uri="{FF2B5EF4-FFF2-40B4-BE49-F238E27FC236}">
                <a16:creationId xmlns:a16="http://schemas.microsoft.com/office/drawing/2014/main" id="{F7025044-5A67-FAE3-618C-D5F15B92A2E2}"/>
              </a:ext>
            </a:extLst>
          </p:cNvPr>
          <p:cNvSpPr>
            <a:spLocks noGrp="1"/>
          </p:cNvSpPr>
          <p:nvPr>
            <p:ph sz="half" idx="2"/>
          </p:nvPr>
        </p:nvSpPr>
        <p:spPr/>
        <p:txBody>
          <a:bodyPr/>
          <a:lstStyle/>
          <a:p>
            <a:r>
              <a:rPr lang="en-IN" dirty="0"/>
              <a:t>Easy to develop, test and deploy</a:t>
            </a:r>
          </a:p>
          <a:p>
            <a:r>
              <a:rPr lang="en-IN" dirty="0"/>
              <a:t>Increased agility</a:t>
            </a:r>
          </a:p>
          <a:p>
            <a:r>
              <a:rPr lang="en-IN" dirty="0"/>
              <a:t>Ability to scale horizontally</a:t>
            </a:r>
          </a:p>
          <a:p>
            <a:r>
              <a:rPr lang="en-IN" dirty="0"/>
              <a:t>Parallel development</a:t>
            </a:r>
          </a:p>
          <a:p>
            <a:r>
              <a:rPr lang="en-IN" dirty="0"/>
              <a:t>Modelled around a business domain </a:t>
            </a:r>
            <a:endParaRPr lang="en-US" dirty="0"/>
          </a:p>
        </p:txBody>
      </p:sp>
      <p:sp>
        <p:nvSpPr>
          <p:cNvPr id="7" name="Text Placeholder 6">
            <a:extLst>
              <a:ext uri="{FF2B5EF4-FFF2-40B4-BE49-F238E27FC236}">
                <a16:creationId xmlns:a16="http://schemas.microsoft.com/office/drawing/2014/main" id="{7690F284-6BA4-0D5B-DA3B-B4C4F72CF087}"/>
              </a:ext>
            </a:extLst>
          </p:cNvPr>
          <p:cNvSpPr>
            <a:spLocks noGrp="1"/>
          </p:cNvSpPr>
          <p:nvPr>
            <p:ph type="body" sz="quarter" idx="3"/>
          </p:nvPr>
        </p:nvSpPr>
        <p:spPr/>
        <p:txBody>
          <a:bodyPr/>
          <a:lstStyle/>
          <a:p>
            <a:r>
              <a:rPr lang="en-IN" dirty="0"/>
              <a:t>Cons</a:t>
            </a:r>
            <a:endParaRPr lang="en-US" dirty="0"/>
          </a:p>
        </p:txBody>
      </p:sp>
      <p:sp>
        <p:nvSpPr>
          <p:cNvPr id="8" name="Content Placeholder 7">
            <a:extLst>
              <a:ext uri="{FF2B5EF4-FFF2-40B4-BE49-F238E27FC236}">
                <a16:creationId xmlns:a16="http://schemas.microsoft.com/office/drawing/2014/main" id="{C5195359-ADBA-7F9B-73DF-361816668A0D}"/>
              </a:ext>
            </a:extLst>
          </p:cNvPr>
          <p:cNvSpPr>
            <a:spLocks noGrp="1"/>
          </p:cNvSpPr>
          <p:nvPr>
            <p:ph sz="quarter" idx="4"/>
          </p:nvPr>
        </p:nvSpPr>
        <p:spPr/>
        <p:txBody>
          <a:bodyPr/>
          <a:lstStyle/>
          <a:p>
            <a:r>
              <a:rPr lang="en-IN" dirty="0"/>
              <a:t>Complexity</a:t>
            </a:r>
          </a:p>
          <a:p>
            <a:r>
              <a:rPr lang="en-IN" dirty="0"/>
              <a:t>Infrastructure overhead</a:t>
            </a:r>
          </a:p>
          <a:p>
            <a:r>
              <a:rPr lang="en-IN" dirty="0"/>
              <a:t>Security concerns</a:t>
            </a:r>
            <a:endParaRPr lang="en-US" dirty="0"/>
          </a:p>
        </p:txBody>
      </p:sp>
    </p:spTree>
    <p:extLst>
      <p:ext uri="{BB962C8B-B14F-4D97-AF65-F5344CB8AC3E}">
        <p14:creationId xmlns:p14="http://schemas.microsoft.com/office/powerpoint/2010/main" val="197298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P spid="7" grpId="0" build="p"/>
      <p:bldP spid="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8DDA-9963-FB49-FD3F-C73D7C89D7D2}"/>
              </a:ext>
            </a:extLst>
          </p:cNvPr>
          <p:cNvSpPr>
            <a:spLocks noGrp="1"/>
          </p:cNvSpPr>
          <p:nvPr>
            <p:ph type="title"/>
          </p:nvPr>
        </p:nvSpPr>
        <p:spPr/>
        <p:txBody>
          <a:bodyPr/>
          <a:lstStyle/>
          <a:p>
            <a:r>
              <a:rPr lang="en-IN" dirty="0"/>
              <a:t>The Great Microservices</a:t>
            </a:r>
            <a:endParaRPr lang="en-US" dirty="0"/>
          </a:p>
        </p:txBody>
      </p:sp>
      <p:pic>
        <p:nvPicPr>
          <p:cNvPr id="4" name="Picture 3">
            <a:extLst>
              <a:ext uri="{FF2B5EF4-FFF2-40B4-BE49-F238E27FC236}">
                <a16:creationId xmlns:a16="http://schemas.microsoft.com/office/drawing/2014/main" id="{4E62306F-8031-341B-5177-EBBE7DAAA0C5}"/>
              </a:ext>
            </a:extLst>
          </p:cNvPr>
          <p:cNvPicPr>
            <a:picLocks noChangeAspect="1"/>
          </p:cNvPicPr>
          <p:nvPr/>
        </p:nvPicPr>
        <p:blipFill>
          <a:blip r:embed="rId2"/>
          <a:stretch>
            <a:fillRect/>
          </a:stretch>
        </p:blipFill>
        <p:spPr>
          <a:xfrm>
            <a:off x="67541" y="5402624"/>
            <a:ext cx="1520886" cy="954975"/>
          </a:xfrm>
          <a:prstGeom prst="rect">
            <a:avLst/>
          </a:prstGeom>
        </p:spPr>
      </p:pic>
      <p:pic>
        <p:nvPicPr>
          <p:cNvPr id="5" name="Picture 4">
            <a:extLst>
              <a:ext uri="{FF2B5EF4-FFF2-40B4-BE49-F238E27FC236}">
                <a16:creationId xmlns:a16="http://schemas.microsoft.com/office/drawing/2014/main" id="{55022540-42CA-636D-A402-7B923CA13274}"/>
              </a:ext>
            </a:extLst>
          </p:cNvPr>
          <p:cNvPicPr>
            <a:picLocks noChangeAspect="1"/>
          </p:cNvPicPr>
          <p:nvPr/>
        </p:nvPicPr>
        <p:blipFill>
          <a:blip r:embed="rId3"/>
          <a:stretch>
            <a:fillRect/>
          </a:stretch>
        </p:blipFill>
        <p:spPr>
          <a:xfrm>
            <a:off x="3580761" y="1570890"/>
            <a:ext cx="1648735" cy="689471"/>
          </a:xfrm>
          <a:prstGeom prst="rect">
            <a:avLst/>
          </a:prstGeom>
        </p:spPr>
      </p:pic>
      <p:pic>
        <p:nvPicPr>
          <p:cNvPr id="6" name="Picture 5">
            <a:extLst>
              <a:ext uri="{FF2B5EF4-FFF2-40B4-BE49-F238E27FC236}">
                <a16:creationId xmlns:a16="http://schemas.microsoft.com/office/drawing/2014/main" id="{0CA33942-082B-EB3F-29E8-47F70BD17D1F}"/>
              </a:ext>
            </a:extLst>
          </p:cNvPr>
          <p:cNvPicPr>
            <a:picLocks noChangeAspect="1"/>
          </p:cNvPicPr>
          <p:nvPr/>
        </p:nvPicPr>
        <p:blipFill>
          <a:blip r:embed="rId4"/>
          <a:stretch>
            <a:fillRect/>
          </a:stretch>
        </p:blipFill>
        <p:spPr>
          <a:xfrm>
            <a:off x="6747338" y="1386564"/>
            <a:ext cx="954168" cy="1058124"/>
          </a:xfrm>
          <a:prstGeom prst="rect">
            <a:avLst/>
          </a:prstGeom>
        </p:spPr>
      </p:pic>
      <p:cxnSp>
        <p:nvCxnSpPr>
          <p:cNvPr id="8" name="Straight Arrow Connector 7">
            <a:extLst>
              <a:ext uri="{FF2B5EF4-FFF2-40B4-BE49-F238E27FC236}">
                <a16:creationId xmlns:a16="http://schemas.microsoft.com/office/drawing/2014/main" id="{8E60CE97-60FB-183C-C88E-9F35F43D72D9}"/>
              </a:ext>
            </a:extLst>
          </p:cNvPr>
          <p:cNvCxnSpPr>
            <a:cxnSpLocks/>
            <a:stCxn id="5" idx="3"/>
            <a:endCxn id="6" idx="1"/>
          </p:cNvCxnSpPr>
          <p:nvPr/>
        </p:nvCxnSpPr>
        <p:spPr>
          <a:xfrm>
            <a:off x="5229496" y="1915626"/>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3B9D51D-8CAB-0C44-26D2-E9A7A64D53DC}"/>
              </a:ext>
            </a:extLst>
          </p:cNvPr>
          <p:cNvCxnSpPr>
            <a:cxnSpLocks/>
            <a:stCxn id="6" idx="3"/>
          </p:cNvCxnSpPr>
          <p:nvPr/>
        </p:nvCxnSpPr>
        <p:spPr>
          <a:xfrm flipV="1">
            <a:off x="7701506" y="1915625"/>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9FED83B-D940-D3B7-1D9F-62FD04D8317E}"/>
              </a:ext>
            </a:extLst>
          </p:cNvPr>
          <p:cNvPicPr>
            <a:picLocks noChangeAspect="1"/>
          </p:cNvPicPr>
          <p:nvPr/>
        </p:nvPicPr>
        <p:blipFill>
          <a:blip r:embed="rId5"/>
          <a:stretch>
            <a:fillRect/>
          </a:stretch>
        </p:blipFill>
        <p:spPr>
          <a:xfrm>
            <a:off x="292413" y="2716300"/>
            <a:ext cx="1287512" cy="954976"/>
          </a:xfrm>
          <a:prstGeom prst="rect">
            <a:avLst/>
          </a:prstGeom>
        </p:spPr>
      </p:pic>
      <p:pic>
        <p:nvPicPr>
          <p:cNvPr id="12" name="Picture 11">
            <a:extLst>
              <a:ext uri="{FF2B5EF4-FFF2-40B4-BE49-F238E27FC236}">
                <a16:creationId xmlns:a16="http://schemas.microsoft.com/office/drawing/2014/main" id="{814AE01F-C73E-0062-86C0-E40E86F0EE4A}"/>
              </a:ext>
            </a:extLst>
          </p:cNvPr>
          <p:cNvPicPr>
            <a:picLocks noChangeAspect="1"/>
          </p:cNvPicPr>
          <p:nvPr/>
        </p:nvPicPr>
        <p:blipFill>
          <a:blip r:embed="rId6"/>
          <a:stretch>
            <a:fillRect/>
          </a:stretch>
        </p:blipFill>
        <p:spPr>
          <a:xfrm>
            <a:off x="344476" y="4016958"/>
            <a:ext cx="1183385" cy="1003402"/>
          </a:xfrm>
          <a:prstGeom prst="rect">
            <a:avLst/>
          </a:prstGeom>
        </p:spPr>
      </p:pic>
      <p:pic>
        <p:nvPicPr>
          <p:cNvPr id="13" name="Picture 12">
            <a:extLst>
              <a:ext uri="{FF2B5EF4-FFF2-40B4-BE49-F238E27FC236}">
                <a16:creationId xmlns:a16="http://schemas.microsoft.com/office/drawing/2014/main" id="{EA8D4579-7598-CF26-64E6-3DF3163ECC60}"/>
              </a:ext>
            </a:extLst>
          </p:cNvPr>
          <p:cNvPicPr>
            <a:picLocks noChangeAspect="1"/>
          </p:cNvPicPr>
          <p:nvPr/>
        </p:nvPicPr>
        <p:blipFill>
          <a:blip r:embed="rId7"/>
          <a:stretch>
            <a:fillRect/>
          </a:stretch>
        </p:blipFill>
        <p:spPr>
          <a:xfrm>
            <a:off x="210453" y="1366673"/>
            <a:ext cx="1451429" cy="1113363"/>
          </a:xfrm>
          <a:prstGeom prst="rect">
            <a:avLst/>
          </a:prstGeom>
        </p:spPr>
      </p:pic>
      <p:pic>
        <p:nvPicPr>
          <p:cNvPr id="14" name="Picture 13">
            <a:extLst>
              <a:ext uri="{FF2B5EF4-FFF2-40B4-BE49-F238E27FC236}">
                <a16:creationId xmlns:a16="http://schemas.microsoft.com/office/drawing/2014/main" id="{6CD67422-03A9-7C80-DB25-E18625DAB95C}"/>
              </a:ext>
            </a:extLst>
          </p:cNvPr>
          <p:cNvPicPr>
            <a:picLocks noChangeAspect="1"/>
          </p:cNvPicPr>
          <p:nvPr/>
        </p:nvPicPr>
        <p:blipFill>
          <a:blip r:embed="rId3"/>
          <a:stretch>
            <a:fillRect/>
          </a:stretch>
        </p:blipFill>
        <p:spPr>
          <a:xfrm>
            <a:off x="3644000" y="2964261"/>
            <a:ext cx="1648735" cy="689471"/>
          </a:xfrm>
          <a:prstGeom prst="rect">
            <a:avLst/>
          </a:prstGeom>
        </p:spPr>
      </p:pic>
      <p:pic>
        <p:nvPicPr>
          <p:cNvPr id="15" name="Picture 14">
            <a:extLst>
              <a:ext uri="{FF2B5EF4-FFF2-40B4-BE49-F238E27FC236}">
                <a16:creationId xmlns:a16="http://schemas.microsoft.com/office/drawing/2014/main" id="{F6950DE1-1BB4-51DD-2E8E-73F2CCFA29CA}"/>
              </a:ext>
            </a:extLst>
          </p:cNvPr>
          <p:cNvPicPr>
            <a:picLocks noChangeAspect="1"/>
          </p:cNvPicPr>
          <p:nvPr/>
        </p:nvPicPr>
        <p:blipFill>
          <a:blip r:embed="rId4"/>
          <a:stretch>
            <a:fillRect/>
          </a:stretch>
        </p:blipFill>
        <p:spPr>
          <a:xfrm>
            <a:off x="6810577" y="2779935"/>
            <a:ext cx="954168" cy="1058124"/>
          </a:xfrm>
          <a:prstGeom prst="rect">
            <a:avLst/>
          </a:prstGeom>
        </p:spPr>
      </p:pic>
      <p:cxnSp>
        <p:nvCxnSpPr>
          <p:cNvPr id="16" name="Straight Arrow Connector 15">
            <a:extLst>
              <a:ext uri="{FF2B5EF4-FFF2-40B4-BE49-F238E27FC236}">
                <a16:creationId xmlns:a16="http://schemas.microsoft.com/office/drawing/2014/main" id="{F6E73D82-D40C-5155-BCE9-37ADC3B923AD}"/>
              </a:ext>
            </a:extLst>
          </p:cNvPr>
          <p:cNvCxnSpPr>
            <a:cxnSpLocks/>
            <a:endCxn id="14" idx="1"/>
          </p:cNvCxnSpPr>
          <p:nvPr/>
        </p:nvCxnSpPr>
        <p:spPr>
          <a:xfrm flipV="1">
            <a:off x="1661882" y="3308997"/>
            <a:ext cx="1982118" cy="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1B19938-42B5-B968-09E0-9BBEEE214EEE}"/>
              </a:ext>
            </a:extLst>
          </p:cNvPr>
          <p:cNvCxnSpPr>
            <a:cxnSpLocks/>
            <a:stCxn id="14" idx="3"/>
            <a:endCxn id="15" idx="1"/>
          </p:cNvCxnSpPr>
          <p:nvPr/>
        </p:nvCxnSpPr>
        <p:spPr>
          <a:xfrm>
            <a:off x="5292735" y="3308997"/>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EC43466-CFFC-B17A-EF47-D6C814945D13}"/>
              </a:ext>
            </a:extLst>
          </p:cNvPr>
          <p:cNvCxnSpPr>
            <a:cxnSpLocks/>
            <a:stCxn id="15" idx="3"/>
          </p:cNvCxnSpPr>
          <p:nvPr/>
        </p:nvCxnSpPr>
        <p:spPr>
          <a:xfrm flipV="1">
            <a:off x="7764745" y="3308996"/>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C1080153-4CC8-4AE8-BC7F-8E87BC05AF8B}"/>
              </a:ext>
            </a:extLst>
          </p:cNvPr>
          <p:cNvPicPr>
            <a:picLocks noChangeAspect="1"/>
          </p:cNvPicPr>
          <p:nvPr/>
        </p:nvPicPr>
        <p:blipFill>
          <a:blip r:embed="rId3"/>
          <a:stretch>
            <a:fillRect/>
          </a:stretch>
        </p:blipFill>
        <p:spPr>
          <a:xfrm>
            <a:off x="3580761" y="4182942"/>
            <a:ext cx="1648735" cy="689471"/>
          </a:xfrm>
          <a:prstGeom prst="rect">
            <a:avLst/>
          </a:prstGeom>
        </p:spPr>
      </p:pic>
      <p:pic>
        <p:nvPicPr>
          <p:cNvPr id="20" name="Picture 19">
            <a:extLst>
              <a:ext uri="{FF2B5EF4-FFF2-40B4-BE49-F238E27FC236}">
                <a16:creationId xmlns:a16="http://schemas.microsoft.com/office/drawing/2014/main" id="{C778DDB5-10F1-5FB8-F5C5-C88B0A7D4FE2}"/>
              </a:ext>
            </a:extLst>
          </p:cNvPr>
          <p:cNvPicPr>
            <a:picLocks noChangeAspect="1"/>
          </p:cNvPicPr>
          <p:nvPr/>
        </p:nvPicPr>
        <p:blipFill>
          <a:blip r:embed="rId4"/>
          <a:stretch>
            <a:fillRect/>
          </a:stretch>
        </p:blipFill>
        <p:spPr>
          <a:xfrm>
            <a:off x="6747338" y="3998616"/>
            <a:ext cx="954168" cy="1058124"/>
          </a:xfrm>
          <a:prstGeom prst="rect">
            <a:avLst/>
          </a:prstGeom>
        </p:spPr>
      </p:pic>
      <p:cxnSp>
        <p:nvCxnSpPr>
          <p:cNvPr id="21" name="Straight Arrow Connector 20">
            <a:extLst>
              <a:ext uri="{FF2B5EF4-FFF2-40B4-BE49-F238E27FC236}">
                <a16:creationId xmlns:a16="http://schemas.microsoft.com/office/drawing/2014/main" id="{64F85A9A-0595-A758-C995-7222E012EE64}"/>
              </a:ext>
            </a:extLst>
          </p:cNvPr>
          <p:cNvCxnSpPr>
            <a:cxnSpLocks/>
            <a:endCxn id="19" idx="1"/>
          </p:cNvCxnSpPr>
          <p:nvPr/>
        </p:nvCxnSpPr>
        <p:spPr>
          <a:xfrm flipV="1">
            <a:off x="1598643" y="4527678"/>
            <a:ext cx="1982118" cy="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99A4344-1F77-CFFF-E3FF-310DFDFAFEFD}"/>
              </a:ext>
            </a:extLst>
          </p:cNvPr>
          <p:cNvCxnSpPr>
            <a:cxnSpLocks/>
            <a:stCxn id="19" idx="3"/>
            <a:endCxn id="20" idx="1"/>
          </p:cNvCxnSpPr>
          <p:nvPr/>
        </p:nvCxnSpPr>
        <p:spPr>
          <a:xfrm>
            <a:off x="5229496" y="4527678"/>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2CB966E-18F7-ACDC-20A5-B7C8313B775F}"/>
              </a:ext>
            </a:extLst>
          </p:cNvPr>
          <p:cNvCxnSpPr>
            <a:cxnSpLocks/>
            <a:stCxn id="20" idx="3"/>
          </p:cNvCxnSpPr>
          <p:nvPr/>
        </p:nvCxnSpPr>
        <p:spPr>
          <a:xfrm flipV="1">
            <a:off x="7701506" y="4527677"/>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7A835747-5127-FB46-299B-96DEA4345082}"/>
              </a:ext>
            </a:extLst>
          </p:cNvPr>
          <p:cNvPicPr>
            <a:picLocks noChangeAspect="1"/>
          </p:cNvPicPr>
          <p:nvPr/>
        </p:nvPicPr>
        <p:blipFill>
          <a:blip r:embed="rId3"/>
          <a:stretch>
            <a:fillRect/>
          </a:stretch>
        </p:blipFill>
        <p:spPr>
          <a:xfrm>
            <a:off x="3580761" y="5525030"/>
            <a:ext cx="1648735" cy="689471"/>
          </a:xfrm>
          <a:prstGeom prst="rect">
            <a:avLst/>
          </a:prstGeom>
        </p:spPr>
      </p:pic>
      <p:pic>
        <p:nvPicPr>
          <p:cNvPr id="25" name="Picture 24">
            <a:extLst>
              <a:ext uri="{FF2B5EF4-FFF2-40B4-BE49-F238E27FC236}">
                <a16:creationId xmlns:a16="http://schemas.microsoft.com/office/drawing/2014/main" id="{291A895A-E923-DEC7-32C1-8160AC8A9F18}"/>
              </a:ext>
            </a:extLst>
          </p:cNvPr>
          <p:cNvPicPr>
            <a:picLocks noChangeAspect="1"/>
          </p:cNvPicPr>
          <p:nvPr/>
        </p:nvPicPr>
        <p:blipFill>
          <a:blip r:embed="rId4"/>
          <a:stretch>
            <a:fillRect/>
          </a:stretch>
        </p:blipFill>
        <p:spPr>
          <a:xfrm>
            <a:off x="6747338" y="5340704"/>
            <a:ext cx="954168" cy="1058124"/>
          </a:xfrm>
          <a:prstGeom prst="rect">
            <a:avLst/>
          </a:prstGeom>
        </p:spPr>
      </p:pic>
      <p:cxnSp>
        <p:nvCxnSpPr>
          <p:cNvPr id="27" name="Straight Arrow Connector 26">
            <a:extLst>
              <a:ext uri="{FF2B5EF4-FFF2-40B4-BE49-F238E27FC236}">
                <a16:creationId xmlns:a16="http://schemas.microsoft.com/office/drawing/2014/main" id="{A417EF33-322F-FCE4-68F7-91750F455079}"/>
              </a:ext>
            </a:extLst>
          </p:cNvPr>
          <p:cNvCxnSpPr>
            <a:cxnSpLocks/>
            <a:stCxn id="24" idx="3"/>
            <a:endCxn id="25" idx="1"/>
          </p:cNvCxnSpPr>
          <p:nvPr/>
        </p:nvCxnSpPr>
        <p:spPr>
          <a:xfrm>
            <a:off x="5229496" y="5869766"/>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8F079BA-FD74-B2AC-8212-543BD664D9D9}"/>
              </a:ext>
            </a:extLst>
          </p:cNvPr>
          <p:cNvCxnSpPr>
            <a:cxnSpLocks/>
            <a:stCxn id="25" idx="3"/>
          </p:cNvCxnSpPr>
          <p:nvPr/>
        </p:nvCxnSpPr>
        <p:spPr>
          <a:xfrm flipV="1">
            <a:off x="7701506" y="5869765"/>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06782F58-F98C-49B7-8C55-39489F88341D}"/>
              </a:ext>
            </a:extLst>
          </p:cNvPr>
          <p:cNvPicPr>
            <a:picLocks noChangeAspect="1"/>
          </p:cNvPicPr>
          <p:nvPr/>
        </p:nvPicPr>
        <p:blipFill>
          <a:blip r:embed="rId8"/>
          <a:stretch>
            <a:fillRect/>
          </a:stretch>
        </p:blipFill>
        <p:spPr>
          <a:xfrm>
            <a:off x="9616369" y="2950972"/>
            <a:ext cx="1009345" cy="682669"/>
          </a:xfrm>
          <a:prstGeom prst="rect">
            <a:avLst/>
          </a:prstGeom>
        </p:spPr>
      </p:pic>
      <p:sp>
        <p:nvSpPr>
          <p:cNvPr id="38" name="Rectangle: Rounded Corners 37">
            <a:extLst>
              <a:ext uri="{FF2B5EF4-FFF2-40B4-BE49-F238E27FC236}">
                <a16:creationId xmlns:a16="http://schemas.microsoft.com/office/drawing/2014/main" id="{4667D31E-25C5-51F0-0FF9-A87BC5305A46}"/>
              </a:ext>
            </a:extLst>
          </p:cNvPr>
          <p:cNvSpPr/>
          <p:nvPr/>
        </p:nvSpPr>
        <p:spPr>
          <a:xfrm>
            <a:off x="9663842" y="1614356"/>
            <a:ext cx="914400" cy="453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UI APP</a:t>
            </a:r>
            <a:endParaRPr lang="en-US" dirty="0"/>
          </a:p>
        </p:txBody>
      </p:sp>
      <p:pic>
        <p:nvPicPr>
          <p:cNvPr id="40" name="Picture 39">
            <a:extLst>
              <a:ext uri="{FF2B5EF4-FFF2-40B4-BE49-F238E27FC236}">
                <a16:creationId xmlns:a16="http://schemas.microsoft.com/office/drawing/2014/main" id="{8AD93E66-B664-B3E8-792E-F397CF16EC2E}"/>
              </a:ext>
            </a:extLst>
          </p:cNvPr>
          <p:cNvPicPr>
            <a:picLocks noChangeAspect="1"/>
          </p:cNvPicPr>
          <p:nvPr/>
        </p:nvPicPr>
        <p:blipFill>
          <a:blip r:embed="rId9"/>
          <a:stretch>
            <a:fillRect/>
          </a:stretch>
        </p:blipFill>
        <p:spPr>
          <a:xfrm>
            <a:off x="11275462" y="2821763"/>
            <a:ext cx="685177" cy="941086"/>
          </a:xfrm>
          <a:prstGeom prst="rect">
            <a:avLst/>
          </a:prstGeom>
        </p:spPr>
      </p:pic>
      <p:cxnSp>
        <p:nvCxnSpPr>
          <p:cNvPr id="44" name="Straight Arrow Connector 43">
            <a:extLst>
              <a:ext uri="{FF2B5EF4-FFF2-40B4-BE49-F238E27FC236}">
                <a16:creationId xmlns:a16="http://schemas.microsoft.com/office/drawing/2014/main" id="{0A76CD99-7AAF-AA87-928D-9BAB24A20D7A}"/>
              </a:ext>
            </a:extLst>
          </p:cNvPr>
          <p:cNvCxnSpPr>
            <a:stCxn id="35" idx="3"/>
            <a:endCxn id="40" idx="1"/>
          </p:cNvCxnSpPr>
          <p:nvPr/>
        </p:nvCxnSpPr>
        <p:spPr>
          <a:xfrm flipV="1">
            <a:off x="10625714" y="3292306"/>
            <a:ext cx="649748"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5F089248-DEB9-A2A8-0661-3FC75CEECD24}"/>
              </a:ext>
            </a:extLst>
          </p:cNvPr>
          <p:cNvPicPr>
            <a:picLocks noChangeAspect="1"/>
          </p:cNvPicPr>
          <p:nvPr/>
        </p:nvPicPr>
        <p:blipFill>
          <a:blip r:embed="rId8"/>
          <a:stretch>
            <a:fillRect/>
          </a:stretch>
        </p:blipFill>
        <p:spPr>
          <a:xfrm>
            <a:off x="9616369" y="4186343"/>
            <a:ext cx="1009345" cy="682669"/>
          </a:xfrm>
          <a:prstGeom prst="rect">
            <a:avLst/>
          </a:prstGeom>
        </p:spPr>
      </p:pic>
      <p:pic>
        <p:nvPicPr>
          <p:cNvPr id="53" name="Picture 52">
            <a:extLst>
              <a:ext uri="{FF2B5EF4-FFF2-40B4-BE49-F238E27FC236}">
                <a16:creationId xmlns:a16="http://schemas.microsoft.com/office/drawing/2014/main" id="{80250BAD-4E29-8299-5D06-3C7459F07BDF}"/>
              </a:ext>
            </a:extLst>
          </p:cNvPr>
          <p:cNvPicPr>
            <a:picLocks noChangeAspect="1"/>
          </p:cNvPicPr>
          <p:nvPr/>
        </p:nvPicPr>
        <p:blipFill>
          <a:blip r:embed="rId9"/>
          <a:stretch>
            <a:fillRect/>
          </a:stretch>
        </p:blipFill>
        <p:spPr>
          <a:xfrm>
            <a:off x="11275462" y="4057134"/>
            <a:ext cx="685177" cy="941086"/>
          </a:xfrm>
          <a:prstGeom prst="rect">
            <a:avLst/>
          </a:prstGeom>
        </p:spPr>
      </p:pic>
      <p:cxnSp>
        <p:nvCxnSpPr>
          <p:cNvPr id="54" name="Straight Arrow Connector 53">
            <a:extLst>
              <a:ext uri="{FF2B5EF4-FFF2-40B4-BE49-F238E27FC236}">
                <a16:creationId xmlns:a16="http://schemas.microsoft.com/office/drawing/2014/main" id="{EFE20A70-AE58-709D-6EFE-EC8BEEA0876D}"/>
              </a:ext>
            </a:extLst>
          </p:cNvPr>
          <p:cNvCxnSpPr>
            <a:stCxn id="52" idx="3"/>
            <a:endCxn id="53" idx="1"/>
          </p:cNvCxnSpPr>
          <p:nvPr/>
        </p:nvCxnSpPr>
        <p:spPr>
          <a:xfrm flipV="1">
            <a:off x="10625714" y="4527677"/>
            <a:ext cx="649748"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55" name="Picture 54">
            <a:extLst>
              <a:ext uri="{FF2B5EF4-FFF2-40B4-BE49-F238E27FC236}">
                <a16:creationId xmlns:a16="http://schemas.microsoft.com/office/drawing/2014/main" id="{1FD141E9-865A-18A1-77AE-25C141C9AE17}"/>
              </a:ext>
            </a:extLst>
          </p:cNvPr>
          <p:cNvPicPr>
            <a:picLocks noChangeAspect="1"/>
          </p:cNvPicPr>
          <p:nvPr/>
        </p:nvPicPr>
        <p:blipFill>
          <a:blip r:embed="rId8"/>
          <a:stretch>
            <a:fillRect/>
          </a:stretch>
        </p:blipFill>
        <p:spPr>
          <a:xfrm>
            <a:off x="9616369" y="5402624"/>
            <a:ext cx="1009345" cy="682669"/>
          </a:xfrm>
          <a:prstGeom prst="rect">
            <a:avLst/>
          </a:prstGeom>
        </p:spPr>
      </p:pic>
      <p:pic>
        <p:nvPicPr>
          <p:cNvPr id="56" name="Picture 55">
            <a:extLst>
              <a:ext uri="{FF2B5EF4-FFF2-40B4-BE49-F238E27FC236}">
                <a16:creationId xmlns:a16="http://schemas.microsoft.com/office/drawing/2014/main" id="{7CD95738-AF24-2DC3-C5F0-8F241F2ACEF1}"/>
              </a:ext>
            </a:extLst>
          </p:cNvPr>
          <p:cNvPicPr>
            <a:picLocks noChangeAspect="1"/>
          </p:cNvPicPr>
          <p:nvPr/>
        </p:nvPicPr>
        <p:blipFill>
          <a:blip r:embed="rId9"/>
          <a:stretch>
            <a:fillRect/>
          </a:stretch>
        </p:blipFill>
        <p:spPr>
          <a:xfrm>
            <a:off x="11275462" y="5273415"/>
            <a:ext cx="685177" cy="941086"/>
          </a:xfrm>
          <a:prstGeom prst="rect">
            <a:avLst/>
          </a:prstGeom>
        </p:spPr>
      </p:pic>
      <p:cxnSp>
        <p:nvCxnSpPr>
          <p:cNvPr id="57" name="Straight Arrow Connector 56">
            <a:extLst>
              <a:ext uri="{FF2B5EF4-FFF2-40B4-BE49-F238E27FC236}">
                <a16:creationId xmlns:a16="http://schemas.microsoft.com/office/drawing/2014/main" id="{437E560D-F6DF-9AD0-5C58-BDD5A696439F}"/>
              </a:ext>
            </a:extLst>
          </p:cNvPr>
          <p:cNvCxnSpPr>
            <a:stCxn id="55" idx="3"/>
            <a:endCxn id="56" idx="1"/>
          </p:cNvCxnSpPr>
          <p:nvPr/>
        </p:nvCxnSpPr>
        <p:spPr>
          <a:xfrm flipV="1">
            <a:off x="10625714" y="5743958"/>
            <a:ext cx="649748"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CABE7E8-A7D7-4EAF-D07D-DB86EA471171}"/>
              </a:ext>
            </a:extLst>
          </p:cNvPr>
          <p:cNvSpPr txBox="1"/>
          <p:nvPr/>
        </p:nvSpPr>
        <p:spPr>
          <a:xfrm>
            <a:off x="-20378" y="6224270"/>
            <a:ext cx="2010422" cy="369332"/>
          </a:xfrm>
          <a:prstGeom prst="rect">
            <a:avLst/>
          </a:prstGeom>
          <a:noFill/>
        </p:spPr>
        <p:txBody>
          <a:bodyPr wrap="none" rtlCol="0">
            <a:spAutoFit/>
          </a:bodyPr>
          <a:lstStyle/>
          <a:p>
            <a:r>
              <a:rPr lang="en-IN" dirty="0"/>
              <a:t>Accounts Dev Team</a:t>
            </a:r>
            <a:endParaRPr lang="en-US" dirty="0"/>
          </a:p>
        </p:txBody>
      </p:sp>
      <p:sp>
        <p:nvSpPr>
          <p:cNvPr id="59" name="TextBox 58">
            <a:extLst>
              <a:ext uri="{FF2B5EF4-FFF2-40B4-BE49-F238E27FC236}">
                <a16:creationId xmlns:a16="http://schemas.microsoft.com/office/drawing/2014/main" id="{C13EBCE5-2E59-D747-954A-99A7986D63E0}"/>
              </a:ext>
            </a:extLst>
          </p:cNvPr>
          <p:cNvSpPr txBox="1"/>
          <p:nvPr/>
        </p:nvSpPr>
        <p:spPr>
          <a:xfrm>
            <a:off x="0" y="3573793"/>
            <a:ext cx="1695464" cy="369332"/>
          </a:xfrm>
          <a:prstGeom prst="rect">
            <a:avLst/>
          </a:prstGeom>
          <a:noFill/>
        </p:spPr>
        <p:txBody>
          <a:bodyPr wrap="none" rtlCol="0">
            <a:spAutoFit/>
          </a:bodyPr>
          <a:lstStyle/>
          <a:p>
            <a:r>
              <a:rPr lang="en-IN" dirty="0"/>
              <a:t>Loans Dev Team</a:t>
            </a:r>
            <a:endParaRPr lang="en-US" dirty="0"/>
          </a:p>
        </p:txBody>
      </p:sp>
      <p:sp>
        <p:nvSpPr>
          <p:cNvPr id="60" name="TextBox 59">
            <a:extLst>
              <a:ext uri="{FF2B5EF4-FFF2-40B4-BE49-F238E27FC236}">
                <a16:creationId xmlns:a16="http://schemas.microsoft.com/office/drawing/2014/main" id="{2720F290-68E9-7E35-A5AA-30985D9B04AB}"/>
              </a:ext>
            </a:extLst>
          </p:cNvPr>
          <p:cNvSpPr txBox="1"/>
          <p:nvPr/>
        </p:nvSpPr>
        <p:spPr>
          <a:xfrm>
            <a:off x="-10162" y="5007010"/>
            <a:ext cx="1676293" cy="369332"/>
          </a:xfrm>
          <a:prstGeom prst="rect">
            <a:avLst/>
          </a:prstGeom>
          <a:noFill/>
        </p:spPr>
        <p:txBody>
          <a:bodyPr wrap="none" rtlCol="0">
            <a:spAutoFit/>
          </a:bodyPr>
          <a:lstStyle/>
          <a:p>
            <a:r>
              <a:rPr lang="en-IN" dirty="0"/>
              <a:t>Cards Dev Team</a:t>
            </a:r>
            <a:endParaRPr lang="en-US" dirty="0"/>
          </a:p>
        </p:txBody>
      </p:sp>
      <p:sp>
        <p:nvSpPr>
          <p:cNvPr id="61" name="TextBox 60">
            <a:extLst>
              <a:ext uri="{FF2B5EF4-FFF2-40B4-BE49-F238E27FC236}">
                <a16:creationId xmlns:a16="http://schemas.microsoft.com/office/drawing/2014/main" id="{8A2A0AC6-DBA5-0E64-4B17-8F6A601C353F}"/>
              </a:ext>
            </a:extLst>
          </p:cNvPr>
          <p:cNvSpPr txBox="1"/>
          <p:nvPr/>
        </p:nvSpPr>
        <p:spPr>
          <a:xfrm>
            <a:off x="-10162" y="2355246"/>
            <a:ext cx="1716304" cy="369332"/>
          </a:xfrm>
          <a:prstGeom prst="rect">
            <a:avLst/>
          </a:prstGeom>
          <a:noFill/>
        </p:spPr>
        <p:txBody>
          <a:bodyPr wrap="none" rtlCol="0">
            <a:spAutoFit/>
          </a:bodyPr>
          <a:lstStyle/>
          <a:p>
            <a:r>
              <a:rPr lang="en-IN" dirty="0"/>
              <a:t>UI/UX Dev Team</a:t>
            </a:r>
            <a:endParaRPr lang="en-US" dirty="0"/>
          </a:p>
        </p:txBody>
      </p:sp>
      <p:cxnSp>
        <p:nvCxnSpPr>
          <p:cNvPr id="64" name="Straight Arrow Connector 63">
            <a:extLst>
              <a:ext uri="{FF2B5EF4-FFF2-40B4-BE49-F238E27FC236}">
                <a16:creationId xmlns:a16="http://schemas.microsoft.com/office/drawing/2014/main" id="{C2D627A0-B792-DAEC-1733-7F1DA0E59993}"/>
              </a:ext>
            </a:extLst>
          </p:cNvPr>
          <p:cNvCxnSpPr>
            <a:stCxn id="13" idx="3"/>
            <a:endCxn id="5" idx="1"/>
          </p:cNvCxnSpPr>
          <p:nvPr/>
        </p:nvCxnSpPr>
        <p:spPr>
          <a:xfrm flipV="1">
            <a:off x="1661882" y="1915626"/>
            <a:ext cx="1918879" cy="7729"/>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45D6D04-C475-702A-735A-29448EDBF71B}"/>
              </a:ext>
            </a:extLst>
          </p:cNvPr>
          <p:cNvCxnSpPr>
            <a:stCxn id="4" idx="3"/>
            <a:endCxn id="24" idx="1"/>
          </p:cNvCxnSpPr>
          <p:nvPr/>
        </p:nvCxnSpPr>
        <p:spPr>
          <a:xfrm flipV="1">
            <a:off x="1588427" y="5869766"/>
            <a:ext cx="1992334" cy="10346"/>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C6CE7171-D3A4-C034-8153-A9F7BC0FAD3F}"/>
              </a:ext>
            </a:extLst>
          </p:cNvPr>
          <p:cNvSpPr txBox="1"/>
          <p:nvPr/>
        </p:nvSpPr>
        <p:spPr>
          <a:xfrm>
            <a:off x="11197516" y="3628539"/>
            <a:ext cx="854721" cy="307777"/>
          </a:xfrm>
          <a:prstGeom prst="rect">
            <a:avLst/>
          </a:prstGeom>
          <a:noFill/>
        </p:spPr>
        <p:txBody>
          <a:bodyPr wrap="none" rtlCol="0">
            <a:spAutoFit/>
          </a:bodyPr>
          <a:lstStyle/>
          <a:p>
            <a:r>
              <a:rPr lang="en-IN" sz="1400" dirty="0"/>
              <a:t>Loans DB</a:t>
            </a:r>
            <a:endParaRPr lang="en-US" sz="1400" dirty="0"/>
          </a:p>
        </p:txBody>
      </p:sp>
      <p:sp>
        <p:nvSpPr>
          <p:cNvPr id="70" name="TextBox 69">
            <a:extLst>
              <a:ext uri="{FF2B5EF4-FFF2-40B4-BE49-F238E27FC236}">
                <a16:creationId xmlns:a16="http://schemas.microsoft.com/office/drawing/2014/main" id="{38AA57D9-AFB4-9C3C-7108-302DC973F6C1}"/>
              </a:ext>
            </a:extLst>
          </p:cNvPr>
          <p:cNvSpPr txBox="1"/>
          <p:nvPr/>
        </p:nvSpPr>
        <p:spPr>
          <a:xfrm>
            <a:off x="11197516" y="4920657"/>
            <a:ext cx="841064" cy="307777"/>
          </a:xfrm>
          <a:prstGeom prst="rect">
            <a:avLst/>
          </a:prstGeom>
          <a:noFill/>
        </p:spPr>
        <p:txBody>
          <a:bodyPr wrap="none" rtlCol="0">
            <a:spAutoFit/>
          </a:bodyPr>
          <a:lstStyle/>
          <a:p>
            <a:r>
              <a:rPr lang="en-IN" sz="1400" dirty="0"/>
              <a:t>Cards DB</a:t>
            </a:r>
            <a:endParaRPr lang="en-US" sz="1400" dirty="0"/>
          </a:p>
        </p:txBody>
      </p:sp>
      <p:sp>
        <p:nvSpPr>
          <p:cNvPr id="71" name="TextBox 70">
            <a:extLst>
              <a:ext uri="{FF2B5EF4-FFF2-40B4-BE49-F238E27FC236}">
                <a16:creationId xmlns:a16="http://schemas.microsoft.com/office/drawing/2014/main" id="{C56D2BC1-62AE-1C98-82C1-6E6F5281D4E6}"/>
              </a:ext>
            </a:extLst>
          </p:cNvPr>
          <p:cNvSpPr txBox="1"/>
          <p:nvPr/>
        </p:nvSpPr>
        <p:spPr>
          <a:xfrm>
            <a:off x="11074853" y="6141994"/>
            <a:ext cx="1100045" cy="307777"/>
          </a:xfrm>
          <a:prstGeom prst="rect">
            <a:avLst/>
          </a:prstGeom>
          <a:noFill/>
        </p:spPr>
        <p:txBody>
          <a:bodyPr wrap="none" rtlCol="0">
            <a:spAutoFit/>
          </a:bodyPr>
          <a:lstStyle/>
          <a:p>
            <a:r>
              <a:rPr lang="en-IN" sz="1400" dirty="0"/>
              <a:t>Accounts DB</a:t>
            </a:r>
            <a:endParaRPr lang="en-US" sz="1400" dirty="0"/>
          </a:p>
        </p:txBody>
      </p:sp>
      <p:cxnSp>
        <p:nvCxnSpPr>
          <p:cNvPr id="75" name="Connector: Elbow 74">
            <a:extLst>
              <a:ext uri="{FF2B5EF4-FFF2-40B4-BE49-F238E27FC236}">
                <a16:creationId xmlns:a16="http://schemas.microsoft.com/office/drawing/2014/main" id="{F945A0F6-3AB1-4445-1F0D-732CE764C0E7}"/>
              </a:ext>
            </a:extLst>
          </p:cNvPr>
          <p:cNvCxnSpPr>
            <a:cxnSpLocks/>
            <a:endCxn id="38" idx="3"/>
          </p:cNvCxnSpPr>
          <p:nvPr/>
        </p:nvCxnSpPr>
        <p:spPr>
          <a:xfrm rot="16200000" flipV="1">
            <a:off x="8802132" y="3617132"/>
            <a:ext cx="3902936" cy="35071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C9236313-7552-D06E-0C13-FA036850A028}"/>
              </a:ext>
            </a:extLst>
          </p:cNvPr>
          <p:cNvSpPr txBox="1"/>
          <p:nvPr/>
        </p:nvSpPr>
        <p:spPr>
          <a:xfrm>
            <a:off x="9046126" y="1060039"/>
            <a:ext cx="2966029" cy="523220"/>
          </a:xfrm>
          <a:prstGeom prst="rect">
            <a:avLst/>
          </a:prstGeom>
          <a:noFill/>
        </p:spPr>
        <p:txBody>
          <a:bodyPr wrap="square" rtlCol="0">
            <a:spAutoFit/>
          </a:bodyPr>
          <a:lstStyle/>
          <a:p>
            <a:r>
              <a:rPr lang="en-IN" sz="1400" dirty="0"/>
              <a:t>Invokes all the backend logic through REST API calls</a:t>
            </a:r>
            <a:endParaRPr lang="en-US" sz="1400" dirty="0"/>
          </a:p>
        </p:txBody>
      </p:sp>
    </p:spTree>
    <p:extLst>
      <p:ext uri="{BB962C8B-B14F-4D97-AF65-F5344CB8AC3E}">
        <p14:creationId xmlns:p14="http://schemas.microsoft.com/office/powerpoint/2010/main" val="416470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2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2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2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2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5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7"/>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56"/>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7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8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58" grpId="0"/>
      <p:bldP spid="59" grpId="0"/>
      <p:bldP spid="60" grpId="0"/>
      <p:bldP spid="61" grpId="0"/>
      <p:bldP spid="69" grpId="0"/>
      <p:bldP spid="70" grpId="0"/>
      <p:bldP spid="71" grpId="0"/>
      <p:bldP spid="8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E79D-CDB8-9AF4-C2E6-62DA8BF229E5}"/>
              </a:ext>
            </a:extLst>
          </p:cNvPr>
          <p:cNvSpPr>
            <a:spLocks noGrp="1"/>
          </p:cNvSpPr>
          <p:nvPr>
            <p:ph type="title"/>
          </p:nvPr>
        </p:nvSpPr>
        <p:spPr/>
        <p:txBody>
          <a:bodyPr/>
          <a:lstStyle/>
          <a:p>
            <a:r>
              <a:rPr lang="en-IN" dirty="0"/>
              <a:t>Monolithic vs SOA vs Microservices</a:t>
            </a:r>
            <a:endParaRPr lang="en-US" dirty="0"/>
          </a:p>
        </p:txBody>
      </p:sp>
      <p:pic>
        <p:nvPicPr>
          <p:cNvPr id="5" name="Picture 4">
            <a:extLst>
              <a:ext uri="{FF2B5EF4-FFF2-40B4-BE49-F238E27FC236}">
                <a16:creationId xmlns:a16="http://schemas.microsoft.com/office/drawing/2014/main" id="{8F1C0B02-C71A-325F-B640-039C1DF338B4}"/>
              </a:ext>
            </a:extLst>
          </p:cNvPr>
          <p:cNvPicPr>
            <a:picLocks noChangeAspect="1"/>
          </p:cNvPicPr>
          <p:nvPr/>
        </p:nvPicPr>
        <p:blipFill>
          <a:blip r:embed="rId2"/>
          <a:stretch>
            <a:fillRect/>
          </a:stretch>
        </p:blipFill>
        <p:spPr>
          <a:xfrm>
            <a:off x="1384663" y="1762932"/>
            <a:ext cx="9422674" cy="4534068"/>
          </a:xfrm>
          <a:prstGeom prst="rect">
            <a:avLst/>
          </a:prstGeom>
        </p:spPr>
      </p:pic>
    </p:spTree>
    <p:extLst>
      <p:ext uri="{BB962C8B-B14F-4D97-AF65-F5344CB8AC3E}">
        <p14:creationId xmlns:p14="http://schemas.microsoft.com/office/powerpoint/2010/main" val="310632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F75C2-9A2F-99EE-8103-79AC8223DC4B}"/>
              </a:ext>
            </a:extLst>
          </p:cNvPr>
          <p:cNvSpPr>
            <a:spLocks noGrp="1"/>
          </p:cNvSpPr>
          <p:nvPr>
            <p:ph type="title"/>
          </p:nvPr>
        </p:nvSpPr>
        <p:spPr/>
        <p:txBody>
          <a:bodyPr/>
          <a:lstStyle/>
          <a:p>
            <a:r>
              <a:rPr lang="en-IN" dirty="0"/>
              <a:t>Monolithic vs SOA vs Microservices</a:t>
            </a:r>
            <a:endParaRPr lang="en-US" dirty="0"/>
          </a:p>
        </p:txBody>
      </p:sp>
      <p:pic>
        <p:nvPicPr>
          <p:cNvPr id="5" name="Picture 4">
            <a:extLst>
              <a:ext uri="{FF2B5EF4-FFF2-40B4-BE49-F238E27FC236}">
                <a16:creationId xmlns:a16="http://schemas.microsoft.com/office/drawing/2014/main" id="{B308B2B6-BAB1-440D-C82A-C04892295492}"/>
              </a:ext>
            </a:extLst>
          </p:cNvPr>
          <p:cNvPicPr>
            <a:picLocks noChangeAspect="1"/>
          </p:cNvPicPr>
          <p:nvPr/>
        </p:nvPicPr>
        <p:blipFill>
          <a:blip r:embed="rId2"/>
          <a:stretch>
            <a:fillRect/>
          </a:stretch>
        </p:blipFill>
        <p:spPr>
          <a:xfrm>
            <a:off x="2546719" y="2124367"/>
            <a:ext cx="7098562" cy="4041301"/>
          </a:xfrm>
          <a:prstGeom prst="rect">
            <a:avLst/>
          </a:prstGeom>
        </p:spPr>
      </p:pic>
    </p:spTree>
    <p:extLst>
      <p:ext uri="{BB962C8B-B14F-4D97-AF65-F5344CB8AC3E}">
        <p14:creationId xmlns:p14="http://schemas.microsoft.com/office/powerpoint/2010/main" val="152180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144A-E59A-47C9-3CE3-83CD9984AED7}"/>
              </a:ext>
            </a:extLst>
          </p:cNvPr>
          <p:cNvSpPr>
            <a:spLocks noGrp="1"/>
          </p:cNvSpPr>
          <p:nvPr>
            <p:ph type="title"/>
          </p:nvPr>
        </p:nvSpPr>
        <p:spPr/>
        <p:txBody>
          <a:bodyPr/>
          <a:lstStyle/>
          <a:p>
            <a:r>
              <a:rPr lang="en-IN" dirty="0"/>
              <a:t>Definition of Microservices ?</a:t>
            </a:r>
            <a:endParaRPr lang="en-US" dirty="0"/>
          </a:p>
        </p:txBody>
      </p:sp>
      <p:sp>
        <p:nvSpPr>
          <p:cNvPr id="3" name="Content Placeholder 2">
            <a:extLst>
              <a:ext uri="{FF2B5EF4-FFF2-40B4-BE49-F238E27FC236}">
                <a16:creationId xmlns:a16="http://schemas.microsoft.com/office/drawing/2014/main" id="{AA070AD1-AE87-7761-72BA-A28BF6C03A39}"/>
              </a:ext>
            </a:extLst>
          </p:cNvPr>
          <p:cNvSpPr>
            <a:spLocks noGrp="1"/>
          </p:cNvSpPr>
          <p:nvPr>
            <p:ph idx="1"/>
          </p:nvPr>
        </p:nvSpPr>
        <p:spPr>
          <a:xfrm>
            <a:off x="838200" y="1825625"/>
            <a:ext cx="7448006" cy="4351338"/>
          </a:xfrm>
        </p:spPr>
        <p:txBody>
          <a:bodyPr/>
          <a:lstStyle/>
          <a:p>
            <a:pPr algn="just"/>
            <a:r>
              <a:rPr lang="en-IN" dirty="0"/>
              <a:t>“Microservices is an approach to developing a single application as a suite of small services, each running in its own process and communicating with lightweight mechanisms, built around business capabilities and independently deployable by fully automated deployment machinery.” – From Article by James Lewis and Martin Fowler’s </a:t>
            </a:r>
            <a:endParaRPr lang="en-US" dirty="0"/>
          </a:p>
        </p:txBody>
      </p:sp>
      <p:pic>
        <p:nvPicPr>
          <p:cNvPr id="5" name="Picture 4">
            <a:extLst>
              <a:ext uri="{FF2B5EF4-FFF2-40B4-BE49-F238E27FC236}">
                <a16:creationId xmlns:a16="http://schemas.microsoft.com/office/drawing/2014/main" id="{3C948C2E-C524-B9F1-35F6-7B301568824E}"/>
              </a:ext>
            </a:extLst>
          </p:cNvPr>
          <p:cNvPicPr>
            <a:picLocks noChangeAspect="1"/>
          </p:cNvPicPr>
          <p:nvPr/>
        </p:nvPicPr>
        <p:blipFill>
          <a:blip r:embed="rId2"/>
          <a:stretch>
            <a:fillRect/>
          </a:stretch>
        </p:blipFill>
        <p:spPr>
          <a:xfrm>
            <a:off x="8446055" y="1245325"/>
            <a:ext cx="3146102" cy="4445726"/>
          </a:xfrm>
          <a:prstGeom prst="rect">
            <a:avLst/>
          </a:prstGeom>
        </p:spPr>
      </p:pic>
    </p:spTree>
    <p:extLst>
      <p:ext uri="{BB962C8B-B14F-4D97-AF65-F5344CB8AC3E}">
        <p14:creationId xmlns:p14="http://schemas.microsoft.com/office/powerpoint/2010/main" val="102810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2157-221A-C2A6-BD82-A618AF01A29D}"/>
              </a:ext>
            </a:extLst>
          </p:cNvPr>
          <p:cNvSpPr>
            <a:spLocks noGrp="1"/>
          </p:cNvSpPr>
          <p:nvPr>
            <p:ph type="title"/>
          </p:nvPr>
        </p:nvSpPr>
        <p:spPr/>
        <p:txBody>
          <a:bodyPr/>
          <a:lstStyle/>
          <a:p>
            <a:r>
              <a:rPr lang="en-IN" dirty="0"/>
              <a:t>How to build Microservices ?</a:t>
            </a:r>
            <a:endParaRPr lang="en-US" dirty="0"/>
          </a:p>
        </p:txBody>
      </p:sp>
      <p:sp>
        <p:nvSpPr>
          <p:cNvPr id="3" name="Content Placeholder 2">
            <a:extLst>
              <a:ext uri="{FF2B5EF4-FFF2-40B4-BE49-F238E27FC236}">
                <a16:creationId xmlns:a16="http://schemas.microsoft.com/office/drawing/2014/main" id="{E521F2B1-6E1D-822D-5720-E09D8786F322}"/>
              </a:ext>
            </a:extLst>
          </p:cNvPr>
          <p:cNvSpPr>
            <a:spLocks noGrp="1"/>
          </p:cNvSpPr>
          <p:nvPr>
            <p:ph sz="half" idx="1"/>
          </p:nvPr>
        </p:nvSpPr>
        <p:spPr/>
        <p:txBody>
          <a:bodyPr>
            <a:normAutofit fontScale="92500"/>
          </a:bodyPr>
          <a:lstStyle/>
          <a:p>
            <a:r>
              <a:rPr lang="en-IN" dirty="0"/>
              <a:t>When considering a web application, the traditional approach involves packaging it as WAR or EAR file.</a:t>
            </a:r>
          </a:p>
          <a:p>
            <a:r>
              <a:rPr lang="en-IN" dirty="0"/>
              <a:t>These archive formats are commonly used to build Java applications, which are then deployed to web servers like Tomcat.</a:t>
            </a:r>
          </a:p>
          <a:p>
            <a:r>
              <a:rPr lang="en-IN" dirty="0"/>
              <a:t>Do you think the same approach works for building microservices ?</a:t>
            </a:r>
            <a:endParaRPr lang="en-US" dirty="0"/>
          </a:p>
        </p:txBody>
      </p:sp>
      <p:pic>
        <p:nvPicPr>
          <p:cNvPr id="13" name="Content Placeholder 12">
            <a:extLst>
              <a:ext uri="{FF2B5EF4-FFF2-40B4-BE49-F238E27FC236}">
                <a16:creationId xmlns:a16="http://schemas.microsoft.com/office/drawing/2014/main" id="{1047556A-6E89-71E8-83EC-F8F9A6D24247}"/>
              </a:ext>
            </a:extLst>
          </p:cNvPr>
          <p:cNvPicPr>
            <a:picLocks noGrp="1" noChangeAspect="1"/>
          </p:cNvPicPr>
          <p:nvPr>
            <p:ph sz="half" idx="2"/>
          </p:nvPr>
        </p:nvPicPr>
        <p:blipFill>
          <a:blip r:embed="rId2"/>
          <a:stretch>
            <a:fillRect/>
          </a:stretch>
        </p:blipFill>
        <p:spPr>
          <a:xfrm>
            <a:off x="6807611" y="1825625"/>
            <a:ext cx="3910777" cy="4351338"/>
          </a:xfrm>
          <a:prstGeom prst="rect">
            <a:avLst/>
          </a:prstGeom>
        </p:spPr>
      </p:pic>
    </p:spTree>
    <p:extLst>
      <p:ext uri="{BB962C8B-B14F-4D97-AF65-F5344CB8AC3E}">
        <p14:creationId xmlns:p14="http://schemas.microsoft.com/office/powerpoint/2010/main" val="283876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3758-33C1-F85B-380D-6DD9CED0BE71}"/>
              </a:ext>
            </a:extLst>
          </p:cNvPr>
          <p:cNvSpPr>
            <a:spLocks noGrp="1"/>
          </p:cNvSpPr>
          <p:nvPr>
            <p:ph type="title"/>
          </p:nvPr>
        </p:nvSpPr>
        <p:spPr/>
        <p:txBody>
          <a:bodyPr/>
          <a:lstStyle/>
          <a:p>
            <a:r>
              <a:rPr lang="en-IN" dirty="0"/>
              <a:t>How to build Microservices ?</a:t>
            </a:r>
            <a:endParaRPr lang="en-US" dirty="0"/>
          </a:p>
        </p:txBody>
      </p:sp>
      <p:pic>
        <p:nvPicPr>
          <p:cNvPr id="6" name="Content Placeholder 5">
            <a:extLst>
              <a:ext uri="{FF2B5EF4-FFF2-40B4-BE49-F238E27FC236}">
                <a16:creationId xmlns:a16="http://schemas.microsoft.com/office/drawing/2014/main" id="{B305421F-E72F-0C3B-6B62-7DB06EDFD967}"/>
              </a:ext>
            </a:extLst>
          </p:cNvPr>
          <p:cNvPicPr>
            <a:picLocks noGrp="1" noChangeAspect="1"/>
          </p:cNvPicPr>
          <p:nvPr>
            <p:ph sz="half" idx="1"/>
          </p:nvPr>
        </p:nvPicPr>
        <p:blipFill>
          <a:blip r:embed="rId3"/>
          <a:stretch>
            <a:fillRect/>
          </a:stretch>
        </p:blipFill>
        <p:spPr>
          <a:xfrm>
            <a:off x="7698376" y="3492053"/>
            <a:ext cx="2520190" cy="2819847"/>
          </a:xfrm>
          <a:prstGeom prst="rect">
            <a:avLst/>
          </a:prstGeom>
        </p:spPr>
      </p:pic>
      <p:sp>
        <p:nvSpPr>
          <p:cNvPr id="4" name="Content Placeholder 3">
            <a:extLst>
              <a:ext uri="{FF2B5EF4-FFF2-40B4-BE49-F238E27FC236}">
                <a16:creationId xmlns:a16="http://schemas.microsoft.com/office/drawing/2014/main" id="{0B3EAA5C-24FC-D1D8-8362-8B80200D9E97}"/>
              </a:ext>
            </a:extLst>
          </p:cNvPr>
          <p:cNvSpPr>
            <a:spLocks noGrp="1"/>
          </p:cNvSpPr>
          <p:nvPr>
            <p:ph sz="half" idx="2"/>
          </p:nvPr>
        </p:nvSpPr>
        <p:spPr>
          <a:xfrm>
            <a:off x="944880" y="1825625"/>
            <a:ext cx="10408920" cy="4351338"/>
          </a:xfrm>
        </p:spPr>
        <p:txBody>
          <a:bodyPr/>
          <a:lstStyle/>
          <a:p>
            <a:r>
              <a:rPr lang="en-IN" dirty="0"/>
              <a:t>Off course not, because organizations may need to build 100s of microservices. Building, packaging and deploying all the microservices using traditional methods can be an extremely challenging and practically impossible task.</a:t>
            </a:r>
          </a:p>
          <a:p>
            <a:r>
              <a:rPr lang="en-IN" dirty="0"/>
              <a:t>How to overcome this challenge ?</a:t>
            </a:r>
          </a:p>
          <a:p>
            <a:r>
              <a:rPr lang="en-IN" dirty="0"/>
              <a:t>The clue is Spring Boot</a:t>
            </a:r>
            <a:endParaRPr lang="en-US" dirty="0"/>
          </a:p>
        </p:txBody>
      </p:sp>
    </p:spTree>
    <p:extLst>
      <p:ext uri="{BB962C8B-B14F-4D97-AF65-F5344CB8AC3E}">
        <p14:creationId xmlns:p14="http://schemas.microsoft.com/office/powerpoint/2010/main" val="2503055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27E25-3A1F-22A8-D4D9-FA07DA357461}"/>
              </a:ext>
            </a:extLst>
          </p:cNvPr>
          <p:cNvSpPr>
            <a:spLocks noGrp="1"/>
          </p:cNvSpPr>
          <p:nvPr>
            <p:ph type="title"/>
          </p:nvPr>
        </p:nvSpPr>
        <p:spPr/>
        <p:txBody>
          <a:bodyPr/>
          <a:lstStyle/>
          <a:p>
            <a:r>
              <a:rPr lang="en-IN" dirty="0"/>
              <a:t>Why Spring Boot for Microservices ?</a:t>
            </a:r>
            <a:endParaRPr lang="en-US" dirty="0"/>
          </a:p>
        </p:txBody>
      </p:sp>
      <p:sp>
        <p:nvSpPr>
          <p:cNvPr id="3" name="Content Placeholder 2">
            <a:extLst>
              <a:ext uri="{FF2B5EF4-FFF2-40B4-BE49-F238E27FC236}">
                <a16:creationId xmlns:a16="http://schemas.microsoft.com/office/drawing/2014/main" id="{047788AB-EED9-9854-75DC-B52AD30C17DE}"/>
              </a:ext>
            </a:extLst>
          </p:cNvPr>
          <p:cNvSpPr>
            <a:spLocks noGrp="1"/>
          </p:cNvSpPr>
          <p:nvPr>
            <p:ph idx="1"/>
          </p:nvPr>
        </p:nvSpPr>
        <p:spPr/>
        <p:txBody>
          <a:bodyPr/>
          <a:lstStyle/>
          <a:p>
            <a:r>
              <a:rPr lang="en-IN" dirty="0"/>
              <a:t>Spring Boot is a framework that simplifies the development and deployment of Java/Spring applications, including microservices.</a:t>
            </a:r>
          </a:p>
          <a:p>
            <a:r>
              <a:rPr lang="en-IN" dirty="0"/>
              <a:t>With Spring Boot, you can build self-contained, executable JAR files instead of traditional WAR or EAR files.</a:t>
            </a:r>
          </a:p>
          <a:p>
            <a:r>
              <a:rPr lang="en-IN" dirty="0"/>
              <a:t>Theses JAR files contains all the dependencies and configurations required to the microservices.</a:t>
            </a:r>
          </a:p>
          <a:p>
            <a:r>
              <a:rPr lang="en-IN" dirty="0"/>
              <a:t>This approach eliminates the need for external web servers.</a:t>
            </a:r>
            <a:endParaRPr lang="en-US" dirty="0"/>
          </a:p>
        </p:txBody>
      </p:sp>
    </p:spTree>
    <p:extLst>
      <p:ext uri="{BB962C8B-B14F-4D97-AF65-F5344CB8AC3E}">
        <p14:creationId xmlns:p14="http://schemas.microsoft.com/office/powerpoint/2010/main" val="236851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263D-6949-79CB-53B7-9C29B4E00E03}"/>
              </a:ext>
            </a:extLst>
          </p:cNvPr>
          <p:cNvSpPr>
            <a:spLocks noGrp="1"/>
          </p:cNvSpPr>
          <p:nvPr>
            <p:ph type="title"/>
          </p:nvPr>
        </p:nvSpPr>
        <p:spPr/>
        <p:txBody>
          <a:bodyPr/>
          <a:lstStyle/>
          <a:p>
            <a:r>
              <a:rPr lang="en-IN" dirty="0"/>
              <a:t>Why Spring Boot for Microservices ?</a:t>
            </a:r>
            <a:endParaRPr lang="en-US" dirty="0"/>
          </a:p>
        </p:txBody>
      </p:sp>
      <p:pic>
        <p:nvPicPr>
          <p:cNvPr id="7" name="Picture 6">
            <a:extLst>
              <a:ext uri="{FF2B5EF4-FFF2-40B4-BE49-F238E27FC236}">
                <a16:creationId xmlns:a16="http://schemas.microsoft.com/office/drawing/2014/main" id="{B4764DF0-A527-D201-7D43-1D2E3915681D}"/>
              </a:ext>
            </a:extLst>
          </p:cNvPr>
          <p:cNvPicPr>
            <a:picLocks noChangeAspect="1"/>
          </p:cNvPicPr>
          <p:nvPr/>
        </p:nvPicPr>
        <p:blipFill>
          <a:blip r:embed="rId2"/>
          <a:stretch>
            <a:fillRect/>
          </a:stretch>
        </p:blipFill>
        <p:spPr>
          <a:xfrm>
            <a:off x="625275" y="1819329"/>
            <a:ext cx="2168525" cy="4673546"/>
          </a:xfrm>
          <a:prstGeom prst="rect">
            <a:avLst/>
          </a:prstGeom>
        </p:spPr>
      </p:pic>
      <p:pic>
        <p:nvPicPr>
          <p:cNvPr id="9" name="Picture 8">
            <a:extLst>
              <a:ext uri="{FF2B5EF4-FFF2-40B4-BE49-F238E27FC236}">
                <a16:creationId xmlns:a16="http://schemas.microsoft.com/office/drawing/2014/main" id="{CBC4384E-C4E3-6505-D45F-ACB47A7FAD17}"/>
              </a:ext>
            </a:extLst>
          </p:cNvPr>
          <p:cNvPicPr>
            <a:picLocks noChangeAspect="1"/>
          </p:cNvPicPr>
          <p:nvPr/>
        </p:nvPicPr>
        <p:blipFill>
          <a:blip r:embed="rId3"/>
          <a:stretch>
            <a:fillRect/>
          </a:stretch>
        </p:blipFill>
        <p:spPr>
          <a:xfrm>
            <a:off x="2689844" y="1822493"/>
            <a:ext cx="2132411" cy="4633248"/>
          </a:xfrm>
          <a:prstGeom prst="rect">
            <a:avLst/>
          </a:prstGeom>
        </p:spPr>
      </p:pic>
      <p:pic>
        <p:nvPicPr>
          <p:cNvPr id="11" name="Picture 10">
            <a:extLst>
              <a:ext uri="{FF2B5EF4-FFF2-40B4-BE49-F238E27FC236}">
                <a16:creationId xmlns:a16="http://schemas.microsoft.com/office/drawing/2014/main" id="{005B8DBB-B9DC-FE18-9FAE-E8E225B1C944}"/>
              </a:ext>
            </a:extLst>
          </p:cNvPr>
          <p:cNvPicPr>
            <a:picLocks noChangeAspect="1"/>
          </p:cNvPicPr>
          <p:nvPr/>
        </p:nvPicPr>
        <p:blipFill>
          <a:blip r:embed="rId4"/>
          <a:stretch>
            <a:fillRect/>
          </a:stretch>
        </p:blipFill>
        <p:spPr>
          <a:xfrm>
            <a:off x="4820084" y="1890881"/>
            <a:ext cx="2069551" cy="4564860"/>
          </a:xfrm>
          <a:prstGeom prst="rect">
            <a:avLst/>
          </a:prstGeom>
        </p:spPr>
      </p:pic>
      <p:pic>
        <p:nvPicPr>
          <p:cNvPr id="13" name="Picture 12">
            <a:extLst>
              <a:ext uri="{FF2B5EF4-FFF2-40B4-BE49-F238E27FC236}">
                <a16:creationId xmlns:a16="http://schemas.microsoft.com/office/drawing/2014/main" id="{0E7B8DC0-7CAD-12FC-02C8-969CD02ABB25}"/>
              </a:ext>
            </a:extLst>
          </p:cNvPr>
          <p:cNvPicPr>
            <a:picLocks noChangeAspect="1"/>
          </p:cNvPicPr>
          <p:nvPr/>
        </p:nvPicPr>
        <p:blipFill>
          <a:blip r:embed="rId5"/>
          <a:stretch>
            <a:fillRect/>
          </a:stretch>
        </p:blipFill>
        <p:spPr>
          <a:xfrm>
            <a:off x="6892402" y="1890883"/>
            <a:ext cx="2037026" cy="4564858"/>
          </a:xfrm>
          <a:prstGeom prst="rect">
            <a:avLst/>
          </a:prstGeom>
        </p:spPr>
      </p:pic>
      <p:pic>
        <p:nvPicPr>
          <p:cNvPr id="15" name="Picture 14">
            <a:extLst>
              <a:ext uri="{FF2B5EF4-FFF2-40B4-BE49-F238E27FC236}">
                <a16:creationId xmlns:a16="http://schemas.microsoft.com/office/drawing/2014/main" id="{8AAFE9F4-03A5-C385-5FAE-9FFE17282FBA}"/>
              </a:ext>
            </a:extLst>
          </p:cNvPr>
          <p:cNvPicPr>
            <a:picLocks noChangeAspect="1"/>
          </p:cNvPicPr>
          <p:nvPr/>
        </p:nvPicPr>
        <p:blipFill>
          <a:blip r:embed="rId6"/>
          <a:stretch>
            <a:fillRect/>
          </a:stretch>
        </p:blipFill>
        <p:spPr>
          <a:xfrm>
            <a:off x="9019413" y="1857803"/>
            <a:ext cx="2029587" cy="4597938"/>
          </a:xfrm>
          <a:prstGeom prst="rect">
            <a:avLst/>
          </a:prstGeom>
        </p:spPr>
      </p:pic>
    </p:spTree>
    <p:extLst>
      <p:ext uri="{BB962C8B-B14F-4D97-AF65-F5344CB8AC3E}">
        <p14:creationId xmlns:p14="http://schemas.microsoft.com/office/powerpoint/2010/main" val="80391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6BA12-D32D-36B8-C984-D29094CE0AA3}"/>
              </a:ext>
            </a:extLst>
          </p:cNvPr>
          <p:cNvSpPr>
            <a:spLocks noGrp="1"/>
          </p:cNvSpPr>
          <p:nvPr>
            <p:ph type="title"/>
          </p:nvPr>
        </p:nvSpPr>
        <p:spPr/>
        <p:txBody>
          <a:bodyPr/>
          <a:lstStyle/>
          <a:p>
            <a:r>
              <a:rPr lang="en-IN" dirty="0"/>
              <a:t>Why Spring Boot for Microservices ?</a:t>
            </a:r>
            <a:endParaRPr lang="en-US" dirty="0"/>
          </a:p>
        </p:txBody>
      </p:sp>
      <p:sp>
        <p:nvSpPr>
          <p:cNvPr id="3" name="Content Placeholder 2">
            <a:extLst>
              <a:ext uri="{FF2B5EF4-FFF2-40B4-BE49-F238E27FC236}">
                <a16:creationId xmlns:a16="http://schemas.microsoft.com/office/drawing/2014/main" id="{D4B811E8-C6BB-0778-1282-5A08B52C86E5}"/>
              </a:ext>
            </a:extLst>
          </p:cNvPr>
          <p:cNvSpPr>
            <a:spLocks noGrp="1"/>
          </p:cNvSpPr>
          <p:nvPr>
            <p:ph idx="1"/>
          </p:nvPr>
        </p:nvSpPr>
        <p:spPr/>
        <p:txBody>
          <a:bodyPr>
            <a:normAutofit/>
          </a:bodyPr>
          <a:lstStyle/>
          <a:p>
            <a:r>
              <a:rPr lang="en-IN" sz="2400" dirty="0"/>
              <a:t>In the traditional approach, applications are typically packed as WARs and rely on the presence of a server in the execution environment for running. However, in the microservices paradigm, applications are packed as self-contained JARs, also called fat-JAR, since they contain the application itself, the dependencies and the embedded server</a:t>
            </a:r>
            <a:endParaRPr lang="en-US" sz="2400" dirty="0"/>
          </a:p>
        </p:txBody>
      </p:sp>
      <p:pic>
        <p:nvPicPr>
          <p:cNvPr id="5" name="Picture 4">
            <a:extLst>
              <a:ext uri="{FF2B5EF4-FFF2-40B4-BE49-F238E27FC236}">
                <a16:creationId xmlns:a16="http://schemas.microsoft.com/office/drawing/2014/main" id="{9911FFE6-5275-B8FE-056F-88CEA71776A5}"/>
              </a:ext>
            </a:extLst>
          </p:cNvPr>
          <p:cNvPicPr>
            <a:picLocks noChangeAspect="1"/>
          </p:cNvPicPr>
          <p:nvPr/>
        </p:nvPicPr>
        <p:blipFill>
          <a:blip r:embed="rId2"/>
          <a:stretch>
            <a:fillRect/>
          </a:stretch>
        </p:blipFill>
        <p:spPr>
          <a:xfrm>
            <a:off x="1558367" y="3661725"/>
            <a:ext cx="3348914" cy="3196274"/>
          </a:xfrm>
          <a:prstGeom prst="rect">
            <a:avLst/>
          </a:prstGeom>
        </p:spPr>
      </p:pic>
      <p:pic>
        <p:nvPicPr>
          <p:cNvPr id="7" name="Picture 6">
            <a:extLst>
              <a:ext uri="{FF2B5EF4-FFF2-40B4-BE49-F238E27FC236}">
                <a16:creationId xmlns:a16="http://schemas.microsoft.com/office/drawing/2014/main" id="{E9FBBB55-3580-0E1C-DCD1-DBC9B02D214C}"/>
              </a:ext>
            </a:extLst>
          </p:cNvPr>
          <p:cNvPicPr>
            <a:picLocks noChangeAspect="1"/>
          </p:cNvPicPr>
          <p:nvPr/>
        </p:nvPicPr>
        <p:blipFill>
          <a:blip r:embed="rId3"/>
          <a:stretch>
            <a:fillRect/>
          </a:stretch>
        </p:blipFill>
        <p:spPr>
          <a:xfrm>
            <a:off x="7436717" y="3661725"/>
            <a:ext cx="3308266" cy="3196275"/>
          </a:xfrm>
          <a:prstGeom prst="rect">
            <a:avLst/>
          </a:prstGeom>
        </p:spPr>
      </p:pic>
    </p:spTree>
    <p:extLst>
      <p:ext uri="{BB962C8B-B14F-4D97-AF65-F5344CB8AC3E}">
        <p14:creationId xmlns:p14="http://schemas.microsoft.com/office/powerpoint/2010/main" val="336131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160B-7C58-8CC9-B533-03C15F2ABAF2}"/>
              </a:ext>
            </a:extLst>
          </p:cNvPr>
          <p:cNvSpPr>
            <a:spLocks noGrp="1"/>
          </p:cNvSpPr>
          <p:nvPr>
            <p:ph type="title"/>
          </p:nvPr>
        </p:nvSpPr>
        <p:spPr/>
        <p:txBody>
          <a:bodyPr/>
          <a:lstStyle/>
          <a:p>
            <a:r>
              <a:rPr lang="en-IN" dirty="0"/>
              <a:t>Implementing REST Services</a:t>
            </a:r>
            <a:endParaRPr lang="en-US" dirty="0"/>
          </a:p>
        </p:txBody>
      </p:sp>
      <p:sp>
        <p:nvSpPr>
          <p:cNvPr id="3" name="Content Placeholder 2">
            <a:extLst>
              <a:ext uri="{FF2B5EF4-FFF2-40B4-BE49-F238E27FC236}">
                <a16:creationId xmlns:a16="http://schemas.microsoft.com/office/drawing/2014/main" id="{996ADDE9-A053-1394-C633-984FC259FD00}"/>
              </a:ext>
            </a:extLst>
          </p:cNvPr>
          <p:cNvSpPr>
            <a:spLocks noGrp="1"/>
          </p:cNvSpPr>
          <p:nvPr>
            <p:ph idx="1"/>
          </p:nvPr>
        </p:nvSpPr>
        <p:spPr/>
        <p:txBody>
          <a:bodyPr/>
          <a:lstStyle/>
          <a:p>
            <a:r>
              <a:rPr lang="en-IN" dirty="0"/>
              <a:t>REST (Representational State Transfer) services are one of the most often encountered ways to implement communication between two web apps.</a:t>
            </a:r>
          </a:p>
          <a:p>
            <a:r>
              <a:rPr lang="en-IN" dirty="0"/>
              <a:t>REST offers access to functionality the server exposes through endpoints a client can call.</a:t>
            </a:r>
          </a:p>
          <a:p>
            <a:pPr marL="0" indent="0">
              <a:buNone/>
            </a:pPr>
            <a:endParaRPr lang="en-US" dirty="0"/>
          </a:p>
        </p:txBody>
      </p:sp>
    </p:spTree>
    <p:extLst>
      <p:ext uri="{BB962C8B-B14F-4D97-AF65-F5344CB8AC3E}">
        <p14:creationId xmlns:p14="http://schemas.microsoft.com/office/powerpoint/2010/main" val="2374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70D4-8384-FF05-FA4E-33470BB9A738}"/>
              </a:ext>
            </a:extLst>
          </p:cNvPr>
          <p:cNvSpPr>
            <a:spLocks noGrp="1"/>
          </p:cNvSpPr>
          <p:nvPr>
            <p:ph type="title"/>
          </p:nvPr>
        </p:nvSpPr>
        <p:spPr/>
        <p:txBody>
          <a:bodyPr/>
          <a:lstStyle/>
          <a:p>
            <a:r>
              <a:rPr lang="en-IN" dirty="0"/>
              <a:t>Implementing REST Service</a:t>
            </a:r>
            <a:endParaRPr lang="en-US" dirty="0"/>
          </a:p>
        </p:txBody>
      </p:sp>
      <p:sp>
        <p:nvSpPr>
          <p:cNvPr id="3" name="Content Placeholder 2">
            <a:extLst>
              <a:ext uri="{FF2B5EF4-FFF2-40B4-BE49-F238E27FC236}">
                <a16:creationId xmlns:a16="http://schemas.microsoft.com/office/drawing/2014/main" id="{55E7D2BE-2A72-9A42-A9D4-4FF118E45725}"/>
              </a:ext>
            </a:extLst>
          </p:cNvPr>
          <p:cNvSpPr>
            <a:spLocks noGrp="1"/>
          </p:cNvSpPr>
          <p:nvPr>
            <p:ph idx="1"/>
          </p:nvPr>
        </p:nvSpPr>
        <p:spPr/>
        <p:txBody>
          <a:bodyPr/>
          <a:lstStyle/>
          <a:p>
            <a:r>
              <a:rPr lang="en-IN" dirty="0"/>
              <a:t>Below are the different use cases where REST services are being used most frequently these days.</a:t>
            </a:r>
            <a:endParaRPr lang="en-US" dirty="0"/>
          </a:p>
        </p:txBody>
      </p:sp>
      <p:pic>
        <p:nvPicPr>
          <p:cNvPr id="5" name="Picture 4">
            <a:extLst>
              <a:ext uri="{FF2B5EF4-FFF2-40B4-BE49-F238E27FC236}">
                <a16:creationId xmlns:a16="http://schemas.microsoft.com/office/drawing/2014/main" id="{1632F693-CD68-E945-CF13-5A0A43CF9794}"/>
              </a:ext>
            </a:extLst>
          </p:cNvPr>
          <p:cNvPicPr>
            <a:picLocks noChangeAspect="1"/>
          </p:cNvPicPr>
          <p:nvPr/>
        </p:nvPicPr>
        <p:blipFill>
          <a:blip r:embed="rId2"/>
          <a:stretch>
            <a:fillRect/>
          </a:stretch>
        </p:blipFill>
        <p:spPr>
          <a:xfrm>
            <a:off x="352697" y="3003977"/>
            <a:ext cx="4014651" cy="1431081"/>
          </a:xfrm>
          <a:prstGeom prst="rect">
            <a:avLst/>
          </a:prstGeom>
        </p:spPr>
      </p:pic>
      <p:pic>
        <p:nvPicPr>
          <p:cNvPr id="7" name="Picture 6">
            <a:extLst>
              <a:ext uri="{FF2B5EF4-FFF2-40B4-BE49-F238E27FC236}">
                <a16:creationId xmlns:a16="http://schemas.microsoft.com/office/drawing/2014/main" id="{9A80DC2A-E2CF-FAB3-B658-50FCFBD6DE48}"/>
              </a:ext>
            </a:extLst>
          </p:cNvPr>
          <p:cNvPicPr>
            <a:picLocks noChangeAspect="1"/>
          </p:cNvPicPr>
          <p:nvPr/>
        </p:nvPicPr>
        <p:blipFill>
          <a:blip r:embed="rId3"/>
          <a:stretch>
            <a:fillRect/>
          </a:stretch>
        </p:blipFill>
        <p:spPr>
          <a:xfrm>
            <a:off x="7376160" y="3003977"/>
            <a:ext cx="4044968" cy="1474334"/>
          </a:xfrm>
          <a:prstGeom prst="rect">
            <a:avLst/>
          </a:prstGeom>
        </p:spPr>
      </p:pic>
      <p:pic>
        <p:nvPicPr>
          <p:cNvPr id="9" name="Picture 8">
            <a:extLst>
              <a:ext uri="{FF2B5EF4-FFF2-40B4-BE49-F238E27FC236}">
                <a16:creationId xmlns:a16="http://schemas.microsoft.com/office/drawing/2014/main" id="{819941DD-05F9-5E66-9FAB-F23A021D4872}"/>
              </a:ext>
            </a:extLst>
          </p:cNvPr>
          <p:cNvPicPr>
            <a:picLocks noChangeAspect="1"/>
          </p:cNvPicPr>
          <p:nvPr/>
        </p:nvPicPr>
        <p:blipFill>
          <a:blip r:embed="rId4"/>
          <a:stretch>
            <a:fillRect/>
          </a:stretch>
        </p:blipFill>
        <p:spPr>
          <a:xfrm>
            <a:off x="3897085" y="4943251"/>
            <a:ext cx="3888377" cy="1610191"/>
          </a:xfrm>
          <a:prstGeom prst="rect">
            <a:avLst/>
          </a:prstGeom>
        </p:spPr>
      </p:pic>
    </p:spTree>
    <p:extLst>
      <p:ext uri="{BB962C8B-B14F-4D97-AF65-F5344CB8AC3E}">
        <p14:creationId xmlns:p14="http://schemas.microsoft.com/office/powerpoint/2010/main" val="220825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AF40C-B6DB-EC0F-C730-12DBD2A81E47}"/>
              </a:ext>
            </a:extLst>
          </p:cNvPr>
          <p:cNvSpPr>
            <a:spLocks noGrp="1"/>
          </p:cNvSpPr>
          <p:nvPr>
            <p:ph type="title"/>
          </p:nvPr>
        </p:nvSpPr>
        <p:spPr/>
        <p:txBody>
          <a:bodyPr/>
          <a:lstStyle/>
          <a:p>
            <a:r>
              <a:rPr lang="en-IN" dirty="0"/>
              <a:t>Implementing REST Service</a:t>
            </a:r>
            <a:endParaRPr lang="en-US" dirty="0"/>
          </a:p>
        </p:txBody>
      </p:sp>
      <p:sp>
        <p:nvSpPr>
          <p:cNvPr id="3" name="Content Placeholder 2">
            <a:extLst>
              <a:ext uri="{FF2B5EF4-FFF2-40B4-BE49-F238E27FC236}">
                <a16:creationId xmlns:a16="http://schemas.microsoft.com/office/drawing/2014/main" id="{225A32BB-351F-0CF2-6C10-69A4F2077A59}"/>
              </a:ext>
            </a:extLst>
          </p:cNvPr>
          <p:cNvSpPr>
            <a:spLocks noGrp="1"/>
          </p:cNvSpPr>
          <p:nvPr>
            <p:ph idx="1"/>
          </p:nvPr>
        </p:nvSpPr>
        <p:spPr/>
        <p:txBody>
          <a:bodyPr/>
          <a:lstStyle/>
          <a:p>
            <a:r>
              <a:rPr lang="en-IN" dirty="0"/>
              <a:t>Typically REST services are built to expose the business functionality and support CRUD operations on the storage system.</a:t>
            </a:r>
          </a:p>
          <a:p>
            <a:r>
              <a:rPr lang="en-IN" dirty="0"/>
              <a:t>Attached are the standards that we need to follow while build REST services.</a:t>
            </a:r>
            <a:endParaRPr lang="en-US" dirty="0"/>
          </a:p>
        </p:txBody>
      </p:sp>
      <p:pic>
        <p:nvPicPr>
          <p:cNvPr id="5" name="Picture 4">
            <a:extLst>
              <a:ext uri="{FF2B5EF4-FFF2-40B4-BE49-F238E27FC236}">
                <a16:creationId xmlns:a16="http://schemas.microsoft.com/office/drawing/2014/main" id="{2A8F497D-DF80-355D-76D4-DA11CB7811F7}"/>
              </a:ext>
            </a:extLst>
          </p:cNvPr>
          <p:cNvPicPr>
            <a:picLocks noChangeAspect="1"/>
          </p:cNvPicPr>
          <p:nvPr/>
        </p:nvPicPr>
        <p:blipFill>
          <a:blip r:embed="rId2"/>
          <a:stretch>
            <a:fillRect/>
          </a:stretch>
        </p:blipFill>
        <p:spPr>
          <a:xfrm>
            <a:off x="156754" y="4001294"/>
            <a:ext cx="3892731" cy="1756476"/>
          </a:xfrm>
          <a:prstGeom prst="rect">
            <a:avLst/>
          </a:prstGeom>
        </p:spPr>
      </p:pic>
      <p:pic>
        <p:nvPicPr>
          <p:cNvPr id="7" name="Picture 6">
            <a:extLst>
              <a:ext uri="{FF2B5EF4-FFF2-40B4-BE49-F238E27FC236}">
                <a16:creationId xmlns:a16="http://schemas.microsoft.com/office/drawing/2014/main" id="{1CF89696-8635-8625-9B10-0340226645B1}"/>
              </a:ext>
            </a:extLst>
          </p:cNvPr>
          <p:cNvPicPr>
            <a:picLocks noChangeAspect="1"/>
          </p:cNvPicPr>
          <p:nvPr/>
        </p:nvPicPr>
        <p:blipFill>
          <a:blip r:embed="rId3"/>
          <a:stretch>
            <a:fillRect/>
          </a:stretch>
        </p:blipFill>
        <p:spPr>
          <a:xfrm>
            <a:off x="4062547" y="4001294"/>
            <a:ext cx="3997408" cy="1756476"/>
          </a:xfrm>
          <a:prstGeom prst="rect">
            <a:avLst/>
          </a:prstGeom>
        </p:spPr>
      </p:pic>
      <p:pic>
        <p:nvPicPr>
          <p:cNvPr id="9" name="Picture 8">
            <a:extLst>
              <a:ext uri="{FF2B5EF4-FFF2-40B4-BE49-F238E27FC236}">
                <a16:creationId xmlns:a16="http://schemas.microsoft.com/office/drawing/2014/main" id="{CEC5CDEC-5CA2-588D-CC69-9444F981C674}"/>
              </a:ext>
            </a:extLst>
          </p:cNvPr>
          <p:cNvPicPr>
            <a:picLocks noChangeAspect="1"/>
          </p:cNvPicPr>
          <p:nvPr/>
        </p:nvPicPr>
        <p:blipFill>
          <a:blip r:embed="rId4"/>
          <a:stretch>
            <a:fillRect/>
          </a:stretch>
        </p:blipFill>
        <p:spPr>
          <a:xfrm>
            <a:off x="8112037" y="4001294"/>
            <a:ext cx="4049485" cy="1757074"/>
          </a:xfrm>
          <a:prstGeom prst="rect">
            <a:avLst/>
          </a:prstGeom>
        </p:spPr>
      </p:pic>
    </p:spTree>
    <p:extLst>
      <p:ext uri="{BB962C8B-B14F-4D97-AF65-F5344CB8AC3E}">
        <p14:creationId xmlns:p14="http://schemas.microsoft.com/office/powerpoint/2010/main" val="411838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5D37A-5D76-BB9D-CB33-3A02A9151B71}"/>
              </a:ext>
            </a:extLst>
          </p:cNvPr>
          <p:cNvSpPr>
            <a:spLocks noGrp="1"/>
          </p:cNvSpPr>
          <p:nvPr>
            <p:ph type="title"/>
          </p:nvPr>
        </p:nvSpPr>
        <p:spPr/>
        <p:txBody>
          <a:bodyPr/>
          <a:lstStyle/>
          <a:p>
            <a:r>
              <a:rPr lang="en-IN" dirty="0"/>
              <a:t>Different Annotations &amp; Classes that supports building REST Services</a:t>
            </a:r>
            <a:endParaRPr lang="en-US" dirty="0"/>
          </a:p>
        </p:txBody>
      </p:sp>
      <p:pic>
        <p:nvPicPr>
          <p:cNvPr id="5" name="Picture 4">
            <a:extLst>
              <a:ext uri="{FF2B5EF4-FFF2-40B4-BE49-F238E27FC236}">
                <a16:creationId xmlns:a16="http://schemas.microsoft.com/office/drawing/2014/main" id="{AD7B0D0E-40D2-0766-AF49-9E4BF9B9AF56}"/>
              </a:ext>
            </a:extLst>
          </p:cNvPr>
          <p:cNvPicPr>
            <a:picLocks noChangeAspect="1"/>
          </p:cNvPicPr>
          <p:nvPr/>
        </p:nvPicPr>
        <p:blipFill>
          <a:blip r:embed="rId2"/>
          <a:stretch>
            <a:fillRect/>
          </a:stretch>
        </p:blipFill>
        <p:spPr>
          <a:xfrm>
            <a:off x="307993" y="1856040"/>
            <a:ext cx="5211067" cy="1575814"/>
          </a:xfrm>
          <a:prstGeom prst="rect">
            <a:avLst/>
          </a:prstGeom>
        </p:spPr>
      </p:pic>
      <p:pic>
        <p:nvPicPr>
          <p:cNvPr id="7" name="Picture 6">
            <a:extLst>
              <a:ext uri="{FF2B5EF4-FFF2-40B4-BE49-F238E27FC236}">
                <a16:creationId xmlns:a16="http://schemas.microsoft.com/office/drawing/2014/main" id="{D8EB6475-9A59-4682-9DE2-EE5DBDE7732B}"/>
              </a:ext>
            </a:extLst>
          </p:cNvPr>
          <p:cNvPicPr>
            <a:picLocks noChangeAspect="1"/>
          </p:cNvPicPr>
          <p:nvPr/>
        </p:nvPicPr>
        <p:blipFill>
          <a:blip r:embed="rId3"/>
          <a:stretch>
            <a:fillRect/>
          </a:stretch>
        </p:blipFill>
        <p:spPr>
          <a:xfrm>
            <a:off x="277512" y="3406815"/>
            <a:ext cx="5284093" cy="1575814"/>
          </a:xfrm>
          <a:prstGeom prst="rect">
            <a:avLst/>
          </a:prstGeom>
        </p:spPr>
      </p:pic>
      <p:pic>
        <p:nvPicPr>
          <p:cNvPr id="9" name="Picture 8">
            <a:extLst>
              <a:ext uri="{FF2B5EF4-FFF2-40B4-BE49-F238E27FC236}">
                <a16:creationId xmlns:a16="http://schemas.microsoft.com/office/drawing/2014/main" id="{AA85F70E-06F4-2ECA-5B75-FFB85BA20941}"/>
              </a:ext>
            </a:extLst>
          </p:cNvPr>
          <p:cNvPicPr>
            <a:picLocks noChangeAspect="1"/>
          </p:cNvPicPr>
          <p:nvPr/>
        </p:nvPicPr>
        <p:blipFill>
          <a:blip r:embed="rId4"/>
          <a:stretch>
            <a:fillRect/>
          </a:stretch>
        </p:blipFill>
        <p:spPr>
          <a:xfrm>
            <a:off x="332243" y="4957589"/>
            <a:ext cx="5182237" cy="1575815"/>
          </a:xfrm>
          <a:prstGeom prst="rect">
            <a:avLst/>
          </a:prstGeom>
        </p:spPr>
      </p:pic>
      <p:pic>
        <p:nvPicPr>
          <p:cNvPr id="11" name="Picture 10">
            <a:extLst>
              <a:ext uri="{FF2B5EF4-FFF2-40B4-BE49-F238E27FC236}">
                <a16:creationId xmlns:a16="http://schemas.microsoft.com/office/drawing/2014/main" id="{D4553397-488B-B801-86C7-006878493162}"/>
              </a:ext>
            </a:extLst>
          </p:cNvPr>
          <p:cNvPicPr>
            <a:picLocks noChangeAspect="1"/>
          </p:cNvPicPr>
          <p:nvPr/>
        </p:nvPicPr>
        <p:blipFill>
          <a:blip r:embed="rId5"/>
          <a:stretch>
            <a:fillRect/>
          </a:stretch>
        </p:blipFill>
        <p:spPr>
          <a:xfrm>
            <a:off x="6740530" y="1853184"/>
            <a:ext cx="5200595" cy="1575816"/>
          </a:xfrm>
          <a:prstGeom prst="rect">
            <a:avLst/>
          </a:prstGeom>
        </p:spPr>
      </p:pic>
      <p:pic>
        <p:nvPicPr>
          <p:cNvPr id="13" name="Picture 12">
            <a:extLst>
              <a:ext uri="{FF2B5EF4-FFF2-40B4-BE49-F238E27FC236}">
                <a16:creationId xmlns:a16="http://schemas.microsoft.com/office/drawing/2014/main" id="{3D1A7FE2-4A1B-C815-149A-C26793F3E038}"/>
              </a:ext>
            </a:extLst>
          </p:cNvPr>
          <p:cNvPicPr>
            <a:picLocks noChangeAspect="1"/>
          </p:cNvPicPr>
          <p:nvPr/>
        </p:nvPicPr>
        <p:blipFill>
          <a:blip r:embed="rId6"/>
          <a:stretch>
            <a:fillRect/>
          </a:stretch>
        </p:blipFill>
        <p:spPr>
          <a:xfrm>
            <a:off x="6709580" y="3403957"/>
            <a:ext cx="5191391" cy="1575815"/>
          </a:xfrm>
          <a:prstGeom prst="rect">
            <a:avLst/>
          </a:prstGeom>
        </p:spPr>
      </p:pic>
      <p:pic>
        <p:nvPicPr>
          <p:cNvPr id="15" name="Picture 14">
            <a:extLst>
              <a:ext uri="{FF2B5EF4-FFF2-40B4-BE49-F238E27FC236}">
                <a16:creationId xmlns:a16="http://schemas.microsoft.com/office/drawing/2014/main" id="{CF217790-0094-7AD7-03D6-286D01933792}"/>
              </a:ext>
            </a:extLst>
          </p:cNvPr>
          <p:cNvPicPr>
            <a:picLocks noChangeAspect="1"/>
          </p:cNvPicPr>
          <p:nvPr/>
        </p:nvPicPr>
        <p:blipFill>
          <a:blip r:embed="rId7"/>
          <a:stretch>
            <a:fillRect/>
          </a:stretch>
        </p:blipFill>
        <p:spPr>
          <a:xfrm>
            <a:off x="6709580" y="4958668"/>
            <a:ext cx="5191389" cy="1569024"/>
          </a:xfrm>
          <a:prstGeom prst="rect">
            <a:avLst/>
          </a:prstGeom>
        </p:spPr>
      </p:pic>
    </p:spTree>
    <p:extLst>
      <p:ext uri="{BB962C8B-B14F-4D97-AF65-F5344CB8AC3E}">
        <p14:creationId xmlns:p14="http://schemas.microsoft.com/office/powerpoint/2010/main" val="134369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4D68-00FF-BBBE-70A6-C3F129A42A83}"/>
              </a:ext>
            </a:extLst>
          </p:cNvPr>
          <p:cNvSpPr>
            <a:spLocks noGrp="1"/>
          </p:cNvSpPr>
          <p:nvPr>
            <p:ph type="title"/>
          </p:nvPr>
        </p:nvSpPr>
        <p:spPr/>
        <p:txBody>
          <a:bodyPr/>
          <a:lstStyle/>
          <a:p>
            <a:r>
              <a:rPr lang="en-IN" dirty="0"/>
              <a:t>DTO (Data Transfer Object) Pattern</a:t>
            </a:r>
            <a:endParaRPr lang="en-US" dirty="0"/>
          </a:p>
        </p:txBody>
      </p:sp>
      <p:sp>
        <p:nvSpPr>
          <p:cNvPr id="3" name="Content Placeholder 2">
            <a:extLst>
              <a:ext uri="{FF2B5EF4-FFF2-40B4-BE49-F238E27FC236}">
                <a16:creationId xmlns:a16="http://schemas.microsoft.com/office/drawing/2014/main" id="{DE31CB42-ED8B-C6BD-2CCD-1CC061FBF666}"/>
              </a:ext>
            </a:extLst>
          </p:cNvPr>
          <p:cNvSpPr>
            <a:spLocks noGrp="1"/>
          </p:cNvSpPr>
          <p:nvPr>
            <p:ph idx="1"/>
          </p:nvPr>
        </p:nvSpPr>
        <p:spPr/>
        <p:txBody>
          <a:bodyPr>
            <a:normAutofit/>
          </a:bodyPr>
          <a:lstStyle/>
          <a:p>
            <a:r>
              <a:rPr lang="en-IN" sz="2400" dirty="0"/>
              <a:t>The Data Transfer Object(DTO) pattern is a design pattern that allows you to transfer data between different parts of your application.</a:t>
            </a:r>
          </a:p>
          <a:p>
            <a:r>
              <a:rPr lang="en-IN" sz="2400" dirty="0"/>
              <a:t>DTOs are simple objects that contain only data, and they do not contain any business logic. </a:t>
            </a:r>
          </a:p>
          <a:p>
            <a:r>
              <a:rPr lang="en-IN" sz="2400" dirty="0"/>
              <a:t>This makes them ideal for transferring data between layers of your application, such as the presentation layer and data access layer.</a:t>
            </a:r>
            <a:endParaRPr lang="en-US" sz="2400" dirty="0"/>
          </a:p>
        </p:txBody>
      </p:sp>
      <p:pic>
        <p:nvPicPr>
          <p:cNvPr id="5" name="Picture 4">
            <a:extLst>
              <a:ext uri="{FF2B5EF4-FFF2-40B4-BE49-F238E27FC236}">
                <a16:creationId xmlns:a16="http://schemas.microsoft.com/office/drawing/2014/main" id="{FE644C2C-F38E-FB2A-61D5-E0B168390C1F}"/>
              </a:ext>
            </a:extLst>
          </p:cNvPr>
          <p:cNvPicPr>
            <a:picLocks noChangeAspect="1"/>
          </p:cNvPicPr>
          <p:nvPr/>
        </p:nvPicPr>
        <p:blipFill>
          <a:blip r:embed="rId2"/>
          <a:stretch>
            <a:fillRect/>
          </a:stretch>
        </p:blipFill>
        <p:spPr>
          <a:xfrm>
            <a:off x="1204810" y="4071256"/>
            <a:ext cx="9782379" cy="2751909"/>
          </a:xfrm>
          <a:prstGeom prst="rect">
            <a:avLst/>
          </a:prstGeom>
        </p:spPr>
      </p:pic>
    </p:spTree>
    <p:extLst>
      <p:ext uri="{BB962C8B-B14F-4D97-AF65-F5344CB8AC3E}">
        <p14:creationId xmlns:p14="http://schemas.microsoft.com/office/powerpoint/2010/main" val="376414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05136-10C9-FE73-52AA-DAC0BF9D81D4}"/>
              </a:ext>
            </a:extLst>
          </p:cNvPr>
          <p:cNvSpPr>
            <a:spLocks noGrp="1"/>
          </p:cNvSpPr>
          <p:nvPr>
            <p:ph type="title"/>
          </p:nvPr>
        </p:nvSpPr>
        <p:spPr/>
        <p:txBody>
          <a:bodyPr/>
          <a:lstStyle/>
          <a:p>
            <a:r>
              <a:rPr lang="en-GB" dirty="0"/>
              <a:t>Summary of the steps followed to build Microservices</a:t>
            </a:r>
            <a:endParaRPr lang="en-US" dirty="0"/>
          </a:p>
        </p:txBody>
      </p:sp>
      <p:pic>
        <p:nvPicPr>
          <p:cNvPr id="5" name="Picture 4">
            <a:extLst>
              <a:ext uri="{FF2B5EF4-FFF2-40B4-BE49-F238E27FC236}">
                <a16:creationId xmlns:a16="http://schemas.microsoft.com/office/drawing/2014/main" id="{585BA83E-99FE-B60C-47C5-79D858B661F2}"/>
              </a:ext>
            </a:extLst>
          </p:cNvPr>
          <p:cNvPicPr>
            <a:picLocks noChangeAspect="1"/>
          </p:cNvPicPr>
          <p:nvPr/>
        </p:nvPicPr>
        <p:blipFill>
          <a:blip r:embed="rId2"/>
          <a:stretch>
            <a:fillRect/>
          </a:stretch>
        </p:blipFill>
        <p:spPr>
          <a:xfrm>
            <a:off x="665206" y="4641668"/>
            <a:ext cx="2337475" cy="1995739"/>
          </a:xfrm>
          <a:prstGeom prst="rect">
            <a:avLst/>
          </a:prstGeom>
        </p:spPr>
      </p:pic>
      <p:pic>
        <p:nvPicPr>
          <p:cNvPr id="7" name="Picture 6">
            <a:extLst>
              <a:ext uri="{FF2B5EF4-FFF2-40B4-BE49-F238E27FC236}">
                <a16:creationId xmlns:a16="http://schemas.microsoft.com/office/drawing/2014/main" id="{9087F4D8-6A67-2ED8-C787-D95C14B3DD88}"/>
              </a:ext>
            </a:extLst>
          </p:cNvPr>
          <p:cNvPicPr>
            <a:picLocks noChangeAspect="1"/>
          </p:cNvPicPr>
          <p:nvPr/>
        </p:nvPicPr>
        <p:blipFill>
          <a:blip r:embed="rId3"/>
          <a:stretch>
            <a:fillRect/>
          </a:stretch>
        </p:blipFill>
        <p:spPr>
          <a:xfrm>
            <a:off x="3338839" y="4641668"/>
            <a:ext cx="2505724" cy="1995739"/>
          </a:xfrm>
          <a:prstGeom prst="rect">
            <a:avLst/>
          </a:prstGeom>
        </p:spPr>
      </p:pic>
      <p:pic>
        <p:nvPicPr>
          <p:cNvPr id="9" name="Picture 8">
            <a:extLst>
              <a:ext uri="{FF2B5EF4-FFF2-40B4-BE49-F238E27FC236}">
                <a16:creationId xmlns:a16="http://schemas.microsoft.com/office/drawing/2014/main" id="{5B4B1CA8-1AA9-7090-E952-F430F397B7DB}"/>
              </a:ext>
            </a:extLst>
          </p:cNvPr>
          <p:cNvPicPr>
            <a:picLocks noChangeAspect="1"/>
          </p:cNvPicPr>
          <p:nvPr/>
        </p:nvPicPr>
        <p:blipFill>
          <a:blip r:embed="rId4"/>
          <a:stretch>
            <a:fillRect/>
          </a:stretch>
        </p:blipFill>
        <p:spPr>
          <a:xfrm>
            <a:off x="6180721" y="4641667"/>
            <a:ext cx="2537441" cy="1995740"/>
          </a:xfrm>
          <a:prstGeom prst="rect">
            <a:avLst/>
          </a:prstGeom>
        </p:spPr>
      </p:pic>
      <p:pic>
        <p:nvPicPr>
          <p:cNvPr id="11" name="Picture 10">
            <a:extLst>
              <a:ext uri="{FF2B5EF4-FFF2-40B4-BE49-F238E27FC236}">
                <a16:creationId xmlns:a16="http://schemas.microsoft.com/office/drawing/2014/main" id="{AB0CABAD-CCB5-AD61-A3B8-F53A9FE3890C}"/>
              </a:ext>
            </a:extLst>
          </p:cNvPr>
          <p:cNvPicPr>
            <a:picLocks noChangeAspect="1"/>
          </p:cNvPicPr>
          <p:nvPr/>
        </p:nvPicPr>
        <p:blipFill>
          <a:blip r:embed="rId5"/>
          <a:stretch>
            <a:fillRect/>
          </a:stretch>
        </p:blipFill>
        <p:spPr>
          <a:xfrm>
            <a:off x="9054320" y="4641667"/>
            <a:ext cx="2475998" cy="1995740"/>
          </a:xfrm>
          <a:prstGeom prst="rect">
            <a:avLst/>
          </a:prstGeom>
        </p:spPr>
      </p:pic>
      <p:pic>
        <p:nvPicPr>
          <p:cNvPr id="13" name="Picture 12">
            <a:extLst>
              <a:ext uri="{FF2B5EF4-FFF2-40B4-BE49-F238E27FC236}">
                <a16:creationId xmlns:a16="http://schemas.microsoft.com/office/drawing/2014/main" id="{FCAE6104-A220-A07E-9C8E-B181851CA45B}"/>
              </a:ext>
            </a:extLst>
          </p:cNvPr>
          <p:cNvPicPr>
            <a:picLocks noChangeAspect="1"/>
          </p:cNvPicPr>
          <p:nvPr/>
        </p:nvPicPr>
        <p:blipFill>
          <a:blip r:embed="rId6"/>
          <a:stretch>
            <a:fillRect/>
          </a:stretch>
        </p:blipFill>
        <p:spPr>
          <a:xfrm>
            <a:off x="1448526" y="1690688"/>
            <a:ext cx="2678871" cy="1995741"/>
          </a:xfrm>
          <a:prstGeom prst="rect">
            <a:avLst/>
          </a:prstGeom>
        </p:spPr>
      </p:pic>
      <p:pic>
        <p:nvPicPr>
          <p:cNvPr id="15" name="Picture 14">
            <a:extLst>
              <a:ext uri="{FF2B5EF4-FFF2-40B4-BE49-F238E27FC236}">
                <a16:creationId xmlns:a16="http://schemas.microsoft.com/office/drawing/2014/main" id="{D75641B7-ED06-FD9E-23AA-467E4342781C}"/>
              </a:ext>
            </a:extLst>
          </p:cNvPr>
          <p:cNvPicPr>
            <a:picLocks noChangeAspect="1"/>
          </p:cNvPicPr>
          <p:nvPr/>
        </p:nvPicPr>
        <p:blipFill>
          <a:blip r:embed="rId7"/>
          <a:stretch>
            <a:fillRect/>
          </a:stretch>
        </p:blipFill>
        <p:spPr>
          <a:xfrm>
            <a:off x="4500234" y="1690688"/>
            <a:ext cx="2688658" cy="1995742"/>
          </a:xfrm>
          <a:prstGeom prst="rect">
            <a:avLst/>
          </a:prstGeom>
        </p:spPr>
      </p:pic>
      <p:pic>
        <p:nvPicPr>
          <p:cNvPr id="17" name="Picture 16">
            <a:extLst>
              <a:ext uri="{FF2B5EF4-FFF2-40B4-BE49-F238E27FC236}">
                <a16:creationId xmlns:a16="http://schemas.microsoft.com/office/drawing/2014/main" id="{6F123E25-2AA1-CC10-A47D-C3F1DD5C6FDA}"/>
              </a:ext>
            </a:extLst>
          </p:cNvPr>
          <p:cNvPicPr>
            <a:picLocks noChangeAspect="1"/>
          </p:cNvPicPr>
          <p:nvPr/>
        </p:nvPicPr>
        <p:blipFill>
          <a:blip r:embed="rId8"/>
          <a:stretch>
            <a:fillRect/>
          </a:stretch>
        </p:blipFill>
        <p:spPr>
          <a:xfrm>
            <a:off x="7561729" y="1690687"/>
            <a:ext cx="2676516" cy="1995742"/>
          </a:xfrm>
          <a:prstGeom prst="rect">
            <a:avLst/>
          </a:prstGeom>
        </p:spPr>
      </p:pic>
      <p:cxnSp>
        <p:nvCxnSpPr>
          <p:cNvPr id="21" name="Straight Connector 20">
            <a:extLst>
              <a:ext uri="{FF2B5EF4-FFF2-40B4-BE49-F238E27FC236}">
                <a16:creationId xmlns:a16="http://schemas.microsoft.com/office/drawing/2014/main" id="{C3873296-E2AC-74CC-474D-04AA56A80380}"/>
              </a:ext>
            </a:extLst>
          </p:cNvPr>
          <p:cNvCxnSpPr/>
          <p:nvPr/>
        </p:nvCxnSpPr>
        <p:spPr>
          <a:xfrm>
            <a:off x="1393371" y="4066903"/>
            <a:ext cx="951411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85CAA96-509E-4EDB-3354-45465C56CAA7}"/>
              </a:ext>
            </a:extLst>
          </p:cNvPr>
          <p:cNvCxnSpPr>
            <a:stCxn id="5" idx="0"/>
          </p:cNvCxnSpPr>
          <p:nvPr/>
        </p:nvCxnSpPr>
        <p:spPr>
          <a:xfrm flipH="1" flipV="1">
            <a:off x="1833943" y="4066903"/>
            <a:ext cx="1" cy="5747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6C83319-6969-34AE-A487-1EDBC5E101E6}"/>
              </a:ext>
            </a:extLst>
          </p:cNvPr>
          <p:cNvCxnSpPr>
            <a:stCxn id="13" idx="2"/>
          </p:cNvCxnSpPr>
          <p:nvPr/>
        </p:nvCxnSpPr>
        <p:spPr>
          <a:xfrm flipH="1">
            <a:off x="2787961" y="3686429"/>
            <a:ext cx="1" cy="3804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14DB220-56B6-1CDA-C9C0-B6AF7F842E15}"/>
              </a:ext>
            </a:extLst>
          </p:cNvPr>
          <p:cNvCxnSpPr>
            <a:stCxn id="7" idx="0"/>
          </p:cNvCxnSpPr>
          <p:nvPr/>
        </p:nvCxnSpPr>
        <p:spPr>
          <a:xfrm flipV="1">
            <a:off x="4591701" y="4066903"/>
            <a:ext cx="0" cy="5747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18CA43E-1AD8-904B-ADEE-437C400870A2}"/>
              </a:ext>
            </a:extLst>
          </p:cNvPr>
          <p:cNvCxnSpPr>
            <a:stCxn id="15" idx="2"/>
          </p:cNvCxnSpPr>
          <p:nvPr/>
        </p:nvCxnSpPr>
        <p:spPr>
          <a:xfrm>
            <a:off x="5844563" y="3686430"/>
            <a:ext cx="0" cy="3804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594080C-7658-8383-C9EB-CC76D5FE763A}"/>
              </a:ext>
            </a:extLst>
          </p:cNvPr>
          <p:cNvCxnSpPr>
            <a:stCxn id="9" idx="0"/>
          </p:cNvCxnSpPr>
          <p:nvPr/>
        </p:nvCxnSpPr>
        <p:spPr>
          <a:xfrm flipH="1" flipV="1">
            <a:off x="7449441" y="4066903"/>
            <a:ext cx="1" cy="5747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264415F-B5BF-EB79-3BF2-2E5E29075BEF}"/>
              </a:ext>
            </a:extLst>
          </p:cNvPr>
          <p:cNvCxnSpPr>
            <a:stCxn id="17" idx="2"/>
          </p:cNvCxnSpPr>
          <p:nvPr/>
        </p:nvCxnSpPr>
        <p:spPr>
          <a:xfrm>
            <a:off x="8899987" y="3686429"/>
            <a:ext cx="0" cy="3804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9D64286-234F-EE3E-08B2-6BA747CD565E}"/>
              </a:ext>
            </a:extLst>
          </p:cNvPr>
          <p:cNvCxnSpPr>
            <a:stCxn id="11" idx="0"/>
          </p:cNvCxnSpPr>
          <p:nvPr/>
        </p:nvCxnSpPr>
        <p:spPr>
          <a:xfrm flipV="1">
            <a:off x="10292319" y="4066903"/>
            <a:ext cx="0" cy="5747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52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29567-8876-A312-E3D5-B824EBAF7843}"/>
              </a:ext>
            </a:extLst>
          </p:cNvPr>
          <p:cNvSpPr>
            <a:spLocks noGrp="1"/>
          </p:cNvSpPr>
          <p:nvPr>
            <p:ph type="title"/>
          </p:nvPr>
        </p:nvSpPr>
        <p:spPr/>
        <p:txBody>
          <a:bodyPr/>
          <a:lstStyle/>
          <a:p>
            <a:r>
              <a:rPr lang="en-IN" dirty="0"/>
              <a:t>What are cloud native applications ?</a:t>
            </a:r>
            <a:endParaRPr lang="en-US" dirty="0"/>
          </a:p>
        </p:txBody>
      </p:sp>
      <p:sp>
        <p:nvSpPr>
          <p:cNvPr id="7" name="Content Placeholder 6">
            <a:extLst>
              <a:ext uri="{FF2B5EF4-FFF2-40B4-BE49-F238E27FC236}">
                <a16:creationId xmlns:a16="http://schemas.microsoft.com/office/drawing/2014/main" id="{CDC01A32-9CDB-EB99-884D-A3D1221B74B1}"/>
              </a:ext>
            </a:extLst>
          </p:cNvPr>
          <p:cNvSpPr>
            <a:spLocks noGrp="1"/>
          </p:cNvSpPr>
          <p:nvPr>
            <p:ph idx="1"/>
          </p:nvPr>
        </p:nvSpPr>
        <p:spPr/>
        <p:txBody>
          <a:bodyPr/>
          <a:lstStyle/>
          <a:p>
            <a:r>
              <a:rPr lang="en-IN" dirty="0"/>
              <a:t>Cloud-native applications are software application designed specifically to leverage cloud computing principles and take full advantage of cloud-native technologies and services.</a:t>
            </a:r>
          </a:p>
          <a:p>
            <a:r>
              <a:rPr lang="en-IN" dirty="0"/>
              <a:t>These applications are built and optimized to run in cloud environments, utilizing the scalability elasticity and flexibility offered by the cloud.</a:t>
            </a:r>
            <a:endParaRPr lang="en-US" dirty="0"/>
          </a:p>
        </p:txBody>
      </p:sp>
    </p:spTree>
    <p:extLst>
      <p:ext uri="{BB962C8B-B14F-4D97-AF65-F5344CB8AC3E}">
        <p14:creationId xmlns:p14="http://schemas.microsoft.com/office/powerpoint/2010/main" val="210084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F6306-8C88-FAB2-9456-A56703DF3CB1}"/>
              </a:ext>
            </a:extLst>
          </p:cNvPr>
          <p:cNvSpPr>
            <a:spLocks noGrp="1"/>
          </p:cNvSpPr>
          <p:nvPr>
            <p:ph type="title"/>
          </p:nvPr>
        </p:nvSpPr>
        <p:spPr/>
        <p:txBody>
          <a:bodyPr/>
          <a:lstStyle/>
          <a:p>
            <a:r>
              <a:rPr lang="en-IN" dirty="0"/>
              <a:t>Development Principles of Cloud Native applications</a:t>
            </a:r>
            <a:endParaRPr lang="en-US" dirty="0"/>
          </a:p>
        </p:txBody>
      </p:sp>
      <p:sp>
        <p:nvSpPr>
          <p:cNvPr id="5" name="Content Placeholder 4">
            <a:extLst>
              <a:ext uri="{FF2B5EF4-FFF2-40B4-BE49-F238E27FC236}">
                <a16:creationId xmlns:a16="http://schemas.microsoft.com/office/drawing/2014/main" id="{5EC0B2E9-6D83-D1CE-998F-89BAE5C84EDD}"/>
              </a:ext>
            </a:extLst>
          </p:cNvPr>
          <p:cNvSpPr>
            <a:spLocks noGrp="1"/>
          </p:cNvSpPr>
          <p:nvPr>
            <p:ph idx="1"/>
          </p:nvPr>
        </p:nvSpPr>
        <p:spPr/>
        <p:txBody>
          <a:bodyPr/>
          <a:lstStyle/>
          <a:p>
            <a:r>
              <a:rPr lang="en-IN" dirty="0"/>
              <a:t>How to get succeeded in building Cloud Native Apps and what are the guiding principles that can be considered for the same ?</a:t>
            </a:r>
          </a:p>
          <a:p>
            <a:r>
              <a:rPr lang="en-IN" dirty="0"/>
              <a:t>The engineering team at Heroku cloud platform introduced the 15 factor mythology, a set of development principles aimed at guiding the design and construction of cloud-native applications.</a:t>
            </a:r>
          </a:p>
        </p:txBody>
      </p:sp>
    </p:spTree>
    <p:extLst>
      <p:ext uri="{BB962C8B-B14F-4D97-AF65-F5344CB8AC3E}">
        <p14:creationId xmlns:p14="http://schemas.microsoft.com/office/powerpoint/2010/main" val="1001712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863C7-8921-5E42-9728-FE1F1483076E}"/>
              </a:ext>
            </a:extLst>
          </p:cNvPr>
          <p:cNvSpPr>
            <a:spLocks noGrp="1"/>
          </p:cNvSpPr>
          <p:nvPr>
            <p:ph type="title"/>
          </p:nvPr>
        </p:nvSpPr>
        <p:spPr/>
        <p:txBody>
          <a:bodyPr/>
          <a:lstStyle/>
          <a:p>
            <a:r>
              <a:rPr lang="en-IN" dirty="0"/>
              <a:t>15 – Factor Methodology</a:t>
            </a:r>
            <a:endParaRPr lang="en-US" dirty="0"/>
          </a:p>
        </p:txBody>
      </p:sp>
      <p:sp>
        <p:nvSpPr>
          <p:cNvPr id="3" name="Content Placeholder 2">
            <a:extLst>
              <a:ext uri="{FF2B5EF4-FFF2-40B4-BE49-F238E27FC236}">
                <a16:creationId xmlns:a16="http://schemas.microsoft.com/office/drawing/2014/main" id="{C24F706F-33BC-0AB3-4549-D31B0186D0E5}"/>
              </a:ext>
            </a:extLst>
          </p:cNvPr>
          <p:cNvSpPr>
            <a:spLocks noGrp="1"/>
          </p:cNvSpPr>
          <p:nvPr>
            <p:ph sz="half" idx="1"/>
          </p:nvPr>
        </p:nvSpPr>
        <p:spPr/>
        <p:txBody>
          <a:bodyPr>
            <a:normAutofit lnSpcReduction="10000"/>
          </a:bodyPr>
          <a:lstStyle/>
          <a:p>
            <a:pPr marL="514350" indent="-514350">
              <a:buFont typeface="+mj-lt"/>
              <a:buAutoNum type="arabicPeriod"/>
            </a:pPr>
            <a:r>
              <a:rPr lang="en-IN" dirty="0"/>
              <a:t>One codebase, one application</a:t>
            </a:r>
          </a:p>
          <a:p>
            <a:pPr marL="514350" indent="-514350">
              <a:buFont typeface="+mj-lt"/>
              <a:buAutoNum type="arabicPeriod"/>
            </a:pPr>
            <a:r>
              <a:rPr lang="en-IN" dirty="0"/>
              <a:t>API First</a:t>
            </a:r>
          </a:p>
          <a:p>
            <a:pPr marL="514350" indent="-514350">
              <a:buFont typeface="+mj-lt"/>
              <a:buAutoNum type="arabicPeriod"/>
            </a:pPr>
            <a:r>
              <a:rPr lang="en-IN" dirty="0"/>
              <a:t>Dependency Management</a:t>
            </a:r>
          </a:p>
          <a:p>
            <a:pPr marL="514350" indent="-514350">
              <a:buFont typeface="+mj-lt"/>
              <a:buAutoNum type="arabicPeriod"/>
            </a:pPr>
            <a:r>
              <a:rPr lang="en-IN" dirty="0"/>
              <a:t>Design, build, release, run</a:t>
            </a:r>
          </a:p>
          <a:p>
            <a:pPr marL="514350" indent="-514350">
              <a:buFont typeface="+mj-lt"/>
              <a:buAutoNum type="arabicPeriod"/>
            </a:pPr>
            <a:r>
              <a:rPr lang="en-IN" dirty="0"/>
              <a:t>Configuration, Credentials &amp; Code</a:t>
            </a:r>
          </a:p>
          <a:p>
            <a:pPr marL="514350" indent="-514350">
              <a:buFont typeface="+mj-lt"/>
              <a:buAutoNum type="arabicPeriod"/>
            </a:pPr>
            <a:r>
              <a:rPr lang="en-IN" dirty="0"/>
              <a:t>Logs</a:t>
            </a:r>
          </a:p>
          <a:p>
            <a:pPr marL="514350" indent="-514350">
              <a:buFont typeface="+mj-lt"/>
              <a:buAutoNum type="arabicPeriod"/>
            </a:pPr>
            <a:r>
              <a:rPr lang="en-IN" dirty="0"/>
              <a:t>Disposability</a:t>
            </a:r>
          </a:p>
          <a:p>
            <a:pPr marL="514350" indent="-514350">
              <a:buFont typeface="+mj-lt"/>
              <a:buAutoNum type="arabicPeriod"/>
            </a:pPr>
            <a:r>
              <a:rPr lang="en-IN" dirty="0"/>
              <a:t>Backing Services</a:t>
            </a:r>
            <a:endParaRPr lang="en-US" dirty="0"/>
          </a:p>
        </p:txBody>
      </p:sp>
      <p:sp>
        <p:nvSpPr>
          <p:cNvPr id="4" name="Content Placeholder 3">
            <a:extLst>
              <a:ext uri="{FF2B5EF4-FFF2-40B4-BE49-F238E27FC236}">
                <a16:creationId xmlns:a16="http://schemas.microsoft.com/office/drawing/2014/main" id="{E6B2661B-3205-C43C-416D-70B6A8444BEF}"/>
              </a:ext>
            </a:extLst>
          </p:cNvPr>
          <p:cNvSpPr>
            <a:spLocks noGrp="1"/>
          </p:cNvSpPr>
          <p:nvPr>
            <p:ph sz="half" idx="2"/>
          </p:nvPr>
        </p:nvSpPr>
        <p:spPr/>
        <p:txBody>
          <a:bodyPr>
            <a:normAutofit lnSpcReduction="10000"/>
          </a:bodyPr>
          <a:lstStyle/>
          <a:p>
            <a:pPr marL="514350" indent="-514350">
              <a:buFont typeface="+mj-lt"/>
              <a:buAutoNum type="arabicPeriod" startAt="9"/>
            </a:pPr>
            <a:r>
              <a:rPr lang="en-IN" dirty="0"/>
              <a:t>Environment parity</a:t>
            </a:r>
          </a:p>
          <a:p>
            <a:pPr marL="514350" indent="-514350">
              <a:buFont typeface="+mj-lt"/>
              <a:buAutoNum type="arabicPeriod" startAt="9"/>
            </a:pPr>
            <a:r>
              <a:rPr lang="en-US" dirty="0"/>
              <a:t>Administrative processes</a:t>
            </a:r>
          </a:p>
          <a:p>
            <a:pPr marL="514350" indent="-514350">
              <a:buFont typeface="+mj-lt"/>
              <a:buAutoNum type="arabicPeriod" startAt="9"/>
            </a:pPr>
            <a:r>
              <a:rPr lang="en-US" dirty="0"/>
              <a:t>Port binding</a:t>
            </a:r>
          </a:p>
          <a:p>
            <a:pPr marL="514350" indent="-514350">
              <a:buFont typeface="+mj-lt"/>
              <a:buAutoNum type="arabicPeriod" startAt="9"/>
            </a:pPr>
            <a:r>
              <a:rPr lang="en-US" dirty="0"/>
              <a:t>Stateless processes</a:t>
            </a:r>
          </a:p>
          <a:p>
            <a:pPr marL="514350" indent="-514350">
              <a:buFont typeface="+mj-lt"/>
              <a:buAutoNum type="arabicPeriod" startAt="9"/>
            </a:pPr>
            <a:r>
              <a:rPr lang="en-US" dirty="0"/>
              <a:t>Concurrency</a:t>
            </a:r>
          </a:p>
          <a:p>
            <a:pPr marL="514350" indent="-514350">
              <a:buFont typeface="+mj-lt"/>
              <a:buAutoNum type="arabicPeriod" startAt="9"/>
            </a:pPr>
            <a:r>
              <a:rPr lang="en-US" dirty="0"/>
              <a:t>Telemetry</a:t>
            </a:r>
          </a:p>
          <a:p>
            <a:pPr marL="514350" indent="-514350">
              <a:buFont typeface="+mj-lt"/>
              <a:buAutoNum type="arabicPeriod" startAt="9"/>
            </a:pPr>
            <a:r>
              <a:rPr lang="en-US" dirty="0"/>
              <a:t>Authentication and authorization</a:t>
            </a:r>
          </a:p>
        </p:txBody>
      </p:sp>
    </p:spTree>
    <p:extLst>
      <p:ext uri="{BB962C8B-B14F-4D97-AF65-F5344CB8AC3E}">
        <p14:creationId xmlns:p14="http://schemas.microsoft.com/office/powerpoint/2010/main" val="3887436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21E75-D68F-432B-DC2C-C28A9E88540E}"/>
              </a:ext>
            </a:extLst>
          </p:cNvPr>
          <p:cNvSpPr>
            <a:spLocks noGrp="1"/>
          </p:cNvSpPr>
          <p:nvPr>
            <p:ph type="title"/>
          </p:nvPr>
        </p:nvSpPr>
        <p:spPr/>
        <p:txBody>
          <a:bodyPr/>
          <a:lstStyle/>
          <a:p>
            <a:r>
              <a:rPr lang="en-IN" dirty="0"/>
              <a:t>1. One codebase, one application</a:t>
            </a:r>
            <a:endParaRPr lang="en-US" dirty="0"/>
          </a:p>
        </p:txBody>
      </p:sp>
      <p:sp>
        <p:nvSpPr>
          <p:cNvPr id="3" name="Content Placeholder 2">
            <a:extLst>
              <a:ext uri="{FF2B5EF4-FFF2-40B4-BE49-F238E27FC236}">
                <a16:creationId xmlns:a16="http://schemas.microsoft.com/office/drawing/2014/main" id="{59C62095-F345-D525-87BC-B001942439F5}"/>
              </a:ext>
            </a:extLst>
          </p:cNvPr>
          <p:cNvSpPr>
            <a:spLocks noGrp="1"/>
          </p:cNvSpPr>
          <p:nvPr>
            <p:ph sz="half" idx="1"/>
          </p:nvPr>
        </p:nvSpPr>
        <p:spPr>
          <a:xfrm>
            <a:off x="838199" y="1825625"/>
            <a:ext cx="11005457" cy="4351338"/>
          </a:xfrm>
        </p:spPr>
        <p:txBody>
          <a:bodyPr>
            <a:normAutofit/>
          </a:bodyPr>
          <a:lstStyle/>
          <a:p>
            <a:pPr algn="just"/>
            <a:r>
              <a:rPr lang="en-IN" sz="2000" dirty="0"/>
              <a:t>The 15-Factor methodology ensures a one-to-one correspondence between an application and its codebase, meaning each application has a dedicated codebase.</a:t>
            </a:r>
          </a:p>
          <a:p>
            <a:pPr algn="just"/>
            <a:r>
              <a:rPr lang="en-IN" sz="2000" dirty="0"/>
              <a:t>Shared code is managed separately as a library, allowing it to be utilized as a dependency or as a standalone service, serving as a backing service for other applications.</a:t>
            </a:r>
          </a:p>
          <a:p>
            <a:pPr algn="just"/>
            <a:r>
              <a:rPr lang="en-IN" sz="2000" dirty="0"/>
              <a:t>It is possible to track each codebase in its own repository, providing flexibility and organization of codebase.</a:t>
            </a:r>
            <a:endParaRPr lang="en-US" sz="2000" dirty="0"/>
          </a:p>
        </p:txBody>
      </p:sp>
      <p:pic>
        <p:nvPicPr>
          <p:cNvPr id="6" name="Content Placeholder 5">
            <a:extLst>
              <a:ext uri="{FF2B5EF4-FFF2-40B4-BE49-F238E27FC236}">
                <a16:creationId xmlns:a16="http://schemas.microsoft.com/office/drawing/2014/main" id="{6937458F-A72E-F920-929D-7B0BC3DB9D6F}"/>
              </a:ext>
            </a:extLst>
          </p:cNvPr>
          <p:cNvPicPr>
            <a:picLocks noGrp="1" noChangeAspect="1"/>
          </p:cNvPicPr>
          <p:nvPr>
            <p:ph sz="half" idx="2"/>
          </p:nvPr>
        </p:nvPicPr>
        <p:blipFill>
          <a:blip r:embed="rId2"/>
          <a:stretch>
            <a:fillRect/>
          </a:stretch>
        </p:blipFill>
        <p:spPr>
          <a:xfrm>
            <a:off x="2758441" y="3915870"/>
            <a:ext cx="5181600" cy="2396030"/>
          </a:xfrm>
          <a:prstGeom prst="rect">
            <a:avLst/>
          </a:prstGeom>
        </p:spPr>
      </p:pic>
    </p:spTree>
    <p:extLst>
      <p:ext uri="{BB962C8B-B14F-4D97-AF65-F5344CB8AC3E}">
        <p14:creationId xmlns:p14="http://schemas.microsoft.com/office/powerpoint/2010/main" val="329758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F8F10-43C8-B8B5-C05C-C17954284745}"/>
              </a:ext>
            </a:extLst>
          </p:cNvPr>
          <p:cNvSpPr>
            <a:spLocks noGrp="1"/>
          </p:cNvSpPr>
          <p:nvPr>
            <p:ph type="title"/>
          </p:nvPr>
        </p:nvSpPr>
        <p:spPr/>
        <p:txBody>
          <a:bodyPr/>
          <a:lstStyle/>
          <a:p>
            <a:r>
              <a:rPr lang="en-GB" dirty="0"/>
              <a:t>2. API First</a:t>
            </a:r>
            <a:endParaRPr lang="en-US" dirty="0"/>
          </a:p>
        </p:txBody>
      </p:sp>
      <p:sp>
        <p:nvSpPr>
          <p:cNvPr id="3" name="Content Placeholder 2">
            <a:extLst>
              <a:ext uri="{FF2B5EF4-FFF2-40B4-BE49-F238E27FC236}">
                <a16:creationId xmlns:a16="http://schemas.microsoft.com/office/drawing/2014/main" id="{29437D4E-8671-0217-2869-DEAF1EC2886A}"/>
              </a:ext>
            </a:extLst>
          </p:cNvPr>
          <p:cNvSpPr>
            <a:spLocks noGrp="1"/>
          </p:cNvSpPr>
          <p:nvPr>
            <p:ph idx="1"/>
          </p:nvPr>
        </p:nvSpPr>
        <p:spPr/>
        <p:txBody>
          <a:bodyPr>
            <a:normAutofit/>
          </a:bodyPr>
          <a:lstStyle/>
          <a:p>
            <a:r>
              <a:rPr lang="en-GB" sz="2000" dirty="0"/>
              <a:t>In a cloud-native ecosystem, a typical setup consists of various services that interact through APIs. </a:t>
            </a:r>
          </a:p>
          <a:p>
            <a:r>
              <a:rPr lang="en-GB" sz="2000" dirty="0"/>
              <a:t>Adopting an API-First approach during the design phase of a cloud-native application encourages a mindset aligned with distributed systems and promotes the division of work among multiple teams.</a:t>
            </a:r>
          </a:p>
          <a:p>
            <a:r>
              <a:rPr lang="en-GB" sz="2000" dirty="0"/>
              <a:t>Designing the API as a priority allows other teams to build their solutions based on that API when using application as backing service.</a:t>
            </a:r>
            <a:endParaRPr lang="en-US" sz="2000" dirty="0"/>
          </a:p>
        </p:txBody>
      </p:sp>
      <p:pic>
        <p:nvPicPr>
          <p:cNvPr id="5" name="Picture 4">
            <a:extLst>
              <a:ext uri="{FF2B5EF4-FFF2-40B4-BE49-F238E27FC236}">
                <a16:creationId xmlns:a16="http://schemas.microsoft.com/office/drawing/2014/main" id="{6EBB5A24-FC14-166D-DD52-6567C2989DBD}"/>
              </a:ext>
            </a:extLst>
          </p:cNvPr>
          <p:cNvPicPr>
            <a:picLocks noChangeAspect="1"/>
          </p:cNvPicPr>
          <p:nvPr/>
        </p:nvPicPr>
        <p:blipFill>
          <a:blip r:embed="rId2"/>
          <a:stretch>
            <a:fillRect/>
          </a:stretch>
        </p:blipFill>
        <p:spPr>
          <a:xfrm>
            <a:off x="4224661" y="3770811"/>
            <a:ext cx="3080735" cy="2973977"/>
          </a:xfrm>
          <a:prstGeom prst="rect">
            <a:avLst/>
          </a:prstGeom>
        </p:spPr>
      </p:pic>
    </p:spTree>
    <p:extLst>
      <p:ext uri="{BB962C8B-B14F-4D97-AF65-F5344CB8AC3E}">
        <p14:creationId xmlns:p14="http://schemas.microsoft.com/office/powerpoint/2010/main" val="2050339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D7AC-1063-EB34-C60B-2DD3635CE8CC}"/>
              </a:ext>
            </a:extLst>
          </p:cNvPr>
          <p:cNvSpPr>
            <a:spLocks noGrp="1"/>
          </p:cNvSpPr>
          <p:nvPr>
            <p:ph type="title"/>
          </p:nvPr>
        </p:nvSpPr>
        <p:spPr/>
        <p:txBody>
          <a:bodyPr/>
          <a:lstStyle/>
          <a:p>
            <a:r>
              <a:rPr lang="en-GB" dirty="0"/>
              <a:t>3. Dependency Management</a:t>
            </a:r>
            <a:endParaRPr lang="en-US" dirty="0"/>
          </a:p>
        </p:txBody>
      </p:sp>
      <p:sp>
        <p:nvSpPr>
          <p:cNvPr id="3" name="Content Placeholder 2">
            <a:extLst>
              <a:ext uri="{FF2B5EF4-FFF2-40B4-BE49-F238E27FC236}">
                <a16:creationId xmlns:a16="http://schemas.microsoft.com/office/drawing/2014/main" id="{ED126739-EBC7-6C32-4F7E-0AA8E7062A41}"/>
              </a:ext>
            </a:extLst>
          </p:cNvPr>
          <p:cNvSpPr>
            <a:spLocks noGrp="1"/>
          </p:cNvSpPr>
          <p:nvPr>
            <p:ph idx="1"/>
          </p:nvPr>
        </p:nvSpPr>
        <p:spPr/>
        <p:txBody>
          <a:bodyPr>
            <a:normAutofit/>
          </a:bodyPr>
          <a:lstStyle/>
          <a:p>
            <a:r>
              <a:rPr lang="en-GB" sz="2000" dirty="0"/>
              <a:t>Its is crucial to explicitly declare all dependencies of an application in a manifest and ensure that they are accessible to the dependency manager, which can download them from a central repository</a:t>
            </a:r>
            <a:endParaRPr lang="en-US" sz="2000" dirty="0"/>
          </a:p>
        </p:txBody>
      </p:sp>
      <p:pic>
        <p:nvPicPr>
          <p:cNvPr id="5" name="Picture 4">
            <a:extLst>
              <a:ext uri="{FF2B5EF4-FFF2-40B4-BE49-F238E27FC236}">
                <a16:creationId xmlns:a16="http://schemas.microsoft.com/office/drawing/2014/main" id="{B9B76E75-5FA8-EF8B-1B28-174B2F6C3719}"/>
              </a:ext>
            </a:extLst>
          </p:cNvPr>
          <p:cNvPicPr>
            <a:picLocks noChangeAspect="1"/>
          </p:cNvPicPr>
          <p:nvPr/>
        </p:nvPicPr>
        <p:blipFill>
          <a:blip r:embed="rId2"/>
          <a:stretch>
            <a:fillRect/>
          </a:stretch>
        </p:blipFill>
        <p:spPr>
          <a:xfrm>
            <a:off x="2002971" y="3069772"/>
            <a:ext cx="8544497" cy="3684814"/>
          </a:xfrm>
          <a:prstGeom prst="rect">
            <a:avLst/>
          </a:prstGeom>
        </p:spPr>
      </p:pic>
    </p:spTree>
    <p:extLst>
      <p:ext uri="{BB962C8B-B14F-4D97-AF65-F5344CB8AC3E}">
        <p14:creationId xmlns:p14="http://schemas.microsoft.com/office/powerpoint/2010/main" val="1686367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6D744-6EEA-D0F2-D59F-1B0556BA4CAB}"/>
              </a:ext>
            </a:extLst>
          </p:cNvPr>
          <p:cNvSpPr>
            <a:spLocks noGrp="1"/>
          </p:cNvSpPr>
          <p:nvPr>
            <p:ph type="title"/>
          </p:nvPr>
        </p:nvSpPr>
        <p:spPr/>
        <p:txBody>
          <a:bodyPr/>
          <a:lstStyle/>
          <a:p>
            <a:r>
              <a:rPr lang="en-GB" dirty="0"/>
              <a:t>4. Design, build, release, run</a:t>
            </a:r>
            <a:endParaRPr lang="en-US" dirty="0"/>
          </a:p>
        </p:txBody>
      </p:sp>
      <p:sp>
        <p:nvSpPr>
          <p:cNvPr id="3" name="Content Placeholder 2">
            <a:extLst>
              <a:ext uri="{FF2B5EF4-FFF2-40B4-BE49-F238E27FC236}">
                <a16:creationId xmlns:a16="http://schemas.microsoft.com/office/drawing/2014/main" id="{B249A3AC-ABC6-758C-BA55-67908B6BA568}"/>
              </a:ext>
            </a:extLst>
          </p:cNvPr>
          <p:cNvSpPr>
            <a:spLocks noGrp="1"/>
          </p:cNvSpPr>
          <p:nvPr>
            <p:ph sz="half" idx="1"/>
          </p:nvPr>
        </p:nvSpPr>
        <p:spPr/>
        <p:txBody>
          <a:bodyPr/>
          <a:lstStyle/>
          <a:p>
            <a:r>
              <a:rPr lang="en-GB" dirty="0"/>
              <a:t>Codebase progression from design to production deployment involves below stages</a:t>
            </a:r>
          </a:p>
          <a:p>
            <a:pPr lvl="1"/>
            <a:r>
              <a:rPr lang="en-GB" dirty="0"/>
              <a:t>Design Stage</a:t>
            </a:r>
          </a:p>
          <a:p>
            <a:pPr lvl="1"/>
            <a:r>
              <a:rPr lang="en-GB" dirty="0"/>
              <a:t>Build Stage</a:t>
            </a:r>
          </a:p>
          <a:p>
            <a:pPr lvl="1"/>
            <a:r>
              <a:rPr lang="en-GB" dirty="0"/>
              <a:t>Release Stage</a:t>
            </a:r>
          </a:p>
          <a:p>
            <a:pPr lvl="1"/>
            <a:r>
              <a:rPr lang="en-GB" dirty="0"/>
              <a:t>Run Stage</a:t>
            </a:r>
            <a:endParaRPr lang="en-US" dirty="0"/>
          </a:p>
        </p:txBody>
      </p:sp>
      <p:pic>
        <p:nvPicPr>
          <p:cNvPr id="8" name="Content Placeholder 7">
            <a:extLst>
              <a:ext uri="{FF2B5EF4-FFF2-40B4-BE49-F238E27FC236}">
                <a16:creationId xmlns:a16="http://schemas.microsoft.com/office/drawing/2014/main" id="{775961D6-997D-8622-C0BD-6FD2E24FB974}"/>
              </a:ext>
            </a:extLst>
          </p:cNvPr>
          <p:cNvPicPr>
            <a:picLocks noGrp="1" noChangeAspect="1"/>
          </p:cNvPicPr>
          <p:nvPr>
            <p:ph sz="half" idx="2"/>
          </p:nvPr>
        </p:nvPicPr>
        <p:blipFill>
          <a:blip r:embed="rId2"/>
          <a:stretch>
            <a:fillRect/>
          </a:stretch>
        </p:blipFill>
        <p:spPr>
          <a:xfrm>
            <a:off x="6172200" y="1959480"/>
            <a:ext cx="5181600" cy="4083627"/>
          </a:xfrm>
          <a:prstGeom prst="rect">
            <a:avLst/>
          </a:prstGeom>
        </p:spPr>
      </p:pic>
    </p:spTree>
    <p:extLst>
      <p:ext uri="{BB962C8B-B14F-4D97-AF65-F5344CB8AC3E}">
        <p14:creationId xmlns:p14="http://schemas.microsoft.com/office/powerpoint/2010/main" val="707949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FBA38-0ED8-C880-46EC-E8C570E4D7C9}"/>
              </a:ext>
            </a:extLst>
          </p:cNvPr>
          <p:cNvSpPr>
            <a:spLocks noGrp="1"/>
          </p:cNvSpPr>
          <p:nvPr>
            <p:ph type="title"/>
          </p:nvPr>
        </p:nvSpPr>
        <p:spPr/>
        <p:txBody>
          <a:bodyPr/>
          <a:lstStyle/>
          <a:p>
            <a:r>
              <a:rPr lang="en-GB" dirty="0"/>
              <a:t>4. Design, build, release, run</a:t>
            </a:r>
            <a:endParaRPr lang="en-US" dirty="0"/>
          </a:p>
        </p:txBody>
      </p:sp>
      <p:sp>
        <p:nvSpPr>
          <p:cNvPr id="3" name="Content Placeholder 2">
            <a:extLst>
              <a:ext uri="{FF2B5EF4-FFF2-40B4-BE49-F238E27FC236}">
                <a16:creationId xmlns:a16="http://schemas.microsoft.com/office/drawing/2014/main" id="{437C6E30-83EE-5072-82E4-76244E3DF30C}"/>
              </a:ext>
            </a:extLst>
          </p:cNvPr>
          <p:cNvSpPr>
            <a:spLocks noGrp="1"/>
          </p:cNvSpPr>
          <p:nvPr>
            <p:ph idx="1"/>
          </p:nvPr>
        </p:nvSpPr>
        <p:spPr/>
        <p:txBody>
          <a:bodyPr>
            <a:normAutofit fontScale="92500"/>
          </a:bodyPr>
          <a:lstStyle/>
          <a:p>
            <a:r>
              <a:rPr lang="en-GB" dirty="0"/>
              <a:t>Design State</a:t>
            </a:r>
          </a:p>
          <a:p>
            <a:pPr lvl="1"/>
            <a:r>
              <a:rPr lang="en-GB" dirty="0"/>
              <a:t>Determine technologies, dependencies and tools for specific application feature</a:t>
            </a:r>
          </a:p>
          <a:p>
            <a:r>
              <a:rPr lang="en-GB" dirty="0"/>
              <a:t>Build Stage</a:t>
            </a:r>
          </a:p>
          <a:p>
            <a:pPr lvl="1"/>
            <a:r>
              <a:rPr lang="en-GB" dirty="0"/>
              <a:t>Compile and package the codebase with dependencies, creating an immutable artifact(build)</a:t>
            </a:r>
          </a:p>
          <a:p>
            <a:r>
              <a:rPr lang="en-GB" dirty="0"/>
              <a:t>Release Stage</a:t>
            </a:r>
          </a:p>
          <a:p>
            <a:pPr lvl="1"/>
            <a:r>
              <a:rPr lang="en-GB" dirty="0"/>
              <a:t>Combine the build with a specific deployment configuration. Each release is immutable and uniquely identifiable, such as through semantic versioning.</a:t>
            </a:r>
          </a:p>
          <a:p>
            <a:r>
              <a:rPr lang="en-GB" dirty="0"/>
              <a:t>Run State </a:t>
            </a:r>
          </a:p>
          <a:p>
            <a:pPr lvl="1"/>
            <a:r>
              <a:rPr lang="en-GB" dirty="0"/>
              <a:t>Execute the application in the designated runtime environment using a specific release.</a:t>
            </a:r>
            <a:endParaRPr lang="en-US" dirty="0"/>
          </a:p>
        </p:txBody>
      </p:sp>
    </p:spTree>
    <p:extLst>
      <p:ext uri="{BB962C8B-B14F-4D97-AF65-F5344CB8AC3E}">
        <p14:creationId xmlns:p14="http://schemas.microsoft.com/office/powerpoint/2010/main" val="3737361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2EBE6-AC71-95E3-C0D9-9E2798F0288B}"/>
              </a:ext>
            </a:extLst>
          </p:cNvPr>
          <p:cNvSpPr>
            <a:spLocks noGrp="1"/>
          </p:cNvSpPr>
          <p:nvPr>
            <p:ph type="title"/>
          </p:nvPr>
        </p:nvSpPr>
        <p:spPr/>
        <p:txBody>
          <a:bodyPr/>
          <a:lstStyle/>
          <a:p>
            <a:r>
              <a:rPr lang="en-GB" dirty="0"/>
              <a:t>5. Configuration, Credentials &amp; Code</a:t>
            </a:r>
            <a:endParaRPr lang="en-US" dirty="0"/>
          </a:p>
        </p:txBody>
      </p:sp>
      <p:sp>
        <p:nvSpPr>
          <p:cNvPr id="3" name="Content Placeholder 2">
            <a:extLst>
              <a:ext uri="{FF2B5EF4-FFF2-40B4-BE49-F238E27FC236}">
                <a16:creationId xmlns:a16="http://schemas.microsoft.com/office/drawing/2014/main" id="{D12129F7-A883-B65C-F45C-915B0E206BE0}"/>
              </a:ext>
            </a:extLst>
          </p:cNvPr>
          <p:cNvSpPr>
            <a:spLocks noGrp="1"/>
          </p:cNvSpPr>
          <p:nvPr>
            <p:ph idx="1"/>
          </p:nvPr>
        </p:nvSpPr>
        <p:spPr/>
        <p:txBody>
          <a:bodyPr>
            <a:normAutofit/>
          </a:bodyPr>
          <a:lstStyle/>
          <a:p>
            <a:r>
              <a:rPr lang="en-GB" sz="2000" dirty="0"/>
              <a:t>According to the 15 Factor methodology, configuration encompasses all elements prone to change between deployments.</a:t>
            </a:r>
          </a:p>
          <a:p>
            <a:r>
              <a:rPr lang="en-GB" sz="2000" dirty="0"/>
              <a:t>It emphasizes the ability to modify application configuration independently, without code changes or need to rebuild the application.</a:t>
            </a:r>
          </a:p>
          <a:p>
            <a:r>
              <a:rPr lang="en-GB" sz="2000" dirty="0"/>
              <a:t>Configuration may include resource handles for backing services, credentials for accessing third party APIs and feature flags.</a:t>
            </a:r>
          </a:p>
          <a:p>
            <a:r>
              <a:rPr lang="en-GB" sz="2000" dirty="0"/>
              <a:t>It is essential to evaluate whether any confidential or environmental or environment-specific information would be at risk if the codebase were exposed publicly.</a:t>
            </a:r>
          </a:p>
          <a:p>
            <a:r>
              <a:rPr lang="en-GB" sz="2000" dirty="0"/>
              <a:t>This configuration ensures proper externalization of configuration.</a:t>
            </a:r>
            <a:endParaRPr lang="en-US" sz="2000" dirty="0"/>
          </a:p>
        </p:txBody>
      </p:sp>
      <p:pic>
        <p:nvPicPr>
          <p:cNvPr id="7" name="Picture 6">
            <a:extLst>
              <a:ext uri="{FF2B5EF4-FFF2-40B4-BE49-F238E27FC236}">
                <a16:creationId xmlns:a16="http://schemas.microsoft.com/office/drawing/2014/main" id="{3EBC4A9C-7F72-6CCA-9E1E-85EC804D61BC}"/>
              </a:ext>
            </a:extLst>
          </p:cNvPr>
          <p:cNvPicPr>
            <a:picLocks noChangeAspect="1"/>
          </p:cNvPicPr>
          <p:nvPr/>
        </p:nvPicPr>
        <p:blipFill>
          <a:blip r:embed="rId2"/>
          <a:stretch>
            <a:fillRect/>
          </a:stretch>
        </p:blipFill>
        <p:spPr>
          <a:xfrm>
            <a:off x="2103120" y="4879580"/>
            <a:ext cx="6953794" cy="1865927"/>
          </a:xfrm>
          <a:prstGeom prst="rect">
            <a:avLst/>
          </a:prstGeom>
        </p:spPr>
      </p:pic>
    </p:spTree>
    <p:extLst>
      <p:ext uri="{BB962C8B-B14F-4D97-AF65-F5344CB8AC3E}">
        <p14:creationId xmlns:p14="http://schemas.microsoft.com/office/powerpoint/2010/main" val="2275499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FE07-E276-384C-C63D-4387A6CA8C43}"/>
              </a:ext>
            </a:extLst>
          </p:cNvPr>
          <p:cNvSpPr>
            <a:spLocks noGrp="1"/>
          </p:cNvSpPr>
          <p:nvPr>
            <p:ph type="title"/>
          </p:nvPr>
        </p:nvSpPr>
        <p:spPr/>
        <p:txBody>
          <a:bodyPr/>
          <a:lstStyle/>
          <a:p>
            <a:r>
              <a:rPr lang="en-GB" dirty="0"/>
              <a:t>6. Logs</a:t>
            </a:r>
            <a:endParaRPr lang="en-US" dirty="0"/>
          </a:p>
        </p:txBody>
      </p:sp>
      <p:sp>
        <p:nvSpPr>
          <p:cNvPr id="3" name="Content Placeholder 2">
            <a:extLst>
              <a:ext uri="{FF2B5EF4-FFF2-40B4-BE49-F238E27FC236}">
                <a16:creationId xmlns:a16="http://schemas.microsoft.com/office/drawing/2014/main" id="{9A9927DF-1B2D-9F6F-3CF3-5695FFADE08A}"/>
              </a:ext>
            </a:extLst>
          </p:cNvPr>
          <p:cNvSpPr>
            <a:spLocks noGrp="1"/>
          </p:cNvSpPr>
          <p:nvPr>
            <p:ph idx="1"/>
          </p:nvPr>
        </p:nvSpPr>
        <p:spPr/>
        <p:txBody>
          <a:bodyPr>
            <a:normAutofit/>
          </a:bodyPr>
          <a:lstStyle/>
          <a:p>
            <a:r>
              <a:rPr lang="en-GB" sz="2000" dirty="0"/>
              <a:t>In a cloud-native application, log routing and storage are not the application’s concern.</a:t>
            </a:r>
          </a:p>
          <a:p>
            <a:r>
              <a:rPr lang="en-GB" sz="2000" dirty="0"/>
              <a:t>Instead, applications should direct their logs to the standard output, treating them as sequentially ordered events based on time.</a:t>
            </a:r>
          </a:p>
          <a:p>
            <a:r>
              <a:rPr lang="en-GB" sz="2000" dirty="0"/>
              <a:t>The responsibility of log storage and rotation is now shifted to an external tool, known as a log aggregator.</a:t>
            </a:r>
          </a:p>
          <a:p>
            <a:endParaRPr lang="en-US" sz="2000" dirty="0"/>
          </a:p>
        </p:txBody>
      </p:sp>
      <p:pic>
        <p:nvPicPr>
          <p:cNvPr id="5" name="Picture 4">
            <a:extLst>
              <a:ext uri="{FF2B5EF4-FFF2-40B4-BE49-F238E27FC236}">
                <a16:creationId xmlns:a16="http://schemas.microsoft.com/office/drawing/2014/main" id="{915340F4-AA41-5A12-B64C-A62623F7C0DA}"/>
              </a:ext>
            </a:extLst>
          </p:cNvPr>
          <p:cNvPicPr>
            <a:picLocks noChangeAspect="1"/>
          </p:cNvPicPr>
          <p:nvPr/>
        </p:nvPicPr>
        <p:blipFill>
          <a:blip r:embed="rId2"/>
          <a:stretch>
            <a:fillRect/>
          </a:stretch>
        </p:blipFill>
        <p:spPr>
          <a:xfrm>
            <a:off x="2355668" y="3613589"/>
            <a:ext cx="8599714" cy="2731081"/>
          </a:xfrm>
          <a:prstGeom prst="rect">
            <a:avLst/>
          </a:prstGeom>
        </p:spPr>
      </p:pic>
    </p:spTree>
    <p:extLst>
      <p:ext uri="{BB962C8B-B14F-4D97-AF65-F5344CB8AC3E}">
        <p14:creationId xmlns:p14="http://schemas.microsoft.com/office/powerpoint/2010/main" val="153451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A44-BF23-DB1E-CB7E-868B49A3FC88}"/>
              </a:ext>
            </a:extLst>
          </p:cNvPr>
          <p:cNvSpPr>
            <a:spLocks noGrp="1"/>
          </p:cNvSpPr>
          <p:nvPr>
            <p:ph type="title"/>
          </p:nvPr>
        </p:nvSpPr>
        <p:spPr/>
        <p:txBody>
          <a:bodyPr/>
          <a:lstStyle/>
          <a:p>
            <a:r>
              <a:rPr lang="en-GB" dirty="0"/>
              <a:t>7. Disposability</a:t>
            </a:r>
            <a:endParaRPr lang="en-US" dirty="0"/>
          </a:p>
        </p:txBody>
      </p:sp>
      <p:sp>
        <p:nvSpPr>
          <p:cNvPr id="3" name="Content Placeholder 2">
            <a:extLst>
              <a:ext uri="{FF2B5EF4-FFF2-40B4-BE49-F238E27FC236}">
                <a16:creationId xmlns:a16="http://schemas.microsoft.com/office/drawing/2014/main" id="{75C1AA42-9B42-132D-C5E7-B7B2527731E3}"/>
              </a:ext>
            </a:extLst>
          </p:cNvPr>
          <p:cNvSpPr>
            <a:spLocks noGrp="1"/>
          </p:cNvSpPr>
          <p:nvPr>
            <p:ph sz="half" idx="1"/>
          </p:nvPr>
        </p:nvSpPr>
        <p:spPr/>
        <p:txBody>
          <a:bodyPr>
            <a:normAutofit/>
          </a:bodyPr>
          <a:lstStyle/>
          <a:p>
            <a:r>
              <a:rPr lang="en-GB" sz="2000" dirty="0"/>
              <a:t>This concept is referred to as application disposability, When applications can be started or stopped as needed</a:t>
            </a:r>
            <a:r>
              <a:rPr lang="en-US" sz="2000" dirty="0"/>
              <a:t>.</a:t>
            </a:r>
          </a:p>
          <a:p>
            <a:r>
              <a:rPr lang="en-US" sz="2000" dirty="0"/>
              <a:t>Docker containers along with an orchestrator Kubernetes inherently satisfy this requirement.</a:t>
            </a:r>
            <a:endParaRPr lang="en-GB" sz="2000" dirty="0"/>
          </a:p>
        </p:txBody>
      </p:sp>
      <p:pic>
        <p:nvPicPr>
          <p:cNvPr id="9" name="Content Placeholder 8">
            <a:extLst>
              <a:ext uri="{FF2B5EF4-FFF2-40B4-BE49-F238E27FC236}">
                <a16:creationId xmlns:a16="http://schemas.microsoft.com/office/drawing/2014/main" id="{BA1979E2-4765-5C53-3BD3-B294E0B3A80D}"/>
              </a:ext>
            </a:extLst>
          </p:cNvPr>
          <p:cNvPicPr>
            <a:picLocks noGrp="1" noChangeAspect="1"/>
          </p:cNvPicPr>
          <p:nvPr>
            <p:ph sz="half" idx="2"/>
          </p:nvPr>
        </p:nvPicPr>
        <p:blipFill>
          <a:blip r:embed="rId2"/>
          <a:stretch>
            <a:fillRect/>
          </a:stretch>
        </p:blipFill>
        <p:spPr>
          <a:xfrm>
            <a:off x="6172200" y="2176297"/>
            <a:ext cx="5181600" cy="3649994"/>
          </a:xfrm>
          <a:prstGeom prst="rect">
            <a:avLst/>
          </a:prstGeom>
        </p:spPr>
      </p:pic>
    </p:spTree>
    <p:extLst>
      <p:ext uri="{BB962C8B-B14F-4D97-AF65-F5344CB8AC3E}">
        <p14:creationId xmlns:p14="http://schemas.microsoft.com/office/powerpoint/2010/main" val="735560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BB615-F1BF-E6B5-59B4-1C1CE7EDF2C2}"/>
              </a:ext>
            </a:extLst>
          </p:cNvPr>
          <p:cNvSpPr>
            <a:spLocks noGrp="1"/>
          </p:cNvSpPr>
          <p:nvPr>
            <p:ph type="title"/>
          </p:nvPr>
        </p:nvSpPr>
        <p:spPr/>
        <p:txBody>
          <a:bodyPr/>
          <a:lstStyle/>
          <a:p>
            <a:r>
              <a:rPr lang="en-GB" dirty="0"/>
              <a:t>8. Backing Services	</a:t>
            </a:r>
            <a:endParaRPr lang="en-US" dirty="0"/>
          </a:p>
        </p:txBody>
      </p:sp>
      <p:sp>
        <p:nvSpPr>
          <p:cNvPr id="3" name="Content Placeholder 2">
            <a:extLst>
              <a:ext uri="{FF2B5EF4-FFF2-40B4-BE49-F238E27FC236}">
                <a16:creationId xmlns:a16="http://schemas.microsoft.com/office/drawing/2014/main" id="{42A04F06-BEE5-4A73-5EDA-4C2BE0A69D71}"/>
              </a:ext>
            </a:extLst>
          </p:cNvPr>
          <p:cNvSpPr>
            <a:spLocks noGrp="1"/>
          </p:cNvSpPr>
          <p:nvPr>
            <p:ph sz="half" idx="1"/>
          </p:nvPr>
        </p:nvSpPr>
        <p:spPr>
          <a:xfrm>
            <a:off x="838200" y="1825625"/>
            <a:ext cx="6564086" cy="4351338"/>
          </a:xfrm>
        </p:spPr>
        <p:txBody>
          <a:bodyPr>
            <a:normAutofit/>
          </a:bodyPr>
          <a:lstStyle/>
          <a:p>
            <a:r>
              <a:rPr lang="en-GB" sz="2000" dirty="0"/>
              <a:t>Backing services refer to  external resources that an application relies on to provide its functionality.</a:t>
            </a:r>
          </a:p>
          <a:p>
            <a:r>
              <a:rPr lang="en-GB" sz="2000" dirty="0"/>
              <a:t>These resources can include databases, message brokers, caching systems, SMTP services, FTP servers and RESTful web services.</a:t>
            </a:r>
          </a:p>
          <a:p>
            <a:r>
              <a:rPr lang="en-GB" sz="2000" dirty="0"/>
              <a:t>By treating these services as attached resources, you can modify or replace them without needing to make changes to the application code.</a:t>
            </a:r>
            <a:endParaRPr lang="en-US" sz="2000" dirty="0"/>
          </a:p>
        </p:txBody>
      </p:sp>
      <p:pic>
        <p:nvPicPr>
          <p:cNvPr id="6" name="Content Placeholder 5">
            <a:extLst>
              <a:ext uri="{FF2B5EF4-FFF2-40B4-BE49-F238E27FC236}">
                <a16:creationId xmlns:a16="http://schemas.microsoft.com/office/drawing/2014/main" id="{4967B68D-4620-C937-147C-A4CA75D41910}"/>
              </a:ext>
            </a:extLst>
          </p:cNvPr>
          <p:cNvPicPr>
            <a:picLocks noGrp="1" noChangeAspect="1"/>
          </p:cNvPicPr>
          <p:nvPr>
            <p:ph sz="half" idx="2"/>
          </p:nvPr>
        </p:nvPicPr>
        <p:blipFill>
          <a:blip r:embed="rId2"/>
          <a:stretch>
            <a:fillRect/>
          </a:stretch>
        </p:blipFill>
        <p:spPr>
          <a:xfrm>
            <a:off x="7559040" y="1825625"/>
            <a:ext cx="3408734" cy="3363735"/>
          </a:xfrm>
          <a:prstGeom prst="rect">
            <a:avLst/>
          </a:prstGeom>
        </p:spPr>
      </p:pic>
    </p:spTree>
    <p:extLst>
      <p:ext uri="{BB962C8B-B14F-4D97-AF65-F5344CB8AC3E}">
        <p14:creationId xmlns:p14="http://schemas.microsoft.com/office/powerpoint/2010/main" val="3882945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0BA7B-1B50-7310-FE85-F8E48A7A0D68}"/>
              </a:ext>
            </a:extLst>
          </p:cNvPr>
          <p:cNvSpPr>
            <a:spLocks noGrp="1"/>
          </p:cNvSpPr>
          <p:nvPr>
            <p:ph type="title"/>
          </p:nvPr>
        </p:nvSpPr>
        <p:spPr/>
        <p:txBody>
          <a:bodyPr/>
          <a:lstStyle/>
          <a:p>
            <a:r>
              <a:rPr lang="en-GB" dirty="0"/>
              <a:t>9. Environment Parity</a:t>
            </a:r>
            <a:endParaRPr lang="en-US" dirty="0"/>
          </a:p>
        </p:txBody>
      </p:sp>
      <p:sp>
        <p:nvSpPr>
          <p:cNvPr id="3" name="Content Placeholder 2">
            <a:extLst>
              <a:ext uri="{FF2B5EF4-FFF2-40B4-BE49-F238E27FC236}">
                <a16:creationId xmlns:a16="http://schemas.microsoft.com/office/drawing/2014/main" id="{3C34EAC3-088B-470D-F7CF-3E40C5B261E1}"/>
              </a:ext>
            </a:extLst>
          </p:cNvPr>
          <p:cNvSpPr>
            <a:spLocks noGrp="1"/>
          </p:cNvSpPr>
          <p:nvPr>
            <p:ph idx="1"/>
          </p:nvPr>
        </p:nvSpPr>
        <p:spPr/>
        <p:txBody>
          <a:bodyPr>
            <a:normAutofit/>
          </a:bodyPr>
          <a:lstStyle/>
          <a:p>
            <a:r>
              <a:rPr lang="en-GB" dirty="0"/>
              <a:t>Environment parity aims to minimize difference between various environments and avoiding costly shortcuts. </a:t>
            </a:r>
          </a:p>
          <a:p>
            <a:r>
              <a:rPr lang="en-GB" dirty="0"/>
              <a:t>Here are the adoption of containers can greatly contribute by promoting the same execution environment.</a:t>
            </a:r>
          </a:p>
          <a:p>
            <a:r>
              <a:rPr lang="en-GB" dirty="0"/>
              <a:t>There are three gap that this factor addresses</a:t>
            </a:r>
          </a:p>
          <a:p>
            <a:pPr lvl="1"/>
            <a:r>
              <a:rPr lang="en-GB" dirty="0"/>
              <a:t>Time gap</a:t>
            </a:r>
          </a:p>
          <a:p>
            <a:pPr lvl="1"/>
            <a:r>
              <a:rPr lang="en-GB" dirty="0"/>
              <a:t>People gap</a:t>
            </a:r>
          </a:p>
          <a:p>
            <a:pPr lvl="1"/>
            <a:r>
              <a:rPr lang="en-GB" dirty="0"/>
              <a:t>Tools gap</a:t>
            </a:r>
          </a:p>
        </p:txBody>
      </p:sp>
      <p:pic>
        <p:nvPicPr>
          <p:cNvPr id="5" name="Picture 4">
            <a:extLst>
              <a:ext uri="{FF2B5EF4-FFF2-40B4-BE49-F238E27FC236}">
                <a16:creationId xmlns:a16="http://schemas.microsoft.com/office/drawing/2014/main" id="{FF7A4E11-3701-4C3B-7A8E-CBD005F881F3}"/>
              </a:ext>
            </a:extLst>
          </p:cNvPr>
          <p:cNvPicPr>
            <a:picLocks noChangeAspect="1"/>
          </p:cNvPicPr>
          <p:nvPr/>
        </p:nvPicPr>
        <p:blipFill>
          <a:blip r:embed="rId2"/>
          <a:stretch>
            <a:fillRect/>
          </a:stretch>
        </p:blipFill>
        <p:spPr>
          <a:xfrm flipH="1">
            <a:off x="10589623" y="2189971"/>
            <a:ext cx="1270939" cy="4445960"/>
          </a:xfrm>
          <a:prstGeom prst="rect">
            <a:avLst/>
          </a:prstGeom>
        </p:spPr>
      </p:pic>
    </p:spTree>
    <p:extLst>
      <p:ext uri="{BB962C8B-B14F-4D97-AF65-F5344CB8AC3E}">
        <p14:creationId xmlns:p14="http://schemas.microsoft.com/office/powerpoint/2010/main" val="1597046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3DE3-8B9E-AFA6-A66F-7E7B7BB93142}"/>
              </a:ext>
            </a:extLst>
          </p:cNvPr>
          <p:cNvSpPr>
            <a:spLocks noGrp="1"/>
          </p:cNvSpPr>
          <p:nvPr>
            <p:ph type="title"/>
          </p:nvPr>
        </p:nvSpPr>
        <p:spPr/>
        <p:txBody>
          <a:bodyPr/>
          <a:lstStyle/>
          <a:p>
            <a:r>
              <a:rPr lang="en-GB" dirty="0"/>
              <a:t>9. Environment Parity</a:t>
            </a:r>
            <a:endParaRPr lang="en-US" dirty="0"/>
          </a:p>
        </p:txBody>
      </p:sp>
      <p:sp>
        <p:nvSpPr>
          <p:cNvPr id="3" name="Content Placeholder 2">
            <a:extLst>
              <a:ext uri="{FF2B5EF4-FFF2-40B4-BE49-F238E27FC236}">
                <a16:creationId xmlns:a16="http://schemas.microsoft.com/office/drawing/2014/main" id="{8DAE61F4-1008-0AE1-C555-0588D089EB68}"/>
              </a:ext>
            </a:extLst>
          </p:cNvPr>
          <p:cNvSpPr>
            <a:spLocks noGrp="1"/>
          </p:cNvSpPr>
          <p:nvPr>
            <p:ph idx="1"/>
          </p:nvPr>
        </p:nvSpPr>
        <p:spPr/>
        <p:txBody>
          <a:bodyPr>
            <a:normAutofit fontScale="92500" lnSpcReduction="10000"/>
          </a:bodyPr>
          <a:lstStyle/>
          <a:p>
            <a:r>
              <a:rPr lang="en-US" dirty="0"/>
              <a:t>Time gap</a:t>
            </a:r>
          </a:p>
          <a:p>
            <a:pPr lvl="1"/>
            <a:r>
              <a:rPr lang="en-US" dirty="0"/>
              <a:t>The time it takes for a code change to deployed can be significant. The methodology encourages automation and continues deployment to reduce the time between code development and production deployment</a:t>
            </a:r>
          </a:p>
          <a:p>
            <a:r>
              <a:rPr lang="en-US" dirty="0"/>
              <a:t>People gap</a:t>
            </a:r>
          </a:p>
          <a:p>
            <a:pPr lvl="1"/>
            <a:r>
              <a:rPr lang="en-US" dirty="0"/>
              <a:t>Developers create applications, while operators handle their deployment in production. To bridge this gap a DevOps culture promotes collaboration between developers and operators, fostering the “You build it, you run it”</a:t>
            </a:r>
          </a:p>
          <a:p>
            <a:r>
              <a:rPr lang="en-US" dirty="0"/>
              <a:t>Tools gap</a:t>
            </a:r>
          </a:p>
          <a:p>
            <a:pPr lvl="1"/>
            <a:r>
              <a:rPr lang="en-US" dirty="0"/>
              <a:t>Handling of backing services differs across environments. For instance, developers might use the H2 database locally but PostgreSQL in production. To achieve environment parity, it is recommended to use the same type and version of backing services across all </a:t>
            </a:r>
            <a:r>
              <a:rPr lang="en-US" dirty="0" err="1"/>
              <a:t>envrionment</a:t>
            </a:r>
            <a:endParaRPr lang="en-US" dirty="0"/>
          </a:p>
          <a:p>
            <a:endParaRPr lang="en-US" dirty="0"/>
          </a:p>
          <a:p>
            <a:endParaRPr lang="en-US" dirty="0"/>
          </a:p>
        </p:txBody>
      </p:sp>
    </p:spTree>
    <p:extLst>
      <p:ext uri="{BB962C8B-B14F-4D97-AF65-F5344CB8AC3E}">
        <p14:creationId xmlns:p14="http://schemas.microsoft.com/office/powerpoint/2010/main" val="3877889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35AA-CA0E-F2C0-F7C7-F4726C63A28A}"/>
              </a:ext>
            </a:extLst>
          </p:cNvPr>
          <p:cNvSpPr>
            <a:spLocks noGrp="1"/>
          </p:cNvSpPr>
          <p:nvPr>
            <p:ph type="title"/>
          </p:nvPr>
        </p:nvSpPr>
        <p:spPr/>
        <p:txBody>
          <a:bodyPr/>
          <a:lstStyle/>
          <a:p>
            <a:r>
              <a:rPr lang="en-GB" dirty="0"/>
              <a:t>10. Administrative Process</a:t>
            </a:r>
            <a:endParaRPr lang="en-US" dirty="0"/>
          </a:p>
        </p:txBody>
      </p:sp>
      <p:sp>
        <p:nvSpPr>
          <p:cNvPr id="3" name="Content Placeholder 2">
            <a:extLst>
              <a:ext uri="{FF2B5EF4-FFF2-40B4-BE49-F238E27FC236}">
                <a16:creationId xmlns:a16="http://schemas.microsoft.com/office/drawing/2014/main" id="{0E04D8A8-F23D-4557-D15A-8968DC474430}"/>
              </a:ext>
            </a:extLst>
          </p:cNvPr>
          <p:cNvSpPr>
            <a:spLocks noGrp="1"/>
          </p:cNvSpPr>
          <p:nvPr>
            <p:ph sz="half" idx="1"/>
          </p:nvPr>
        </p:nvSpPr>
        <p:spPr/>
        <p:txBody>
          <a:bodyPr>
            <a:normAutofit/>
          </a:bodyPr>
          <a:lstStyle/>
          <a:p>
            <a:r>
              <a:rPr lang="en-GB" sz="2000" dirty="0"/>
              <a:t>Management tasks required to support application, such as database migration, batch jobs or maintenance tasks, should be treated as isolated processes.</a:t>
            </a:r>
          </a:p>
          <a:p>
            <a:r>
              <a:rPr lang="en-GB" sz="2000" dirty="0"/>
              <a:t>Similar to application processes, the code for these administrative tasks should be version controlled, pack alongside the application and executed with the same environment.</a:t>
            </a:r>
            <a:endParaRPr lang="en-US" sz="2000" dirty="0"/>
          </a:p>
        </p:txBody>
      </p:sp>
      <p:pic>
        <p:nvPicPr>
          <p:cNvPr id="6" name="Content Placeholder 5">
            <a:extLst>
              <a:ext uri="{FF2B5EF4-FFF2-40B4-BE49-F238E27FC236}">
                <a16:creationId xmlns:a16="http://schemas.microsoft.com/office/drawing/2014/main" id="{278A8BD0-B035-6E45-B15C-0F75C1943011}"/>
              </a:ext>
            </a:extLst>
          </p:cNvPr>
          <p:cNvPicPr>
            <a:picLocks noGrp="1" noChangeAspect="1"/>
          </p:cNvPicPr>
          <p:nvPr>
            <p:ph sz="half" idx="2"/>
          </p:nvPr>
        </p:nvPicPr>
        <p:blipFill>
          <a:blip r:embed="rId2"/>
          <a:stretch>
            <a:fillRect/>
          </a:stretch>
        </p:blipFill>
        <p:spPr>
          <a:xfrm>
            <a:off x="6479256" y="1825625"/>
            <a:ext cx="4567487" cy="4351338"/>
          </a:xfrm>
          <a:prstGeom prst="rect">
            <a:avLst/>
          </a:prstGeom>
        </p:spPr>
      </p:pic>
    </p:spTree>
    <p:extLst>
      <p:ext uri="{BB962C8B-B14F-4D97-AF65-F5344CB8AC3E}">
        <p14:creationId xmlns:p14="http://schemas.microsoft.com/office/powerpoint/2010/main" val="283278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6F9A-CA6A-30E4-AC7D-0381AD3E355B}"/>
              </a:ext>
            </a:extLst>
          </p:cNvPr>
          <p:cNvSpPr>
            <a:spLocks noGrp="1"/>
          </p:cNvSpPr>
          <p:nvPr>
            <p:ph type="title"/>
          </p:nvPr>
        </p:nvSpPr>
        <p:spPr/>
        <p:txBody>
          <a:bodyPr/>
          <a:lstStyle/>
          <a:p>
            <a:r>
              <a:rPr lang="en-GB" dirty="0"/>
              <a:t>11. Port Binding</a:t>
            </a:r>
            <a:endParaRPr lang="en-US" dirty="0"/>
          </a:p>
        </p:txBody>
      </p:sp>
      <p:sp>
        <p:nvSpPr>
          <p:cNvPr id="3" name="Content Placeholder 2">
            <a:extLst>
              <a:ext uri="{FF2B5EF4-FFF2-40B4-BE49-F238E27FC236}">
                <a16:creationId xmlns:a16="http://schemas.microsoft.com/office/drawing/2014/main" id="{CBBED993-6F7A-A203-024F-4DAC1A23E4B1}"/>
              </a:ext>
            </a:extLst>
          </p:cNvPr>
          <p:cNvSpPr>
            <a:spLocks noGrp="1"/>
          </p:cNvSpPr>
          <p:nvPr>
            <p:ph sz="half" idx="1"/>
          </p:nvPr>
        </p:nvSpPr>
        <p:spPr/>
        <p:txBody>
          <a:bodyPr>
            <a:normAutofit/>
          </a:bodyPr>
          <a:lstStyle/>
          <a:p>
            <a:r>
              <a:rPr lang="en-GB" sz="2000" dirty="0"/>
              <a:t>Cloud native applications should be self-contained and expose their services through port binding.</a:t>
            </a:r>
          </a:p>
          <a:p>
            <a:r>
              <a:rPr lang="en-GB" sz="2000" dirty="0"/>
              <a:t>In production environment, routing services may be employed to translate requests from public endpoints to the internally pro-bond services.</a:t>
            </a:r>
            <a:endParaRPr lang="en-US" sz="2000" dirty="0"/>
          </a:p>
        </p:txBody>
      </p:sp>
      <p:pic>
        <p:nvPicPr>
          <p:cNvPr id="6" name="Content Placeholder 5">
            <a:extLst>
              <a:ext uri="{FF2B5EF4-FFF2-40B4-BE49-F238E27FC236}">
                <a16:creationId xmlns:a16="http://schemas.microsoft.com/office/drawing/2014/main" id="{337BC545-8B15-55AA-75B2-CAC4E4C809A2}"/>
              </a:ext>
            </a:extLst>
          </p:cNvPr>
          <p:cNvPicPr>
            <a:picLocks noGrp="1" noChangeAspect="1"/>
          </p:cNvPicPr>
          <p:nvPr>
            <p:ph sz="half" idx="2"/>
          </p:nvPr>
        </p:nvPicPr>
        <p:blipFill>
          <a:blip r:embed="rId2"/>
          <a:stretch>
            <a:fillRect/>
          </a:stretch>
        </p:blipFill>
        <p:spPr>
          <a:xfrm>
            <a:off x="6172200" y="2243097"/>
            <a:ext cx="5181600" cy="3516394"/>
          </a:xfrm>
          <a:prstGeom prst="rect">
            <a:avLst/>
          </a:prstGeom>
        </p:spPr>
      </p:pic>
    </p:spTree>
    <p:extLst>
      <p:ext uri="{BB962C8B-B14F-4D97-AF65-F5344CB8AC3E}">
        <p14:creationId xmlns:p14="http://schemas.microsoft.com/office/powerpoint/2010/main" val="961747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B3241-A952-10FC-50B1-1933E12DDD4F}"/>
              </a:ext>
            </a:extLst>
          </p:cNvPr>
          <p:cNvSpPr>
            <a:spLocks noGrp="1"/>
          </p:cNvSpPr>
          <p:nvPr>
            <p:ph type="title"/>
          </p:nvPr>
        </p:nvSpPr>
        <p:spPr/>
        <p:txBody>
          <a:bodyPr/>
          <a:lstStyle/>
          <a:p>
            <a:r>
              <a:rPr lang="en-GB" dirty="0"/>
              <a:t>12. Stateless process</a:t>
            </a:r>
            <a:endParaRPr lang="en-US" dirty="0"/>
          </a:p>
        </p:txBody>
      </p:sp>
      <p:sp>
        <p:nvSpPr>
          <p:cNvPr id="3" name="Content Placeholder 2">
            <a:extLst>
              <a:ext uri="{FF2B5EF4-FFF2-40B4-BE49-F238E27FC236}">
                <a16:creationId xmlns:a16="http://schemas.microsoft.com/office/drawing/2014/main" id="{F7005297-827B-694C-A3F9-AFCF5EFDAED7}"/>
              </a:ext>
            </a:extLst>
          </p:cNvPr>
          <p:cNvSpPr>
            <a:spLocks noGrp="1"/>
          </p:cNvSpPr>
          <p:nvPr>
            <p:ph sz="half" idx="1"/>
          </p:nvPr>
        </p:nvSpPr>
        <p:spPr/>
        <p:txBody>
          <a:bodyPr>
            <a:normAutofit/>
          </a:bodyPr>
          <a:lstStyle/>
          <a:p>
            <a:r>
              <a:rPr lang="en-GB" sz="2000" dirty="0"/>
              <a:t>One of the key principles to achieve scalability is designing application as stateless process and adopting a share-nothing architecture.</a:t>
            </a:r>
          </a:p>
          <a:p>
            <a:r>
              <a:rPr lang="en-GB" sz="2000" dirty="0"/>
              <a:t>This means that no state should be shared among different instances of application.</a:t>
            </a:r>
          </a:p>
          <a:p>
            <a:r>
              <a:rPr lang="en-GB" sz="2000" dirty="0"/>
              <a:t>It is important to evaluate whether any data would be lost if an instance of the application is destroyed and recreated.</a:t>
            </a:r>
          </a:p>
          <a:p>
            <a:r>
              <a:rPr lang="en-GB" sz="2000" dirty="0"/>
              <a:t>If data loss occurred, the application is not truly stateless.</a:t>
            </a:r>
            <a:endParaRPr lang="en-US" sz="2000" dirty="0"/>
          </a:p>
        </p:txBody>
      </p:sp>
      <p:pic>
        <p:nvPicPr>
          <p:cNvPr id="6" name="Content Placeholder 5">
            <a:extLst>
              <a:ext uri="{FF2B5EF4-FFF2-40B4-BE49-F238E27FC236}">
                <a16:creationId xmlns:a16="http://schemas.microsoft.com/office/drawing/2014/main" id="{08D7B730-433C-C1F8-13BE-9E0C4757DC02}"/>
              </a:ext>
            </a:extLst>
          </p:cNvPr>
          <p:cNvPicPr>
            <a:picLocks noGrp="1" noChangeAspect="1"/>
          </p:cNvPicPr>
          <p:nvPr>
            <p:ph sz="half" idx="2"/>
          </p:nvPr>
        </p:nvPicPr>
        <p:blipFill>
          <a:blip r:embed="rId2"/>
          <a:stretch>
            <a:fillRect/>
          </a:stretch>
        </p:blipFill>
        <p:spPr>
          <a:xfrm>
            <a:off x="6653436" y="1494700"/>
            <a:ext cx="4402008" cy="4351338"/>
          </a:xfrm>
          <a:prstGeom prst="rect">
            <a:avLst/>
          </a:prstGeom>
        </p:spPr>
      </p:pic>
    </p:spTree>
    <p:extLst>
      <p:ext uri="{BB962C8B-B14F-4D97-AF65-F5344CB8AC3E}">
        <p14:creationId xmlns:p14="http://schemas.microsoft.com/office/powerpoint/2010/main" val="2126981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B8F0F-CA08-6CA3-E24C-50B3C33191A1}"/>
              </a:ext>
            </a:extLst>
          </p:cNvPr>
          <p:cNvSpPr>
            <a:spLocks noGrp="1"/>
          </p:cNvSpPr>
          <p:nvPr>
            <p:ph type="title"/>
          </p:nvPr>
        </p:nvSpPr>
        <p:spPr/>
        <p:txBody>
          <a:bodyPr/>
          <a:lstStyle/>
          <a:p>
            <a:r>
              <a:rPr lang="en-GB" dirty="0"/>
              <a:t>13. Concurrency</a:t>
            </a:r>
            <a:endParaRPr lang="en-US" dirty="0"/>
          </a:p>
        </p:txBody>
      </p:sp>
      <p:sp>
        <p:nvSpPr>
          <p:cNvPr id="3" name="Content Placeholder 2">
            <a:extLst>
              <a:ext uri="{FF2B5EF4-FFF2-40B4-BE49-F238E27FC236}">
                <a16:creationId xmlns:a16="http://schemas.microsoft.com/office/drawing/2014/main" id="{06FF989D-649E-72C5-78C1-F32A288D3E9B}"/>
              </a:ext>
            </a:extLst>
          </p:cNvPr>
          <p:cNvSpPr>
            <a:spLocks noGrp="1"/>
          </p:cNvSpPr>
          <p:nvPr>
            <p:ph sz="half" idx="1"/>
          </p:nvPr>
        </p:nvSpPr>
        <p:spPr/>
        <p:txBody>
          <a:bodyPr/>
          <a:lstStyle/>
          <a:p>
            <a:r>
              <a:rPr lang="en-GB" dirty="0"/>
              <a:t>Scalability is required to serve a large number of users.</a:t>
            </a:r>
          </a:p>
          <a:p>
            <a:r>
              <a:rPr lang="en-GB" dirty="0"/>
              <a:t>This means that applications should support concurrent processing to handle multiple users simultaneously.</a:t>
            </a:r>
            <a:endParaRPr lang="en-US" dirty="0"/>
          </a:p>
        </p:txBody>
      </p:sp>
      <p:pic>
        <p:nvPicPr>
          <p:cNvPr id="10" name="Content Placeholder 9">
            <a:extLst>
              <a:ext uri="{FF2B5EF4-FFF2-40B4-BE49-F238E27FC236}">
                <a16:creationId xmlns:a16="http://schemas.microsoft.com/office/drawing/2014/main" id="{71299680-DB06-082E-A70F-297E05FD9D39}"/>
              </a:ext>
            </a:extLst>
          </p:cNvPr>
          <p:cNvPicPr>
            <a:picLocks noGrp="1" noChangeAspect="1"/>
          </p:cNvPicPr>
          <p:nvPr>
            <p:ph sz="half" idx="2"/>
          </p:nvPr>
        </p:nvPicPr>
        <p:blipFill>
          <a:blip r:embed="rId2"/>
          <a:stretch>
            <a:fillRect/>
          </a:stretch>
        </p:blipFill>
        <p:spPr>
          <a:xfrm>
            <a:off x="6915534" y="663098"/>
            <a:ext cx="3767348" cy="5531803"/>
          </a:xfrm>
          <a:prstGeom prst="rect">
            <a:avLst/>
          </a:prstGeom>
        </p:spPr>
      </p:pic>
    </p:spTree>
    <p:extLst>
      <p:ext uri="{BB962C8B-B14F-4D97-AF65-F5344CB8AC3E}">
        <p14:creationId xmlns:p14="http://schemas.microsoft.com/office/powerpoint/2010/main" val="3683515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D142-4DBF-84F5-82D6-CAEABEABBCD0}"/>
              </a:ext>
            </a:extLst>
          </p:cNvPr>
          <p:cNvSpPr>
            <a:spLocks noGrp="1"/>
          </p:cNvSpPr>
          <p:nvPr>
            <p:ph type="title"/>
          </p:nvPr>
        </p:nvSpPr>
        <p:spPr/>
        <p:txBody>
          <a:bodyPr/>
          <a:lstStyle/>
          <a:p>
            <a:r>
              <a:rPr lang="en-GB" dirty="0"/>
              <a:t>14. Telemetry</a:t>
            </a:r>
            <a:endParaRPr lang="en-US" dirty="0"/>
          </a:p>
        </p:txBody>
      </p:sp>
      <p:sp>
        <p:nvSpPr>
          <p:cNvPr id="4" name="Content Placeholder 3">
            <a:extLst>
              <a:ext uri="{FF2B5EF4-FFF2-40B4-BE49-F238E27FC236}">
                <a16:creationId xmlns:a16="http://schemas.microsoft.com/office/drawing/2014/main" id="{8811FE0B-6480-4B4A-97FA-327D35064914}"/>
              </a:ext>
            </a:extLst>
          </p:cNvPr>
          <p:cNvSpPr>
            <a:spLocks noGrp="1"/>
          </p:cNvSpPr>
          <p:nvPr>
            <p:ph sz="half" idx="1"/>
          </p:nvPr>
        </p:nvSpPr>
        <p:spPr/>
        <p:txBody>
          <a:bodyPr>
            <a:normAutofit/>
          </a:bodyPr>
          <a:lstStyle/>
          <a:p>
            <a:r>
              <a:rPr lang="en-GB" sz="2000" dirty="0"/>
              <a:t>Observability is a fundamental characteristic of cloud native applications.</a:t>
            </a:r>
          </a:p>
          <a:p>
            <a:r>
              <a:rPr lang="en-GB" sz="2000" dirty="0"/>
              <a:t>Consider the kind of telemetry that would be necessary to ensure remote monitoring and control of your application.</a:t>
            </a:r>
          </a:p>
          <a:p>
            <a:r>
              <a:rPr lang="en-GB" sz="2000" dirty="0"/>
              <a:t>This includes information such as detailed logs for troubleshooting, metrics to measure performance, traces to understand request flows, health status to assess system well-being and even to capture significant occurrences.</a:t>
            </a:r>
            <a:endParaRPr lang="en-US" sz="2000" dirty="0"/>
          </a:p>
        </p:txBody>
      </p:sp>
      <p:pic>
        <p:nvPicPr>
          <p:cNvPr id="7" name="Content Placeholder 6">
            <a:extLst>
              <a:ext uri="{FF2B5EF4-FFF2-40B4-BE49-F238E27FC236}">
                <a16:creationId xmlns:a16="http://schemas.microsoft.com/office/drawing/2014/main" id="{65D6BA0B-710E-8BD7-AD6A-A6DBA6036ACA}"/>
              </a:ext>
            </a:extLst>
          </p:cNvPr>
          <p:cNvPicPr>
            <a:picLocks noGrp="1" noChangeAspect="1"/>
          </p:cNvPicPr>
          <p:nvPr>
            <p:ph sz="half" idx="2"/>
          </p:nvPr>
        </p:nvPicPr>
        <p:blipFill>
          <a:blip r:embed="rId2"/>
          <a:stretch>
            <a:fillRect/>
          </a:stretch>
        </p:blipFill>
        <p:spPr>
          <a:xfrm>
            <a:off x="6940731" y="1595188"/>
            <a:ext cx="3918857" cy="3938451"/>
          </a:xfrm>
          <a:prstGeom prst="rect">
            <a:avLst/>
          </a:prstGeom>
        </p:spPr>
      </p:pic>
    </p:spTree>
    <p:extLst>
      <p:ext uri="{BB962C8B-B14F-4D97-AF65-F5344CB8AC3E}">
        <p14:creationId xmlns:p14="http://schemas.microsoft.com/office/powerpoint/2010/main" val="20219469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8FF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904F-B36F-5D5B-F2BF-18F20A92192A}"/>
              </a:ext>
            </a:extLst>
          </p:cNvPr>
          <p:cNvSpPr>
            <a:spLocks noGrp="1"/>
          </p:cNvSpPr>
          <p:nvPr>
            <p:ph type="title"/>
          </p:nvPr>
        </p:nvSpPr>
        <p:spPr/>
        <p:txBody>
          <a:bodyPr/>
          <a:lstStyle/>
          <a:p>
            <a:r>
              <a:rPr lang="en-GB" dirty="0"/>
              <a:t>15. Authentication &amp; Authorization</a:t>
            </a:r>
            <a:endParaRPr lang="en-US" dirty="0"/>
          </a:p>
        </p:txBody>
      </p:sp>
      <p:sp>
        <p:nvSpPr>
          <p:cNvPr id="4" name="Content Placeholder 3">
            <a:extLst>
              <a:ext uri="{FF2B5EF4-FFF2-40B4-BE49-F238E27FC236}">
                <a16:creationId xmlns:a16="http://schemas.microsoft.com/office/drawing/2014/main" id="{0755191E-7384-66EA-8601-6E10DCBABC6A}"/>
              </a:ext>
            </a:extLst>
          </p:cNvPr>
          <p:cNvSpPr>
            <a:spLocks noGrp="1"/>
          </p:cNvSpPr>
          <p:nvPr>
            <p:ph sz="half" idx="1"/>
          </p:nvPr>
        </p:nvSpPr>
        <p:spPr/>
        <p:txBody>
          <a:bodyPr>
            <a:normAutofit/>
          </a:bodyPr>
          <a:lstStyle/>
          <a:p>
            <a:r>
              <a:rPr lang="en-GB" sz="2000" dirty="0"/>
              <a:t>Authentication enables us to track and verify the identity of users accessing the application.</a:t>
            </a:r>
          </a:p>
          <a:p>
            <a:r>
              <a:rPr lang="en-GB" sz="2000" dirty="0"/>
              <a:t>By authenticating users, we can evaluate their permissions and determine if they have the necessary authorization to perform specific actions.</a:t>
            </a:r>
          </a:p>
          <a:p>
            <a:r>
              <a:rPr lang="en-GB" sz="2000" dirty="0"/>
              <a:t>Notable examples include </a:t>
            </a:r>
            <a:r>
              <a:rPr lang="en-GB" sz="2000" dirty="0" err="1"/>
              <a:t>Oauth</a:t>
            </a:r>
            <a:r>
              <a:rPr lang="en-GB" sz="2000" dirty="0"/>
              <a:t> 2.1, </a:t>
            </a:r>
            <a:r>
              <a:rPr lang="en-GB" sz="2000" dirty="0" err="1"/>
              <a:t>OpenId</a:t>
            </a:r>
            <a:r>
              <a:rPr lang="en-GB" sz="2000" dirty="0"/>
              <a:t> Connect , JWT</a:t>
            </a:r>
            <a:endParaRPr lang="en-US" sz="2000" dirty="0"/>
          </a:p>
        </p:txBody>
      </p:sp>
      <p:pic>
        <p:nvPicPr>
          <p:cNvPr id="7" name="Content Placeholder 6">
            <a:extLst>
              <a:ext uri="{FF2B5EF4-FFF2-40B4-BE49-F238E27FC236}">
                <a16:creationId xmlns:a16="http://schemas.microsoft.com/office/drawing/2014/main" id="{95914383-31EE-591A-F261-F1E40299444A}"/>
              </a:ext>
            </a:extLst>
          </p:cNvPr>
          <p:cNvPicPr>
            <a:picLocks noGrp="1" noChangeAspect="1"/>
          </p:cNvPicPr>
          <p:nvPr>
            <p:ph sz="half" idx="2"/>
          </p:nvPr>
        </p:nvPicPr>
        <p:blipFill>
          <a:blip r:embed="rId2"/>
          <a:stretch>
            <a:fillRect/>
          </a:stretch>
        </p:blipFill>
        <p:spPr>
          <a:xfrm>
            <a:off x="6536063" y="1825625"/>
            <a:ext cx="4453873" cy="4351338"/>
          </a:xfrm>
          <a:prstGeom prst="rect">
            <a:avLst/>
          </a:prstGeom>
        </p:spPr>
      </p:pic>
    </p:spTree>
    <p:extLst>
      <p:ext uri="{BB962C8B-B14F-4D97-AF65-F5344CB8AC3E}">
        <p14:creationId xmlns:p14="http://schemas.microsoft.com/office/powerpoint/2010/main" val="1717614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FEDE9-7A28-F431-6FEE-0D15E04C9ED9}"/>
              </a:ext>
            </a:extLst>
          </p:cNvPr>
          <p:cNvSpPr>
            <a:spLocks noGrp="1"/>
          </p:cNvSpPr>
          <p:nvPr>
            <p:ph type="title"/>
          </p:nvPr>
        </p:nvSpPr>
        <p:spPr/>
        <p:txBody>
          <a:bodyPr/>
          <a:lstStyle/>
          <a:p>
            <a:r>
              <a:rPr lang="en-GB" dirty="0"/>
              <a:t>Configuration Management in Microservices</a:t>
            </a:r>
            <a:endParaRPr lang="en-US" dirty="0"/>
          </a:p>
        </p:txBody>
      </p:sp>
      <p:sp>
        <p:nvSpPr>
          <p:cNvPr id="3" name="Content Placeholder 2">
            <a:extLst>
              <a:ext uri="{FF2B5EF4-FFF2-40B4-BE49-F238E27FC236}">
                <a16:creationId xmlns:a16="http://schemas.microsoft.com/office/drawing/2014/main" id="{238078D0-7538-A5B2-74CE-44281EA13EF8}"/>
              </a:ext>
            </a:extLst>
          </p:cNvPr>
          <p:cNvSpPr>
            <a:spLocks noGrp="1"/>
          </p:cNvSpPr>
          <p:nvPr>
            <p:ph sz="half" idx="1"/>
          </p:nvPr>
        </p:nvSpPr>
        <p:spPr/>
        <p:txBody>
          <a:bodyPr>
            <a:normAutofit/>
          </a:bodyPr>
          <a:lstStyle/>
          <a:p>
            <a:r>
              <a:rPr lang="en-GB" sz="2000" dirty="0"/>
              <a:t>How do we separate the configurations/properties from the microservices so that same can be deployed on multiple environments ?</a:t>
            </a:r>
          </a:p>
          <a:p>
            <a:r>
              <a:rPr lang="en-GB" sz="2000" dirty="0"/>
              <a:t>How do we inject configurations/properties that microservice needed during start up of the service ?</a:t>
            </a:r>
          </a:p>
          <a:p>
            <a:r>
              <a:rPr lang="en-GB" sz="2000" dirty="0"/>
              <a:t>How do we maintain configurations/properties in a centralized repository along with versioning of them ?</a:t>
            </a:r>
            <a:endParaRPr lang="en-US" sz="2000" dirty="0"/>
          </a:p>
        </p:txBody>
      </p:sp>
      <p:pic>
        <p:nvPicPr>
          <p:cNvPr id="16" name="Content Placeholder 15">
            <a:extLst>
              <a:ext uri="{FF2B5EF4-FFF2-40B4-BE49-F238E27FC236}">
                <a16:creationId xmlns:a16="http://schemas.microsoft.com/office/drawing/2014/main" id="{9E1C589C-014A-C18B-4311-DB882F832A5E}"/>
              </a:ext>
            </a:extLst>
          </p:cNvPr>
          <p:cNvPicPr>
            <a:picLocks noGrp="1" noChangeAspect="1"/>
          </p:cNvPicPr>
          <p:nvPr>
            <p:ph sz="half" idx="2"/>
          </p:nvPr>
        </p:nvPicPr>
        <p:blipFill>
          <a:blip r:embed="rId2"/>
          <a:stretch>
            <a:fillRect/>
          </a:stretch>
        </p:blipFill>
        <p:spPr>
          <a:xfrm>
            <a:off x="6609326" y="1825625"/>
            <a:ext cx="4307348" cy="4351338"/>
          </a:xfrm>
          <a:prstGeom prst="rect">
            <a:avLst/>
          </a:prstGeom>
        </p:spPr>
      </p:pic>
    </p:spTree>
    <p:extLst>
      <p:ext uri="{BB962C8B-B14F-4D97-AF65-F5344CB8AC3E}">
        <p14:creationId xmlns:p14="http://schemas.microsoft.com/office/powerpoint/2010/main" val="33985663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37FB4-4C17-3CEC-C529-878B85622EAB}"/>
              </a:ext>
            </a:extLst>
          </p:cNvPr>
          <p:cNvSpPr>
            <a:spLocks noGrp="1"/>
          </p:cNvSpPr>
          <p:nvPr>
            <p:ph type="title"/>
          </p:nvPr>
        </p:nvSpPr>
        <p:spPr/>
        <p:txBody>
          <a:bodyPr/>
          <a:lstStyle/>
          <a:p>
            <a:r>
              <a:rPr lang="en-GB" dirty="0"/>
              <a:t>Configuration Management in Microservices</a:t>
            </a:r>
            <a:endParaRPr lang="en-US" dirty="0"/>
          </a:p>
        </p:txBody>
      </p:sp>
      <p:sp>
        <p:nvSpPr>
          <p:cNvPr id="3" name="Content Placeholder 2">
            <a:extLst>
              <a:ext uri="{FF2B5EF4-FFF2-40B4-BE49-F238E27FC236}">
                <a16:creationId xmlns:a16="http://schemas.microsoft.com/office/drawing/2014/main" id="{0EE80DB2-EC63-BBB8-71EC-79AEC8D97A31}"/>
              </a:ext>
            </a:extLst>
          </p:cNvPr>
          <p:cNvSpPr>
            <a:spLocks noGrp="1"/>
          </p:cNvSpPr>
          <p:nvPr>
            <p:ph idx="1"/>
          </p:nvPr>
        </p:nvSpPr>
        <p:spPr/>
        <p:txBody>
          <a:bodyPr/>
          <a:lstStyle/>
          <a:p>
            <a:r>
              <a:rPr lang="en-GB" dirty="0"/>
              <a:t>There are multiple solutions available in Spring Boot</a:t>
            </a:r>
          </a:p>
          <a:p>
            <a:pPr marL="914400" lvl="1" indent="-457200">
              <a:buFont typeface="+mj-lt"/>
              <a:buAutoNum type="arabicPeriod"/>
            </a:pPr>
            <a:r>
              <a:rPr lang="en-GB" dirty="0"/>
              <a:t>Configuring Spring Boot with properties and profiles</a:t>
            </a:r>
          </a:p>
          <a:p>
            <a:pPr marL="914400" lvl="1" indent="-457200">
              <a:buFont typeface="+mj-lt"/>
              <a:buAutoNum type="arabicPeriod"/>
            </a:pPr>
            <a:r>
              <a:rPr lang="en-GB" dirty="0"/>
              <a:t>Applying external configuration with Spring Boot</a:t>
            </a:r>
          </a:p>
          <a:p>
            <a:pPr marL="914400" lvl="1" indent="-457200">
              <a:buFont typeface="+mj-lt"/>
              <a:buAutoNum type="arabicPeriod"/>
            </a:pPr>
            <a:r>
              <a:rPr lang="en-GB" dirty="0"/>
              <a:t>Implementing a configuration server with Spring Cloud Config Server</a:t>
            </a:r>
            <a:endParaRPr lang="en-US" dirty="0"/>
          </a:p>
        </p:txBody>
      </p:sp>
    </p:spTree>
    <p:extLst>
      <p:ext uri="{BB962C8B-B14F-4D97-AF65-F5344CB8AC3E}">
        <p14:creationId xmlns:p14="http://schemas.microsoft.com/office/powerpoint/2010/main" val="11912305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05F4-0CFC-57B5-2454-E8AEA8B4B268}"/>
              </a:ext>
            </a:extLst>
          </p:cNvPr>
          <p:cNvSpPr>
            <a:spLocks noGrp="1"/>
          </p:cNvSpPr>
          <p:nvPr>
            <p:ph type="title"/>
          </p:nvPr>
        </p:nvSpPr>
        <p:spPr/>
        <p:txBody>
          <a:bodyPr/>
          <a:lstStyle/>
          <a:p>
            <a:r>
              <a:rPr lang="en-GB" dirty="0"/>
              <a:t>How configurations are handled in traditional application ?</a:t>
            </a:r>
            <a:endParaRPr lang="en-US" dirty="0"/>
          </a:p>
        </p:txBody>
      </p:sp>
      <p:sp>
        <p:nvSpPr>
          <p:cNvPr id="3" name="Content Placeholder 2">
            <a:extLst>
              <a:ext uri="{FF2B5EF4-FFF2-40B4-BE49-F238E27FC236}">
                <a16:creationId xmlns:a16="http://schemas.microsoft.com/office/drawing/2014/main" id="{71E18845-2D0A-C7F5-D79C-9A5A30089F50}"/>
              </a:ext>
            </a:extLst>
          </p:cNvPr>
          <p:cNvSpPr>
            <a:spLocks noGrp="1"/>
          </p:cNvSpPr>
          <p:nvPr>
            <p:ph idx="1"/>
          </p:nvPr>
        </p:nvSpPr>
        <p:spPr/>
        <p:txBody>
          <a:bodyPr/>
          <a:lstStyle/>
          <a:p>
            <a:r>
              <a:rPr lang="en-GB" dirty="0"/>
              <a:t>Traditional applications were typically bundled together with their source code and various configuration file that contained environment specific data.</a:t>
            </a:r>
          </a:p>
          <a:p>
            <a:r>
              <a:rPr lang="en-GB" dirty="0"/>
              <a:t>This mean that updating the configuration required rebuilding the entire application or creating separate builds for each environment.</a:t>
            </a:r>
          </a:p>
          <a:p>
            <a:r>
              <a:rPr lang="en-GB" dirty="0"/>
              <a:t>As a result, there was no guarantee that the application would behave consistently across different environments, leading to potential issues when moving from staging to production</a:t>
            </a:r>
            <a:endParaRPr lang="en-US" dirty="0"/>
          </a:p>
        </p:txBody>
      </p:sp>
    </p:spTree>
    <p:extLst>
      <p:ext uri="{BB962C8B-B14F-4D97-AF65-F5344CB8AC3E}">
        <p14:creationId xmlns:p14="http://schemas.microsoft.com/office/powerpoint/2010/main" val="2949305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04B18-E7BA-3296-7937-982C37768578}"/>
              </a:ext>
            </a:extLst>
          </p:cNvPr>
          <p:cNvSpPr>
            <a:spLocks noGrp="1"/>
          </p:cNvSpPr>
          <p:nvPr>
            <p:ph type="title"/>
          </p:nvPr>
        </p:nvSpPr>
        <p:spPr/>
        <p:txBody>
          <a:bodyPr/>
          <a:lstStyle/>
          <a:p>
            <a:r>
              <a:rPr lang="en-GB" dirty="0"/>
              <a:t>How configurations are handled in traditional application ?</a:t>
            </a:r>
            <a:endParaRPr lang="en-US" dirty="0"/>
          </a:p>
        </p:txBody>
      </p:sp>
      <p:sp>
        <p:nvSpPr>
          <p:cNvPr id="3" name="Content Placeholder 2">
            <a:extLst>
              <a:ext uri="{FF2B5EF4-FFF2-40B4-BE49-F238E27FC236}">
                <a16:creationId xmlns:a16="http://schemas.microsoft.com/office/drawing/2014/main" id="{E6F4509A-7475-93DF-9AA7-975D9AAC5908}"/>
              </a:ext>
            </a:extLst>
          </p:cNvPr>
          <p:cNvSpPr>
            <a:spLocks noGrp="1"/>
          </p:cNvSpPr>
          <p:nvPr>
            <p:ph idx="1"/>
          </p:nvPr>
        </p:nvSpPr>
        <p:spPr/>
        <p:txBody>
          <a:bodyPr>
            <a:normAutofit/>
          </a:bodyPr>
          <a:lstStyle/>
          <a:p>
            <a:r>
              <a:rPr lang="en-GB" sz="2000" dirty="0"/>
              <a:t>According to the 15-Factor methodology, configuration encompasses any element likely to change between deployments such as credentials, resource handles and service URLs. </a:t>
            </a:r>
          </a:p>
          <a:p>
            <a:r>
              <a:rPr lang="en-GB" sz="2000" dirty="0"/>
              <a:t>Cloud native applications address this challenge by maintaining the immutability of the application artifact across environments. </a:t>
            </a:r>
          </a:p>
          <a:p>
            <a:r>
              <a:rPr lang="en-GB" sz="2000" dirty="0"/>
              <a:t>Regardless of the deployment, the application build remains unchanged. </a:t>
            </a:r>
          </a:p>
          <a:p>
            <a:r>
              <a:rPr lang="en-GB" sz="2000" dirty="0"/>
              <a:t>In cloud native applications, each deployment involves combining the build with specific configuration data. </a:t>
            </a:r>
          </a:p>
          <a:p>
            <a:r>
              <a:rPr lang="en-GB" sz="2000" dirty="0"/>
              <a:t>This allows the same build to be deployed to multiple environments while accommodating different configurations.</a:t>
            </a:r>
          </a:p>
          <a:p>
            <a:endParaRPr lang="en-US" sz="2000" dirty="0"/>
          </a:p>
        </p:txBody>
      </p:sp>
      <p:pic>
        <p:nvPicPr>
          <p:cNvPr id="5" name="Picture 4">
            <a:extLst>
              <a:ext uri="{FF2B5EF4-FFF2-40B4-BE49-F238E27FC236}">
                <a16:creationId xmlns:a16="http://schemas.microsoft.com/office/drawing/2014/main" id="{5BF0EFC7-9AF3-F910-28C6-1009895415C2}"/>
              </a:ext>
            </a:extLst>
          </p:cNvPr>
          <p:cNvPicPr>
            <a:picLocks noChangeAspect="1"/>
          </p:cNvPicPr>
          <p:nvPr/>
        </p:nvPicPr>
        <p:blipFill>
          <a:blip r:embed="rId2"/>
          <a:stretch>
            <a:fillRect/>
          </a:stretch>
        </p:blipFill>
        <p:spPr>
          <a:xfrm>
            <a:off x="3714202" y="4632959"/>
            <a:ext cx="8232307" cy="2181497"/>
          </a:xfrm>
          <a:prstGeom prst="rect">
            <a:avLst/>
          </a:prstGeom>
        </p:spPr>
      </p:pic>
    </p:spTree>
    <p:extLst>
      <p:ext uri="{BB962C8B-B14F-4D97-AF65-F5344CB8AC3E}">
        <p14:creationId xmlns:p14="http://schemas.microsoft.com/office/powerpoint/2010/main" val="34799392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B08C9-54A3-B775-502B-850D29389636}"/>
              </a:ext>
            </a:extLst>
          </p:cNvPr>
          <p:cNvSpPr>
            <a:spLocks noGrp="1"/>
          </p:cNvSpPr>
          <p:nvPr>
            <p:ph type="title"/>
          </p:nvPr>
        </p:nvSpPr>
        <p:spPr/>
        <p:txBody>
          <a:bodyPr/>
          <a:lstStyle/>
          <a:p>
            <a:r>
              <a:rPr lang="en-GB" dirty="0"/>
              <a:t>How Configurations work in Spring Boot ?</a:t>
            </a:r>
            <a:endParaRPr lang="en-US" dirty="0"/>
          </a:p>
        </p:txBody>
      </p:sp>
      <p:pic>
        <p:nvPicPr>
          <p:cNvPr id="5" name="Picture 4">
            <a:extLst>
              <a:ext uri="{FF2B5EF4-FFF2-40B4-BE49-F238E27FC236}">
                <a16:creationId xmlns:a16="http://schemas.microsoft.com/office/drawing/2014/main" id="{098DA603-5C53-2049-73F2-30D961FD3FDC}"/>
              </a:ext>
            </a:extLst>
          </p:cNvPr>
          <p:cNvPicPr>
            <a:picLocks noChangeAspect="1"/>
          </p:cNvPicPr>
          <p:nvPr/>
        </p:nvPicPr>
        <p:blipFill>
          <a:blip r:embed="rId2"/>
          <a:stretch>
            <a:fillRect/>
          </a:stretch>
        </p:blipFill>
        <p:spPr>
          <a:xfrm>
            <a:off x="6521801" y="1471748"/>
            <a:ext cx="5376041" cy="5264331"/>
          </a:xfrm>
          <a:prstGeom prst="rect">
            <a:avLst/>
          </a:prstGeom>
        </p:spPr>
      </p:pic>
      <p:pic>
        <p:nvPicPr>
          <p:cNvPr id="7" name="Picture 6">
            <a:extLst>
              <a:ext uri="{FF2B5EF4-FFF2-40B4-BE49-F238E27FC236}">
                <a16:creationId xmlns:a16="http://schemas.microsoft.com/office/drawing/2014/main" id="{647DE8C5-9C7E-8662-FD9D-161E9116E8D5}"/>
              </a:ext>
            </a:extLst>
          </p:cNvPr>
          <p:cNvPicPr>
            <a:picLocks noChangeAspect="1"/>
          </p:cNvPicPr>
          <p:nvPr/>
        </p:nvPicPr>
        <p:blipFill>
          <a:blip r:embed="rId3"/>
          <a:stretch>
            <a:fillRect/>
          </a:stretch>
        </p:blipFill>
        <p:spPr>
          <a:xfrm>
            <a:off x="0" y="1471748"/>
            <a:ext cx="6559267" cy="2866768"/>
          </a:xfrm>
          <a:prstGeom prst="rect">
            <a:avLst/>
          </a:prstGeom>
        </p:spPr>
      </p:pic>
    </p:spTree>
    <p:extLst>
      <p:ext uri="{BB962C8B-B14F-4D97-AF65-F5344CB8AC3E}">
        <p14:creationId xmlns:p14="http://schemas.microsoft.com/office/powerpoint/2010/main" val="831825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0D9FE-11AF-78EC-8399-FEC8F2B4DC6E}"/>
              </a:ext>
            </a:extLst>
          </p:cNvPr>
          <p:cNvSpPr>
            <a:spLocks noGrp="1"/>
          </p:cNvSpPr>
          <p:nvPr>
            <p:ph type="title"/>
          </p:nvPr>
        </p:nvSpPr>
        <p:spPr/>
        <p:txBody>
          <a:bodyPr/>
          <a:lstStyle/>
          <a:p>
            <a:r>
              <a:rPr lang="en-GB" dirty="0"/>
              <a:t>How to read properties in Spring Boot </a:t>
            </a:r>
            <a:endParaRPr lang="en-US" dirty="0"/>
          </a:p>
        </p:txBody>
      </p:sp>
      <p:graphicFrame>
        <p:nvGraphicFramePr>
          <p:cNvPr id="4" name="Content Placeholder 3">
            <a:extLst>
              <a:ext uri="{FF2B5EF4-FFF2-40B4-BE49-F238E27FC236}">
                <a16:creationId xmlns:a16="http://schemas.microsoft.com/office/drawing/2014/main" id="{F04123D4-7BEC-A808-4923-3E455F6642F3}"/>
              </a:ext>
            </a:extLst>
          </p:cNvPr>
          <p:cNvGraphicFramePr>
            <a:graphicFrameLocks noGrp="1"/>
          </p:cNvGraphicFramePr>
          <p:nvPr>
            <p:ph idx="1"/>
            <p:extLst>
              <p:ext uri="{D42A27DB-BD31-4B8C-83A1-F6EECF244321}">
                <p14:modId xmlns:p14="http://schemas.microsoft.com/office/powerpoint/2010/main" val="317732761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50511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DC3C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C2FD-49E4-B88D-C8E0-BDFC7C64950E}"/>
              </a:ext>
            </a:extLst>
          </p:cNvPr>
          <p:cNvSpPr>
            <a:spLocks noGrp="1"/>
          </p:cNvSpPr>
          <p:nvPr>
            <p:ph type="title"/>
          </p:nvPr>
        </p:nvSpPr>
        <p:spPr/>
        <p:txBody>
          <a:bodyPr/>
          <a:lstStyle/>
          <a:p>
            <a:r>
              <a:rPr lang="en-GB" dirty="0"/>
              <a:t>Profiles</a:t>
            </a:r>
            <a:endParaRPr lang="en-US" dirty="0"/>
          </a:p>
        </p:txBody>
      </p:sp>
      <p:sp>
        <p:nvSpPr>
          <p:cNvPr id="3" name="Content Placeholder 2">
            <a:extLst>
              <a:ext uri="{FF2B5EF4-FFF2-40B4-BE49-F238E27FC236}">
                <a16:creationId xmlns:a16="http://schemas.microsoft.com/office/drawing/2014/main" id="{455E311F-ADDE-C08C-3861-44E088A90C9F}"/>
              </a:ext>
            </a:extLst>
          </p:cNvPr>
          <p:cNvSpPr>
            <a:spLocks noGrp="1"/>
          </p:cNvSpPr>
          <p:nvPr>
            <p:ph idx="1"/>
          </p:nvPr>
        </p:nvSpPr>
        <p:spPr/>
        <p:txBody>
          <a:bodyPr/>
          <a:lstStyle/>
          <a:p>
            <a:r>
              <a:rPr lang="en-GB" dirty="0"/>
              <a:t>Spring provides a great tools for grouping configuration properties into so-called profiles(dev, </a:t>
            </a:r>
            <a:r>
              <a:rPr lang="en-GB" dirty="0" err="1"/>
              <a:t>qa</a:t>
            </a:r>
            <a:r>
              <a:rPr lang="en-GB" dirty="0"/>
              <a:t>, prod) allowing us to activate a bunch of configurations based on the active profile.</a:t>
            </a:r>
          </a:p>
          <a:p>
            <a:r>
              <a:rPr lang="en-GB" dirty="0"/>
              <a:t>Profiles are perfect for setting up our application for different environments, but they’re also being used in another use cases like bean creation based on a profile etc.</a:t>
            </a:r>
          </a:p>
          <a:p>
            <a:r>
              <a:rPr lang="en-GB" dirty="0"/>
              <a:t>So basically, a profile can influence the application properties loaded and beans which are loaded into </a:t>
            </a:r>
            <a:r>
              <a:rPr lang="en-GB"/>
              <a:t>the Spring Context.</a:t>
            </a:r>
            <a:endParaRPr lang="en-US" dirty="0"/>
          </a:p>
        </p:txBody>
      </p:sp>
    </p:spTree>
    <p:extLst>
      <p:ext uri="{BB962C8B-B14F-4D97-AF65-F5344CB8AC3E}">
        <p14:creationId xmlns:p14="http://schemas.microsoft.com/office/powerpoint/2010/main" val="4076095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593</TotalTime>
  <Words>2622</Words>
  <Application>Microsoft Office PowerPoint</Application>
  <PresentationFormat>Widescreen</PresentationFormat>
  <Paragraphs>243</Paragraphs>
  <Slides>52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Calibri Light</vt:lpstr>
      <vt:lpstr>Office Theme</vt:lpstr>
      <vt:lpstr>Spring Boot + Microservices</vt:lpstr>
      <vt:lpstr>What are Microservices ?</vt:lpstr>
      <vt:lpstr>The Monolith</vt:lpstr>
      <vt:lpstr>The Monolith</vt:lpstr>
      <vt:lpstr>The Monolith</vt:lpstr>
      <vt:lpstr>The SOA (Service-Oriented Architecture)</vt:lpstr>
      <vt:lpstr>The SOA (Service Oriented Architecture)</vt:lpstr>
      <vt:lpstr>PowerPoint Presentation</vt:lpstr>
      <vt:lpstr>The Great Microservices</vt:lpstr>
      <vt:lpstr>The Great Microservices</vt:lpstr>
      <vt:lpstr>The Great Microservices</vt:lpstr>
      <vt:lpstr>Monolithic vs SOA vs Microservices</vt:lpstr>
      <vt:lpstr>Monolithic vs SOA vs Microservices</vt:lpstr>
      <vt:lpstr>Definition of Microservices ?</vt:lpstr>
      <vt:lpstr>How to build Microservices ?</vt:lpstr>
      <vt:lpstr>How to build Microservices ?</vt:lpstr>
      <vt:lpstr>Why Spring Boot for Microservices ?</vt:lpstr>
      <vt:lpstr>Why Spring Boot for Microservices ?</vt:lpstr>
      <vt:lpstr>Why Spring Boot for Microservices ?</vt:lpstr>
      <vt:lpstr>Implementing REST Services</vt:lpstr>
      <vt:lpstr>Implementing REST Service</vt:lpstr>
      <vt:lpstr>Implementing REST Service</vt:lpstr>
      <vt:lpstr>Different Annotations &amp; Classes that supports building REST Services</vt:lpstr>
      <vt:lpstr>DTO (Data Transfer Object) Pattern</vt:lpstr>
      <vt:lpstr>Summary of the steps followed to build Microservices</vt:lpstr>
      <vt:lpstr>What are cloud native applications ?</vt:lpstr>
      <vt:lpstr>Development Principles of Cloud Native applications</vt:lpstr>
      <vt:lpstr>15 – Factor Methodology</vt:lpstr>
      <vt:lpstr>1. One codebase, one application</vt:lpstr>
      <vt:lpstr>2. API First</vt:lpstr>
      <vt:lpstr>3. Dependency Management</vt:lpstr>
      <vt:lpstr>4. Design, build, release, run</vt:lpstr>
      <vt:lpstr>4. Design, build, release, run</vt:lpstr>
      <vt:lpstr>5. Configuration, Credentials &amp; Code</vt:lpstr>
      <vt:lpstr>6. Logs</vt:lpstr>
      <vt:lpstr>7. Disposability</vt:lpstr>
      <vt:lpstr>8. Backing Services </vt:lpstr>
      <vt:lpstr>9. Environment Parity</vt:lpstr>
      <vt:lpstr>9. Environment Parity</vt:lpstr>
      <vt:lpstr>10. Administrative Process</vt:lpstr>
      <vt:lpstr>11. Port Binding</vt:lpstr>
      <vt:lpstr>12. Stateless process</vt:lpstr>
      <vt:lpstr>13. Concurrency</vt:lpstr>
      <vt:lpstr>14. Telemetry</vt:lpstr>
      <vt:lpstr>15. Authentication &amp; Authorization</vt:lpstr>
      <vt:lpstr>Configuration Management in Microservices</vt:lpstr>
      <vt:lpstr>Configuration Management in Microservices</vt:lpstr>
      <vt:lpstr>How configurations are handled in traditional application ?</vt:lpstr>
      <vt:lpstr>How configurations are handled in traditional application ?</vt:lpstr>
      <vt:lpstr>How Configurations work in Spring Boot ?</vt:lpstr>
      <vt:lpstr>How to read properties in Spring Boot </vt:lpstr>
      <vt:lpstr>Profiles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Gohil</dc:creator>
  <cp:lastModifiedBy>Vivek Gohil</cp:lastModifiedBy>
  <cp:revision>2</cp:revision>
  <dcterms:created xsi:type="dcterms:W3CDTF">2026-03-11T15:50:43Z</dcterms:created>
  <dcterms:modified xsi:type="dcterms:W3CDTF">2026-06-11T16:00:48Z</dcterms:modified>
</cp:coreProperties>
</file>